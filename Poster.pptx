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5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39462-6909-B56A-1F90-731FFED68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4402" y="7005156"/>
            <a:ext cx="22706410" cy="1490205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C8E96-3844-AF9A-44F2-643AB247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EE522-1A26-3A1F-62D5-1076AFC9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A710A-3ECF-B507-B30E-D4E860EB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E394-7588-5E26-3BF0-A57F681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01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0A0B-A8A8-A7A4-5E07-F33D571B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A8A2E-7CCD-A6E4-AB3D-FF607D214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542F1-44E7-1257-A6B0-5878D5BA2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AB01B-1AFE-E704-9459-08BF508B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21B0C-0DB2-F84E-A74C-CCF795FA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98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6719-D169-41DB-A7BA-928B484B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3" y="10671222"/>
            <a:ext cx="26112371" cy="1780517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0EFA0-447E-4363-EB56-340379C13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653" y="28644839"/>
            <a:ext cx="26112371" cy="936332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EB85C-5AD8-BB38-F1BB-773575B10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5521D-6B70-FD1A-8773-38F84874A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C2DE-6CAC-63B7-0DC1-3050118C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2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8C78-C005-343B-8233-DCB749BC9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A63F8-D419-D501-CDCD-061C22EAC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C2C31-3FEF-AFCD-88B2-A1222AF61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7D204-EC36-35D3-0075-645DDBD3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49E174-8952-C245-8AA4-6248C15A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D4667-CB9A-0265-8187-22D0A773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66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E6D6-8CC9-8942-3DEA-762373BD4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2278907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C3EC5-21F3-B5E7-746D-A1E599370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365" y="10492870"/>
            <a:ext cx="12807833" cy="51423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666B1-940D-546C-0C71-B2F8666DD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365" y="15635264"/>
            <a:ext cx="12807833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70697-A295-BAA5-BBF7-0CD467875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26827" y="10492870"/>
            <a:ext cx="12870909" cy="51423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0C9FE-CF3B-4368-5A12-45EF2EFC9E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26827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ABD812-C10E-4F13-112D-AFE7423AB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5D2EF-0D03-B81E-0481-C84F6B08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907AC8-1562-EEC7-383C-4A5639EE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2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8BCE-EE05-284C-A9E4-428791A52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98BBF-03B7-36F8-B642-5D7106600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4A1F8-EF6A-FC6D-08EA-33ED02FE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C3736E-A36F-D877-9725-9B3C7451E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1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AA08AB-F250-96C3-DBF9-17E850EB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9AC5E-B9AF-7923-D8AF-A46762AF3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287E1-AE68-C640-CAB9-B1AB23FD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05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26A8-A539-5A54-3366-FD8B3858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E054B-57E7-DC14-2045-930DE10BE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30083E-9EE0-CBD9-C3A5-5BF8D2DBC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F5392-4389-29B3-0727-46C15B7D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CBA13-88B6-2EF8-E428-4AB9FCBEC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E2677-1630-FA67-D7B2-841A06DB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594A-A887-7846-04FF-08D26F0A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6" y="2853584"/>
            <a:ext cx="9764543" cy="99875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D0B867-D88C-6914-22C4-B5D5D4292F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0909" y="6162952"/>
            <a:ext cx="15326827" cy="304184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75798-5D4B-B2E1-CA5A-FDAE6A3EE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366" y="12841129"/>
            <a:ext cx="9764543" cy="237897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8B920-D35D-0259-9A5B-4704EFD8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E0201-10AB-521F-ECF8-200D1021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85FAC-F706-13B3-A1B3-0EF2D4ADA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9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1EBAF-C4AB-9BD0-B8FA-BBC762AA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57CF1-F537-5A65-0807-3D67F8C9C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9AC5E-2DD0-E9EC-9EF2-C46CB843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17E9-D75E-DAAC-73A1-B64E8989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93452-90F5-375E-D26C-948E9C76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59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B7B4C3-C58E-6B1B-DFA2-84237A9FD5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665699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9C5F7-9BF6-F047-DE47-8C84BC4E8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81421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C64D5-5AD8-884C-A0AF-6E2A1BF93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A84BB-1087-CC22-BE75-78999857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EFF39-6117-E389-8DBA-3E1F7E1C9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C6EA8-86CB-42A6-AC71-A943E65B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1" y="2278907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7984F-8F17-A06E-D28C-46A1E5693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1BC4E-4B67-D907-0AED-8B78DADD53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81421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BCB37-0FB5-4510-B907-0A69E8A678CD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6EC8A-13C5-8D8A-CB63-BDC9CC8637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8665" y="39672750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A784C-9C26-20AC-D074-3D4742EA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81869" y="39672750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8E14CC-F456-4558-A49E-4ECE166BB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71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8B9308A-7A95-FBD2-2088-5D75049A3419}"/>
              </a:ext>
            </a:extLst>
          </p:cNvPr>
          <p:cNvSpPr/>
          <p:nvPr/>
        </p:nvSpPr>
        <p:spPr>
          <a:xfrm>
            <a:off x="1090565" y="22343534"/>
            <a:ext cx="13162879" cy="7738669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8A5D81F-5889-A5F7-2F5F-F5D641002FA3}"/>
              </a:ext>
            </a:extLst>
          </p:cNvPr>
          <p:cNvSpPr/>
          <p:nvPr/>
        </p:nvSpPr>
        <p:spPr>
          <a:xfrm>
            <a:off x="1090565" y="15484292"/>
            <a:ext cx="13162879" cy="6699433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7C830A7-6535-F98E-BA3B-27EFD4E221C1}"/>
              </a:ext>
            </a:extLst>
          </p:cNvPr>
          <p:cNvSpPr/>
          <p:nvPr/>
        </p:nvSpPr>
        <p:spPr>
          <a:xfrm>
            <a:off x="1090565" y="663151"/>
            <a:ext cx="28039554" cy="7036211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496B5-1A40-6D42-2F28-D3FAA62C1EE2}"/>
              </a:ext>
            </a:extLst>
          </p:cNvPr>
          <p:cNvSpPr txBox="1"/>
          <p:nvPr/>
        </p:nvSpPr>
        <p:spPr>
          <a:xfrm>
            <a:off x="3086232" y="1081146"/>
            <a:ext cx="223941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CROP SURVIVE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11DFF-B681-9742-34F0-503B63396CB2}"/>
              </a:ext>
            </a:extLst>
          </p:cNvPr>
          <p:cNvSpPr txBox="1"/>
          <p:nvPr/>
        </p:nvSpPr>
        <p:spPr>
          <a:xfrm>
            <a:off x="3086233" y="3913225"/>
            <a:ext cx="22394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Developed &amp; Presented by: Yoni Grinberg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F61592-A454-3E99-7B3A-15630822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30" t="15726" r="894"/>
          <a:stretch>
            <a:fillRect/>
          </a:stretch>
        </p:blipFill>
        <p:spPr>
          <a:xfrm>
            <a:off x="15166503" y="7720480"/>
            <a:ext cx="13963616" cy="5230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CF651F-A321-E064-6CE2-565087B1A6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08" t="18550" b="-2881"/>
          <a:stretch>
            <a:fillRect/>
          </a:stretch>
        </p:blipFill>
        <p:spPr>
          <a:xfrm>
            <a:off x="15119912" y="24354971"/>
            <a:ext cx="14010208" cy="61006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4D2F0D5-EE0F-1F3E-6ECC-4E345363CD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59" t="14708"/>
          <a:stretch>
            <a:fillRect/>
          </a:stretch>
        </p:blipFill>
        <p:spPr>
          <a:xfrm>
            <a:off x="15248209" y="17982304"/>
            <a:ext cx="13881911" cy="63726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5493ED-8246-8E5A-0F7C-33380D5EFC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244" t="11133"/>
          <a:stretch>
            <a:fillRect/>
          </a:stretch>
        </p:blipFill>
        <p:spPr>
          <a:xfrm>
            <a:off x="14373678" y="30455583"/>
            <a:ext cx="14756442" cy="112670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61F248F-725D-E40B-132B-058E91CEBB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90565" y="30477421"/>
            <a:ext cx="13283113" cy="112451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4D6070C-C4AD-6CEB-E9BE-DB3C81E6CE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66502" y="12908654"/>
            <a:ext cx="13963617" cy="50736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46379E-8270-94FF-86BA-632A7DFE44EB}"/>
              </a:ext>
            </a:extLst>
          </p:cNvPr>
          <p:cNvSpPr txBox="1"/>
          <p:nvPr/>
        </p:nvSpPr>
        <p:spPr>
          <a:xfrm>
            <a:off x="3050843" y="2349101"/>
            <a:ext cx="22394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Project Name:</a:t>
            </a:r>
            <a:r>
              <a:rPr lang="en-US" sz="4800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 Crop</a:t>
            </a:r>
            <a:r>
              <a:rPr lang="he-IL" sz="4800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 </a:t>
            </a:r>
            <a:r>
              <a:rPr lang="en-US" sz="4800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Survive: Engineering Platform for Shelf-Life Prediction</a:t>
            </a:r>
            <a:endParaRPr lang="en-US" sz="4800" b="1" dirty="0">
              <a:solidFill>
                <a:schemeClr val="bg1"/>
              </a:solidFill>
              <a:latin typeface="Arial Rounded MT Bold" panose="020F0704030504030204" pitchFamily="34" charset="0"/>
              <a:cs typeface="Aharoni" panose="02010803020104030203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A9D36A-8BAD-7C27-BC21-519111EDCD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87255" y="3952390"/>
            <a:ext cx="3219899" cy="32770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EA9D4C7-E815-15A4-4A58-8D852473100D}"/>
              </a:ext>
            </a:extLst>
          </p:cNvPr>
          <p:cNvSpPr txBox="1"/>
          <p:nvPr/>
        </p:nvSpPr>
        <p:spPr>
          <a:xfrm>
            <a:off x="3086232" y="4642229"/>
            <a:ext cx="223941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Supervisor: Dr. </a:t>
            </a:r>
            <a:r>
              <a:rPr lang="en-US" sz="4000" dirty="0" err="1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Unkelos</a:t>
            </a:r>
            <a:r>
              <a:rPr lang="en-US" sz="4000" dirty="0">
                <a:solidFill>
                  <a:schemeClr val="bg1"/>
                </a:solidFill>
                <a:latin typeface="Arial Rounded MT Bold" panose="020F0704030504030204" pitchFamily="34" charset="0"/>
                <a:ea typeface="Source Sans Pro Black" panose="020B0803030403020204" pitchFamily="34" charset="0"/>
              </a:rPr>
              <a:t> Shpigel Naome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9E79DC-AF06-04C9-75F3-F945BD7CEAB0}"/>
              </a:ext>
            </a:extLst>
          </p:cNvPr>
          <p:cNvSpPr txBox="1"/>
          <p:nvPr/>
        </p:nvSpPr>
        <p:spPr>
          <a:xfrm>
            <a:off x="3086232" y="7851763"/>
            <a:ext cx="4343400" cy="1154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EC349C-E1F4-C35C-B0FA-681A08975735}"/>
              </a:ext>
            </a:extLst>
          </p:cNvPr>
          <p:cNvSpPr txBox="1"/>
          <p:nvPr/>
        </p:nvSpPr>
        <p:spPr>
          <a:xfrm>
            <a:off x="2578887" y="15677834"/>
            <a:ext cx="1098471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he-IL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</a:t>
            </a:r>
            <a:r>
              <a:rPr lang="en-US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Functional Requirements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Automated Data Integration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system shall merge 8 distinct CSV files (weight loss, gas composition,</a:t>
            </a:r>
            <a:r>
              <a:rPr lang="he-IL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texture, microbial load, etc.) into a single, consolidated dataset aligned by sampling days.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Freshness Score Computation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system shall calculate a weighted system health score (scaled )</a:t>
            </a:r>
            <a:r>
              <a:rPr lang="he-IL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for each sampling day based on the imported scientific metrics.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Auto-Compare Dashboard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system shall provide a graphical interface allowing the user to</a:t>
            </a:r>
            <a:r>
              <a:rPr lang="he-IL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select and compare the experimental treatment groups directly against the control group over the timeline.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Predictive Estimation (Trend Forecasting)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system shall perform mathematical extrapolation to project trends for missing experimental days (beyond Day 14), using clear visual indicators to distinguish projected estimates from empirical</a:t>
            </a:r>
            <a:r>
              <a:rPr lang="he-IL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measurements.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Decay Slider Simulation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system shall feature an interactive timeline slider that dynamically adjusts the visual hue of the produce illustration from green to black based on the calculated Freshness Score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2F8E27-3BF4-6D46-3EB4-AAB6C571A413}"/>
              </a:ext>
            </a:extLst>
          </p:cNvPr>
          <p:cNvSpPr txBox="1"/>
          <p:nvPr/>
        </p:nvSpPr>
        <p:spPr>
          <a:xfrm>
            <a:off x="2085330" y="22495934"/>
            <a:ext cx="1147827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he-IL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</a:t>
            </a: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Non-Functional Requirements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Usability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user interface workflow shall emulate a spreadsheet environment </a:t>
            </a:r>
            <a:b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(similar to Microsoft Excel) to ensure a comfortable learning curve for researchers</a:t>
            </a:r>
            <a:b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(e.g., Dr. Lilach) without requiring advanced technical training.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Reliability (Data Integrity)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system shall perform input validation on uploaded variables and </a:t>
            </a:r>
            <a:b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trigger warning alerts for physical anomalies (e.g., unrealistic weight metrics) </a:t>
            </a:r>
            <a:b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to preserve research accuracy.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Performance (Efficiency)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system shall process slider movements and render integrated analytical </a:t>
            </a:r>
            <a:b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charts in under 2 seconds, even when handling complete experimental datasets.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Maintainability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codebase shall be designed with a modular architecture, enabling easy integration of </a:t>
            </a:r>
            <a:b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new biological variables (e.g., additional bacterial strains or new gas parameters) without </a:t>
            </a:r>
            <a:b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refactoring the core score-computation logic.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Interoperability (Compatibility)</a:t>
            </a:r>
            <a:endParaRPr lang="en-US" sz="2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  <a:p>
            <a:pPr marL="457200" lvl="1"/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The system shall support direct ingestion of raw CSV and Excel file formats generated </a:t>
            </a:r>
            <a:b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directly by laboratory instruments, eliminating the need for manual user pre-processing.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90E135C-A1F6-715B-330C-9E6A5F22C9C8}"/>
              </a:ext>
            </a:extLst>
          </p:cNvPr>
          <p:cNvSpPr/>
          <p:nvPr/>
        </p:nvSpPr>
        <p:spPr>
          <a:xfrm>
            <a:off x="1090565" y="8166782"/>
            <a:ext cx="13162879" cy="703621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1E1ECA-28C2-F9EF-F275-3B008D5AC8A8}"/>
              </a:ext>
            </a:extLst>
          </p:cNvPr>
          <p:cNvSpPr txBox="1"/>
          <p:nvPr/>
        </p:nvSpPr>
        <p:spPr>
          <a:xfrm>
            <a:off x="2213407" y="8336905"/>
            <a:ext cx="11773337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he-IL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      </a:t>
            </a: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Project Description (Copy directly to PowerPoint)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Post-harvest decay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causes substantial food waste and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quality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loss of fresh agricultural produce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throughout the supply chain.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Biological degradation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directly impacts cellular tissue, causing rapid deterioration of firmness, respiration kinetics, and weight.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Sparse laboratory data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measurements are collected only at sparse intervals (Days 0, 4, 7), creating high overfitting risks for standard predictive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Inefficient manual analysis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evaluating the shelf-life efficacy of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different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active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bio-coating formulations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lacks unified, automated comparison tools.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Lack of dynamic prediction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: producers lack accessible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digital pipelines to</a:t>
            </a:r>
            <a:r>
              <a:rPr lang="he-IL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forecast decay timelines or </a:t>
            </a:r>
            <a:b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simulate competitive microflora dynamics in real time.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6C1DCEB-F8CA-F8D8-A3D8-B25E982699F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0843" y="1198676"/>
            <a:ext cx="3029101" cy="95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35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490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Rounded MT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Yoni Grinberg</dc:creator>
  <cp:lastModifiedBy>Yoni Grinberg</cp:lastModifiedBy>
  <cp:revision>13</cp:revision>
  <dcterms:created xsi:type="dcterms:W3CDTF">2026-06-29T03:40:28Z</dcterms:created>
  <dcterms:modified xsi:type="dcterms:W3CDTF">2026-06-29T04:45:31Z</dcterms:modified>
</cp:coreProperties>
</file>