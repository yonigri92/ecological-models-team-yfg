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9462-6909-B56A-1F90-731FFED68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C8E96-3844-AF9A-44F2-643AB247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EE522-1A26-3A1F-62D5-1076AFC9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710A-3ECF-B507-B30E-D4E860EB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E394-7588-5E26-3BF0-A57F681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0A0B-A8A8-A7A4-5E07-F33D571B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A8A2E-7CCD-A6E4-AB3D-FF607D214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42F1-44E7-1257-A6B0-5878D5BA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B01B-1AFE-E704-9459-08BF508B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1B0C-0DB2-F84E-A74C-CCF795FA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8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6719-D169-41DB-A7BA-928B484B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0EFA0-447E-4363-EB56-340379C13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EB85C-5AD8-BB38-F1BB-773575B1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5521D-6B70-FD1A-8773-38F84874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C2DE-6CAC-63B7-0DC1-3050118C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2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8C78-C005-343B-8233-DCB749BC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63F8-D419-D501-CDCD-061C22EAC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C2C31-3FEF-AFCD-88B2-A1222AF61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7D204-EC36-35D3-0075-645DDBD3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9E174-8952-C245-8AA4-6248C15A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D4667-CB9A-0265-8187-22D0A77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6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E6D6-8CC9-8942-3DEA-762373BD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C3EC5-21F3-B5E7-746D-A1E59937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666B1-940D-546C-0C71-B2F8666D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70697-A295-BAA5-BBF7-0CD467875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0C9FE-CF3B-4368-5A12-45EF2EFC9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BD812-C10E-4F13-112D-AFE7423A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5D2EF-0D03-B81E-0481-C84F6B08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07AC8-1562-EEC7-383C-4A5639EE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8BCE-EE05-284C-A9E4-428791A5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98BBF-03B7-36F8-B642-5D710660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4A1F8-EF6A-FC6D-08EA-33ED02FE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3736E-A36F-D877-9725-9B3C7451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A08AB-F250-96C3-DBF9-17E850EB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9AC5E-B9AF-7923-D8AF-A46762AF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287E1-AE68-C640-CAB9-B1AB23FD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26A8-A539-5A54-3366-FD8B3858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E054B-57E7-DC14-2045-930DE10B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0083E-9EE0-CBD9-C3A5-5BF8D2DBC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F5392-4389-29B3-0727-46C15B7D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CBA13-88B6-2EF8-E428-4AB9FCBE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E2677-1630-FA67-D7B2-841A06DB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594A-A887-7846-04FF-08D26F0A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0B867-D88C-6914-22C4-B5D5D4292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5798-5D4B-B2E1-CA5A-FDAE6A3EE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8B920-D35D-0259-9A5B-4704EFD8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E0201-10AB-521F-ECF8-200D1021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5FAC-F706-13B3-A1B3-0EF2D4AD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9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EBAF-C4AB-9BD0-B8FA-BBC762AA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57CF1-F537-5A65-0807-3D67F8C9C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9AC5E-2DD0-E9EC-9EF2-C46CB843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17E9-D75E-DAAC-73A1-B64E8989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3452-90F5-375E-D26C-948E9C76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9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7B4C3-C58E-6B1B-DFA2-84237A9FD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9C5F7-9BF6-F047-DE47-8C84BC4E8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64D5-5AD8-884C-A0AF-6E2A1BF9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84BB-1087-CC22-BE75-78999857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EFF39-6117-E389-8DBA-3E1F7E1C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C6EA8-86CB-42A6-AC71-A943E65B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984F-8F17-A06E-D28C-46A1E569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1BC4E-4B67-D907-0AED-8B78DADD5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EC8A-13C5-8D8A-CB63-BDC9CC863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A784C-9C26-20AC-D074-3D4742EA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1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B9308A-7A95-FBD2-2088-5D75049A3419}"/>
              </a:ext>
            </a:extLst>
          </p:cNvPr>
          <p:cNvSpPr/>
          <p:nvPr/>
        </p:nvSpPr>
        <p:spPr>
          <a:xfrm>
            <a:off x="-179020" y="30873577"/>
            <a:ext cx="30422898" cy="1126703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C830A7-6535-F98E-BA3B-27EFD4E221C1}"/>
              </a:ext>
            </a:extLst>
          </p:cNvPr>
          <p:cNvSpPr/>
          <p:nvPr/>
        </p:nvSpPr>
        <p:spPr>
          <a:xfrm>
            <a:off x="1090565" y="663152"/>
            <a:ext cx="28167852" cy="468696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496B5-1A40-6D42-2F28-D3FAA62C1EE2}"/>
              </a:ext>
            </a:extLst>
          </p:cNvPr>
          <p:cNvSpPr txBox="1"/>
          <p:nvPr/>
        </p:nvSpPr>
        <p:spPr>
          <a:xfrm>
            <a:off x="3086232" y="1081146"/>
            <a:ext cx="22394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CROP SURVIVE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11DFF-B681-9742-34F0-503B63396CB2}"/>
              </a:ext>
            </a:extLst>
          </p:cNvPr>
          <p:cNvSpPr txBox="1"/>
          <p:nvPr/>
        </p:nvSpPr>
        <p:spPr>
          <a:xfrm>
            <a:off x="3050843" y="3221373"/>
            <a:ext cx="22394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Developed &amp; Presented by: Yoni Grinberg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CF651F-A321-E064-6CE2-565087B1A6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08" t="18550" b="-2881"/>
          <a:stretch>
            <a:fillRect/>
          </a:stretch>
        </p:blipFill>
        <p:spPr>
          <a:xfrm>
            <a:off x="15467362" y="24897909"/>
            <a:ext cx="14010208" cy="61006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D2F0D5-EE0F-1F3E-6ECC-4E345363CD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59" t="14708"/>
          <a:stretch>
            <a:fillRect/>
          </a:stretch>
        </p:blipFill>
        <p:spPr>
          <a:xfrm>
            <a:off x="15467362" y="18451184"/>
            <a:ext cx="13881911" cy="63726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5493ED-8246-8E5A-0F7C-33380D5EFC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44" t="11133"/>
          <a:stretch>
            <a:fillRect/>
          </a:stretch>
        </p:blipFill>
        <p:spPr>
          <a:xfrm>
            <a:off x="307322" y="13322452"/>
            <a:ext cx="14756442" cy="112670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1F248F-725D-E40B-132B-058E91CEBB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32182" y="24589486"/>
            <a:ext cx="7421648" cy="62830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D6070C-C4AD-6CEB-E9BE-DB3C81E6C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7362" y="13322452"/>
            <a:ext cx="13963617" cy="5073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46379E-8270-94FF-86BA-632A7DFE44EB}"/>
              </a:ext>
            </a:extLst>
          </p:cNvPr>
          <p:cNvSpPr txBox="1"/>
          <p:nvPr/>
        </p:nvSpPr>
        <p:spPr>
          <a:xfrm>
            <a:off x="3050843" y="2349101"/>
            <a:ext cx="22394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Crop</a:t>
            </a:r>
            <a:r>
              <a:rPr lang="he-IL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Survive: Engineering Platform for Shelf-Life Prediction</a:t>
            </a:r>
            <a:endParaRPr lang="en-US" sz="4800" b="1" dirty="0"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9D36A-8BAD-7C27-BC21-519111EDC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35914" y="1385870"/>
            <a:ext cx="3219899" cy="3277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A9D4C7-E815-15A4-4A58-8D852473100D}"/>
              </a:ext>
            </a:extLst>
          </p:cNvPr>
          <p:cNvSpPr txBox="1"/>
          <p:nvPr/>
        </p:nvSpPr>
        <p:spPr>
          <a:xfrm>
            <a:off x="2941746" y="3807095"/>
            <a:ext cx="22394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Supervisor: Dr. </a:t>
            </a:r>
            <a:r>
              <a:rPr lang="en-US" sz="4000" dirty="0" err="1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Unkelos</a:t>
            </a:r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 Shpigel Naomi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E79DC-AF06-04C9-75F3-F945BD7CEAB0}"/>
              </a:ext>
            </a:extLst>
          </p:cNvPr>
          <p:cNvSpPr txBox="1"/>
          <p:nvPr/>
        </p:nvSpPr>
        <p:spPr>
          <a:xfrm>
            <a:off x="3086232" y="7851763"/>
            <a:ext cx="4343400" cy="1154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0E135C-A1F6-715B-330C-9E6A5F22C9C8}"/>
              </a:ext>
            </a:extLst>
          </p:cNvPr>
          <p:cNvSpPr/>
          <p:nvPr/>
        </p:nvSpPr>
        <p:spPr>
          <a:xfrm>
            <a:off x="652415" y="5977113"/>
            <a:ext cx="13162879" cy="70362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1E1ECA-28C2-F9EF-F275-3B008D5AC8A8}"/>
              </a:ext>
            </a:extLst>
          </p:cNvPr>
          <p:cNvSpPr txBox="1"/>
          <p:nvPr/>
        </p:nvSpPr>
        <p:spPr>
          <a:xfrm>
            <a:off x="1542962" y="6821497"/>
            <a:ext cx="11773337" cy="4171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RESEARCH QUESTIONS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Hypothesis 1 (Inhibition)</a:t>
            </a:r>
            <a:r>
              <a:rPr lang="en-US" sz="2800" dirty="0">
                <a:solidFill>
                  <a:schemeClr val="bg1"/>
                </a:solidFill>
              </a:rPr>
              <a:t>: Will A higher concentration of protective lactic acid bacteria inhibit the replication of spoilage microflora, thereby reducing the overall decay rate of the lettuce?</a:t>
            </a:r>
            <a:endParaRPr lang="he-IL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Hypothesis 2 (Kinetics)</a:t>
            </a:r>
            <a:r>
              <a:rPr lang="en-US" sz="2800" dirty="0">
                <a:solidFill>
                  <a:schemeClr val="bg1"/>
                </a:solidFill>
              </a:rPr>
              <a:t>: Will the overall rate of lettuce tissue decay will accelerate over time as a direct consequence of the natural mortality and depletion of the protective lactic bacteria?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6C1DCEB-F8CA-F8D8-A3D8-B25E982699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0843" y="1198676"/>
            <a:ext cx="3029101" cy="95281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C73207-900E-8078-F2FC-11FB8B8F1BFD}"/>
              </a:ext>
            </a:extLst>
          </p:cNvPr>
          <p:cNvSpPr/>
          <p:nvPr/>
        </p:nvSpPr>
        <p:spPr>
          <a:xfrm>
            <a:off x="16095538" y="5965873"/>
            <a:ext cx="13162879" cy="70362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06B6E-9645-3AED-65FD-8474B03EB8EB}"/>
              </a:ext>
            </a:extLst>
          </p:cNvPr>
          <p:cNvSpPr txBox="1"/>
          <p:nvPr/>
        </p:nvSpPr>
        <p:spPr>
          <a:xfrm>
            <a:off x="16926249" y="6167477"/>
            <a:ext cx="11880926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4000" b="1" i="0" u="none" strike="noStrike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METHOD — STUDY DESIGN</a:t>
            </a:r>
            <a:endParaRPr lang="en-US" sz="3600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US" sz="4000" b="0" i="0" u="none" strike="noStrike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Controlled experiment:</a:t>
            </a:r>
            <a:endParaRPr lang="en-US" sz="36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r>
              <a:rPr lang="en-US" sz="3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3600" b="0" dirty="0">
              <a:solidFill>
                <a:schemeClr val="bg1"/>
              </a:solidFill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Formulations</a:t>
            </a:r>
            <a:r>
              <a:rPr lang="en-US" sz="3600" dirty="0">
                <a:solidFill>
                  <a:schemeClr val="bg1"/>
                </a:solidFill>
              </a:rPr>
              <a:t>: Evaluation of 4 distinct bio-coating formulations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Timeline</a:t>
            </a:r>
            <a:r>
              <a:rPr lang="en-US" sz="3600" dirty="0">
                <a:solidFill>
                  <a:schemeClr val="bg1"/>
                </a:solidFill>
              </a:rPr>
              <a:t>: Post-harvest study duration spanning 21 days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Data Acquisition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</a:rPr>
              <a:t>Data Collected on dependent variables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Analytical Framework</a:t>
            </a:r>
            <a:r>
              <a:rPr lang="en-US" sz="3600" dirty="0">
                <a:solidFill>
                  <a:schemeClr val="bg1"/>
                </a:solidFill>
              </a:rPr>
              <a:t>: Integration of Principal       </a:t>
            </a:r>
            <a:r>
              <a:rPr lang="en-US" sz="3600" b="1" dirty="0">
                <a:solidFill>
                  <a:schemeClr val="bg1"/>
                </a:solidFill>
              </a:rPr>
              <a:t>Component Analysis (PCA), </a:t>
            </a:r>
            <a:r>
              <a:rPr lang="en-US" sz="3600" dirty="0">
                <a:solidFill>
                  <a:schemeClr val="bg1"/>
                </a:solidFill>
              </a:rPr>
              <a:t>competitive Lotka-Volterra and spatial Agent-Based Modeling (ABM) to synthesize and validate decay kinetics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195AE-F6EA-31A7-D5A7-5F276535C43D}"/>
              </a:ext>
            </a:extLst>
          </p:cNvPr>
          <p:cNvSpPr txBox="1"/>
          <p:nvPr/>
        </p:nvSpPr>
        <p:spPr>
          <a:xfrm>
            <a:off x="1440707" y="31605424"/>
            <a:ext cx="2790856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2800" b="1" i="0" u="none" strike="noStrike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CONCLUSIONS &amp; RECOMMENDATIONS</a:t>
            </a:r>
            <a:endParaRPr lang="en-US" sz="2800" b="0" dirty="0">
              <a:solidFill>
                <a:schemeClr val="bg1"/>
              </a:solidFill>
              <a:effectLst/>
            </a:endParaRPr>
          </a:p>
          <a:p>
            <a:pPr rtl="0" fontAlgn="base"/>
            <a:br>
              <a:rPr lang="en-US" sz="2800" b="0" dirty="0">
                <a:solidFill>
                  <a:schemeClr val="bg1"/>
                </a:solidFill>
                <a:effectLst/>
              </a:rPr>
            </a:br>
            <a:endParaRPr lang="en-US" sz="28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Active bio-coating formulation </a:t>
            </a:r>
            <a:r>
              <a:rPr lang="en-US" sz="2800" b="1" dirty="0"/>
              <a:t>CMC-3-methyl+C</a:t>
            </a:r>
            <a:r>
              <a:rPr lang="en-US" sz="2800" dirty="0"/>
              <a:t> exhibits superior decay mitigation, yielding outstanding preservation () of structural integrity compared to the untreated control group by Day 7</a:t>
            </a:r>
            <a:endParaRPr lang="en-US" sz="28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dirty="0"/>
              <a:t>Deterministic curve-fitting utilizing 2nd-degree polynomial regression provides highly stable and robust predictive trends on low-density/sparse laboratory datasets (Days 0, 4, 7) without overfitting</a:t>
            </a:r>
            <a:endParaRPr lang="en-US" sz="2800" b="0" i="0" u="none" strike="noStrike" dirty="0">
              <a:solidFill>
                <a:schemeClr val="bg1"/>
              </a:solidFill>
              <a:effectLst/>
              <a:latin typeface="Noto Sans Symbol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competitive Lotka-Volterra ODE solver and spatial Agent-Based Modeling (ABM) successfully replicate post-harvest tissue decay "tipping points," providing accurate qualitative validation for experimental observations</a:t>
            </a:r>
          </a:p>
          <a:p>
            <a:pPr>
              <a:buNone/>
            </a:pPr>
            <a:br>
              <a:rPr lang="en-US" sz="2800" b="0" dirty="0">
                <a:solidFill>
                  <a:schemeClr val="bg1"/>
                </a:solidFill>
                <a:effectLst/>
              </a:rPr>
            </a:br>
            <a:endParaRPr lang="en-US" sz="2800" b="0" dirty="0">
              <a:solidFill>
                <a:schemeClr val="bg1"/>
              </a:solidFill>
              <a:effectLst/>
            </a:endParaRPr>
          </a:p>
          <a:p>
            <a:pPr rtl="0">
              <a:buNone/>
            </a:pPr>
            <a:r>
              <a:rPr lang="en-US" sz="2800" b="1" i="0" u="none" strike="noStrike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PRACTICAL RECOMMENDATIONS</a:t>
            </a:r>
            <a:endParaRPr lang="en-US" sz="2800" b="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br>
              <a:rPr lang="en-US" sz="2800" b="0" dirty="0">
                <a:solidFill>
                  <a:schemeClr val="bg1"/>
                </a:solidFill>
                <a:effectLst/>
              </a:rPr>
            </a:br>
            <a:br>
              <a:rPr lang="en-US" sz="2800" b="0" dirty="0">
                <a:solidFill>
                  <a:schemeClr val="bg1"/>
                </a:solidFill>
                <a:effectLst/>
              </a:rPr>
            </a:b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1CE7D22-C2BD-CB3A-C71C-92817D1AF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980178"/>
              </p:ext>
            </p:extLst>
          </p:nvPr>
        </p:nvGraphicFramePr>
        <p:xfrm>
          <a:off x="1440707" y="36297799"/>
          <a:ext cx="23291636" cy="2826918"/>
        </p:xfrm>
        <a:graphic>
          <a:graphicData uri="http://schemas.openxmlformats.org/drawingml/2006/table">
            <a:tbl>
              <a:tblPr/>
              <a:tblGrid>
                <a:gridCol w="11645818">
                  <a:extLst>
                    <a:ext uri="{9D8B030D-6E8A-4147-A177-3AD203B41FA5}">
                      <a16:colId xmlns:a16="http://schemas.microsoft.com/office/drawing/2014/main" val="2847586209"/>
                    </a:ext>
                  </a:extLst>
                </a:gridCol>
                <a:gridCol w="11645818">
                  <a:extLst>
                    <a:ext uri="{9D8B030D-6E8A-4147-A177-3AD203B41FA5}">
                      <a16:colId xmlns:a16="http://schemas.microsoft.com/office/drawing/2014/main" val="1670838372"/>
                    </a:ext>
                  </a:extLst>
                </a:gridCol>
              </a:tblGrid>
              <a:tr h="9371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824265"/>
                  </a:ext>
                </a:extLst>
              </a:tr>
              <a:tr h="937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Prioritize microbial-active bio-coatings</a:t>
                      </a:r>
                      <a:r>
                        <a:rPr lang="en-US" sz="2800" dirty="0"/>
                        <a:t> (CMC-3-methyl+C) to significantly extend commercial shipping windows.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Deploy deterministic fitting algorithms</a:t>
                      </a:r>
                      <a:r>
                        <a:rPr lang="en-US" sz="2800" dirty="0"/>
                        <a:t> rather than complex neural networks when modeling low-density laboratory datasets.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04306"/>
                  </a:ext>
                </a:extLst>
              </a:tr>
              <a:tr h="937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Embed real-time decay sliders</a:t>
                      </a:r>
                      <a:r>
                        <a:rPr lang="en-US" sz="2800"/>
                        <a:t> in grower-facing logistics software to dynamically estimate produce shipping lifespans.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Leverage spatial cellular modeling (ABM)</a:t>
                      </a:r>
                      <a:r>
                        <a:rPr lang="en-US" sz="2800" dirty="0"/>
                        <a:t> to simulate uneven decay distribution across bulk storage containers.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6485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75DA081F-A637-7983-2052-1ECC37982D0E}"/>
              </a:ext>
            </a:extLst>
          </p:cNvPr>
          <p:cNvSpPr txBox="1"/>
          <p:nvPr/>
        </p:nvSpPr>
        <p:spPr>
          <a:xfrm>
            <a:off x="1542962" y="39365054"/>
            <a:ext cx="236835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Limitations:</a:t>
            </a:r>
            <a:r>
              <a:rPr lang="en-US" sz="4400" dirty="0"/>
              <a:t> Low-density sampling intervals (Days 0, 4, 7) · Evaluation restricted to Romaine Lettuce tissue · Constant laboratory storage conditions rather than variable real-world shipping temperature/humidity stress</a:t>
            </a:r>
          </a:p>
        </p:txBody>
      </p:sp>
    </p:spTree>
    <p:extLst>
      <p:ext uri="{BB962C8B-B14F-4D97-AF65-F5344CB8AC3E}">
        <p14:creationId xmlns:p14="http://schemas.microsoft.com/office/powerpoint/2010/main" val="72883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338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Rounded MT Bold</vt:lpstr>
      <vt:lpstr>Calibri</vt:lpstr>
      <vt:lpstr>Courier New</vt:lpstr>
      <vt:lpstr>Georgia</vt:lpstr>
      <vt:lpstr>Noto Sans Symbols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Yoni Grinberg</dc:creator>
  <cp:lastModifiedBy>Yoni Grinberg</cp:lastModifiedBy>
  <cp:revision>18</cp:revision>
  <dcterms:created xsi:type="dcterms:W3CDTF">2026-06-29T03:40:28Z</dcterms:created>
  <dcterms:modified xsi:type="dcterms:W3CDTF">2026-06-29T18:08:05Z</dcterms:modified>
</cp:coreProperties>
</file>