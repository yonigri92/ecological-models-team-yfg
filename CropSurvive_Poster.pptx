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42803763" cy="302752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2" y="-6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835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65"/>
          <p:cNvSpPr/>
          <p:nvPr/>
        </p:nvSpPr>
        <p:spPr>
          <a:xfrm>
            <a:off x="10442162" y="20320191"/>
            <a:ext cx="9390888" cy="21863304"/>
          </a:xfrm>
          <a:prstGeom prst="roundRect">
            <a:avLst>
              <a:gd name="adj" fmla="val 1168"/>
            </a:avLst>
          </a:prstGeom>
          <a:solidFill>
            <a:srgbClr val="FFFFFF"/>
          </a:solidFill>
          <a:ln w="12700">
            <a:solidFill>
              <a:srgbClr val="C5D9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Shape 71"/>
          <p:cNvSpPr/>
          <p:nvPr/>
        </p:nvSpPr>
        <p:spPr>
          <a:xfrm>
            <a:off x="10670762" y="21808440"/>
            <a:ext cx="8933688" cy="530352"/>
          </a:xfrm>
          <a:prstGeom prst="roundRect">
            <a:avLst>
              <a:gd name="adj" fmla="val 10345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3"/>
          <p:cNvSpPr/>
          <p:nvPr/>
        </p:nvSpPr>
        <p:spPr>
          <a:xfrm>
            <a:off x="10698480" y="22494240"/>
            <a:ext cx="8933688" cy="530352"/>
          </a:xfrm>
          <a:prstGeom prst="roundRect">
            <a:avLst>
              <a:gd name="adj" fmla="val 10345"/>
            </a:avLst>
          </a:prstGeom>
          <a:solidFill>
            <a:srgbClr val="FF0000"/>
          </a:solidFill>
          <a:ln w="12700">
            <a:solidFill>
              <a:srgbClr val="E078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5"/>
          <p:cNvSpPr/>
          <p:nvPr/>
        </p:nvSpPr>
        <p:spPr>
          <a:xfrm>
            <a:off x="10698480" y="23134320"/>
            <a:ext cx="8933688" cy="530352"/>
          </a:xfrm>
          <a:prstGeom prst="roundRect">
            <a:avLst>
              <a:gd name="adj" fmla="val 10345"/>
            </a:avLst>
          </a:prstGeom>
          <a:solidFill>
            <a:schemeClr val="tx1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25246584" y="-1828800"/>
            <a:ext cx="7315200" cy="7315200"/>
          </a:xfrm>
          <a:prstGeom prst="ellipse">
            <a:avLst/>
          </a:prstGeom>
          <a:solidFill>
            <a:srgbClr val="D8EDD6">
              <a:alpha val="60000"/>
            </a:srgbClr>
          </a:solidFill>
          <a:ln w="12700">
            <a:solidFill>
              <a:srgbClr val="D8E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6160984" y="-914400"/>
            <a:ext cx="5486400" cy="5486400"/>
          </a:xfrm>
          <a:prstGeom prst="ellipse">
            <a:avLst/>
          </a:prstGeom>
          <a:solidFill>
            <a:srgbClr val="F5F2EC"/>
          </a:solidFill>
          <a:ln w="12700">
            <a:solidFill>
              <a:srgbClr val="F5F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0275784" cy="3291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0275784" cy="16459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594360"/>
            <a:ext cx="30275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kern="0" spc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SURVIVE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0" y="1965960"/>
            <a:ext cx="30275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ED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Platform for Shelf-Life Prediction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0" y="2633472"/>
            <a:ext cx="30275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4B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&amp; Presented by: Yoni Grinberg     |     Supervisor: Dr. Unkelos Shpigel Naomi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9390888" cy="502920"/>
          </a:xfrm>
          <a:prstGeom prst="roundRect">
            <a:avLst>
              <a:gd name="adj" fmla="val 1454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3803904"/>
            <a:ext cx="9116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9390888" cy="91440"/>
          </a:xfrm>
          <a:prstGeom prst="roundRect">
            <a:avLst>
              <a:gd name="adj" fmla="val 6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9390888" cy="65836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5D9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1248" y="4645152"/>
            <a:ext cx="4347972" cy="384048"/>
          </a:xfrm>
          <a:prstGeom prst="roundRect">
            <a:avLst>
              <a:gd name="adj" fmla="val 19048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" y="4645152"/>
            <a:ext cx="4347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1 — Inhibition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1248" y="5120640"/>
            <a:ext cx="89885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3200" dirty="0">
                <a:solidFill>
                  <a:srgbClr val="1C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 a higher concentration of protective lactic acid bacteria inhibit the replication of spoilage microflora, thereby reducing the overall decay rate of the lettuce?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841248" y="7406640"/>
            <a:ext cx="8988552" cy="0"/>
          </a:xfrm>
          <a:prstGeom prst="line">
            <a:avLst/>
          </a:prstGeom>
          <a:noFill/>
          <a:ln w="12700">
            <a:solidFill>
              <a:srgbClr val="EDD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1248" y="7635240"/>
            <a:ext cx="4187952" cy="384048"/>
          </a:xfrm>
          <a:prstGeom prst="roundRect">
            <a:avLst>
              <a:gd name="adj" fmla="val 19048"/>
            </a:avLst>
          </a:prstGeom>
          <a:solidFill>
            <a:srgbClr val="74B49B"/>
          </a:solidFill>
          <a:ln w="12700">
            <a:solidFill>
              <a:srgbClr val="74B4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1247" y="7635240"/>
            <a:ext cx="41879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2 — Kinetics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41248" y="8119872"/>
            <a:ext cx="89885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3200" dirty="0">
                <a:solidFill>
                  <a:srgbClr val="1C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 the overall rate of lettuce tissue decay accelerate over time as a direct consequence of the natural mortality and depletion of the protective lactic bacteria?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896112" y="10149840"/>
            <a:ext cx="2886456" cy="749808"/>
          </a:xfrm>
          <a:prstGeom prst="roundRect">
            <a:avLst>
              <a:gd name="adj" fmla="val 9756"/>
            </a:avLst>
          </a:prstGeom>
          <a:solidFill>
            <a:srgbClr val="EBF3EE"/>
          </a:solidFill>
          <a:ln w="12700">
            <a:solidFill>
              <a:srgbClr val="C5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036" y="10177272"/>
            <a:ext cx="292608" cy="29260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96112" y="10469880"/>
            <a:ext cx="2886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Bacteria Competition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892296" y="10149840"/>
            <a:ext cx="2886456" cy="749808"/>
          </a:xfrm>
          <a:prstGeom prst="roundRect">
            <a:avLst>
              <a:gd name="adj" fmla="val 9756"/>
            </a:avLst>
          </a:prstGeom>
          <a:solidFill>
            <a:srgbClr val="EBF3EE"/>
          </a:solidFill>
          <a:ln w="12700">
            <a:solidFill>
              <a:srgbClr val="C5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220" y="10177272"/>
            <a:ext cx="292608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892296" y="10469880"/>
            <a:ext cx="2886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Decay Kinetics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888480" y="10149840"/>
            <a:ext cx="2886456" cy="749808"/>
          </a:xfrm>
          <a:prstGeom prst="roundRect">
            <a:avLst>
              <a:gd name="adj" fmla="val 9756"/>
            </a:avLst>
          </a:prstGeom>
          <a:solidFill>
            <a:srgbClr val="EBF3EE"/>
          </a:solidFill>
          <a:ln w="12700">
            <a:solidFill>
              <a:srgbClr val="C5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5404" y="10177272"/>
            <a:ext cx="292608" cy="29260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888480" y="10469880"/>
            <a:ext cx="2886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Shelf-Life Extension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40080" y="11384280"/>
            <a:ext cx="9390888" cy="502920"/>
          </a:xfrm>
          <a:prstGeom prst="roundRect">
            <a:avLst>
              <a:gd name="adj" fmla="val 1454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804672" y="11393424"/>
            <a:ext cx="9116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DESIGN</a:t>
            </a:r>
            <a:endParaRPr lang="en-US" sz="1800" dirty="0"/>
          </a:p>
        </p:txBody>
      </p:sp>
      <p:sp>
        <p:nvSpPr>
          <p:cNvPr id="33" name="Shape 28"/>
          <p:cNvSpPr/>
          <p:nvPr/>
        </p:nvSpPr>
        <p:spPr>
          <a:xfrm>
            <a:off x="640080" y="11384280"/>
            <a:ext cx="9390888" cy="91440"/>
          </a:xfrm>
          <a:prstGeom prst="roundRect">
            <a:avLst>
              <a:gd name="adj" fmla="val 6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640080" y="11978640"/>
            <a:ext cx="9390888" cy="24972264"/>
          </a:xfrm>
          <a:prstGeom prst="roundRect">
            <a:avLst>
              <a:gd name="adj" fmla="val 1168"/>
            </a:avLst>
          </a:prstGeom>
          <a:solidFill>
            <a:srgbClr val="FFFFFF"/>
          </a:solidFill>
          <a:ln w="12700">
            <a:solidFill>
              <a:srgbClr val="C5D9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841248" y="12207240"/>
            <a:ext cx="8988552" cy="5927598"/>
          </a:xfrm>
          <a:prstGeom prst="roundRect">
            <a:avLst>
              <a:gd name="adj" fmla="val 1234"/>
            </a:avLst>
          </a:prstGeom>
          <a:solidFill>
            <a:srgbClr val="EBF3EE"/>
          </a:solidFill>
          <a:ln w="12700">
            <a:solidFill>
              <a:srgbClr val="C5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987552" y="12335256"/>
            <a:ext cx="8695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Formulations</a:t>
            </a:r>
            <a:endParaRPr lang="en-US" sz="2800" dirty="0"/>
          </a:p>
        </p:txBody>
      </p:sp>
      <p:sp>
        <p:nvSpPr>
          <p:cNvPr id="37" name="Text 32"/>
          <p:cNvSpPr/>
          <p:nvPr/>
        </p:nvSpPr>
        <p:spPr>
          <a:xfrm>
            <a:off x="987552" y="12737592"/>
            <a:ext cx="8695944" cy="5287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4A6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distinct bio-coating formulations evaluated across all experimental conditions — including an untreated control group for baseline comparison.</a:t>
            </a:r>
            <a:endParaRPr lang="en-US" sz="4000" dirty="0"/>
          </a:p>
        </p:txBody>
      </p:sp>
      <p:sp>
        <p:nvSpPr>
          <p:cNvPr id="38" name="Shape 33"/>
          <p:cNvSpPr/>
          <p:nvPr/>
        </p:nvSpPr>
        <p:spPr>
          <a:xfrm>
            <a:off x="841248" y="18336006"/>
            <a:ext cx="8988552" cy="5927598"/>
          </a:xfrm>
          <a:prstGeom prst="roundRect">
            <a:avLst>
              <a:gd name="adj" fmla="val 1234"/>
            </a:avLst>
          </a:prstGeom>
          <a:solidFill>
            <a:srgbClr val="EBF3EE"/>
          </a:solidFill>
          <a:ln w="12700">
            <a:solidFill>
              <a:srgbClr val="C5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987552" y="18464022"/>
            <a:ext cx="8695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2800" dirty="0"/>
          </a:p>
        </p:txBody>
      </p:sp>
      <p:sp>
        <p:nvSpPr>
          <p:cNvPr id="40" name="Text 35"/>
          <p:cNvSpPr/>
          <p:nvPr/>
        </p:nvSpPr>
        <p:spPr>
          <a:xfrm>
            <a:off x="987552" y="18866358"/>
            <a:ext cx="8695944" cy="5287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4A6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21-day post-harvest study with structured data collection at Days 0, 4, and 7 — capturing early, mid, and late-stage decay progression.</a:t>
            </a:r>
            <a:endParaRPr lang="en-US" sz="4000" dirty="0"/>
          </a:p>
        </p:txBody>
      </p:sp>
      <p:sp>
        <p:nvSpPr>
          <p:cNvPr id="41" name="Shape 36"/>
          <p:cNvSpPr/>
          <p:nvPr/>
        </p:nvSpPr>
        <p:spPr>
          <a:xfrm>
            <a:off x="841248" y="24464772"/>
            <a:ext cx="8988552" cy="5927598"/>
          </a:xfrm>
          <a:prstGeom prst="roundRect">
            <a:avLst>
              <a:gd name="adj" fmla="val 1234"/>
            </a:avLst>
          </a:prstGeom>
          <a:solidFill>
            <a:srgbClr val="EBF3EE"/>
          </a:solidFill>
          <a:ln w="12700">
            <a:solidFill>
              <a:srgbClr val="C5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7"/>
          <p:cNvSpPr/>
          <p:nvPr/>
        </p:nvSpPr>
        <p:spPr>
          <a:xfrm>
            <a:off x="987552" y="24592788"/>
            <a:ext cx="8695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Acquisition</a:t>
            </a:r>
            <a:endParaRPr lang="en-US" sz="2800" dirty="0"/>
          </a:p>
        </p:txBody>
      </p:sp>
      <p:sp>
        <p:nvSpPr>
          <p:cNvPr id="43" name="Text 38"/>
          <p:cNvSpPr/>
          <p:nvPr/>
        </p:nvSpPr>
        <p:spPr>
          <a:xfrm>
            <a:off x="987552" y="24995124"/>
            <a:ext cx="8695944" cy="5287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4A6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dependent variables tracked across all formulations and control groups, including visual tissue integrity, microbial counts, and structural measurements.</a:t>
            </a:r>
            <a:endParaRPr lang="en-US" sz="4000" dirty="0"/>
          </a:p>
        </p:txBody>
      </p:sp>
      <p:sp>
        <p:nvSpPr>
          <p:cNvPr id="44" name="Shape 39"/>
          <p:cNvSpPr/>
          <p:nvPr/>
        </p:nvSpPr>
        <p:spPr>
          <a:xfrm>
            <a:off x="841248" y="30593538"/>
            <a:ext cx="8988552" cy="5927598"/>
          </a:xfrm>
          <a:prstGeom prst="roundRect">
            <a:avLst>
              <a:gd name="adj" fmla="val 1234"/>
            </a:avLst>
          </a:prstGeom>
          <a:solidFill>
            <a:srgbClr val="EBF3EE"/>
          </a:solidFill>
          <a:ln w="12700">
            <a:solidFill>
              <a:srgbClr val="C5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987552" y="30721554"/>
            <a:ext cx="8695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Framework</a:t>
            </a:r>
            <a:endParaRPr lang="en-US" sz="2800" dirty="0"/>
          </a:p>
        </p:txBody>
      </p:sp>
      <p:sp>
        <p:nvSpPr>
          <p:cNvPr id="46" name="Text 41"/>
          <p:cNvSpPr/>
          <p:nvPr/>
        </p:nvSpPr>
        <p:spPr>
          <a:xfrm>
            <a:off x="987552" y="31123890"/>
            <a:ext cx="8695944" cy="5287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4A6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of Principal Component Analysis (PCA), competitive Lotka-Volterra ODE solver, and spatial Agent-Based Modeling (ABM) to synthesize and validate decay kinetics across formulations.</a:t>
            </a:r>
            <a:endParaRPr lang="en-US" sz="4000" dirty="0"/>
          </a:p>
        </p:txBody>
      </p:sp>
      <p:sp>
        <p:nvSpPr>
          <p:cNvPr id="47" name="Shape 42"/>
          <p:cNvSpPr/>
          <p:nvPr/>
        </p:nvSpPr>
        <p:spPr>
          <a:xfrm>
            <a:off x="640080" y="37362384"/>
            <a:ext cx="9390888" cy="502920"/>
          </a:xfrm>
          <a:prstGeom prst="roundRect">
            <a:avLst>
              <a:gd name="adj" fmla="val 1454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804672" y="37371528"/>
            <a:ext cx="9116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LIMITATIONS</a:t>
            </a:r>
            <a:endParaRPr lang="en-US" sz="1800" dirty="0"/>
          </a:p>
        </p:txBody>
      </p:sp>
      <p:sp>
        <p:nvSpPr>
          <p:cNvPr id="49" name="Shape 44"/>
          <p:cNvSpPr/>
          <p:nvPr/>
        </p:nvSpPr>
        <p:spPr>
          <a:xfrm>
            <a:off x="640080" y="37362384"/>
            <a:ext cx="9390888" cy="91440"/>
          </a:xfrm>
          <a:prstGeom prst="roundRect">
            <a:avLst>
              <a:gd name="adj" fmla="val 6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5"/>
          <p:cNvSpPr/>
          <p:nvPr/>
        </p:nvSpPr>
        <p:spPr>
          <a:xfrm>
            <a:off x="640080" y="37956744"/>
            <a:ext cx="9390888" cy="4206240"/>
          </a:xfrm>
          <a:prstGeom prst="roundRect">
            <a:avLst>
              <a:gd name="adj" fmla="val 2609"/>
            </a:avLst>
          </a:prstGeom>
          <a:solidFill>
            <a:srgbClr val="FDF6EC"/>
          </a:solidFill>
          <a:ln w="12700">
            <a:solidFill>
              <a:srgbClr val="C8973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6"/>
          <p:cNvSpPr/>
          <p:nvPr/>
        </p:nvSpPr>
        <p:spPr>
          <a:xfrm>
            <a:off x="868680" y="38304216"/>
            <a:ext cx="201168" cy="201168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/>
          <p:nvPr/>
        </p:nvSpPr>
        <p:spPr>
          <a:xfrm>
            <a:off x="1170432" y="38212776"/>
            <a:ext cx="86776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1C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Low-density sampling intervals (Days 0, 4, 7 only)</a:t>
            </a:r>
            <a:endParaRPr lang="en-US" sz="2800" dirty="0"/>
          </a:p>
        </p:txBody>
      </p:sp>
      <p:sp>
        <p:nvSpPr>
          <p:cNvPr id="53" name="Shape 48"/>
          <p:cNvSpPr/>
          <p:nvPr/>
        </p:nvSpPr>
        <p:spPr>
          <a:xfrm>
            <a:off x="868680" y="39492936"/>
            <a:ext cx="201168" cy="201168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9"/>
          <p:cNvSpPr/>
          <p:nvPr/>
        </p:nvSpPr>
        <p:spPr>
          <a:xfrm>
            <a:off x="1170432" y="39401496"/>
            <a:ext cx="86776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1C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restricted to Romaine Lettuce tissue</a:t>
            </a:r>
            <a:endParaRPr lang="en-US" sz="3200" dirty="0"/>
          </a:p>
        </p:txBody>
      </p:sp>
      <p:sp>
        <p:nvSpPr>
          <p:cNvPr id="55" name="Shape 50"/>
          <p:cNvSpPr/>
          <p:nvPr/>
        </p:nvSpPr>
        <p:spPr>
          <a:xfrm>
            <a:off x="868680" y="40681656"/>
            <a:ext cx="201168" cy="201168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1"/>
          <p:cNvSpPr/>
          <p:nvPr/>
        </p:nvSpPr>
        <p:spPr>
          <a:xfrm>
            <a:off x="1170432" y="40590216"/>
            <a:ext cx="86776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1C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 lab conditions — real-world shipping temperature &amp; humidity stress not modeled</a:t>
            </a:r>
            <a:endParaRPr lang="en-US" sz="2800" dirty="0"/>
          </a:p>
        </p:txBody>
      </p:sp>
      <p:sp>
        <p:nvSpPr>
          <p:cNvPr id="57" name="Shape 52"/>
          <p:cNvSpPr/>
          <p:nvPr/>
        </p:nvSpPr>
        <p:spPr>
          <a:xfrm>
            <a:off x="10442448" y="3794760"/>
            <a:ext cx="9390888" cy="502920"/>
          </a:xfrm>
          <a:prstGeom prst="roundRect">
            <a:avLst>
              <a:gd name="adj" fmla="val 1454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3"/>
          <p:cNvSpPr/>
          <p:nvPr/>
        </p:nvSpPr>
        <p:spPr>
          <a:xfrm>
            <a:off x="10607040" y="3803904"/>
            <a:ext cx="9116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LOTKA-VOLTERRA COMPETITION MODEL</a:t>
            </a:r>
            <a:endParaRPr lang="en-US" sz="1800" dirty="0"/>
          </a:p>
        </p:txBody>
      </p:sp>
      <p:sp>
        <p:nvSpPr>
          <p:cNvPr id="59" name="Shape 54"/>
          <p:cNvSpPr/>
          <p:nvPr/>
        </p:nvSpPr>
        <p:spPr>
          <a:xfrm>
            <a:off x="10442448" y="3794760"/>
            <a:ext cx="9390888" cy="91440"/>
          </a:xfrm>
          <a:prstGeom prst="roundRect">
            <a:avLst>
              <a:gd name="adj" fmla="val 6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5"/>
          <p:cNvSpPr/>
          <p:nvPr/>
        </p:nvSpPr>
        <p:spPr>
          <a:xfrm>
            <a:off x="10442448" y="4389120"/>
            <a:ext cx="9390888" cy="676656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C5D9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Text 56"/>
          <p:cNvSpPr/>
          <p:nvPr/>
        </p:nvSpPr>
        <p:spPr>
          <a:xfrm>
            <a:off x="10643616" y="4553712"/>
            <a:ext cx="8988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i="1" dirty="0">
                <a:solidFill>
                  <a:srgbClr val="4A6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bacterial dynamics — 50-day simulation of spoilage vs. protective populations</a:t>
            </a:r>
            <a:endParaRPr lang="en-US" dirty="0"/>
          </a:p>
        </p:txBody>
      </p:sp>
      <p:sp>
        <p:nvSpPr>
          <p:cNvPr id="63" name="Shape 57"/>
          <p:cNvSpPr/>
          <p:nvPr/>
        </p:nvSpPr>
        <p:spPr>
          <a:xfrm>
            <a:off x="10442448" y="11567160"/>
            <a:ext cx="9390888" cy="502920"/>
          </a:xfrm>
          <a:prstGeom prst="roundRect">
            <a:avLst>
              <a:gd name="adj" fmla="val 1454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8"/>
          <p:cNvSpPr/>
          <p:nvPr/>
        </p:nvSpPr>
        <p:spPr>
          <a:xfrm>
            <a:off x="10607040" y="11576304"/>
            <a:ext cx="9116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SHELF-LIFE ESTIMATION</a:t>
            </a:r>
            <a:endParaRPr lang="en-US" sz="1800" dirty="0"/>
          </a:p>
        </p:txBody>
      </p:sp>
      <p:sp>
        <p:nvSpPr>
          <p:cNvPr id="65" name="Shape 59"/>
          <p:cNvSpPr/>
          <p:nvPr/>
        </p:nvSpPr>
        <p:spPr>
          <a:xfrm>
            <a:off x="10442448" y="11567160"/>
            <a:ext cx="9390888" cy="91440"/>
          </a:xfrm>
          <a:prstGeom prst="roundRect">
            <a:avLst>
              <a:gd name="adj" fmla="val 6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0"/>
          <p:cNvSpPr/>
          <p:nvPr/>
        </p:nvSpPr>
        <p:spPr>
          <a:xfrm>
            <a:off x="10442448" y="12161520"/>
            <a:ext cx="9390888" cy="71323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C5D9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Text 61"/>
          <p:cNvSpPr/>
          <p:nvPr/>
        </p:nvSpPr>
        <p:spPr>
          <a:xfrm>
            <a:off x="10643616" y="12326112"/>
            <a:ext cx="8988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4A6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2nd-degree polynomial regression — decay score by formulation over 14 days</a:t>
            </a:r>
            <a:endParaRPr lang="en-US" sz="2000" dirty="0"/>
          </a:p>
        </p:txBody>
      </p:sp>
      <p:sp>
        <p:nvSpPr>
          <p:cNvPr id="69" name="Shape 62"/>
          <p:cNvSpPr/>
          <p:nvPr/>
        </p:nvSpPr>
        <p:spPr>
          <a:xfrm>
            <a:off x="10442448" y="19705320"/>
            <a:ext cx="9390888" cy="502920"/>
          </a:xfrm>
          <a:prstGeom prst="roundRect">
            <a:avLst>
              <a:gd name="adj" fmla="val 1454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3"/>
          <p:cNvSpPr/>
          <p:nvPr/>
        </p:nvSpPr>
        <p:spPr>
          <a:xfrm>
            <a:off x="10607040" y="19714464"/>
            <a:ext cx="9116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AGENT-BASED MODEL (ABM)</a:t>
            </a:r>
            <a:endParaRPr lang="en-US" sz="1800" dirty="0"/>
          </a:p>
        </p:txBody>
      </p:sp>
      <p:sp>
        <p:nvSpPr>
          <p:cNvPr id="71" name="Shape 64"/>
          <p:cNvSpPr/>
          <p:nvPr/>
        </p:nvSpPr>
        <p:spPr>
          <a:xfrm>
            <a:off x="10442448" y="19705320"/>
            <a:ext cx="9390888" cy="91440"/>
          </a:xfrm>
          <a:prstGeom prst="roundRect">
            <a:avLst>
              <a:gd name="adj" fmla="val 6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66"/>
          <p:cNvSpPr/>
          <p:nvPr/>
        </p:nvSpPr>
        <p:spPr>
          <a:xfrm>
            <a:off x="10643616" y="20500848"/>
            <a:ext cx="8988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4A6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decay distribution across 50×50 cell grid — microbial competition</a:t>
            </a:r>
            <a:endParaRPr lang="en-US" sz="2000" dirty="0"/>
          </a:p>
        </p:txBody>
      </p:sp>
      <p:sp>
        <p:nvSpPr>
          <p:cNvPr id="74" name="Shape 67"/>
          <p:cNvSpPr/>
          <p:nvPr/>
        </p:nvSpPr>
        <p:spPr>
          <a:xfrm>
            <a:off x="10671048" y="21104352"/>
            <a:ext cx="8933688" cy="530352"/>
          </a:xfrm>
          <a:prstGeom prst="roundRect">
            <a:avLst>
              <a:gd name="adj" fmla="val 10345"/>
            </a:avLst>
          </a:prstGeom>
          <a:solidFill>
            <a:schemeClr val="accent1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68"/>
          <p:cNvSpPr/>
          <p:nvPr/>
        </p:nvSpPr>
        <p:spPr>
          <a:xfrm>
            <a:off x="10899648" y="21104352"/>
            <a:ext cx="8476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Lactic Bacteria</a:t>
            </a:r>
            <a:endParaRPr lang="en-US" sz="2400" dirty="0"/>
          </a:p>
        </p:txBody>
      </p:sp>
      <p:sp>
        <p:nvSpPr>
          <p:cNvPr id="77" name="Text 70"/>
          <p:cNvSpPr/>
          <p:nvPr/>
        </p:nvSpPr>
        <p:spPr>
          <a:xfrm>
            <a:off x="10899362" y="21809964"/>
            <a:ext cx="8476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Emitted Ph </a:t>
            </a:r>
            <a:endParaRPr lang="en-US" sz="2400" dirty="0"/>
          </a:p>
        </p:txBody>
      </p:sp>
      <p:sp>
        <p:nvSpPr>
          <p:cNvPr id="79" name="Text 72"/>
          <p:cNvSpPr/>
          <p:nvPr/>
        </p:nvSpPr>
        <p:spPr>
          <a:xfrm>
            <a:off x="10899362" y="22492716"/>
            <a:ext cx="8476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Destructive bacteria's</a:t>
            </a:r>
            <a:endParaRPr lang="en-US" sz="2400" dirty="0"/>
          </a:p>
        </p:txBody>
      </p:sp>
      <p:sp>
        <p:nvSpPr>
          <p:cNvPr id="81" name="Text 74"/>
          <p:cNvSpPr/>
          <p:nvPr/>
        </p:nvSpPr>
        <p:spPr>
          <a:xfrm>
            <a:off x="10927080" y="23099967"/>
            <a:ext cx="8476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Decayed cells</a:t>
            </a:r>
            <a:endParaRPr lang="en-US" sz="2400" dirty="0"/>
          </a:p>
        </p:txBody>
      </p:sp>
      <p:sp>
        <p:nvSpPr>
          <p:cNvPr id="83" name="Text 76"/>
          <p:cNvSpPr/>
          <p:nvPr/>
        </p:nvSpPr>
        <p:spPr>
          <a:xfrm>
            <a:off x="10899648" y="23664672"/>
            <a:ext cx="8476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(tissue collapse)</a:t>
            </a:r>
            <a:endParaRPr lang="en-US" sz="1400" dirty="0"/>
          </a:p>
        </p:txBody>
      </p:sp>
      <p:sp>
        <p:nvSpPr>
          <p:cNvPr id="84" name="Text 77"/>
          <p:cNvSpPr/>
          <p:nvPr/>
        </p:nvSpPr>
        <p:spPr>
          <a:xfrm>
            <a:off x="10671048" y="24533352"/>
            <a:ext cx="8933688" cy="17492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1C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spatial ABM distributes 50×50 agents across simulated lettuce tissue. Each agent's state (healthy → decaying → necrotic) is governed by:</a:t>
            </a:r>
            <a:endParaRPr lang="en-US" sz="2800" dirty="0"/>
          </a:p>
          <a:p>
            <a:pPr marL="0" indent="0" algn="l">
              <a:buNone/>
            </a:pP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1C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Local lactic acid bacteria density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1C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Spoilage microflora competition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1C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Nutrient availability &amp; edge-proximity</a:t>
            </a:r>
            <a:endParaRPr lang="en-US" sz="2800" dirty="0"/>
          </a:p>
          <a:p>
            <a:pPr marL="0" indent="0" algn="l">
              <a:buNone/>
            </a:pP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1C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Decay propagates outward from the lettuce edge inward — matching observed real-world spoilage patterns. The model successfully replicates post-harvest tissue decay "tipping points" validated against experimental data.</a:t>
            </a:r>
            <a:endParaRPr lang="en-US" sz="2800" dirty="0"/>
          </a:p>
          <a:p>
            <a:pPr marL="0" indent="0" algn="l">
              <a:buNone/>
            </a:pP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1C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approach enables simulation of uneven spoilage across bulk storage containers, giving growers and logistics teams actionable insight into shelf-life variability before shipment.</a:t>
            </a:r>
            <a:endParaRPr lang="en-US" sz="2800" dirty="0"/>
          </a:p>
        </p:txBody>
      </p:sp>
      <p:sp>
        <p:nvSpPr>
          <p:cNvPr id="85" name="Shape 78"/>
          <p:cNvSpPr/>
          <p:nvPr/>
        </p:nvSpPr>
        <p:spPr>
          <a:xfrm>
            <a:off x="20244816" y="3794760"/>
            <a:ext cx="9390888" cy="502920"/>
          </a:xfrm>
          <a:prstGeom prst="roundRect">
            <a:avLst>
              <a:gd name="adj" fmla="val 1454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79"/>
          <p:cNvSpPr/>
          <p:nvPr/>
        </p:nvSpPr>
        <p:spPr>
          <a:xfrm>
            <a:off x="20409408" y="3803904"/>
            <a:ext cx="9116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DECAY RATE HEATMAP (Day 7)</a:t>
            </a:r>
            <a:endParaRPr lang="en-US" sz="1800" dirty="0"/>
          </a:p>
        </p:txBody>
      </p:sp>
      <p:sp>
        <p:nvSpPr>
          <p:cNvPr id="87" name="Shape 80"/>
          <p:cNvSpPr/>
          <p:nvPr/>
        </p:nvSpPr>
        <p:spPr>
          <a:xfrm>
            <a:off x="20244816" y="3794760"/>
            <a:ext cx="9390888" cy="91440"/>
          </a:xfrm>
          <a:prstGeom prst="roundRect">
            <a:avLst>
              <a:gd name="adj" fmla="val 6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1"/>
          <p:cNvSpPr/>
          <p:nvPr/>
        </p:nvSpPr>
        <p:spPr>
          <a:xfrm>
            <a:off x="20244816" y="4389120"/>
            <a:ext cx="9390888" cy="566928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C5D9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9" name="Text 82"/>
          <p:cNvSpPr/>
          <p:nvPr/>
        </p:nvSpPr>
        <p:spPr>
          <a:xfrm>
            <a:off x="20445984" y="4553712"/>
            <a:ext cx="8988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4A6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Formulation × Time — decay score comparison</a:t>
            </a:r>
            <a:endParaRPr lang="en-US" sz="2800" dirty="0"/>
          </a:p>
        </p:txBody>
      </p:sp>
      <p:sp>
        <p:nvSpPr>
          <p:cNvPr id="91" name="Shape 83"/>
          <p:cNvSpPr/>
          <p:nvPr/>
        </p:nvSpPr>
        <p:spPr>
          <a:xfrm>
            <a:off x="20244816" y="10469880"/>
            <a:ext cx="9390888" cy="502920"/>
          </a:xfrm>
          <a:prstGeom prst="roundRect">
            <a:avLst>
              <a:gd name="adj" fmla="val 1454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4"/>
          <p:cNvSpPr/>
          <p:nvPr/>
        </p:nvSpPr>
        <p:spPr>
          <a:xfrm>
            <a:off x="20409408" y="10479024"/>
            <a:ext cx="9116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93" name="Shape 85"/>
          <p:cNvSpPr/>
          <p:nvPr/>
        </p:nvSpPr>
        <p:spPr>
          <a:xfrm>
            <a:off x="20244816" y="10469880"/>
            <a:ext cx="9390888" cy="91440"/>
          </a:xfrm>
          <a:prstGeom prst="roundRect">
            <a:avLst>
              <a:gd name="adj" fmla="val 6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86"/>
          <p:cNvSpPr/>
          <p:nvPr/>
        </p:nvSpPr>
        <p:spPr>
          <a:xfrm>
            <a:off x="20244816" y="11064240"/>
            <a:ext cx="9390888" cy="64008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5D9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5" name="Shape 87"/>
          <p:cNvSpPr/>
          <p:nvPr/>
        </p:nvSpPr>
        <p:spPr>
          <a:xfrm>
            <a:off x="20473416" y="11503152"/>
            <a:ext cx="237744" cy="237744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88"/>
          <p:cNvSpPr/>
          <p:nvPr/>
        </p:nvSpPr>
        <p:spPr>
          <a:xfrm>
            <a:off x="20811744" y="11384280"/>
            <a:ext cx="8641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CMC-3-methyl+C</a:t>
            </a:r>
            <a:r>
              <a:rPr lang="en-US" sz="2400" dirty="0">
                <a:solidFill>
                  <a:srgbClr val="1C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exhibits superior decay mitigation, yielding outstanding structural integrity preservation vs. untreated control by Day 7.</a:t>
            </a:r>
            <a:endParaRPr lang="en-US" sz="2400" dirty="0"/>
          </a:p>
        </p:txBody>
      </p:sp>
      <p:sp>
        <p:nvSpPr>
          <p:cNvPr id="97" name="Shape 89"/>
          <p:cNvSpPr/>
          <p:nvPr/>
        </p:nvSpPr>
        <p:spPr>
          <a:xfrm>
            <a:off x="20473416" y="13103352"/>
            <a:ext cx="237744" cy="237744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0"/>
          <p:cNvSpPr/>
          <p:nvPr/>
        </p:nvSpPr>
        <p:spPr>
          <a:xfrm>
            <a:off x="20811744" y="12984480"/>
            <a:ext cx="8641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2nd-degree polynomial regression</a:t>
            </a:r>
            <a:r>
              <a:rPr lang="en-US" sz="2800" dirty="0">
                <a:solidFill>
                  <a:srgbClr val="1C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delivers highly stable predictive trends on sparse datasets (Days 0, 4, 7) without overfitting — ideal for low-density lab data.</a:t>
            </a:r>
            <a:endParaRPr lang="en-US" sz="2800" dirty="0"/>
          </a:p>
        </p:txBody>
      </p:sp>
      <p:sp>
        <p:nvSpPr>
          <p:cNvPr id="99" name="Shape 91"/>
          <p:cNvSpPr/>
          <p:nvPr/>
        </p:nvSpPr>
        <p:spPr>
          <a:xfrm>
            <a:off x="20473416" y="14703552"/>
            <a:ext cx="237744" cy="237744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2"/>
          <p:cNvSpPr/>
          <p:nvPr/>
        </p:nvSpPr>
        <p:spPr>
          <a:xfrm>
            <a:off x="20811744" y="14584680"/>
            <a:ext cx="8641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Lotka-Volterra ODE + ABM</a:t>
            </a:r>
            <a:r>
              <a:rPr lang="en-US" sz="2800" dirty="0">
                <a:solidFill>
                  <a:srgbClr val="1C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successfully replicate post-harvest tissue decay tipping points, providing accurate qualitative validation for experimental observations.</a:t>
            </a:r>
            <a:endParaRPr lang="en-US" sz="2800" dirty="0"/>
          </a:p>
        </p:txBody>
      </p:sp>
      <p:sp>
        <p:nvSpPr>
          <p:cNvPr id="101" name="Shape 93"/>
          <p:cNvSpPr/>
          <p:nvPr/>
        </p:nvSpPr>
        <p:spPr>
          <a:xfrm>
            <a:off x="20445984" y="16276320"/>
            <a:ext cx="8988552" cy="1188720"/>
          </a:xfrm>
          <a:prstGeom prst="roundRect">
            <a:avLst>
              <a:gd name="adj" fmla="val 9231"/>
            </a:avLst>
          </a:prstGeom>
          <a:solidFill>
            <a:srgbClr val="1B4332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94"/>
          <p:cNvSpPr/>
          <p:nvPr/>
        </p:nvSpPr>
        <p:spPr>
          <a:xfrm>
            <a:off x="20445984" y="16276320"/>
            <a:ext cx="8988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Top Performer: CMC-3-methyl+A</a:t>
            </a:r>
            <a:endParaRPr lang="en-US" sz="1800" dirty="0"/>
          </a:p>
        </p:txBody>
      </p:sp>
      <p:sp>
        <p:nvSpPr>
          <p:cNvPr id="103" name="Text 95"/>
          <p:cNvSpPr/>
          <p:nvPr/>
        </p:nvSpPr>
        <p:spPr>
          <a:xfrm>
            <a:off x="20445984" y="16879824"/>
            <a:ext cx="8988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effective bio-coating across all measured metrics</a:t>
            </a:r>
            <a:endParaRPr lang="en-US" sz="2800" dirty="0"/>
          </a:p>
        </p:txBody>
      </p:sp>
      <p:sp>
        <p:nvSpPr>
          <p:cNvPr id="104" name="Shape 96"/>
          <p:cNvSpPr/>
          <p:nvPr/>
        </p:nvSpPr>
        <p:spPr>
          <a:xfrm>
            <a:off x="20244816" y="17876520"/>
            <a:ext cx="9390888" cy="502920"/>
          </a:xfrm>
          <a:prstGeom prst="roundRect">
            <a:avLst>
              <a:gd name="adj" fmla="val 1454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97"/>
          <p:cNvSpPr/>
          <p:nvPr/>
        </p:nvSpPr>
        <p:spPr>
          <a:xfrm>
            <a:off x="20409408" y="17885664"/>
            <a:ext cx="9116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&amp; RECOMMENDATIONS</a:t>
            </a:r>
            <a:endParaRPr lang="en-US" sz="1800" dirty="0"/>
          </a:p>
        </p:txBody>
      </p:sp>
      <p:sp>
        <p:nvSpPr>
          <p:cNvPr id="106" name="Shape 98"/>
          <p:cNvSpPr/>
          <p:nvPr/>
        </p:nvSpPr>
        <p:spPr>
          <a:xfrm>
            <a:off x="20244816" y="17876520"/>
            <a:ext cx="9390888" cy="91440"/>
          </a:xfrm>
          <a:prstGeom prst="roundRect">
            <a:avLst>
              <a:gd name="adj" fmla="val 6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99"/>
          <p:cNvSpPr/>
          <p:nvPr/>
        </p:nvSpPr>
        <p:spPr>
          <a:xfrm>
            <a:off x="20244816" y="18470880"/>
            <a:ext cx="9390888" cy="23692104"/>
          </a:xfrm>
          <a:prstGeom prst="roundRect">
            <a:avLst>
              <a:gd name="adj" fmla="val 1168"/>
            </a:avLst>
          </a:prstGeom>
          <a:solidFill>
            <a:srgbClr val="FFFFFF"/>
          </a:solidFill>
          <a:ln w="12700">
            <a:solidFill>
              <a:srgbClr val="C5D9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8" name="Shape 100"/>
          <p:cNvSpPr/>
          <p:nvPr/>
        </p:nvSpPr>
        <p:spPr>
          <a:xfrm>
            <a:off x="20445984" y="18726912"/>
            <a:ext cx="8988552" cy="2331720"/>
          </a:xfrm>
          <a:prstGeom prst="roundRect">
            <a:avLst>
              <a:gd name="adj" fmla="val 3922"/>
            </a:avLst>
          </a:prstGeom>
          <a:solidFill>
            <a:srgbClr val="1B4332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1"/>
          <p:cNvSpPr/>
          <p:nvPr/>
        </p:nvSpPr>
        <p:spPr>
          <a:xfrm>
            <a:off x="20537424" y="18891504"/>
            <a:ext cx="658368" cy="6583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74B4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8008" y="18992088"/>
            <a:ext cx="457200" cy="457200"/>
          </a:xfrm>
          <a:prstGeom prst="rect">
            <a:avLst/>
          </a:prstGeom>
        </p:spPr>
      </p:pic>
      <p:sp>
        <p:nvSpPr>
          <p:cNvPr id="111" name="Text 102"/>
          <p:cNvSpPr/>
          <p:nvPr/>
        </p:nvSpPr>
        <p:spPr>
          <a:xfrm>
            <a:off x="21323808" y="18891504"/>
            <a:ext cx="8019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8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Microbial Bio-Coatings</a:t>
            </a:r>
            <a:endParaRPr lang="en-US" sz="2800" dirty="0"/>
          </a:p>
        </p:txBody>
      </p:sp>
      <p:sp>
        <p:nvSpPr>
          <p:cNvPr id="112" name="Text 103"/>
          <p:cNvSpPr/>
          <p:nvPr/>
        </p:nvSpPr>
        <p:spPr>
          <a:xfrm>
            <a:off x="21323808" y="19366992"/>
            <a:ext cx="80192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CMC-3-methyl+A to significantly extend commercial shipping windows and reduce post-harvest losses.</a:t>
            </a:r>
            <a:endParaRPr lang="en-US" sz="2400" dirty="0"/>
          </a:p>
        </p:txBody>
      </p:sp>
      <p:sp>
        <p:nvSpPr>
          <p:cNvPr id="113" name="Shape 104"/>
          <p:cNvSpPr/>
          <p:nvPr/>
        </p:nvSpPr>
        <p:spPr>
          <a:xfrm>
            <a:off x="20445984" y="21314664"/>
            <a:ext cx="8988552" cy="2331720"/>
          </a:xfrm>
          <a:prstGeom prst="roundRect">
            <a:avLst>
              <a:gd name="adj" fmla="val 3922"/>
            </a:avLst>
          </a:prstGeom>
          <a:solidFill>
            <a:srgbClr val="1B4332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05"/>
          <p:cNvSpPr/>
          <p:nvPr/>
        </p:nvSpPr>
        <p:spPr>
          <a:xfrm>
            <a:off x="20537424" y="21479256"/>
            <a:ext cx="658368" cy="6583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74B4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8008" y="21579840"/>
            <a:ext cx="457200" cy="457200"/>
          </a:xfrm>
          <a:prstGeom prst="rect">
            <a:avLst/>
          </a:prstGeom>
        </p:spPr>
      </p:pic>
      <p:sp>
        <p:nvSpPr>
          <p:cNvPr id="116" name="Text 106"/>
          <p:cNvSpPr/>
          <p:nvPr/>
        </p:nvSpPr>
        <p:spPr>
          <a:xfrm>
            <a:off x="21323808" y="21479256"/>
            <a:ext cx="8019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Deterministic Fitting Algorithms</a:t>
            </a:r>
            <a:endParaRPr lang="en-US" sz="2400" dirty="0"/>
          </a:p>
        </p:txBody>
      </p:sp>
      <p:sp>
        <p:nvSpPr>
          <p:cNvPr id="117" name="Text 107"/>
          <p:cNvSpPr/>
          <p:nvPr/>
        </p:nvSpPr>
        <p:spPr>
          <a:xfrm>
            <a:off x="21323808" y="21954744"/>
            <a:ext cx="80192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 2nd-degree polynomial regression over complex neural networks for sparse lab datasets.</a:t>
            </a:r>
            <a:endParaRPr lang="en-US" sz="2800" dirty="0"/>
          </a:p>
        </p:txBody>
      </p:sp>
      <p:sp>
        <p:nvSpPr>
          <p:cNvPr id="118" name="Shape 108"/>
          <p:cNvSpPr/>
          <p:nvPr/>
        </p:nvSpPr>
        <p:spPr>
          <a:xfrm>
            <a:off x="20445984" y="23902416"/>
            <a:ext cx="8988552" cy="2331720"/>
          </a:xfrm>
          <a:prstGeom prst="roundRect">
            <a:avLst>
              <a:gd name="adj" fmla="val 3922"/>
            </a:avLst>
          </a:prstGeom>
          <a:solidFill>
            <a:srgbClr val="1B4332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09"/>
          <p:cNvSpPr/>
          <p:nvPr/>
        </p:nvSpPr>
        <p:spPr>
          <a:xfrm>
            <a:off x="20537424" y="24067008"/>
            <a:ext cx="658368" cy="6583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74B4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38008" y="24167592"/>
            <a:ext cx="457200" cy="457200"/>
          </a:xfrm>
          <a:prstGeom prst="rect">
            <a:avLst/>
          </a:prstGeom>
        </p:spPr>
      </p:pic>
      <p:sp>
        <p:nvSpPr>
          <p:cNvPr id="121" name="Text 110"/>
          <p:cNvSpPr/>
          <p:nvPr/>
        </p:nvSpPr>
        <p:spPr>
          <a:xfrm>
            <a:off x="21323808" y="24067008"/>
            <a:ext cx="8019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8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Real-Time Decay Sliders</a:t>
            </a:r>
            <a:endParaRPr lang="en-US" sz="2800" dirty="0"/>
          </a:p>
        </p:txBody>
      </p:sp>
      <p:sp>
        <p:nvSpPr>
          <p:cNvPr id="122" name="Text 111"/>
          <p:cNvSpPr/>
          <p:nvPr/>
        </p:nvSpPr>
        <p:spPr>
          <a:xfrm>
            <a:off x="21323808" y="24542496"/>
            <a:ext cx="80192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 dynamic decay estimation tools in grower-facing logistics software for live shelf-life projections.</a:t>
            </a:r>
            <a:endParaRPr lang="en-US" sz="2400" dirty="0"/>
          </a:p>
        </p:txBody>
      </p:sp>
      <p:sp>
        <p:nvSpPr>
          <p:cNvPr id="123" name="Shape 112"/>
          <p:cNvSpPr/>
          <p:nvPr/>
        </p:nvSpPr>
        <p:spPr>
          <a:xfrm>
            <a:off x="20445984" y="26490168"/>
            <a:ext cx="8988552" cy="2331720"/>
          </a:xfrm>
          <a:prstGeom prst="roundRect">
            <a:avLst>
              <a:gd name="adj" fmla="val 3922"/>
            </a:avLst>
          </a:prstGeom>
          <a:solidFill>
            <a:srgbClr val="1B4332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13"/>
          <p:cNvSpPr/>
          <p:nvPr/>
        </p:nvSpPr>
        <p:spPr>
          <a:xfrm>
            <a:off x="20537424" y="26654760"/>
            <a:ext cx="658368" cy="6583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74B4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638008" y="26755344"/>
            <a:ext cx="457200" cy="457200"/>
          </a:xfrm>
          <a:prstGeom prst="rect">
            <a:avLst/>
          </a:prstGeom>
        </p:spPr>
      </p:pic>
      <p:sp>
        <p:nvSpPr>
          <p:cNvPr id="126" name="Text 114"/>
          <p:cNvSpPr/>
          <p:nvPr/>
        </p:nvSpPr>
        <p:spPr>
          <a:xfrm>
            <a:off x="21323808" y="26654760"/>
            <a:ext cx="8019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8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Spatial Cellular Modeling</a:t>
            </a:r>
            <a:endParaRPr lang="en-US" sz="2800" dirty="0"/>
          </a:p>
        </p:txBody>
      </p:sp>
      <p:sp>
        <p:nvSpPr>
          <p:cNvPr id="127" name="Text 115"/>
          <p:cNvSpPr/>
          <p:nvPr/>
        </p:nvSpPr>
        <p:spPr>
          <a:xfrm>
            <a:off x="21323808" y="27130248"/>
            <a:ext cx="80192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ABM simulation to model uneven decay distribution across bulk produce storage containers.</a:t>
            </a:r>
            <a:endParaRPr lang="en-US" sz="2800" dirty="0"/>
          </a:p>
        </p:txBody>
      </p:sp>
      <p:sp>
        <p:nvSpPr>
          <p:cNvPr id="128" name="Shape 116"/>
          <p:cNvSpPr/>
          <p:nvPr/>
        </p:nvSpPr>
        <p:spPr>
          <a:xfrm>
            <a:off x="0" y="41998392"/>
            <a:ext cx="30275784" cy="8046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17"/>
          <p:cNvSpPr/>
          <p:nvPr/>
        </p:nvSpPr>
        <p:spPr>
          <a:xfrm>
            <a:off x="0" y="41998392"/>
            <a:ext cx="30275784" cy="9144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18"/>
          <p:cNvSpPr/>
          <p:nvPr/>
        </p:nvSpPr>
        <p:spPr>
          <a:xfrm>
            <a:off x="0" y="42053256"/>
            <a:ext cx="30275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SURVIVE  ·  Engineering Platform for Shelf-Life Prediction  ·  Braude College of Engineering</a:t>
            </a:r>
            <a:endParaRPr lang="en-US" sz="1400" dirty="0"/>
          </a:p>
        </p:txBody>
      </p:sp>
      <p:sp>
        <p:nvSpPr>
          <p:cNvPr id="131" name="Text 119"/>
          <p:cNvSpPr/>
          <p:nvPr/>
        </p:nvSpPr>
        <p:spPr>
          <a:xfrm>
            <a:off x="640080" y="4205325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4B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Yoni Grinberg</a:t>
            </a:r>
            <a:endParaRPr lang="en-US" sz="1300" dirty="0"/>
          </a:p>
        </p:txBody>
      </p:sp>
      <p:sp>
        <p:nvSpPr>
          <p:cNvPr id="132" name="Text 120"/>
          <p:cNvSpPr/>
          <p:nvPr/>
        </p:nvSpPr>
        <p:spPr>
          <a:xfrm>
            <a:off x="25063704" y="4205325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4B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Dr. Unkelos Shpigel Naomi</a:t>
            </a:r>
            <a:endParaRPr lang="en-US" sz="1300" dirty="0"/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B21C88D1-9A57-FE73-D5E1-48BEAACCB2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45984" y="5103622"/>
            <a:ext cx="9059749" cy="4637278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A5F7927D-6DEC-3E3C-5699-636A01F164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99648" y="5103622"/>
            <a:ext cx="8588502" cy="5631434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E9DFBA70-F9D2-098F-94E7-36DA3DE7458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71048" y="13019964"/>
            <a:ext cx="8817102" cy="5414340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38A08C72-EEBF-D64A-99CA-2D503B15B7F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98480" y="32187579"/>
            <a:ext cx="8476488" cy="859758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12A14D9-71FC-E880-D4D2-AEA662999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35" y="1207707"/>
            <a:ext cx="6429219" cy="1517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E6CE751C-8606-1EA9-7F22-17BAB34B2CA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445984" y="29172841"/>
            <a:ext cx="9006840" cy="6544588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BB299518-9516-53DD-CF76-0D695D71877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805035" y="438912"/>
            <a:ext cx="2411065" cy="24538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577</Words>
  <Application>Microsoft Office PowerPoint</Application>
  <PresentationFormat>Custom</PresentationFormat>
  <Paragraphs>65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Yoni Grinberg</cp:lastModifiedBy>
  <cp:revision>5</cp:revision>
  <dcterms:created xsi:type="dcterms:W3CDTF">2026-06-29T18:19:12Z</dcterms:created>
  <dcterms:modified xsi:type="dcterms:W3CDTF">2026-06-30T04:59:14Z</dcterms:modified>
</cp:coreProperties>
</file>