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gQPqqkSGFD4iUlPfhWEj7nD5Fs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282F33-EED7-4FBE-BC41-F83F161FEF8C}">
  <a:tblStyle styleId="{49282F33-EED7-4FBE-BC41-F83F161FEF8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 name="Shape 9"/>
        <p:cNvGrpSpPr/>
        <p:nvPr/>
      </p:nvGrpSpPr>
      <p:grpSpPr>
        <a:xfrm>
          <a:off x="0" y="0"/>
          <a:ext cx="0" cy="0"/>
          <a:chOff x="0" y="0"/>
          <a:chExt cx="0" cy="0"/>
        </a:xfrm>
      </p:grpSpPr>
      <p:sp>
        <p:nvSpPr>
          <p:cNvPr id="10" name="Google Shape;1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 name="Google Shape;1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 name="Google Shape;1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 name="Google Shape;3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5" name="Google Shape;6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6" name="Google Shape;8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5" name="Google Shape;11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2" name="Google Shape;14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4" name="Google Shape;15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9" name="Google Shape;17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6" name="Google Shape;20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6" name="Google Shape;23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0" name="Google Shape;26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1" name="Google Shape;27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03" name="Google Shape;30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2" name="Google Shape;32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3" name="Google Shape;333;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4" name="Google Shape;344;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6" name="Google Shape;366;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6" name="Google Shape;396;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1" name="Google Shape;421;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32" name="Google Shape;432;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57" name="Google Shape;457;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0" name="Google Shape;48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02" name="Google Shape;502;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8" name="Google Shape;52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39" name="Google Shape;539;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60" name="Google Shape;560;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71" name="Google Shape;571;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
        <p:nvSpPr>
          <p:cNvPr id="8" name="Google Shape;8;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gif"/><Relationship Id="rId4" Type="http://schemas.openxmlformats.org/officeDocument/2006/relationships/image" Target="../media/image22.gif"/><Relationship Id="rId5" Type="http://schemas.openxmlformats.org/officeDocument/2006/relationships/hyperlink" Target="https://horizons-2000.org/92.%20Misc%20Files/Reading/Wolfram%20-%20A%20New%20Kind%20of%20Science.pdf" TargetMode="External"/><Relationship Id="rId6" Type="http://schemas.openxmlformats.org/officeDocument/2006/relationships/image" Target="../media/image25.png"/><Relationship Id="rId7"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13" name="Shape 13"/>
        <p:cNvGrpSpPr/>
        <p:nvPr/>
      </p:nvGrpSpPr>
      <p:grpSpPr>
        <a:xfrm>
          <a:off x="0" y="0"/>
          <a:ext cx="0" cy="0"/>
          <a:chOff x="0" y="0"/>
          <a:chExt cx="0" cy="0"/>
        </a:xfrm>
      </p:grpSpPr>
      <p:sp>
        <p:nvSpPr>
          <p:cNvPr id="14" name="Google Shape;14;p1"/>
          <p:cNvSpPr/>
          <p:nvPr/>
        </p:nvSpPr>
        <p:spPr>
          <a:xfrm>
            <a:off x="8321040" y="91440"/>
            <a:ext cx="2011680" cy="2011680"/>
          </a:xfrm>
          <a:prstGeom prst="ellipse">
            <a:avLst/>
          </a:prstGeom>
          <a:solidFill>
            <a:srgbClr val="4A9DB5">
              <a:alpha val="92156"/>
            </a:srgbClr>
          </a:solidFill>
          <a:ln cap="flat" cmpd="sng" w="12700">
            <a:solidFill>
              <a:srgbClr val="4A9DB5">
                <a:alpha val="9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1"/>
          <p:cNvSpPr/>
          <p:nvPr/>
        </p:nvSpPr>
        <p:spPr>
          <a:xfrm>
            <a:off x="6949440" y="-457200"/>
            <a:ext cx="1280160" cy="1280160"/>
          </a:xfrm>
          <a:prstGeom prst="ellipse">
            <a:avLst/>
          </a:prstGeom>
          <a:solidFill>
            <a:srgbClr val="D4756B">
              <a:alpha val="87843"/>
            </a:srgbClr>
          </a:solidFill>
          <a:ln cap="flat" cmpd="sng" w="12700">
            <a:solidFill>
              <a:srgbClr val="D4756B">
                <a:alpha val="87843"/>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8046720" y="1645920"/>
            <a:ext cx="822960" cy="822960"/>
          </a:xfrm>
          <a:prstGeom prst="ellipse">
            <a:avLst/>
          </a:prstGeom>
          <a:solidFill>
            <a:srgbClr val="C9A84C">
              <a:alpha val="80000"/>
            </a:srgbClr>
          </a:solidFill>
          <a:ln cap="flat" cmpd="sng" w="12700">
            <a:solidFill>
              <a:srgbClr val="C9A84C">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502920" y="1371600"/>
            <a:ext cx="91440" cy="201168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777240" y="1325880"/>
            <a:ext cx="74980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Conway's Game of Life</a:t>
            </a:r>
            <a:endParaRPr sz="3400">
              <a:solidFill>
                <a:schemeClr val="dk1"/>
              </a:solidFill>
              <a:latin typeface="Calibri"/>
              <a:ea typeface="Calibri"/>
              <a:cs typeface="Calibri"/>
              <a:sym typeface="Calibri"/>
            </a:endParaRPr>
          </a:p>
        </p:txBody>
      </p:sp>
      <p:sp>
        <p:nvSpPr>
          <p:cNvPr id="19" name="Google Shape;19;p1"/>
          <p:cNvSpPr/>
          <p:nvPr/>
        </p:nvSpPr>
        <p:spPr>
          <a:xfrm>
            <a:off x="777240" y="2267712"/>
            <a:ext cx="7315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DB5"/>
              </a:buClr>
              <a:buSzPts val="1800"/>
              <a:buFont typeface="Calibri"/>
              <a:buNone/>
            </a:pPr>
            <a:r>
              <a:rPr i="1" lang="en-US" sz="1800">
                <a:solidFill>
                  <a:srgbClr val="4A9DB5"/>
                </a:solidFill>
                <a:latin typeface="Calibri"/>
                <a:ea typeface="Calibri"/>
                <a:cs typeface="Calibri"/>
                <a:sym typeface="Calibri"/>
              </a:rPr>
              <a:t>Cellular Automata and Emergence</a:t>
            </a:r>
            <a:endParaRPr sz="1800">
              <a:solidFill>
                <a:schemeClr val="dk1"/>
              </a:solidFill>
              <a:latin typeface="Calibri"/>
              <a:ea typeface="Calibri"/>
              <a:cs typeface="Calibri"/>
              <a:sym typeface="Calibri"/>
            </a:endParaRPr>
          </a:p>
        </p:txBody>
      </p:sp>
      <p:sp>
        <p:nvSpPr>
          <p:cNvPr id="20" name="Google Shape;20;p1"/>
          <p:cNvSpPr/>
          <p:nvPr/>
        </p:nvSpPr>
        <p:spPr>
          <a:xfrm>
            <a:off x="777240" y="2834640"/>
            <a:ext cx="71323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300"/>
              <a:buFont typeface="Calibri"/>
              <a:buNone/>
            </a:pPr>
            <a:r>
              <a:rPr lang="en-US" sz="1300">
                <a:solidFill>
                  <a:srgbClr val="A0AEC0"/>
                </a:solidFill>
                <a:latin typeface="Calibri"/>
                <a:ea typeface="Calibri"/>
                <a:cs typeface="Calibri"/>
                <a:sym typeface="Calibri"/>
              </a:rPr>
              <a:t>A journey into the fascinating world of cellular automata,</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A0AEC0"/>
              </a:buClr>
              <a:buSzPts val="1300"/>
              <a:buFont typeface="Calibri"/>
              <a:buNone/>
            </a:pPr>
            <a:r>
              <a:rPr lang="en-US" sz="1300">
                <a:solidFill>
                  <a:srgbClr val="A0AEC0"/>
                </a:solidFill>
                <a:latin typeface="Calibri"/>
                <a:ea typeface="Calibri"/>
                <a:cs typeface="Calibri"/>
                <a:sym typeface="Calibri"/>
              </a:rPr>
              <a:t>where simple rules create complex behaviors and emergent patterns.</a:t>
            </a:r>
            <a:endParaRPr sz="1300">
              <a:solidFill>
                <a:schemeClr val="dk1"/>
              </a:solidFill>
              <a:latin typeface="Calibri"/>
              <a:ea typeface="Calibri"/>
              <a:cs typeface="Calibri"/>
              <a:sym typeface="Calibri"/>
            </a:endParaRPr>
          </a:p>
        </p:txBody>
      </p:sp>
      <p:sp>
        <p:nvSpPr>
          <p:cNvPr id="21" name="Google Shape;21;p1"/>
          <p:cNvSpPr/>
          <p:nvPr/>
        </p:nvSpPr>
        <p:spPr>
          <a:xfrm>
            <a:off x="777240" y="448056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8096"/>
              </a:buClr>
              <a:buSzPts val="1200"/>
              <a:buFont typeface="Calibri"/>
              <a:buNone/>
            </a:pPr>
            <a:r>
              <a:rPr i="1" lang="en-US" sz="1200">
                <a:solidFill>
                  <a:srgbClr val="718096"/>
                </a:solidFill>
                <a:latin typeface="Calibri"/>
                <a:ea typeface="Calibri"/>
                <a:cs typeface="Calibri"/>
                <a:sym typeface="Calibri"/>
              </a:rPr>
              <a:t>Dr. Naomi Unkelos-Shpigel</a:t>
            </a:r>
            <a:endParaRPr sz="1200">
              <a:solidFill>
                <a:schemeClr val="dk1"/>
              </a:solidFill>
              <a:latin typeface="Calibri"/>
              <a:ea typeface="Calibri"/>
              <a:cs typeface="Calibri"/>
              <a:sym typeface="Calibri"/>
            </a:endParaRPr>
          </a:p>
        </p:txBody>
      </p:sp>
      <p:sp>
        <p:nvSpPr>
          <p:cNvPr id="22" name="Google Shape;22;p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27" name="Shape 27"/>
        <p:cNvGrpSpPr/>
        <p:nvPr/>
      </p:nvGrpSpPr>
      <p:grpSpPr>
        <a:xfrm>
          <a:off x="0" y="0"/>
          <a:ext cx="0" cy="0"/>
          <a:chOff x="0" y="0"/>
          <a:chExt cx="0" cy="0"/>
        </a:xfrm>
      </p:grpSpPr>
      <p:sp>
        <p:nvSpPr>
          <p:cNvPr id="28" name="Google Shape;28;p2"/>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2"/>
          <p:cNvSpPr/>
          <p:nvPr/>
        </p:nvSpPr>
        <p:spPr>
          <a:xfrm>
            <a:off x="457200" y="731520"/>
            <a:ext cx="146304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DB5"/>
              </a:buClr>
              <a:buSzPts val="9600"/>
              <a:buFont typeface="Calibri"/>
              <a:buNone/>
            </a:pPr>
            <a:r>
              <a:rPr b="1" lang="en-US" sz="9600">
                <a:solidFill>
                  <a:srgbClr val="4A9DB5"/>
                </a:solidFill>
                <a:latin typeface="Calibri"/>
                <a:ea typeface="Calibri"/>
                <a:cs typeface="Calibri"/>
                <a:sym typeface="Calibri"/>
              </a:rPr>
              <a:t>1</a:t>
            </a:r>
            <a:endParaRPr sz="9600">
              <a:solidFill>
                <a:schemeClr val="dk1"/>
              </a:solidFill>
              <a:latin typeface="Calibri"/>
              <a:ea typeface="Calibri"/>
              <a:cs typeface="Calibri"/>
              <a:sym typeface="Calibri"/>
            </a:endParaRPr>
          </a:p>
        </p:txBody>
      </p:sp>
      <p:sp>
        <p:nvSpPr>
          <p:cNvPr id="30" name="Google Shape;30;p2"/>
          <p:cNvSpPr/>
          <p:nvPr/>
        </p:nvSpPr>
        <p:spPr>
          <a:xfrm>
            <a:off x="2194560" y="1463040"/>
            <a:ext cx="6583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Foundations</a:t>
            </a:r>
            <a:endParaRPr sz="3400">
              <a:solidFill>
                <a:schemeClr val="dk1"/>
              </a:solidFill>
              <a:latin typeface="Calibri"/>
              <a:ea typeface="Calibri"/>
              <a:cs typeface="Calibri"/>
              <a:sym typeface="Calibri"/>
            </a:endParaRPr>
          </a:p>
        </p:txBody>
      </p:sp>
      <p:sp>
        <p:nvSpPr>
          <p:cNvPr id="31" name="Google Shape;31;p2"/>
          <p:cNvSpPr/>
          <p:nvPr/>
        </p:nvSpPr>
        <p:spPr>
          <a:xfrm>
            <a:off x="2194560" y="2514600"/>
            <a:ext cx="658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600"/>
              <a:buFont typeface="Calibri"/>
              <a:buNone/>
            </a:pPr>
            <a:r>
              <a:rPr lang="en-US" sz="1600">
                <a:solidFill>
                  <a:srgbClr val="A0AEC0"/>
                </a:solidFill>
                <a:latin typeface="Calibri"/>
                <a:ea typeface="Calibri"/>
                <a:cs typeface="Calibri"/>
                <a:sym typeface="Calibri"/>
              </a:rPr>
              <a:t>Origins, biography, and the zero-player game</a:t>
            </a:r>
            <a:endParaRPr sz="1600">
              <a:solidFill>
                <a:schemeClr val="dk1"/>
              </a:solidFill>
              <a:latin typeface="Calibri"/>
              <a:ea typeface="Calibri"/>
              <a:cs typeface="Calibri"/>
              <a:sym typeface="Calibri"/>
            </a:endParaRPr>
          </a:p>
        </p:txBody>
      </p:sp>
      <p:sp>
        <p:nvSpPr>
          <p:cNvPr id="32" name="Google Shape;32;p2"/>
          <p:cNvSpPr/>
          <p:nvPr/>
        </p:nvSpPr>
        <p:spPr>
          <a:xfrm>
            <a:off x="2194560" y="2286000"/>
            <a:ext cx="5486400" cy="4572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8" name="Shape 38"/>
        <p:cNvGrpSpPr/>
        <p:nvPr/>
      </p:nvGrpSpPr>
      <p:grpSpPr>
        <a:xfrm>
          <a:off x="0" y="0"/>
          <a:ext cx="0" cy="0"/>
          <a:chOff x="0" y="0"/>
          <a:chExt cx="0" cy="0"/>
        </a:xfrm>
      </p:grpSpPr>
      <p:sp>
        <p:nvSpPr>
          <p:cNvPr id="39" name="Google Shape;39;p3"/>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3"/>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Introduction to the Game of Life</a:t>
            </a:r>
            <a:endParaRPr sz="2200">
              <a:solidFill>
                <a:schemeClr val="dk1"/>
              </a:solidFill>
              <a:latin typeface="Calibri"/>
              <a:ea typeface="Calibri"/>
              <a:cs typeface="Calibri"/>
              <a:sym typeface="Calibri"/>
            </a:endParaRPr>
          </a:p>
        </p:txBody>
      </p:sp>
      <p:sp>
        <p:nvSpPr>
          <p:cNvPr id="41" name="Google Shape;41;p3"/>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3"/>
          <p:cNvSpPr/>
          <p:nvPr/>
        </p:nvSpPr>
        <p:spPr>
          <a:xfrm>
            <a:off x="32004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3"/>
          <p:cNvSpPr/>
          <p:nvPr/>
        </p:nvSpPr>
        <p:spPr>
          <a:xfrm>
            <a:off x="320040" y="960120"/>
            <a:ext cx="21031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3"/>
          <p:cNvSpPr/>
          <p:nvPr/>
        </p:nvSpPr>
        <p:spPr>
          <a:xfrm>
            <a:off x="39319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Mathematical Origins</a:t>
            </a:r>
            <a:endParaRPr sz="1100">
              <a:solidFill>
                <a:schemeClr val="dk1"/>
              </a:solidFill>
              <a:latin typeface="Calibri"/>
              <a:ea typeface="Calibri"/>
              <a:cs typeface="Calibri"/>
              <a:sym typeface="Calibri"/>
            </a:endParaRPr>
          </a:p>
        </p:txBody>
      </p:sp>
      <p:sp>
        <p:nvSpPr>
          <p:cNvPr id="45" name="Google Shape;45;p3"/>
          <p:cNvSpPr/>
          <p:nvPr/>
        </p:nvSpPr>
        <p:spPr>
          <a:xfrm>
            <a:off x="41148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Created by British mathematician John Horton Conway in 1970. One of the most celebrated discoveries in recreational mathematics.</a:t>
            </a:r>
            <a:endParaRPr sz="1050">
              <a:solidFill>
                <a:schemeClr val="dk1"/>
              </a:solidFill>
              <a:latin typeface="Calibri"/>
              <a:ea typeface="Calibri"/>
              <a:cs typeface="Calibri"/>
              <a:sym typeface="Calibri"/>
            </a:endParaRPr>
          </a:p>
        </p:txBody>
      </p:sp>
      <p:sp>
        <p:nvSpPr>
          <p:cNvPr id="46" name="Google Shape;46;p3"/>
          <p:cNvSpPr/>
          <p:nvPr/>
        </p:nvSpPr>
        <p:spPr>
          <a:xfrm>
            <a:off x="251460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3"/>
          <p:cNvSpPr/>
          <p:nvPr/>
        </p:nvSpPr>
        <p:spPr>
          <a:xfrm>
            <a:off x="2514600" y="960120"/>
            <a:ext cx="21031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3"/>
          <p:cNvSpPr/>
          <p:nvPr/>
        </p:nvSpPr>
        <p:spPr>
          <a:xfrm>
            <a:off x="258775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Public Debut</a:t>
            </a:r>
            <a:endParaRPr sz="1100">
              <a:solidFill>
                <a:schemeClr val="dk1"/>
              </a:solidFill>
              <a:latin typeface="Calibri"/>
              <a:ea typeface="Calibri"/>
              <a:cs typeface="Calibri"/>
              <a:sym typeface="Calibri"/>
            </a:endParaRPr>
          </a:p>
        </p:txBody>
      </p:sp>
      <p:sp>
        <p:nvSpPr>
          <p:cNvPr id="49" name="Google Shape;49;p3"/>
          <p:cNvSpPr/>
          <p:nvPr/>
        </p:nvSpPr>
        <p:spPr>
          <a:xfrm>
            <a:off x="260604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Introduced in Martin Gardner's "Mathematical Games" column in Scientific American, October 1970. Spread rapidly among computer scientists.</a:t>
            </a:r>
            <a:endParaRPr sz="1050">
              <a:solidFill>
                <a:schemeClr val="dk1"/>
              </a:solidFill>
              <a:latin typeface="Calibri"/>
              <a:ea typeface="Calibri"/>
              <a:cs typeface="Calibri"/>
              <a:sym typeface="Calibri"/>
            </a:endParaRPr>
          </a:p>
        </p:txBody>
      </p:sp>
      <p:sp>
        <p:nvSpPr>
          <p:cNvPr id="50" name="Google Shape;50;p3"/>
          <p:cNvSpPr/>
          <p:nvPr/>
        </p:nvSpPr>
        <p:spPr>
          <a:xfrm>
            <a:off x="470916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3"/>
          <p:cNvSpPr/>
          <p:nvPr/>
        </p:nvSpPr>
        <p:spPr>
          <a:xfrm>
            <a:off x="4709160" y="960120"/>
            <a:ext cx="21031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478231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Zero-Player Game</a:t>
            </a:r>
            <a:endParaRPr sz="1100">
              <a:solidFill>
                <a:schemeClr val="dk1"/>
              </a:solidFill>
              <a:latin typeface="Calibri"/>
              <a:ea typeface="Calibri"/>
              <a:cs typeface="Calibri"/>
              <a:sym typeface="Calibri"/>
            </a:endParaRPr>
          </a:p>
        </p:txBody>
      </p:sp>
      <p:sp>
        <p:nvSpPr>
          <p:cNvPr id="53" name="Google Shape;53;p3"/>
          <p:cNvSpPr/>
          <p:nvPr/>
        </p:nvSpPr>
        <p:spPr>
          <a:xfrm>
            <a:off x="480060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Evolution is determined solely by the initial configuration. No further human input required — the rules run themselves to completion.</a:t>
            </a:r>
            <a:endParaRPr sz="1050">
              <a:solidFill>
                <a:schemeClr val="dk1"/>
              </a:solidFill>
              <a:latin typeface="Calibri"/>
              <a:ea typeface="Calibri"/>
              <a:cs typeface="Calibri"/>
              <a:sym typeface="Calibri"/>
            </a:endParaRPr>
          </a:p>
        </p:txBody>
      </p:sp>
      <p:sp>
        <p:nvSpPr>
          <p:cNvPr id="54" name="Google Shape;54;p3"/>
          <p:cNvSpPr/>
          <p:nvPr/>
        </p:nvSpPr>
        <p:spPr>
          <a:xfrm>
            <a:off x="690372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6903720" y="960120"/>
            <a:ext cx="21031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3"/>
          <p:cNvSpPr/>
          <p:nvPr/>
        </p:nvSpPr>
        <p:spPr>
          <a:xfrm>
            <a:off x="697687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Emergent Complexity</a:t>
            </a:r>
            <a:endParaRPr sz="1100">
              <a:solidFill>
                <a:schemeClr val="dk1"/>
              </a:solidFill>
              <a:latin typeface="Calibri"/>
              <a:ea typeface="Calibri"/>
              <a:cs typeface="Calibri"/>
              <a:sym typeface="Calibri"/>
            </a:endParaRPr>
          </a:p>
        </p:txBody>
      </p:sp>
      <p:sp>
        <p:nvSpPr>
          <p:cNvPr id="57" name="Google Shape;57;p3"/>
          <p:cNvSpPr/>
          <p:nvPr/>
        </p:nvSpPr>
        <p:spPr>
          <a:xfrm>
            <a:off x="699516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Demonstrates how extraordinarily complex behavior can emerge from just two states (alive/dead) and four simple transition rules.</a:t>
            </a:r>
            <a:endParaRPr sz="1050">
              <a:solidFill>
                <a:schemeClr val="dk1"/>
              </a:solidFill>
              <a:latin typeface="Calibri"/>
              <a:ea typeface="Calibri"/>
              <a:cs typeface="Calibri"/>
              <a:sym typeface="Calibri"/>
            </a:endParaRPr>
          </a:p>
        </p:txBody>
      </p:sp>
      <p:pic>
        <p:nvPicPr>
          <p:cNvPr id="58" name="Google Shape;58;p3"/>
          <p:cNvPicPr preferRelativeResize="0"/>
          <p:nvPr/>
        </p:nvPicPr>
        <p:blipFill>
          <a:blip r:embed="rId3">
            <a:alphaModFix/>
          </a:blip>
          <a:stretch>
            <a:fillRect/>
          </a:stretch>
        </p:blipFill>
        <p:spPr>
          <a:xfrm>
            <a:off x="629199" y="2704149"/>
            <a:ext cx="1571450" cy="1584375"/>
          </a:xfrm>
          <a:prstGeom prst="rect">
            <a:avLst/>
          </a:prstGeom>
          <a:noFill/>
          <a:ln>
            <a:noFill/>
          </a:ln>
        </p:spPr>
      </p:pic>
      <p:pic>
        <p:nvPicPr>
          <p:cNvPr id="59" name="Google Shape;59;p3"/>
          <p:cNvPicPr preferRelativeResize="0"/>
          <p:nvPr/>
        </p:nvPicPr>
        <p:blipFill>
          <a:blip r:embed="rId4">
            <a:alphaModFix/>
          </a:blip>
          <a:stretch>
            <a:fillRect/>
          </a:stretch>
        </p:blipFill>
        <p:spPr>
          <a:xfrm>
            <a:off x="2845763" y="2540345"/>
            <a:ext cx="1218275" cy="1475075"/>
          </a:xfrm>
          <a:prstGeom prst="rect">
            <a:avLst/>
          </a:prstGeom>
          <a:noFill/>
          <a:ln>
            <a:noFill/>
          </a:ln>
        </p:spPr>
      </p:pic>
      <p:pic>
        <p:nvPicPr>
          <p:cNvPr id="60" name="Google Shape;60;p3"/>
          <p:cNvPicPr preferRelativeResize="0"/>
          <p:nvPr/>
        </p:nvPicPr>
        <p:blipFill>
          <a:blip r:embed="rId5">
            <a:alphaModFix/>
          </a:blip>
          <a:stretch>
            <a:fillRect/>
          </a:stretch>
        </p:blipFill>
        <p:spPr>
          <a:xfrm>
            <a:off x="6995150" y="2695138"/>
            <a:ext cx="1767450" cy="1165500"/>
          </a:xfrm>
          <a:prstGeom prst="rect">
            <a:avLst/>
          </a:prstGeom>
          <a:noFill/>
          <a:ln>
            <a:noFill/>
          </a:ln>
        </p:spPr>
      </p:pic>
      <p:sp>
        <p:nvSpPr>
          <p:cNvPr id="61" name="Google Shape;61;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66" name="Shape 66"/>
        <p:cNvGrpSpPr/>
        <p:nvPr/>
      </p:nvGrpSpPr>
      <p:grpSpPr>
        <a:xfrm>
          <a:off x="0" y="0"/>
          <a:ext cx="0" cy="0"/>
          <a:chOff x="0" y="0"/>
          <a:chExt cx="0" cy="0"/>
        </a:xfrm>
      </p:grpSpPr>
      <p:sp>
        <p:nvSpPr>
          <p:cNvPr id="67" name="Google Shape;67;p4"/>
          <p:cNvSpPr/>
          <p:nvPr/>
        </p:nvSpPr>
        <p:spPr>
          <a:xfrm>
            <a:off x="0" y="0"/>
            <a:ext cx="109728"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John Horton Conway (1937–2020)</a:t>
            </a:r>
            <a:endParaRPr sz="2200">
              <a:solidFill>
                <a:schemeClr val="dk1"/>
              </a:solidFill>
              <a:latin typeface="Calibri"/>
              <a:ea typeface="Calibri"/>
              <a:cs typeface="Calibri"/>
              <a:sym typeface="Calibri"/>
            </a:endParaRPr>
          </a:p>
        </p:txBody>
      </p:sp>
      <p:sp>
        <p:nvSpPr>
          <p:cNvPr id="69" name="Google Shape;69;p4"/>
          <p:cNvSpPr/>
          <p:nvPr/>
        </p:nvSpPr>
        <p:spPr>
          <a:xfrm>
            <a:off x="320040" y="758952"/>
            <a:ext cx="8503920" cy="2743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4"/>
          <p:cNvSpPr/>
          <p:nvPr/>
        </p:nvSpPr>
        <p:spPr>
          <a:xfrm>
            <a:off x="320040" y="960120"/>
            <a:ext cx="4114800" cy="37033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4"/>
          <p:cNvSpPr/>
          <p:nvPr/>
        </p:nvSpPr>
        <p:spPr>
          <a:xfrm>
            <a:off x="320040" y="960120"/>
            <a:ext cx="411480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4"/>
          <p:cNvSpPr/>
          <p:nvPr/>
        </p:nvSpPr>
        <p:spPr>
          <a:xfrm>
            <a:off x="393192" y="996696"/>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Mathematical Legacy</a:t>
            </a:r>
            <a:endParaRPr sz="1100">
              <a:solidFill>
                <a:schemeClr val="dk1"/>
              </a:solidFill>
              <a:latin typeface="Calibri"/>
              <a:ea typeface="Calibri"/>
              <a:cs typeface="Calibri"/>
              <a:sym typeface="Calibri"/>
            </a:endParaRPr>
          </a:p>
        </p:txBody>
      </p:sp>
      <p:sp>
        <p:nvSpPr>
          <p:cNvPr id="73" name="Google Shape;73;p4"/>
          <p:cNvSpPr/>
          <p:nvPr/>
        </p:nvSpPr>
        <p:spPr>
          <a:xfrm>
            <a:off x="411480" y="1371600"/>
            <a:ext cx="3931920"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John Horton Conway was one of the most creative mathematicians of the 20th century.</a:t>
            </a:r>
            <a:br>
              <a:rPr lang="en-US" sz="1050">
                <a:solidFill>
                  <a:srgbClr val="1E2329"/>
                </a:solidFill>
                <a:latin typeface="Calibri"/>
                <a:ea typeface="Calibri"/>
                <a:cs typeface="Calibri"/>
                <a:sym typeface="Calibri"/>
              </a:rPr>
            </a:br>
            <a:br>
              <a:rPr lang="en-US" sz="1050">
                <a:solidFill>
                  <a:srgbClr val="1E2329"/>
                </a:solidFill>
                <a:latin typeface="Calibri"/>
                <a:ea typeface="Calibri"/>
                <a:cs typeface="Calibri"/>
                <a:sym typeface="Calibri"/>
              </a:rPr>
            </a:br>
            <a:r>
              <a:rPr b="1" lang="en-US" sz="1050">
                <a:solidFill>
                  <a:srgbClr val="1E2329"/>
                </a:solidFill>
                <a:latin typeface="Calibri"/>
                <a:ea typeface="Calibri"/>
                <a:cs typeface="Calibri"/>
                <a:sym typeface="Calibri"/>
              </a:rPr>
              <a:t>He made fundamental contributions to:</a:t>
            </a:r>
            <a:br>
              <a:rPr b="1"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 Group theory (Monster group and Monstrous Moonshine)</a:t>
            </a:r>
            <a:br>
              <a:rPr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 Knot theory</a:t>
            </a:r>
            <a:br>
              <a:rPr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 Number theory (surreal numbers)</a:t>
            </a:r>
            <a:br>
              <a:rPr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 Combinatorial game theory</a:t>
            </a:r>
            <a:br>
              <a:rPr lang="en-US" sz="1050">
                <a:solidFill>
                  <a:srgbClr val="1E2329"/>
                </a:solidFill>
                <a:latin typeface="Calibri"/>
                <a:ea typeface="Calibri"/>
                <a:cs typeface="Calibri"/>
                <a:sym typeface="Calibri"/>
              </a:rPr>
            </a:br>
            <a:br>
              <a:rPr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Known for his playful approach to serious mathematics, his ability to explain deep ideas informally, and his infectious love of puzzles.</a:t>
            </a:r>
            <a:endParaRPr sz="1050">
              <a:solidFill>
                <a:schemeClr val="dk1"/>
              </a:solidFill>
              <a:latin typeface="Calibri"/>
              <a:ea typeface="Calibri"/>
              <a:cs typeface="Calibri"/>
              <a:sym typeface="Calibri"/>
            </a:endParaRPr>
          </a:p>
        </p:txBody>
      </p:sp>
      <p:sp>
        <p:nvSpPr>
          <p:cNvPr id="74" name="Google Shape;74;p4"/>
          <p:cNvSpPr/>
          <p:nvPr/>
        </p:nvSpPr>
        <p:spPr>
          <a:xfrm>
            <a:off x="4663440" y="960120"/>
            <a:ext cx="4160520" cy="173736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4663440" y="960120"/>
            <a:ext cx="41605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4"/>
          <p:cNvSpPr/>
          <p:nvPr/>
        </p:nvSpPr>
        <p:spPr>
          <a:xfrm>
            <a:off x="4736592" y="996696"/>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Honors &amp; Recognition</a:t>
            </a:r>
            <a:endParaRPr sz="1100">
              <a:solidFill>
                <a:schemeClr val="dk1"/>
              </a:solidFill>
              <a:latin typeface="Calibri"/>
              <a:ea typeface="Calibri"/>
              <a:cs typeface="Calibri"/>
              <a:sym typeface="Calibri"/>
            </a:endParaRPr>
          </a:p>
        </p:txBody>
      </p:sp>
      <p:sp>
        <p:nvSpPr>
          <p:cNvPr id="77" name="Google Shape;77;p4"/>
          <p:cNvSpPr/>
          <p:nvPr/>
        </p:nvSpPr>
        <p:spPr>
          <a:xfrm>
            <a:off x="4754880" y="1371600"/>
            <a:ext cx="3977640" cy="1234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Fellow of the Royal Society · Berwick Prize · Pólya Prize</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Full Professor at Princeton University (1986–2020)</a:t>
            </a:r>
            <a:endParaRPr sz="1050">
              <a:solidFill>
                <a:schemeClr val="dk1"/>
              </a:solidFill>
              <a:latin typeface="Calibri"/>
              <a:ea typeface="Calibri"/>
              <a:cs typeface="Calibri"/>
              <a:sym typeface="Calibri"/>
            </a:endParaRPr>
          </a:p>
        </p:txBody>
      </p:sp>
      <p:sp>
        <p:nvSpPr>
          <p:cNvPr id="78" name="Google Shape;78;p4"/>
          <p:cNvSpPr/>
          <p:nvPr/>
        </p:nvSpPr>
        <p:spPr>
          <a:xfrm>
            <a:off x="4663440" y="2834640"/>
            <a:ext cx="4160520" cy="1828800"/>
          </a:xfrm>
          <a:prstGeom prst="rect">
            <a:avLst/>
          </a:prstGeom>
          <a:solidFill>
            <a:srgbClr val="FFF8E6"/>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4"/>
          <p:cNvSpPr/>
          <p:nvPr/>
        </p:nvSpPr>
        <p:spPr>
          <a:xfrm>
            <a:off x="4754880" y="2926080"/>
            <a:ext cx="3931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329"/>
              </a:buClr>
              <a:buSzPts val="1200"/>
              <a:buFont typeface="Calibri"/>
              <a:buNone/>
            </a:pPr>
            <a:r>
              <a:rPr i="1" lang="en-US" sz="1200">
                <a:solidFill>
                  <a:srgbClr val="1E2329"/>
                </a:solidFill>
                <a:latin typeface="Calibri"/>
                <a:ea typeface="Calibri"/>
                <a:cs typeface="Calibri"/>
                <a:sym typeface="Calibri"/>
              </a:rPr>
              <a:t>"I'm interested in having fun." — Conway</a:t>
            </a:r>
            <a:endParaRPr sz="1200">
              <a:solidFill>
                <a:schemeClr val="dk1"/>
              </a:solidFill>
              <a:latin typeface="Calibri"/>
              <a:ea typeface="Calibri"/>
              <a:cs typeface="Calibri"/>
              <a:sym typeface="Calibri"/>
            </a:endParaRPr>
          </a:p>
        </p:txBody>
      </p:sp>
      <p:sp>
        <p:nvSpPr>
          <p:cNvPr id="80" name="Google Shape;80;p4"/>
          <p:cNvSpPr/>
          <p:nvPr/>
        </p:nvSpPr>
        <p:spPr>
          <a:xfrm>
            <a:off x="4754880" y="3401568"/>
            <a:ext cx="393192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lang="en-US" sz="1000">
                <a:solidFill>
                  <a:srgbClr val="4A5568"/>
                </a:solidFill>
                <a:latin typeface="Calibri"/>
                <a:ea typeface="Calibri"/>
                <a:cs typeface="Calibri"/>
                <a:sym typeface="Calibri"/>
              </a:rPr>
              <a:t>Conway died on April 11, 2020,. He had once said the Game of Life was the achievement he was most proud of — and also the one that annoyed him most, as it overshadowed his deeper mathematical work.</a:t>
            </a:r>
            <a:endParaRPr sz="1000">
              <a:solidFill>
                <a:schemeClr val="dk1"/>
              </a:solidFill>
              <a:latin typeface="Calibri"/>
              <a:ea typeface="Calibri"/>
              <a:cs typeface="Calibri"/>
              <a:sym typeface="Calibri"/>
            </a:endParaRPr>
          </a:p>
        </p:txBody>
      </p:sp>
      <p:pic>
        <p:nvPicPr>
          <p:cNvPr id="81" name="Google Shape;81;p4"/>
          <p:cNvPicPr preferRelativeResize="0"/>
          <p:nvPr/>
        </p:nvPicPr>
        <p:blipFill rotWithShape="1">
          <a:blip r:embed="rId3">
            <a:alphaModFix/>
          </a:blip>
          <a:srcRect b="0" l="0" r="0" t="0"/>
          <a:stretch/>
        </p:blipFill>
        <p:spPr>
          <a:xfrm>
            <a:off x="8074782" y="114185"/>
            <a:ext cx="657738" cy="557899"/>
          </a:xfrm>
          <a:prstGeom prst="rect">
            <a:avLst/>
          </a:prstGeom>
          <a:noFill/>
          <a:ln>
            <a:noFill/>
          </a:ln>
        </p:spPr>
      </p:pic>
      <p:sp>
        <p:nvSpPr>
          <p:cNvPr id="82" name="Google Shape;82;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87" name="Shape 87"/>
        <p:cNvGrpSpPr/>
        <p:nvPr/>
      </p:nvGrpSpPr>
      <p:grpSpPr>
        <a:xfrm>
          <a:off x="0" y="0"/>
          <a:ext cx="0" cy="0"/>
          <a:chOff x="0" y="0"/>
          <a:chExt cx="0" cy="0"/>
        </a:xfrm>
      </p:grpSpPr>
      <p:sp>
        <p:nvSpPr>
          <p:cNvPr id="88" name="Google Shape;88;p5"/>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The Rules of Life</a:t>
            </a:r>
            <a:endParaRPr sz="2200">
              <a:solidFill>
                <a:schemeClr val="dk1"/>
              </a:solidFill>
              <a:latin typeface="Calibri"/>
              <a:ea typeface="Calibri"/>
              <a:cs typeface="Calibri"/>
              <a:sym typeface="Calibri"/>
            </a:endParaRPr>
          </a:p>
        </p:txBody>
      </p:sp>
      <p:sp>
        <p:nvSpPr>
          <p:cNvPr id="90" name="Google Shape;90;p5"/>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p:nvPr/>
        </p:nvSpPr>
        <p:spPr>
          <a:xfrm>
            <a:off x="32004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5"/>
          <p:cNvSpPr/>
          <p:nvPr/>
        </p:nvSpPr>
        <p:spPr>
          <a:xfrm>
            <a:off x="320040" y="960120"/>
            <a:ext cx="21031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5"/>
          <p:cNvSpPr/>
          <p:nvPr/>
        </p:nvSpPr>
        <p:spPr>
          <a:xfrm>
            <a:off x="39319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The Universe</a:t>
            </a:r>
            <a:endParaRPr sz="1100">
              <a:solidFill>
                <a:schemeClr val="dk1"/>
              </a:solidFill>
              <a:latin typeface="Calibri"/>
              <a:ea typeface="Calibri"/>
              <a:cs typeface="Calibri"/>
              <a:sym typeface="Calibri"/>
            </a:endParaRPr>
          </a:p>
        </p:txBody>
      </p:sp>
      <p:sp>
        <p:nvSpPr>
          <p:cNvPr id="94" name="Google Shape;94;p5"/>
          <p:cNvSpPr/>
          <p:nvPr/>
        </p:nvSpPr>
        <p:spPr>
          <a:xfrm>
            <a:off x="41148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An infinite two-dimensional grid of square cells. Each cell can be in one of two states: alive (on) or dead (off).</a:t>
            </a:r>
            <a:endParaRPr sz="1050">
              <a:solidFill>
                <a:schemeClr val="dk1"/>
              </a:solidFill>
              <a:latin typeface="Calibri"/>
              <a:ea typeface="Calibri"/>
              <a:cs typeface="Calibri"/>
              <a:sym typeface="Calibri"/>
            </a:endParaRPr>
          </a:p>
        </p:txBody>
      </p:sp>
      <p:sp>
        <p:nvSpPr>
          <p:cNvPr id="95" name="Google Shape;95;p5"/>
          <p:cNvSpPr/>
          <p:nvPr/>
        </p:nvSpPr>
        <p:spPr>
          <a:xfrm>
            <a:off x="251460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5"/>
          <p:cNvSpPr/>
          <p:nvPr/>
        </p:nvSpPr>
        <p:spPr>
          <a:xfrm>
            <a:off x="2514600" y="960120"/>
            <a:ext cx="21031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5"/>
          <p:cNvSpPr/>
          <p:nvPr/>
        </p:nvSpPr>
        <p:spPr>
          <a:xfrm>
            <a:off x="258775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Neighborhood</a:t>
            </a:r>
            <a:endParaRPr sz="1100">
              <a:solidFill>
                <a:schemeClr val="dk1"/>
              </a:solidFill>
              <a:latin typeface="Calibri"/>
              <a:ea typeface="Calibri"/>
              <a:cs typeface="Calibri"/>
              <a:sym typeface="Calibri"/>
            </a:endParaRPr>
          </a:p>
        </p:txBody>
      </p:sp>
      <p:sp>
        <p:nvSpPr>
          <p:cNvPr id="98" name="Google Shape;98;p5"/>
          <p:cNvSpPr/>
          <p:nvPr/>
        </p:nvSpPr>
        <p:spPr>
          <a:xfrm>
            <a:off x="260604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Each cell interacts with its 8 adjacent neighbors — horizontally, vertically, and diagonally surrounding it.</a:t>
            </a:r>
            <a:endParaRPr sz="1050">
              <a:solidFill>
                <a:schemeClr val="dk1"/>
              </a:solidFill>
              <a:latin typeface="Calibri"/>
              <a:ea typeface="Calibri"/>
              <a:cs typeface="Calibri"/>
              <a:sym typeface="Calibri"/>
            </a:endParaRPr>
          </a:p>
        </p:txBody>
      </p:sp>
      <p:sp>
        <p:nvSpPr>
          <p:cNvPr id="99" name="Google Shape;99;p5"/>
          <p:cNvSpPr/>
          <p:nvPr/>
        </p:nvSpPr>
        <p:spPr>
          <a:xfrm>
            <a:off x="470916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5"/>
          <p:cNvSpPr/>
          <p:nvPr/>
        </p:nvSpPr>
        <p:spPr>
          <a:xfrm>
            <a:off x="4709160" y="960120"/>
            <a:ext cx="21031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5"/>
          <p:cNvSpPr/>
          <p:nvPr/>
        </p:nvSpPr>
        <p:spPr>
          <a:xfrm>
            <a:off x="478231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Survival Rule</a:t>
            </a:r>
            <a:endParaRPr sz="1100">
              <a:solidFill>
                <a:schemeClr val="dk1"/>
              </a:solidFill>
              <a:latin typeface="Calibri"/>
              <a:ea typeface="Calibri"/>
              <a:cs typeface="Calibri"/>
              <a:sym typeface="Calibri"/>
            </a:endParaRPr>
          </a:p>
        </p:txBody>
      </p:sp>
      <p:sp>
        <p:nvSpPr>
          <p:cNvPr id="102" name="Google Shape;102;p5"/>
          <p:cNvSpPr/>
          <p:nvPr/>
        </p:nvSpPr>
        <p:spPr>
          <a:xfrm>
            <a:off x="480060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 live cell with exactly 2 or 3 live neighbors survives to the next generation. All other live cells die (underpopulation or overcrowding).</a:t>
            </a:r>
            <a:endParaRPr sz="1050">
              <a:solidFill>
                <a:schemeClr val="dk1"/>
              </a:solidFill>
              <a:latin typeface="Calibri"/>
              <a:ea typeface="Calibri"/>
              <a:cs typeface="Calibri"/>
              <a:sym typeface="Calibri"/>
            </a:endParaRPr>
          </a:p>
        </p:txBody>
      </p:sp>
      <p:sp>
        <p:nvSpPr>
          <p:cNvPr id="103" name="Google Shape;103;p5"/>
          <p:cNvSpPr/>
          <p:nvPr/>
        </p:nvSpPr>
        <p:spPr>
          <a:xfrm>
            <a:off x="690372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5"/>
          <p:cNvSpPr/>
          <p:nvPr/>
        </p:nvSpPr>
        <p:spPr>
          <a:xfrm>
            <a:off x="6903720" y="960120"/>
            <a:ext cx="21031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5"/>
          <p:cNvSpPr/>
          <p:nvPr/>
        </p:nvSpPr>
        <p:spPr>
          <a:xfrm>
            <a:off x="697687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Birth Rule</a:t>
            </a:r>
            <a:endParaRPr sz="1100">
              <a:solidFill>
                <a:schemeClr val="dk1"/>
              </a:solidFill>
              <a:latin typeface="Calibri"/>
              <a:ea typeface="Calibri"/>
              <a:cs typeface="Calibri"/>
              <a:sym typeface="Calibri"/>
            </a:endParaRPr>
          </a:p>
        </p:txBody>
      </p:sp>
      <p:sp>
        <p:nvSpPr>
          <p:cNvPr id="106" name="Google Shape;106;p5"/>
          <p:cNvSpPr/>
          <p:nvPr/>
        </p:nvSpPr>
        <p:spPr>
          <a:xfrm>
            <a:off x="699516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 dead cell with exactly 3 live neighbors becomes alive in the next generation. All other dead cells remain dead.</a:t>
            </a:r>
            <a:endParaRPr sz="1050">
              <a:solidFill>
                <a:schemeClr val="dk1"/>
              </a:solidFill>
              <a:latin typeface="Calibri"/>
              <a:ea typeface="Calibri"/>
              <a:cs typeface="Calibri"/>
              <a:sym typeface="Calibri"/>
            </a:endParaRPr>
          </a:p>
        </p:txBody>
      </p:sp>
      <p:sp>
        <p:nvSpPr>
          <p:cNvPr id="107" name="Google Shape;107;p5"/>
          <p:cNvSpPr/>
          <p:nvPr/>
        </p:nvSpPr>
        <p:spPr>
          <a:xfrm>
            <a:off x="320040" y="4526280"/>
            <a:ext cx="8503920" cy="384048"/>
          </a:xfrm>
          <a:prstGeom prst="rect">
            <a:avLst/>
          </a:prstGeom>
          <a:solidFill>
            <a:srgbClr val="EBF8FF"/>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5"/>
          <p:cNvSpPr/>
          <p:nvPr/>
        </p:nvSpPr>
        <p:spPr>
          <a:xfrm>
            <a:off x="457200" y="4553712"/>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Notation: B3/S23 — Born with 3 neighbors, Survives with 2 or 3 neighbors. This is the only rule set Conway settled on after extensive testing.</a:t>
            </a:r>
            <a:endParaRPr sz="1000">
              <a:solidFill>
                <a:schemeClr val="dk1"/>
              </a:solidFill>
              <a:latin typeface="Calibri"/>
              <a:ea typeface="Calibri"/>
              <a:cs typeface="Calibri"/>
              <a:sym typeface="Calibri"/>
            </a:endParaRPr>
          </a:p>
        </p:txBody>
      </p:sp>
      <p:pic>
        <p:nvPicPr>
          <p:cNvPr id="109" name="Google Shape;109;p5"/>
          <p:cNvPicPr preferRelativeResize="0"/>
          <p:nvPr/>
        </p:nvPicPr>
        <p:blipFill>
          <a:blip r:embed="rId3">
            <a:alphaModFix/>
          </a:blip>
          <a:stretch>
            <a:fillRect/>
          </a:stretch>
        </p:blipFill>
        <p:spPr>
          <a:xfrm>
            <a:off x="697450" y="2438075"/>
            <a:ext cx="1725725" cy="1725725"/>
          </a:xfrm>
          <a:prstGeom prst="rect">
            <a:avLst/>
          </a:prstGeom>
          <a:noFill/>
          <a:ln>
            <a:noFill/>
          </a:ln>
        </p:spPr>
      </p:pic>
      <p:pic>
        <p:nvPicPr>
          <p:cNvPr id="110" name="Google Shape;110;p5"/>
          <p:cNvPicPr preferRelativeResize="0"/>
          <p:nvPr/>
        </p:nvPicPr>
        <p:blipFill>
          <a:blip r:embed="rId4">
            <a:alphaModFix/>
          </a:blip>
          <a:stretch>
            <a:fillRect/>
          </a:stretch>
        </p:blipFill>
        <p:spPr>
          <a:xfrm>
            <a:off x="3203225" y="2582225"/>
            <a:ext cx="933450" cy="933450"/>
          </a:xfrm>
          <a:prstGeom prst="rect">
            <a:avLst/>
          </a:prstGeom>
          <a:noFill/>
          <a:ln>
            <a:noFill/>
          </a:ln>
        </p:spPr>
      </p:pic>
      <p:sp>
        <p:nvSpPr>
          <p:cNvPr id="111" name="Google Shape;111;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16" name="Shape 116"/>
        <p:cNvGrpSpPr/>
        <p:nvPr/>
      </p:nvGrpSpPr>
      <p:grpSpPr>
        <a:xfrm>
          <a:off x="0" y="0"/>
          <a:ext cx="0" cy="0"/>
          <a:chOff x="0" y="0"/>
          <a:chExt cx="0" cy="0"/>
        </a:xfrm>
      </p:grpSpPr>
      <p:sp>
        <p:nvSpPr>
          <p:cNvPr id="117" name="Google Shape;117;p6"/>
          <p:cNvSpPr/>
          <p:nvPr/>
        </p:nvSpPr>
        <p:spPr>
          <a:xfrm>
            <a:off x="0" y="0"/>
            <a:ext cx="109728"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Conway's Design Goals</a:t>
            </a:r>
            <a:endParaRPr sz="2200">
              <a:solidFill>
                <a:schemeClr val="dk1"/>
              </a:solidFill>
              <a:latin typeface="Calibri"/>
              <a:ea typeface="Calibri"/>
              <a:cs typeface="Calibri"/>
              <a:sym typeface="Calibri"/>
            </a:endParaRPr>
          </a:p>
        </p:txBody>
      </p:sp>
      <p:sp>
        <p:nvSpPr>
          <p:cNvPr id="119" name="Google Shape;119;p6"/>
          <p:cNvSpPr/>
          <p:nvPr/>
        </p:nvSpPr>
        <p:spPr>
          <a:xfrm>
            <a:off x="320040" y="758952"/>
            <a:ext cx="8503920" cy="2743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6"/>
          <p:cNvSpPr/>
          <p:nvPr/>
        </p:nvSpPr>
        <p:spPr>
          <a:xfrm>
            <a:off x="32004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320040" y="960120"/>
            <a:ext cx="21031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6"/>
          <p:cNvSpPr/>
          <p:nvPr/>
        </p:nvSpPr>
        <p:spPr>
          <a:xfrm>
            <a:off x="39319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Unlimited Growth</a:t>
            </a:r>
            <a:endParaRPr sz="1100">
              <a:solidFill>
                <a:schemeClr val="dk1"/>
              </a:solidFill>
              <a:latin typeface="Calibri"/>
              <a:ea typeface="Calibri"/>
              <a:cs typeface="Calibri"/>
              <a:sym typeface="Calibri"/>
            </a:endParaRPr>
          </a:p>
        </p:txBody>
      </p:sp>
      <p:sp>
        <p:nvSpPr>
          <p:cNvPr id="123" name="Google Shape;123;p6"/>
          <p:cNvSpPr/>
          <p:nvPr/>
        </p:nvSpPr>
        <p:spPr>
          <a:xfrm>
            <a:off x="41148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Create patterns that could grow without a clear limit — disproving the assumption that all starting configurations must eventually stabilize.</a:t>
            </a:r>
            <a:endParaRPr sz="1050">
              <a:solidFill>
                <a:schemeClr val="dk1"/>
              </a:solidFill>
              <a:latin typeface="Calibri"/>
              <a:ea typeface="Calibri"/>
              <a:cs typeface="Calibri"/>
              <a:sym typeface="Calibri"/>
            </a:endParaRPr>
          </a:p>
        </p:txBody>
      </p:sp>
      <p:sp>
        <p:nvSpPr>
          <p:cNvPr id="124" name="Google Shape;124;p6"/>
          <p:cNvSpPr/>
          <p:nvPr/>
        </p:nvSpPr>
        <p:spPr>
          <a:xfrm>
            <a:off x="251460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6"/>
          <p:cNvSpPr/>
          <p:nvPr/>
        </p:nvSpPr>
        <p:spPr>
          <a:xfrm>
            <a:off x="2514600" y="960120"/>
            <a:ext cx="21031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6"/>
          <p:cNvSpPr/>
          <p:nvPr/>
        </p:nvSpPr>
        <p:spPr>
          <a:xfrm>
            <a:off x="258775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Emergent Complexity</a:t>
            </a:r>
            <a:endParaRPr sz="1100">
              <a:solidFill>
                <a:schemeClr val="dk1"/>
              </a:solidFill>
              <a:latin typeface="Calibri"/>
              <a:ea typeface="Calibri"/>
              <a:cs typeface="Calibri"/>
              <a:sym typeface="Calibri"/>
            </a:endParaRPr>
          </a:p>
        </p:txBody>
      </p:sp>
      <p:sp>
        <p:nvSpPr>
          <p:cNvPr id="127" name="Google Shape;127;p6"/>
          <p:cNvSpPr/>
          <p:nvPr/>
        </p:nvSpPr>
        <p:spPr>
          <a:xfrm>
            <a:off x="260604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Generate rich, unpredictable complexity from the simplest possible initial configurations — just a handful of cells.</a:t>
            </a:r>
            <a:endParaRPr sz="1050">
              <a:solidFill>
                <a:schemeClr val="dk1"/>
              </a:solidFill>
              <a:latin typeface="Calibri"/>
              <a:ea typeface="Calibri"/>
              <a:cs typeface="Calibri"/>
              <a:sym typeface="Calibri"/>
            </a:endParaRPr>
          </a:p>
        </p:txBody>
      </p:sp>
      <p:sp>
        <p:nvSpPr>
          <p:cNvPr id="128" name="Google Shape;128;p6"/>
          <p:cNvSpPr/>
          <p:nvPr/>
        </p:nvSpPr>
        <p:spPr>
          <a:xfrm>
            <a:off x="470916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6"/>
          <p:cNvSpPr/>
          <p:nvPr/>
        </p:nvSpPr>
        <p:spPr>
          <a:xfrm>
            <a:off x="4709160" y="960120"/>
            <a:ext cx="21031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6"/>
          <p:cNvSpPr/>
          <p:nvPr/>
        </p:nvSpPr>
        <p:spPr>
          <a:xfrm>
            <a:off x="478231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Unpredictability</a:t>
            </a:r>
            <a:endParaRPr sz="1100">
              <a:solidFill>
                <a:schemeClr val="dk1"/>
              </a:solidFill>
              <a:latin typeface="Calibri"/>
              <a:ea typeface="Calibri"/>
              <a:cs typeface="Calibri"/>
              <a:sym typeface="Calibri"/>
            </a:endParaRPr>
          </a:p>
        </p:txBody>
      </p:sp>
      <p:sp>
        <p:nvSpPr>
          <p:cNvPr id="131" name="Google Shape;131;p6"/>
          <p:cNvSpPr/>
          <p:nvPr/>
        </p:nvSpPr>
        <p:spPr>
          <a:xfrm>
            <a:off x="480060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Make long-term evolution difficult or impossible to predict without actually running the simulation step by step.</a:t>
            </a:r>
            <a:endParaRPr sz="1050">
              <a:solidFill>
                <a:schemeClr val="dk1"/>
              </a:solidFill>
              <a:latin typeface="Calibri"/>
              <a:ea typeface="Calibri"/>
              <a:cs typeface="Calibri"/>
              <a:sym typeface="Calibri"/>
            </a:endParaRPr>
          </a:p>
        </p:txBody>
      </p:sp>
      <p:sp>
        <p:nvSpPr>
          <p:cNvPr id="132" name="Google Shape;132;p6"/>
          <p:cNvSpPr/>
          <p:nvPr/>
        </p:nvSpPr>
        <p:spPr>
          <a:xfrm>
            <a:off x="690372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6"/>
          <p:cNvSpPr/>
          <p:nvPr/>
        </p:nvSpPr>
        <p:spPr>
          <a:xfrm>
            <a:off x="6903720" y="960120"/>
            <a:ext cx="21031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6"/>
          <p:cNvSpPr/>
          <p:nvPr/>
        </p:nvSpPr>
        <p:spPr>
          <a:xfrm>
            <a:off x="697687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Balanced Dynamics</a:t>
            </a:r>
            <a:endParaRPr sz="1100">
              <a:solidFill>
                <a:schemeClr val="dk1"/>
              </a:solidFill>
              <a:latin typeface="Calibri"/>
              <a:ea typeface="Calibri"/>
              <a:cs typeface="Calibri"/>
              <a:sym typeface="Calibri"/>
            </a:endParaRPr>
          </a:p>
        </p:txBody>
      </p:sp>
      <p:sp>
        <p:nvSpPr>
          <p:cNvPr id="135" name="Google Shape;135;p6"/>
          <p:cNvSpPr/>
          <p:nvPr/>
        </p:nvSpPr>
        <p:spPr>
          <a:xfrm>
            <a:off x="699516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Neither grow too quickly (filling the grid) nor die out too easily — strike a balance between order and chaos.</a:t>
            </a:r>
            <a:endParaRPr sz="1050">
              <a:solidFill>
                <a:schemeClr val="dk1"/>
              </a:solidFill>
              <a:latin typeface="Calibri"/>
              <a:ea typeface="Calibri"/>
              <a:cs typeface="Calibri"/>
              <a:sym typeface="Calibri"/>
            </a:endParaRPr>
          </a:p>
        </p:txBody>
      </p:sp>
      <p:sp>
        <p:nvSpPr>
          <p:cNvPr id="136" name="Google Shape;136;p6"/>
          <p:cNvSpPr/>
          <p:nvPr/>
        </p:nvSpPr>
        <p:spPr>
          <a:xfrm>
            <a:off x="320040" y="4526280"/>
            <a:ext cx="8503920" cy="384048"/>
          </a:xfrm>
          <a:prstGeom prst="rect">
            <a:avLst/>
          </a:prstGeom>
          <a:solidFill>
            <a:srgbClr val="FFFBEB"/>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6"/>
          <p:cNvSpPr/>
          <p:nvPr/>
        </p:nvSpPr>
        <p:spPr>
          <a:xfrm>
            <a:off x="457200" y="4553712"/>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Conway reportedly spent 18 months testing rules before settling on B3/S23. Many rule sets either explode immediately or die out within a few generations.</a:t>
            </a:r>
            <a:endParaRPr sz="1000">
              <a:solidFill>
                <a:schemeClr val="dk1"/>
              </a:solidFill>
              <a:latin typeface="Calibri"/>
              <a:ea typeface="Calibri"/>
              <a:cs typeface="Calibri"/>
              <a:sym typeface="Calibri"/>
            </a:endParaRPr>
          </a:p>
        </p:txBody>
      </p:sp>
      <p:sp>
        <p:nvSpPr>
          <p:cNvPr id="138" name="Google Shape;138;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143" name="Shape 143"/>
        <p:cNvGrpSpPr/>
        <p:nvPr/>
      </p:nvGrpSpPr>
      <p:grpSpPr>
        <a:xfrm>
          <a:off x="0" y="0"/>
          <a:ext cx="0" cy="0"/>
          <a:chOff x="0" y="0"/>
          <a:chExt cx="0" cy="0"/>
        </a:xfrm>
      </p:grpSpPr>
      <p:sp>
        <p:nvSpPr>
          <p:cNvPr id="144" name="Google Shape;144;p7"/>
          <p:cNvSpPr/>
          <p:nvPr/>
        </p:nvSpPr>
        <p:spPr>
          <a:xfrm>
            <a:off x="0" y="0"/>
            <a:ext cx="164592"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7"/>
          <p:cNvSpPr/>
          <p:nvPr/>
        </p:nvSpPr>
        <p:spPr>
          <a:xfrm>
            <a:off x="457200" y="731520"/>
            <a:ext cx="146304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4756B"/>
              </a:buClr>
              <a:buSzPts val="9600"/>
              <a:buFont typeface="Calibri"/>
              <a:buNone/>
            </a:pPr>
            <a:r>
              <a:rPr b="1" lang="en-US" sz="9600">
                <a:solidFill>
                  <a:srgbClr val="D4756B"/>
                </a:solidFill>
                <a:latin typeface="Calibri"/>
                <a:ea typeface="Calibri"/>
                <a:cs typeface="Calibri"/>
                <a:sym typeface="Calibri"/>
              </a:rPr>
              <a:t>2</a:t>
            </a:r>
            <a:endParaRPr sz="9600">
              <a:solidFill>
                <a:schemeClr val="dk1"/>
              </a:solidFill>
              <a:latin typeface="Calibri"/>
              <a:ea typeface="Calibri"/>
              <a:cs typeface="Calibri"/>
              <a:sym typeface="Calibri"/>
            </a:endParaRPr>
          </a:p>
        </p:txBody>
      </p:sp>
      <p:sp>
        <p:nvSpPr>
          <p:cNvPr id="146" name="Google Shape;146;p7"/>
          <p:cNvSpPr/>
          <p:nvPr/>
        </p:nvSpPr>
        <p:spPr>
          <a:xfrm>
            <a:off x="2194560" y="1463040"/>
            <a:ext cx="6583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Patterns</a:t>
            </a:r>
            <a:endParaRPr sz="3400">
              <a:solidFill>
                <a:schemeClr val="dk1"/>
              </a:solidFill>
              <a:latin typeface="Calibri"/>
              <a:ea typeface="Calibri"/>
              <a:cs typeface="Calibri"/>
              <a:sym typeface="Calibri"/>
            </a:endParaRPr>
          </a:p>
        </p:txBody>
      </p:sp>
      <p:sp>
        <p:nvSpPr>
          <p:cNvPr id="147" name="Google Shape;147;p7"/>
          <p:cNvSpPr/>
          <p:nvPr/>
        </p:nvSpPr>
        <p:spPr>
          <a:xfrm>
            <a:off x="741135" y="2542903"/>
            <a:ext cx="658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600"/>
              <a:buFont typeface="Calibri"/>
              <a:buNone/>
            </a:pPr>
            <a:r>
              <a:rPr lang="en-US" sz="1600">
                <a:solidFill>
                  <a:srgbClr val="A0AEC0"/>
                </a:solidFill>
                <a:latin typeface="Calibri"/>
                <a:ea typeface="Calibri"/>
                <a:cs typeface="Calibri"/>
                <a:sym typeface="Calibri"/>
              </a:rPr>
              <a:t>Still lifes, oscillators, spaceships, and Methuselahs</a:t>
            </a:r>
            <a:endParaRPr sz="1600">
              <a:solidFill>
                <a:schemeClr val="dk1"/>
              </a:solidFill>
              <a:latin typeface="Calibri"/>
              <a:ea typeface="Calibri"/>
              <a:cs typeface="Calibri"/>
              <a:sym typeface="Calibri"/>
            </a:endParaRPr>
          </a:p>
        </p:txBody>
      </p:sp>
      <p:sp>
        <p:nvSpPr>
          <p:cNvPr id="148" name="Google Shape;148;p7"/>
          <p:cNvSpPr/>
          <p:nvPr/>
        </p:nvSpPr>
        <p:spPr>
          <a:xfrm>
            <a:off x="2194560" y="2286000"/>
            <a:ext cx="5486400" cy="4572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9" name="Google Shape;149;p7"/>
          <p:cNvPicPr preferRelativeResize="0"/>
          <p:nvPr/>
        </p:nvPicPr>
        <p:blipFill rotWithShape="1">
          <a:blip r:embed="rId3">
            <a:alphaModFix/>
          </a:blip>
          <a:srcRect b="0" l="0" r="0" t="0"/>
          <a:stretch/>
        </p:blipFill>
        <p:spPr>
          <a:xfrm>
            <a:off x="5823059" y="2468880"/>
            <a:ext cx="2666786" cy="2442754"/>
          </a:xfrm>
          <a:prstGeom prst="rect">
            <a:avLst/>
          </a:prstGeom>
          <a:noFill/>
          <a:ln>
            <a:noFill/>
          </a:ln>
        </p:spPr>
      </p:pic>
      <p:sp>
        <p:nvSpPr>
          <p:cNvPr id="150" name="Google Shape;150;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55" name="Shape 155"/>
        <p:cNvGrpSpPr/>
        <p:nvPr/>
      </p:nvGrpSpPr>
      <p:grpSpPr>
        <a:xfrm>
          <a:off x="0" y="0"/>
          <a:ext cx="0" cy="0"/>
          <a:chOff x="0" y="0"/>
          <a:chExt cx="0" cy="0"/>
        </a:xfrm>
      </p:grpSpPr>
      <p:sp>
        <p:nvSpPr>
          <p:cNvPr id="156" name="Google Shape;156;p8"/>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Common Patterns: Still Lifes</a:t>
            </a:r>
            <a:endParaRPr sz="2200">
              <a:solidFill>
                <a:schemeClr val="dk1"/>
              </a:solidFill>
              <a:latin typeface="Calibri"/>
              <a:ea typeface="Calibri"/>
              <a:cs typeface="Calibri"/>
              <a:sym typeface="Calibri"/>
            </a:endParaRPr>
          </a:p>
        </p:txBody>
      </p:sp>
      <p:sp>
        <p:nvSpPr>
          <p:cNvPr id="158" name="Google Shape;158;p8"/>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8"/>
          <p:cNvSpPr/>
          <p:nvPr/>
        </p:nvSpPr>
        <p:spPr>
          <a:xfrm>
            <a:off x="320040" y="868680"/>
            <a:ext cx="85039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Still lifes are stable patterns that don't change from one generation to the next. They demonstrate how certain configurations achieve perfect equilibrium between the birth and survival rules.</a:t>
            </a:r>
            <a:endParaRPr sz="1200">
              <a:solidFill>
                <a:schemeClr val="dk1"/>
              </a:solidFill>
              <a:latin typeface="Calibri"/>
              <a:ea typeface="Calibri"/>
              <a:cs typeface="Calibri"/>
              <a:sym typeface="Calibri"/>
            </a:endParaRPr>
          </a:p>
        </p:txBody>
      </p:sp>
      <p:sp>
        <p:nvSpPr>
          <p:cNvPr id="160" name="Google Shape;160;p8"/>
          <p:cNvSpPr/>
          <p:nvPr/>
        </p:nvSpPr>
        <p:spPr>
          <a:xfrm>
            <a:off x="320040" y="1508760"/>
            <a:ext cx="2798064" cy="32918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8"/>
          <p:cNvSpPr/>
          <p:nvPr/>
        </p:nvSpPr>
        <p:spPr>
          <a:xfrm>
            <a:off x="320040" y="150876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8"/>
          <p:cNvSpPr/>
          <p:nvPr/>
        </p:nvSpPr>
        <p:spPr>
          <a:xfrm>
            <a:off x="393192" y="154533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Block (4 cells)</a:t>
            </a:r>
            <a:endParaRPr sz="1100">
              <a:solidFill>
                <a:schemeClr val="dk1"/>
              </a:solidFill>
              <a:latin typeface="Calibri"/>
              <a:ea typeface="Calibri"/>
              <a:cs typeface="Calibri"/>
              <a:sym typeface="Calibri"/>
            </a:endParaRPr>
          </a:p>
        </p:txBody>
      </p:sp>
      <p:sp>
        <p:nvSpPr>
          <p:cNvPr id="163" name="Google Shape;163;p8"/>
          <p:cNvSpPr/>
          <p:nvPr/>
        </p:nvSpPr>
        <p:spPr>
          <a:xfrm>
            <a:off x="411480" y="1911096"/>
            <a:ext cx="261518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 simplest still life: a 2×2 square. Each of the 4 live cells has exactly 3 live neighbors — ensuring survival. Each adjacent dead cell has exactly 2 live neighbors — preventing birth. Discovered immediately when the game was first played.</a:t>
            </a:r>
            <a:endParaRPr sz="1050">
              <a:solidFill>
                <a:schemeClr val="dk1"/>
              </a:solidFill>
              <a:latin typeface="Calibri"/>
              <a:ea typeface="Calibri"/>
              <a:cs typeface="Calibri"/>
              <a:sym typeface="Calibri"/>
            </a:endParaRPr>
          </a:p>
        </p:txBody>
      </p:sp>
      <p:sp>
        <p:nvSpPr>
          <p:cNvPr id="164" name="Google Shape;164;p8"/>
          <p:cNvSpPr/>
          <p:nvPr/>
        </p:nvSpPr>
        <p:spPr>
          <a:xfrm>
            <a:off x="3218688" y="1508760"/>
            <a:ext cx="2798064" cy="32918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8"/>
          <p:cNvSpPr/>
          <p:nvPr/>
        </p:nvSpPr>
        <p:spPr>
          <a:xfrm>
            <a:off x="3218688" y="150876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8"/>
          <p:cNvSpPr/>
          <p:nvPr/>
        </p:nvSpPr>
        <p:spPr>
          <a:xfrm>
            <a:off x="3291840" y="154533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Beehive (6 cells)</a:t>
            </a:r>
            <a:endParaRPr sz="1100">
              <a:solidFill>
                <a:schemeClr val="dk1"/>
              </a:solidFill>
              <a:latin typeface="Calibri"/>
              <a:ea typeface="Calibri"/>
              <a:cs typeface="Calibri"/>
              <a:sym typeface="Calibri"/>
            </a:endParaRPr>
          </a:p>
        </p:txBody>
      </p:sp>
      <p:sp>
        <p:nvSpPr>
          <p:cNvPr id="167" name="Google Shape;167;p8"/>
          <p:cNvSpPr/>
          <p:nvPr/>
        </p:nvSpPr>
        <p:spPr>
          <a:xfrm>
            <a:off x="3310128" y="1911096"/>
            <a:ext cx="261518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 hexagonal shape that is the most common still life found in random soup experiments. Each live cell has 2 or 3 live neighbors; border dead cells have at most 2. Extremely stable and frequently produced by other patterns.</a:t>
            </a:r>
            <a:endParaRPr sz="1050">
              <a:solidFill>
                <a:schemeClr val="dk1"/>
              </a:solidFill>
              <a:latin typeface="Calibri"/>
              <a:ea typeface="Calibri"/>
              <a:cs typeface="Calibri"/>
              <a:sym typeface="Calibri"/>
            </a:endParaRPr>
          </a:p>
        </p:txBody>
      </p:sp>
      <p:sp>
        <p:nvSpPr>
          <p:cNvPr id="168" name="Google Shape;168;p8"/>
          <p:cNvSpPr/>
          <p:nvPr/>
        </p:nvSpPr>
        <p:spPr>
          <a:xfrm>
            <a:off x="6117336" y="1508760"/>
            <a:ext cx="2798064" cy="32918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6117336" y="1508760"/>
            <a:ext cx="2798064"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
          <p:cNvSpPr/>
          <p:nvPr/>
        </p:nvSpPr>
        <p:spPr>
          <a:xfrm>
            <a:off x="6190488" y="154533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Loaf (7 cells)</a:t>
            </a:r>
            <a:endParaRPr sz="1100">
              <a:solidFill>
                <a:schemeClr val="dk1"/>
              </a:solidFill>
              <a:latin typeface="Calibri"/>
              <a:ea typeface="Calibri"/>
              <a:cs typeface="Calibri"/>
              <a:sym typeface="Calibri"/>
            </a:endParaRPr>
          </a:p>
        </p:txBody>
      </p:sp>
      <p:sp>
        <p:nvSpPr>
          <p:cNvPr id="171" name="Google Shape;171;p8"/>
          <p:cNvSpPr/>
          <p:nvPr/>
        </p:nvSpPr>
        <p:spPr>
          <a:xfrm>
            <a:off x="6208776" y="1911096"/>
            <a:ext cx="261518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An asymmetric still life slightly more complex than the beehive. Particularly interesting because it is asymmetric yet perfectly stable. Common in random soups and frequently produced as the endpoint of pattern evolution.</a:t>
            </a:r>
            <a:endParaRPr sz="1050">
              <a:solidFill>
                <a:schemeClr val="dk1"/>
              </a:solidFill>
              <a:latin typeface="Calibri"/>
              <a:ea typeface="Calibri"/>
              <a:cs typeface="Calibri"/>
              <a:sym typeface="Calibri"/>
            </a:endParaRPr>
          </a:p>
        </p:txBody>
      </p:sp>
      <p:pic>
        <p:nvPicPr>
          <p:cNvPr id="172" name="Google Shape;172;p8"/>
          <p:cNvPicPr preferRelativeResize="0"/>
          <p:nvPr/>
        </p:nvPicPr>
        <p:blipFill rotWithShape="1">
          <a:blip r:embed="rId3">
            <a:alphaModFix/>
          </a:blip>
          <a:srcRect b="0" l="0" r="0" t="0"/>
          <a:stretch/>
        </p:blipFill>
        <p:spPr>
          <a:xfrm>
            <a:off x="1237992" y="3154680"/>
            <a:ext cx="962159" cy="952633"/>
          </a:xfrm>
          <a:prstGeom prst="rect">
            <a:avLst/>
          </a:prstGeom>
          <a:noFill/>
          <a:ln>
            <a:noFill/>
          </a:ln>
        </p:spPr>
      </p:pic>
      <p:pic>
        <p:nvPicPr>
          <p:cNvPr id="173" name="Google Shape;173;p8"/>
          <p:cNvPicPr preferRelativeResize="0"/>
          <p:nvPr/>
        </p:nvPicPr>
        <p:blipFill rotWithShape="1">
          <a:blip r:embed="rId4">
            <a:alphaModFix/>
          </a:blip>
          <a:srcRect b="0" l="0" r="0" t="0"/>
          <a:stretch/>
        </p:blipFill>
        <p:spPr>
          <a:xfrm>
            <a:off x="3895630" y="3082077"/>
            <a:ext cx="1352739" cy="1276528"/>
          </a:xfrm>
          <a:prstGeom prst="rect">
            <a:avLst/>
          </a:prstGeom>
          <a:noFill/>
          <a:ln>
            <a:noFill/>
          </a:ln>
        </p:spPr>
      </p:pic>
      <p:pic>
        <p:nvPicPr>
          <p:cNvPr id="174" name="Google Shape;174;p8"/>
          <p:cNvPicPr preferRelativeResize="0"/>
          <p:nvPr/>
        </p:nvPicPr>
        <p:blipFill rotWithShape="1">
          <a:blip r:embed="rId5">
            <a:alphaModFix/>
          </a:blip>
          <a:srcRect b="0" l="0" r="0" t="0"/>
          <a:stretch/>
        </p:blipFill>
        <p:spPr>
          <a:xfrm>
            <a:off x="6602254" y="3095684"/>
            <a:ext cx="1409897" cy="1390844"/>
          </a:xfrm>
          <a:prstGeom prst="rect">
            <a:avLst/>
          </a:prstGeom>
          <a:noFill/>
          <a:ln>
            <a:noFill/>
          </a:ln>
        </p:spPr>
      </p:pic>
      <p:sp>
        <p:nvSpPr>
          <p:cNvPr id="175" name="Google Shape;17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80" name="Shape 180"/>
        <p:cNvGrpSpPr/>
        <p:nvPr/>
      </p:nvGrpSpPr>
      <p:grpSpPr>
        <a:xfrm>
          <a:off x="0" y="0"/>
          <a:ext cx="0" cy="0"/>
          <a:chOff x="0" y="0"/>
          <a:chExt cx="0" cy="0"/>
        </a:xfrm>
      </p:grpSpPr>
      <p:sp>
        <p:nvSpPr>
          <p:cNvPr id="181" name="Google Shape;181;p9"/>
          <p:cNvSpPr/>
          <p:nvPr/>
        </p:nvSpPr>
        <p:spPr>
          <a:xfrm>
            <a:off x="0" y="0"/>
            <a:ext cx="109728"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Common Patterns: Oscillators</a:t>
            </a:r>
            <a:endParaRPr sz="2200">
              <a:solidFill>
                <a:schemeClr val="dk1"/>
              </a:solidFill>
              <a:latin typeface="Calibri"/>
              <a:ea typeface="Calibri"/>
              <a:cs typeface="Calibri"/>
              <a:sym typeface="Calibri"/>
            </a:endParaRPr>
          </a:p>
        </p:txBody>
      </p:sp>
      <p:sp>
        <p:nvSpPr>
          <p:cNvPr id="183" name="Google Shape;183;p9"/>
          <p:cNvSpPr/>
          <p:nvPr/>
        </p:nvSpPr>
        <p:spPr>
          <a:xfrm>
            <a:off x="320040" y="758952"/>
            <a:ext cx="8503920" cy="2743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9"/>
          <p:cNvSpPr/>
          <p:nvPr/>
        </p:nvSpPr>
        <p:spPr>
          <a:xfrm>
            <a:off x="320040" y="868680"/>
            <a:ext cx="8503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Oscillators are patterns that return to their initial state after a fixed number of generations (their period). They cycle indefinitely without moving.</a:t>
            </a:r>
            <a:endParaRPr sz="1200">
              <a:solidFill>
                <a:schemeClr val="dk1"/>
              </a:solidFill>
              <a:latin typeface="Calibri"/>
              <a:ea typeface="Calibri"/>
              <a:cs typeface="Calibri"/>
              <a:sym typeface="Calibri"/>
            </a:endParaRPr>
          </a:p>
        </p:txBody>
      </p:sp>
      <p:sp>
        <p:nvSpPr>
          <p:cNvPr id="185" name="Google Shape;185;p9"/>
          <p:cNvSpPr/>
          <p:nvPr/>
        </p:nvSpPr>
        <p:spPr>
          <a:xfrm>
            <a:off x="320040" y="1417320"/>
            <a:ext cx="2798064" cy="333756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9"/>
          <p:cNvSpPr/>
          <p:nvPr/>
        </p:nvSpPr>
        <p:spPr>
          <a:xfrm>
            <a:off x="320040" y="141732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9"/>
          <p:cNvSpPr/>
          <p:nvPr/>
        </p:nvSpPr>
        <p:spPr>
          <a:xfrm>
            <a:off x="393192" y="145389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Blinker (period 2)</a:t>
            </a:r>
            <a:endParaRPr sz="1100">
              <a:solidFill>
                <a:schemeClr val="dk1"/>
              </a:solidFill>
              <a:latin typeface="Calibri"/>
              <a:ea typeface="Calibri"/>
              <a:cs typeface="Calibri"/>
              <a:sym typeface="Calibri"/>
            </a:endParaRPr>
          </a:p>
        </p:txBody>
      </p:sp>
      <p:sp>
        <p:nvSpPr>
          <p:cNvPr id="188" name="Google Shape;188;p9"/>
          <p:cNvSpPr/>
          <p:nvPr/>
        </p:nvSpPr>
        <p:spPr>
          <a:xfrm>
            <a:off x="411480" y="1819656"/>
            <a:ext cx="2615184" cy="2788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Three cells in a row. The simplest oscillator in Life — alternates every generation between a horizontal and vertical bar. Incredibly common in random experiments and pattern evolution.</a:t>
            </a:r>
            <a:endParaRPr sz="1050">
              <a:solidFill>
                <a:schemeClr val="dk1"/>
              </a:solidFill>
              <a:latin typeface="Calibri"/>
              <a:ea typeface="Calibri"/>
              <a:cs typeface="Calibri"/>
              <a:sym typeface="Calibri"/>
            </a:endParaRPr>
          </a:p>
        </p:txBody>
      </p:sp>
      <p:sp>
        <p:nvSpPr>
          <p:cNvPr id="189" name="Google Shape;189;p9"/>
          <p:cNvSpPr/>
          <p:nvPr/>
        </p:nvSpPr>
        <p:spPr>
          <a:xfrm>
            <a:off x="3218688" y="1417320"/>
            <a:ext cx="2798064" cy="333756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3218688" y="141732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9"/>
          <p:cNvSpPr/>
          <p:nvPr/>
        </p:nvSpPr>
        <p:spPr>
          <a:xfrm>
            <a:off x="3291840" y="145389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Toad (period 2)</a:t>
            </a:r>
            <a:endParaRPr sz="1100">
              <a:solidFill>
                <a:schemeClr val="dk1"/>
              </a:solidFill>
              <a:latin typeface="Calibri"/>
              <a:ea typeface="Calibri"/>
              <a:cs typeface="Calibri"/>
              <a:sym typeface="Calibri"/>
            </a:endParaRPr>
          </a:p>
        </p:txBody>
      </p:sp>
      <p:sp>
        <p:nvSpPr>
          <p:cNvPr id="192" name="Google Shape;192;p9"/>
          <p:cNvSpPr/>
          <p:nvPr/>
        </p:nvSpPr>
        <p:spPr>
          <a:xfrm>
            <a:off x="3310128" y="1819656"/>
            <a:ext cx="2615184" cy="2788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Six cells that oscillate between two configurations with period 2 in a toad-like pattern. One of the smallest period-2 oscillators. Often produced near the end of pattern evolution from random soups.</a:t>
            </a:r>
            <a:endParaRPr sz="1050">
              <a:solidFill>
                <a:schemeClr val="dk1"/>
              </a:solidFill>
              <a:latin typeface="Calibri"/>
              <a:ea typeface="Calibri"/>
              <a:cs typeface="Calibri"/>
              <a:sym typeface="Calibri"/>
            </a:endParaRPr>
          </a:p>
        </p:txBody>
      </p:sp>
      <p:sp>
        <p:nvSpPr>
          <p:cNvPr id="193" name="Google Shape;193;p9"/>
          <p:cNvSpPr/>
          <p:nvPr/>
        </p:nvSpPr>
        <p:spPr>
          <a:xfrm>
            <a:off x="6117336" y="1417320"/>
            <a:ext cx="2798064" cy="333756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9"/>
          <p:cNvSpPr/>
          <p:nvPr/>
        </p:nvSpPr>
        <p:spPr>
          <a:xfrm>
            <a:off x="6117336" y="1417320"/>
            <a:ext cx="2798064"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9"/>
          <p:cNvSpPr/>
          <p:nvPr/>
        </p:nvSpPr>
        <p:spPr>
          <a:xfrm>
            <a:off x="6190488" y="145389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Pulsar (period 3)</a:t>
            </a:r>
            <a:endParaRPr sz="1100">
              <a:solidFill>
                <a:schemeClr val="dk1"/>
              </a:solidFill>
              <a:latin typeface="Calibri"/>
              <a:ea typeface="Calibri"/>
              <a:cs typeface="Calibri"/>
              <a:sym typeface="Calibri"/>
            </a:endParaRPr>
          </a:p>
        </p:txBody>
      </p:sp>
      <p:sp>
        <p:nvSpPr>
          <p:cNvPr id="196" name="Google Shape;196;p9"/>
          <p:cNvSpPr/>
          <p:nvPr/>
        </p:nvSpPr>
        <p:spPr>
          <a:xfrm>
            <a:off x="6208776" y="1819656"/>
            <a:ext cx="2615184" cy="2788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 complex 48-cell pattern with 12-fold symmetry and period 3. The most common period-3 oscillator. Visually striking and was among Conway's early discoveries. Frequently emerges from collisions between larger patterns.</a:t>
            </a:r>
            <a:endParaRPr sz="1050">
              <a:solidFill>
                <a:schemeClr val="dk1"/>
              </a:solidFill>
              <a:latin typeface="Calibri"/>
              <a:ea typeface="Calibri"/>
              <a:cs typeface="Calibri"/>
              <a:sym typeface="Calibri"/>
            </a:endParaRPr>
          </a:p>
        </p:txBody>
      </p:sp>
      <p:sp>
        <p:nvSpPr>
          <p:cNvPr id="197" name="Google Shape;197;p9"/>
          <p:cNvSpPr/>
          <p:nvPr/>
        </p:nvSpPr>
        <p:spPr>
          <a:xfrm>
            <a:off x="320040" y="4764024"/>
            <a:ext cx="8503920" cy="228600"/>
          </a:xfrm>
          <a:prstGeom prst="rect">
            <a:avLst/>
          </a:prstGeom>
          <a:solidFill>
            <a:srgbClr val="FFF0EE"/>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9"/>
          <p:cNvSpPr/>
          <p:nvPr/>
        </p:nvSpPr>
        <p:spPr>
          <a:xfrm>
            <a:off x="457200" y="4773168"/>
            <a:ext cx="8229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Notable: Pentadecathlon (period 15) is one of the longest-period oscillators in the standard Life rule set.</a:t>
            </a:r>
            <a:endParaRPr sz="1000">
              <a:solidFill>
                <a:schemeClr val="dk1"/>
              </a:solidFill>
              <a:latin typeface="Calibri"/>
              <a:ea typeface="Calibri"/>
              <a:cs typeface="Calibri"/>
              <a:sym typeface="Calibri"/>
            </a:endParaRPr>
          </a:p>
        </p:txBody>
      </p:sp>
      <p:pic>
        <p:nvPicPr>
          <p:cNvPr id="199" name="Google Shape;199;p9"/>
          <p:cNvPicPr preferRelativeResize="0"/>
          <p:nvPr/>
        </p:nvPicPr>
        <p:blipFill rotWithShape="1">
          <a:blip r:embed="rId3">
            <a:alphaModFix/>
          </a:blip>
          <a:srcRect b="0" l="0" r="0" t="0"/>
          <a:stretch/>
        </p:blipFill>
        <p:spPr>
          <a:xfrm>
            <a:off x="457200" y="2765744"/>
            <a:ext cx="2619227" cy="1618804"/>
          </a:xfrm>
          <a:prstGeom prst="rect">
            <a:avLst/>
          </a:prstGeom>
          <a:noFill/>
          <a:ln>
            <a:noFill/>
          </a:ln>
        </p:spPr>
      </p:pic>
      <p:pic>
        <p:nvPicPr>
          <p:cNvPr id="200" name="Google Shape;200;p9"/>
          <p:cNvPicPr preferRelativeResize="0"/>
          <p:nvPr/>
        </p:nvPicPr>
        <p:blipFill rotWithShape="1">
          <a:blip r:embed="rId4">
            <a:alphaModFix/>
          </a:blip>
          <a:srcRect b="0" l="0" r="0" t="0"/>
          <a:stretch/>
        </p:blipFill>
        <p:spPr>
          <a:xfrm>
            <a:off x="3443245" y="2893918"/>
            <a:ext cx="2619227" cy="1618804"/>
          </a:xfrm>
          <a:prstGeom prst="rect">
            <a:avLst/>
          </a:prstGeom>
          <a:noFill/>
          <a:ln>
            <a:noFill/>
          </a:ln>
        </p:spPr>
      </p:pic>
      <p:pic>
        <p:nvPicPr>
          <p:cNvPr id="201" name="Google Shape;201;p9"/>
          <p:cNvPicPr preferRelativeResize="0"/>
          <p:nvPr/>
        </p:nvPicPr>
        <p:blipFill rotWithShape="1">
          <a:blip r:embed="rId5">
            <a:alphaModFix/>
          </a:blip>
          <a:srcRect b="0" l="0" r="0" t="0"/>
          <a:stretch/>
        </p:blipFill>
        <p:spPr>
          <a:xfrm>
            <a:off x="6163056" y="2976214"/>
            <a:ext cx="2619227" cy="1618804"/>
          </a:xfrm>
          <a:prstGeom prst="rect">
            <a:avLst/>
          </a:prstGeom>
          <a:noFill/>
          <a:ln>
            <a:noFill/>
          </a:ln>
        </p:spPr>
      </p:pic>
      <p:sp>
        <p:nvSpPr>
          <p:cNvPr id="202" name="Google Shape;202;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07" name="Shape 207"/>
        <p:cNvGrpSpPr/>
        <p:nvPr/>
      </p:nvGrpSpPr>
      <p:grpSpPr>
        <a:xfrm>
          <a:off x="0" y="0"/>
          <a:ext cx="0" cy="0"/>
          <a:chOff x="0" y="0"/>
          <a:chExt cx="0" cy="0"/>
        </a:xfrm>
      </p:grpSpPr>
      <p:sp>
        <p:nvSpPr>
          <p:cNvPr id="208" name="Google Shape;208;p10"/>
          <p:cNvSpPr/>
          <p:nvPr/>
        </p:nvSpPr>
        <p:spPr>
          <a:xfrm>
            <a:off x="0" y="0"/>
            <a:ext cx="109728"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0"/>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Common Patterns: Spaceships</a:t>
            </a:r>
            <a:endParaRPr sz="2200">
              <a:solidFill>
                <a:schemeClr val="dk1"/>
              </a:solidFill>
              <a:latin typeface="Calibri"/>
              <a:ea typeface="Calibri"/>
              <a:cs typeface="Calibri"/>
              <a:sym typeface="Calibri"/>
            </a:endParaRPr>
          </a:p>
        </p:txBody>
      </p:sp>
      <p:sp>
        <p:nvSpPr>
          <p:cNvPr id="210" name="Google Shape;210;p10"/>
          <p:cNvSpPr/>
          <p:nvPr/>
        </p:nvSpPr>
        <p:spPr>
          <a:xfrm>
            <a:off x="320040" y="758952"/>
            <a:ext cx="8503920" cy="2743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0"/>
          <p:cNvSpPr/>
          <p:nvPr/>
        </p:nvSpPr>
        <p:spPr>
          <a:xfrm>
            <a:off x="320040" y="868680"/>
            <a:ext cx="8503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Spaceships are patterns that move across the grid, returning to their original shape (possibly translated or rotated) after some number of generations.</a:t>
            </a:r>
            <a:endParaRPr sz="1200">
              <a:solidFill>
                <a:schemeClr val="dk1"/>
              </a:solidFill>
              <a:latin typeface="Calibri"/>
              <a:ea typeface="Calibri"/>
              <a:cs typeface="Calibri"/>
              <a:sym typeface="Calibri"/>
            </a:endParaRPr>
          </a:p>
        </p:txBody>
      </p:sp>
      <p:sp>
        <p:nvSpPr>
          <p:cNvPr id="212" name="Google Shape;212;p10"/>
          <p:cNvSpPr/>
          <p:nvPr/>
        </p:nvSpPr>
        <p:spPr>
          <a:xfrm>
            <a:off x="32004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0"/>
          <p:cNvSpPr/>
          <p:nvPr/>
        </p:nvSpPr>
        <p:spPr>
          <a:xfrm>
            <a:off x="320040" y="960120"/>
            <a:ext cx="21031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0"/>
          <p:cNvSpPr/>
          <p:nvPr/>
        </p:nvSpPr>
        <p:spPr>
          <a:xfrm>
            <a:off x="39319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Glider (5 cells)</a:t>
            </a:r>
            <a:endParaRPr sz="1100">
              <a:solidFill>
                <a:schemeClr val="dk1"/>
              </a:solidFill>
              <a:latin typeface="Calibri"/>
              <a:ea typeface="Calibri"/>
              <a:cs typeface="Calibri"/>
              <a:sym typeface="Calibri"/>
            </a:endParaRPr>
          </a:p>
        </p:txBody>
      </p:sp>
      <p:sp>
        <p:nvSpPr>
          <p:cNvPr id="215" name="Google Shape;215;p10"/>
          <p:cNvSpPr/>
          <p:nvPr/>
        </p:nvSpPr>
        <p:spPr>
          <a:xfrm>
            <a:off x="41148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 smallest and most famous spaceship. Moves diagonally at speed c/4 (one cell every 4 generations). Discovered by Richard Guy in 1970. Has become the unofficial symbol of the Game of Life and hacker culture.</a:t>
            </a:r>
            <a:endParaRPr sz="1050">
              <a:solidFill>
                <a:schemeClr val="dk1"/>
              </a:solidFill>
              <a:latin typeface="Calibri"/>
              <a:ea typeface="Calibri"/>
              <a:cs typeface="Calibri"/>
              <a:sym typeface="Calibri"/>
            </a:endParaRPr>
          </a:p>
        </p:txBody>
      </p:sp>
      <p:sp>
        <p:nvSpPr>
          <p:cNvPr id="216" name="Google Shape;216;p10"/>
          <p:cNvSpPr/>
          <p:nvPr/>
        </p:nvSpPr>
        <p:spPr>
          <a:xfrm>
            <a:off x="251460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0"/>
          <p:cNvSpPr/>
          <p:nvPr/>
        </p:nvSpPr>
        <p:spPr>
          <a:xfrm>
            <a:off x="2514600" y="960120"/>
            <a:ext cx="21031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0"/>
          <p:cNvSpPr/>
          <p:nvPr/>
        </p:nvSpPr>
        <p:spPr>
          <a:xfrm>
            <a:off x="258775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LWSS (9 cells)</a:t>
            </a:r>
            <a:endParaRPr sz="1100">
              <a:solidFill>
                <a:schemeClr val="dk1"/>
              </a:solidFill>
              <a:latin typeface="Calibri"/>
              <a:ea typeface="Calibri"/>
              <a:cs typeface="Calibri"/>
              <a:sym typeface="Calibri"/>
            </a:endParaRPr>
          </a:p>
        </p:txBody>
      </p:sp>
      <p:sp>
        <p:nvSpPr>
          <p:cNvPr id="219" name="Google Shape;219;p10"/>
          <p:cNvSpPr/>
          <p:nvPr/>
        </p:nvSpPr>
        <p:spPr>
          <a:xfrm>
            <a:off x="260604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Lightweight Spaceship. The smallest orthogonally-moving spaceship, travelling at c/2. Four natural variants. The workhorse of Life computation — used extensively in signal routing.</a:t>
            </a:r>
            <a:endParaRPr sz="1050">
              <a:solidFill>
                <a:schemeClr val="dk1"/>
              </a:solidFill>
              <a:latin typeface="Calibri"/>
              <a:ea typeface="Calibri"/>
              <a:cs typeface="Calibri"/>
              <a:sym typeface="Calibri"/>
            </a:endParaRPr>
          </a:p>
        </p:txBody>
      </p:sp>
      <p:sp>
        <p:nvSpPr>
          <p:cNvPr id="220" name="Google Shape;220;p10"/>
          <p:cNvSpPr/>
          <p:nvPr/>
        </p:nvSpPr>
        <p:spPr>
          <a:xfrm>
            <a:off x="470916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0"/>
          <p:cNvSpPr/>
          <p:nvPr/>
        </p:nvSpPr>
        <p:spPr>
          <a:xfrm>
            <a:off x="4709160" y="960120"/>
            <a:ext cx="21031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0"/>
          <p:cNvSpPr/>
          <p:nvPr/>
        </p:nvSpPr>
        <p:spPr>
          <a:xfrm>
            <a:off x="478231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MWSS (11 cells)</a:t>
            </a:r>
            <a:endParaRPr sz="1100">
              <a:solidFill>
                <a:schemeClr val="dk1"/>
              </a:solidFill>
              <a:latin typeface="Calibri"/>
              <a:ea typeface="Calibri"/>
              <a:cs typeface="Calibri"/>
              <a:sym typeface="Calibri"/>
            </a:endParaRPr>
          </a:p>
        </p:txBody>
      </p:sp>
      <p:sp>
        <p:nvSpPr>
          <p:cNvPr id="223" name="Google Shape;223;p10"/>
          <p:cNvSpPr/>
          <p:nvPr/>
        </p:nvSpPr>
        <p:spPr>
          <a:xfrm>
            <a:off x="480060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Middleweight Spaceship. Eleven cells, travels horizontally or vertically at c/2 like the LWSS. Slightly less common in random soups but plays a role in larger pattern constructions.</a:t>
            </a:r>
            <a:endParaRPr sz="1050">
              <a:solidFill>
                <a:schemeClr val="dk1"/>
              </a:solidFill>
              <a:latin typeface="Calibri"/>
              <a:ea typeface="Calibri"/>
              <a:cs typeface="Calibri"/>
              <a:sym typeface="Calibri"/>
            </a:endParaRPr>
          </a:p>
        </p:txBody>
      </p:sp>
      <p:sp>
        <p:nvSpPr>
          <p:cNvPr id="224" name="Google Shape;224;p10"/>
          <p:cNvSpPr/>
          <p:nvPr/>
        </p:nvSpPr>
        <p:spPr>
          <a:xfrm>
            <a:off x="690372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0"/>
          <p:cNvSpPr/>
          <p:nvPr/>
        </p:nvSpPr>
        <p:spPr>
          <a:xfrm>
            <a:off x="6903720" y="960120"/>
            <a:ext cx="21031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0"/>
          <p:cNvSpPr/>
          <p:nvPr/>
        </p:nvSpPr>
        <p:spPr>
          <a:xfrm>
            <a:off x="697687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HWSS (13 cells)</a:t>
            </a:r>
            <a:endParaRPr sz="1100">
              <a:solidFill>
                <a:schemeClr val="dk1"/>
              </a:solidFill>
              <a:latin typeface="Calibri"/>
              <a:ea typeface="Calibri"/>
              <a:cs typeface="Calibri"/>
              <a:sym typeface="Calibri"/>
            </a:endParaRPr>
          </a:p>
        </p:txBody>
      </p:sp>
      <p:sp>
        <p:nvSpPr>
          <p:cNvPr id="227" name="Google Shape;227;p10"/>
          <p:cNvSpPr/>
          <p:nvPr/>
        </p:nvSpPr>
        <p:spPr>
          <a:xfrm>
            <a:off x="699516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Heavyweight Spaceship. Thirteen cells, also at c/2. Maintains stability while moving across the grid. All three orthogonal spaceships share the same speed and similar structure.</a:t>
            </a:r>
            <a:endParaRPr sz="1050">
              <a:solidFill>
                <a:schemeClr val="dk1"/>
              </a:solidFill>
              <a:latin typeface="Calibri"/>
              <a:ea typeface="Calibri"/>
              <a:cs typeface="Calibri"/>
              <a:sym typeface="Calibri"/>
            </a:endParaRPr>
          </a:p>
        </p:txBody>
      </p:sp>
      <p:pic>
        <p:nvPicPr>
          <p:cNvPr id="228" name="Google Shape;228;p10"/>
          <p:cNvPicPr preferRelativeResize="0"/>
          <p:nvPr/>
        </p:nvPicPr>
        <p:blipFill rotWithShape="1">
          <a:blip r:embed="rId3">
            <a:alphaModFix/>
          </a:blip>
          <a:srcRect b="0" l="0" r="0" t="0"/>
          <a:stretch/>
        </p:blipFill>
        <p:spPr>
          <a:xfrm>
            <a:off x="891859" y="2825496"/>
            <a:ext cx="1286054" cy="1133633"/>
          </a:xfrm>
          <a:prstGeom prst="rect">
            <a:avLst/>
          </a:prstGeom>
          <a:noFill/>
          <a:ln>
            <a:noFill/>
          </a:ln>
        </p:spPr>
      </p:pic>
      <p:pic>
        <p:nvPicPr>
          <p:cNvPr id="229" name="Google Shape;229;p10"/>
          <p:cNvPicPr preferRelativeResize="0"/>
          <p:nvPr/>
        </p:nvPicPr>
        <p:blipFill rotWithShape="1">
          <a:blip r:embed="rId4">
            <a:alphaModFix/>
          </a:blip>
          <a:srcRect b="0" l="0" r="0" t="0"/>
          <a:stretch/>
        </p:blipFill>
        <p:spPr>
          <a:xfrm>
            <a:off x="2723892" y="2696890"/>
            <a:ext cx="1848108" cy="1390844"/>
          </a:xfrm>
          <a:prstGeom prst="rect">
            <a:avLst/>
          </a:prstGeom>
          <a:noFill/>
          <a:ln>
            <a:noFill/>
          </a:ln>
        </p:spPr>
      </p:pic>
      <p:pic>
        <p:nvPicPr>
          <p:cNvPr id="230" name="Google Shape;230;p10"/>
          <p:cNvPicPr preferRelativeResize="0"/>
          <p:nvPr/>
        </p:nvPicPr>
        <p:blipFill rotWithShape="1">
          <a:blip r:embed="rId5">
            <a:alphaModFix/>
          </a:blip>
          <a:srcRect b="0" l="0" r="0" t="0"/>
          <a:stretch/>
        </p:blipFill>
        <p:spPr>
          <a:xfrm>
            <a:off x="4755692" y="2639732"/>
            <a:ext cx="2010056" cy="1448002"/>
          </a:xfrm>
          <a:prstGeom prst="rect">
            <a:avLst/>
          </a:prstGeom>
          <a:noFill/>
          <a:ln>
            <a:noFill/>
          </a:ln>
        </p:spPr>
      </p:pic>
      <p:pic>
        <p:nvPicPr>
          <p:cNvPr id="231" name="Google Shape;231;p10"/>
          <p:cNvPicPr preferRelativeResize="0"/>
          <p:nvPr/>
        </p:nvPicPr>
        <p:blipFill rotWithShape="1">
          <a:blip r:embed="rId6">
            <a:alphaModFix/>
          </a:blip>
          <a:srcRect b="0" l="0" r="0" t="0"/>
          <a:stretch/>
        </p:blipFill>
        <p:spPr>
          <a:xfrm>
            <a:off x="6972029" y="2663548"/>
            <a:ext cx="1943371" cy="1457528"/>
          </a:xfrm>
          <a:prstGeom prst="rect">
            <a:avLst/>
          </a:prstGeom>
          <a:noFill/>
          <a:ln>
            <a:noFill/>
          </a:ln>
        </p:spPr>
      </p:pic>
      <p:sp>
        <p:nvSpPr>
          <p:cNvPr id="232" name="Google Shape;232;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37" name="Shape 237"/>
        <p:cNvGrpSpPr/>
        <p:nvPr/>
      </p:nvGrpSpPr>
      <p:grpSpPr>
        <a:xfrm>
          <a:off x="0" y="0"/>
          <a:ext cx="0" cy="0"/>
          <a:chOff x="0" y="0"/>
          <a:chExt cx="0" cy="0"/>
        </a:xfrm>
      </p:grpSpPr>
      <p:sp>
        <p:nvSpPr>
          <p:cNvPr id="238" name="Google Shape;238;p11"/>
          <p:cNvSpPr/>
          <p:nvPr/>
        </p:nvSpPr>
        <p:spPr>
          <a:xfrm>
            <a:off x="0" y="0"/>
            <a:ext cx="109728"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1"/>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Remarkable Discoveries: Methuselahs</a:t>
            </a:r>
            <a:endParaRPr sz="2200">
              <a:solidFill>
                <a:schemeClr val="dk1"/>
              </a:solidFill>
              <a:latin typeface="Calibri"/>
              <a:ea typeface="Calibri"/>
              <a:cs typeface="Calibri"/>
              <a:sym typeface="Calibri"/>
            </a:endParaRPr>
          </a:p>
        </p:txBody>
      </p:sp>
      <p:sp>
        <p:nvSpPr>
          <p:cNvPr id="240" name="Google Shape;240;p11"/>
          <p:cNvSpPr/>
          <p:nvPr/>
        </p:nvSpPr>
        <p:spPr>
          <a:xfrm>
            <a:off x="320040" y="758952"/>
            <a:ext cx="8503920" cy="2743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1"/>
          <p:cNvSpPr/>
          <p:nvPr/>
        </p:nvSpPr>
        <p:spPr>
          <a:xfrm>
            <a:off x="320040" y="868680"/>
            <a:ext cx="8503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Methuselahs are small initial patterns that take a very long time to stabilize, generating large, complex populations along the way. Named after the biblical figure who lived 969 years.</a:t>
            </a:r>
            <a:endParaRPr sz="1200">
              <a:solidFill>
                <a:schemeClr val="dk1"/>
              </a:solidFill>
              <a:latin typeface="Calibri"/>
              <a:ea typeface="Calibri"/>
              <a:cs typeface="Calibri"/>
              <a:sym typeface="Calibri"/>
            </a:endParaRPr>
          </a:p>
        </p:txBody>
      </p:sp>
      <p:sp>
        <p:nvSpPr>
          <p:cNvPr id="242" name="Google Shape;242;p11"/>
          <p:cNvSpPr/>
          <p:nvPr/>
        </p:nvSpPr>
        <p:spPr>
          <a:xfrm>
            <a:off x="320040" y="1463040"/>
            <a:ext cx="2798064" cy="32918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1"/>
          <p:cNvSpPr/>
          <p:nvPr/>
        </p:nvSpPr>
        <p:spPr>
          <a:xfrm>
            <a:off x="320040" y="146304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1"/>
          <p:cNvSpPr/>
          <p:nvPr/>
        </p:nvSpPr>
        <p:spPr>
          <a:xfrm>
            <a:off x="393192" y="149961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R-pentomino (5 cells)</a:t>
            </a:r>
            <a:endParaRPr sz="1100">
              <a:solidFill>
                <a:schemeClr val="dk1"/>
              </a:solidFill>
              <a:latin typeface="Calibri"/>
              <a:ea typeface="Calibri"/>
              <a:cs typeface="Calibri"/>
              <a:sym typeface="Calibri"/>
            </a:endParaRPr>
          </a:p>
        </p:txBody>
      </p:sp>
      <p:sp>
        <p:nvSpPr>
          <p:cNvPr id="245" name="Google Shape;245;p11"/>
          <p:cNvSpPr/>
          <p:nvPr/>
        </p:nvSpPr>
        <p:spPr>
          <a:xfrm>
            <a:off x="411480" y="1865376"/>
            <a:ext cx="261518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Lives for 1,103 generations before stabilizing. One of Conway's earliest discoveries. The simple 2×3 pattern with one corner missing produces 116 cells, 8 gliders, and numerous still lifes. The canonical example of a Methuselah.</a:t>
            </a:r>
            <a:endParaRPr sz="1050">
              <a:solidFill>
                <a:schemeClr val="dk1"/>
              </a:solidFill>
              <a:latin typeface="Calibri"/>
              <a:ea typeface="Calibri"/>
              <a:cs typeface="Calibri"/>
              <a:sym typeface="Calibri"/>
            </a:endParaRPr>
          </a:p>
        </p:txBody>
      </p:sp>
      <p:sp>
        <p:nvSpPr>
          <p:cNvPr id="246" name="Google Shape;246;p11"/>
          <p:cNvSpPr/>
          <p:nvPr/>
        </p:nvSpPr>
        <p:spPr>
          <a:xfrm>
            <a:off x="3218688" y="1463040"/>
            <a:ext cx="2798064" cy="32918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1"/>
          <p:cNvSpPr/>
          <p:nvPr/>
        </p:nvSpPr>
        <p:spPr>
          <a:xfrm>
            <a:off x="3218688" y="146304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1"/>
          <p:cNvSpPr/>
          <p:nvPr/>
        </p:nvSpPr>
        <p:spPr>
          <a:xfrm>
            <a:off x="3291840" y="149961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Diehard (7 cells)</a:t>
            </a:r>
            <a:endParaRPr sz="1100">
              <a:solidFill>
                <a:schemeClr val="dk1"/>
              </a:solidFill>
              <a:latin typeface="Calibri"/>
              <a:ea typeface="Calibri"/>
              <a:cs typeface="Calibri"/>
              <a:sym typeface="Calibri"/>
            </a:endParaRPr>
          </a:p>
        </p:txBody>
      </p:sp>
      <p:sp>
        <p:nvSpPr>
          <p:cNvPr id="249" name="Google Shape;249;p11"/>
          <p:cNvSpPr/>
          <p:nvPr/>
        </p:nvSpPr>
        <p:spPr>
          <a:xfrm>
            <a:off x="3310128" y="1865376"/>
            <a:ext cx="261518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 7-cell pattern that completely disappears after exactly 130 generations — leaving nothing behind. Demonstrates that not all long-lived patterns stabilize to a static population; some simply vanish.</a:t>
            </a:r>
            <a:endParaRPr sz="1050">
              <a:solidFill>
                <a:schemeClr val="dk1"/>
              </a:solidFill>
              <a:latin typeface="Calibri"/>
              <a:ea typeface="Calibri"/>
              <a:cs typeface="Calibri"/>
              <a:sym typeface="Calibri"/>
            </a:endParaRPr>
          </a:p>
        </p:txBody>
      </p:sp>
      <p:sp>
        <p:nvSpPr>
          <p:cNvPr id="250" name="Google Shape;250;p11"/>
          <p:cNvSpPr/>
          <p:nvPr/>
        </p:nvSpPr>
        <p:spPr>
          <a:xfrm>
            <a:off x="6117336" y="1463040"/>
            <a:ext cx="2798064" cy="32918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1"/>
          <p:cNvSpPr/>
          <p:nvPr/>
        </p:nvSpPr>
        <p:spPr>
          <a:xfrm>
            <a:off x="6117336" y="1463040"/>
            <a:ext cx="2798064"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1"/>
          <p:cNvSpPr/>
          <p:nvPr/>
        </p:nvSpPr>
        <p:spPr>
          <a:xfrm>
            <a:off x="6190488" y="149961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Acorn (7 cells)</a:t>
            </a:r>
            <a:endParaRPr sz="1100">
              <a:solidFill>
                <a:schemeClr val="dk1"/>
              </a:solidFill>
              <a:latin typeface="Calibri"/>
              <a:ea typeface="Calibri"/>
              <a:cs typeface="Calibri"/>
              <a:sym typeface="Calibri"/>
            </a:endParaRPr>
          </a:p>
        </p:txBody>
      </p:sp>
      <p:sp>
        <p:nvSpPr>
          <p:cNvPr id="253" name="Google Shape;253;p11"/>
          <p:cNvSpPr/>
          <p:nvPr/>
        </p:nvSpPr>
        <p:spPr>
          <a:xfrm>
            <a:off x="6208776" y="1865376"/>
            <a:ext cx="261518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Seven cells arranged asymmetrically that takes 5,206 generations to stabilize, producing 633 cells and 13 gliders. One of the most extreme Methuselahs known, discovered by Charles Corderman in 1971.</a:t>
            </a:r>
            <a:endParaRPr sz="1050">
              <a:solidFill>
                <a:schemeClr val="dk1"/>
              </a:solidFill>
              <a:latin typeface="Calibri"/>
              <a:ea typeface="Calibri"/>
              <a:cs typeface="Calibri"/>
              <a:sym typeface="Calibri"/>
            </a:endParaRPr>
          </a:p>
        </p:txBody>
      </p:sp>
      <p:sp>
        <p:nvSpPr>
          <p:cNvPr id="254" name="Google Shape;254;p11"/>
          <p:cNvSpPr txBox="1"/>
          <p:nvPr/>
        </p:nvSpPr>
        <p:spPr>
          <a:xfrm>
            <a:off x="620486" y="3236976"/>
            <a:ext cx="218802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https://www.youtube.com/watch?v=bTPN3spiq1I</a:t>
            </a:r>
            <a:endParaRPr sz="1800">
              <a:solidFill>
                <a:schemeClr val="dk1"/>
              </a:solidFill>
              <a:latin typeface="Calibri"/>
              <a:ea typeface="Calibri"/>
              <a:cs typeface="Calibri"/>
              <a:sym typeface="Calibri"/>
            </a:endParaRPr>
          </a:p>
        </p:txBody>
      </p:sp>
      <p:pic>
        <p:nvPicPr>
          <p:cNvPr id="255" name="Google Shape;255;p11"/>
          <p:cNvPicPr preferRelativeResize="0"/>
          <p:nvPr/>
        </p:nvPicPr>
        <p:blipFill rotWithShape="1">
          <a:blip r:embed="rId3">
            <a:alphaModFix/>
          </a:blip>
          <a:srcRect b="0" l="0" r="0" t="0"/>
          <a:stretch/>
        </p:blipFill>
        <p:spPr>
          <a:xfrm>
            <a:off x="3711484" y="2792405"/>
            <a:ext cx="1812471" cy="1812471"/>
          </a:xfrm>
          <a:prstGeom prst="rect">
            <a:avLst/>
          </a:prstGeom>
          <a:noFill/>
          <a:ln>
            <a:noFill/>
          </a:ln>
        </p:spPr>
      </p:pic>
      <p:sp>
        <p:nvSpPr>
          <p:cNvPr id="256" name="Google Shape;256;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261" name="Shape 261"/>
        <p:cNvGrpSpPr/>
        <p:nvPr/>
      </p:nvGrpSpPr>
      <p:grpSpPr>
        <a:xfrm>
          <a:off x="0" y="0"/>
          <a:ext cx="0" cy="0"/>
          <a:chOff x="0" y="0"/>
          <a:chExt cx="0" cy="0"/>
        </a:xfrm>
      </p:grpSpPr>
      <p:sp>
        <p:nvSpPr>
          <p:cNvPr id="262" name="Google Shape;262;p12"/>
          <p:cNvSpPr/>
          <p:nvPr/>
        </p:nvSpPr>
        <p:spPr>
          <a:xfrm>
            <a:off x="0" y="0"/>
            <a:ext cx="164592"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2"/>
          <p:cNvSpPr/>
          <p:nvPr/>
        </p:nvSpPr>
        <p:spPr>
          <a:xfrm>
            <a:off x="457200" y="731520"/>
            <a:ext cx="146304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9600"/>
              <a:buFont typeface="Calibri"/>
              <a:buNone/>
            </a:pPr>
            <a:r>
              <a:rPr b="1" lang="en-US" sz="9600">
                <a:solidFill>
                  <a:srgbClr val="C9A84C"/>
                </a:solidFill>
                <a:latin typeface="Calibri"/>
                <a:ea typeface="Calibri"/>
                <a:cs typeface="Calibri"/>
                <a:sym typeface="Calibri"/>
              </a:rPr>
              <a:t>3</a:t>
            </a:r>
            <a:endParaRPr sz="9600">
              <a:solidFill>
                <a:schemeClr val="dk1"/>
              </a:solidFill>
              <a:latin typeface="Calibri"/>
              <a:ea typeface="Calibri"/>
              <a:cs typeface="Calibri"/>
              <a:sym typeface="Calibri"/>
            </a:endParaRPr>
          </a:p>
        </p:txBody>
      </p:sp>
      <p:sp>
        <p:nvSpPr>
          <p:cNvPr id="264" name="Google Shape;264;p12"/>
          <p:cNvSpPr/>
          <p:nvPr/>
        </p:nvSpPr>
        <p:spPr>
          <a:xfrm>
            <a:off x="2194560" y="1463040"/>
            <a:ext cx="6583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Remarkable Discoveries</a:t>
            </a:r>
            <a:endParaRPr sz="3400">
              <a:solidFill>
                <a:schemeClr val="dk1"/>
              </a:solidFill>
              <a:latin typeface="Calibri"/>
              <a:ea typeface="Calibri"/>
              <a:cs typeface="Calibri"/>
              <a:sym typeface="Calibri"/>
            </a:endParaRPr>
          </a:p>
        </p:txBody>
      </p:sp>
      <p:sp>
        <p:nvSpPr>
          <p:cNvPr id="265" name="Google Shape;265;p12"/>
          <p:cNvSpPr/>
          <p:nvPr/>
        </p:nvSpPr>
        <p:spPr>
          <a:xfrm>
            <a:off x="2194560" y="2514600"/>
            <a:ext cx="658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600"/>
              <a:buFont typeface="Calibri"/>
              <a:buNone/>
            </a:pPr>
            <a:r>
              <a:rPr lang="en-US" sz="1600">
                <a:solidFill>
                  <a:srgbClr val="A0AEC0"/>
                </a:solidFill>
                <a:latin typeface="Calibri"/>
                <a:ea typeface="Calibri"/>
                <a:cs typeface="Calibri"/>
                <a:sym typeface="Calibri"/>
              </a:rPr>
              <a:t>Glider guns, eaters, logic gates, and self-replication</a:t>
            </a:r>
            <a:endParaRPr sz="1600">
              <a:solidFill>
                <a:schemeClr val="dk1"/>
              </a:solidFill>
              <a:latin typeface="Calibri"/>
              <a:ea typeface="Calibri"/>
              <a:cs typeface="Calibri"/>
              <a:sym typeface="Calibri"/>
            </a:endParaRPr>
          </a:p>
        </p:txBody>
      </p:sp>
      <p:sp>
        <p:nvSpPr>
          <p:cNvPr id="266" name="Google Shape;266;p12"/>
          <p:cNvSpPr/>
          <p:nvPr/>
        </p:nvSpPr>
        <p:spPr>
          <a:xfrm>
            <a:off x="2194560" y="2286000"/>
            <a:ext cx="5486400" cy="45720"/>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72" name="Shape 272"/>
        <p:cNvGrpSpPr/>
        <p:nvPr/>
      </p:nvGrpSpPr>
      <p:grpSpPr>
        <a:xfrm>
          <a:off x="0" y="0"/>
          <a:ext cx="0" cy="0"/>
          <a:chOff x="0" y="0"/>
          <a:chExt cx="0" cy="0"/>
        </a:xfrm>
      </p:grpSpPr>
      <p:sp>
        <p:nvSpPr>
          <p:cNvPr id="273" name="Google Shape;273;p13"/>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3"/>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Remarkable Discoveries: Glider Gun</a:t>
            </a:r>
            <a:endParaRPr sz="2200">
              <a:solidFill>
                <a:schemeClr val="dk1"/>
              </a:solidFill>
              <a:latin typeface="Calibri"/>
              <a:ea typeface="Calibri"/>
              <a:cs typeface="Calibri"/>
              <a:sym typeface="Calibri"/>
            </a:endParaRPr>
          </a:p>
        </p:txBody>
      </p:sp>
      <p:sp>
        <p:nvSpPr>
          <p:cNvPr id="275" name="Google Shape;275;p13"/>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3"/>
          <p:cNvSpPr/>
          <p:nvPr/>
        </p:nvSpPr>
        <p:spPr>
          <a:xfrm>
            <a:off x="320040" y="960120"/>
            <a:ext cx="4224528" cy="1883664"/>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3"/>
          <p:cNvSpPr/>
          <p:nvPr/>
        </p:nvSpPr>
        <p:spPr>
          <a:xfrm>
            <a:off x="429768" y="1069848"/>
            <a:ext cx="502920" cy="50292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3"/>
          <p:cNvSpPr/>
          <p:nvPr/>
        </p:nvSpPr>
        <p:spPr>
          <a:xfrm>
            <a:off x="429768" y="106984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79" name="Google Shape;279;p13"/>
          <p:cNvSpPr/>
          <p:nvPr/>
        </p:nvSpPr>
        <p:spPr>
          <a:xfrm>
            <a:off x="1014984" y="1088136"/>
            <a:ext cx="3438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Conway's Challenge</a:t>
            </a:r>
            <a:endParaRPr sz="1100">
              <a:solidFill>
                <a:schemeClr val="dk1"/>
              </a:solidFill>
              <a:latin typeface="Calibri"/>
              <a:ea typeface="Calibri"/>
              <a:cs typeface="Calibri"/>
              <a:sym typeface="Calibri"/>
            </a:endParaRPr>
          </a:p>
        </p:txBody>
      </p:sp>
      <p:sp>
        <p:nvSpPr>
          <p:cNvPr id="280" name="Google Shape;280;p13"/>
          <p:cNvSpPr/>
          <p:nvPr/>
        </p:nvSpPr>
        <p:spPr>
          <a:xfrm>
            <a:off x="429768" y="1600200"/>
            <a:ext cx="4023360" cy="11521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Conway conjectured in 1970 that no finite initial pattern could produce an unbounded number of cells. He offered $50 to anyone who could prove or disprove this.</a:t>
            </a:r>
            <a:endParaRPr sz="1050">
              <a:solidFill>
                <a:schemeClr val="dk1"/>
              </a:solidFill>
              <a:latin typeface="Calibri"/>
              <a:ea typeface="Calibri"/>
              <a:cs typeface="Calibri"/>
              <a:sym typeface="Calibri"/>
            </a:endParaRPr>
          </a:p>
        </p:txBody>
      </p:sp>
      <p:sp>
        <p:nvSpPr>
          <p:cNvPr id="281" name="Google Shape;281;p13"/>
          <p:cNvSpPr/>
          <p:nvPr/>
        </p:nvSpPr>
        <p:spPr>
          <a:xfrm>
            <a:off x="4617720" y="960120"/>
            <a:ext cx="4224528" cy="1883664"/>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3"/>
          <p:cNvSpPr/>
          <p:nvPr/>
        </p:nvSpPr>
        <p:spPr>
          <a:xfrm>
            <a:off x="4727448" y="1069848"/>
            <a:ext cx="502920" cy="502920"/>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3"/>
          <p:cNvSpPr/>
          <p:nvPr/>
        </p:nvSpPr>
        <p:spPr>
          <a:xfrm>
            <a:off x="4727448" y="106984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284" name="Google Shape;284;p13"/>
          <p:cNvSpPr/>
          <p:nvPr/>
        </p:nvSpPr>
        <p:spPr>
          <a:xfrm>
            <a:off x="5312664" y="1088136"/>
            <a:ext cx="3438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Gosper's Discovery</a:t>
            </a:r>
            <a:endParaRPr sz="1100">
              <a:solidFill>
                <a:schemeClr val="dk1"/>
              </a:solidFill>
              <a:latin typeface="Calibri"/>
              <a:ea typeface="Calibri"/>
              <a:cs typeface="Calibri"/>
              <a:sym typeface="Calibri"/>
            </a:endParaRPr>
          </a:p>
        </p:txBody>
      </p:sp>
      <p:sp>
        <p:nvSpPr>
          <p:cNvPr id="285" name="Google Shape;285;p13"/>
          <p:cNvSpPr/>
          <p:nvPr/>
        </p:nvSpPr>
        <p:spPr>
          <a:xfrm>
            <a:off x="4727448" y="1600200"/>
            <a:ext cx="4023360" cy="11521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Bill Gosper at MIT discovered the Glider Gun in November 1970, winning the prize. The pattern uses 36 cells and emits a new glider every 30 generations.</a:t>
            </a:r>
            <a:endParaRPr sz="1050">
              <a:solidFill>
                <a:schemeClr val="dk1"/>
              </a:solidFill>
              <a:latin typeface="Calibri"/>
              <a:ea typeface="Calibri"/>
              <a:cs typeface="Calibri"/>
              <a:sym typeface="Calibri"/>
            </a:endParaRPr>
          </a:p>
        </p:txBody>
      </p:sp>
      <p:sp>
        <p:nvSpPr>
          <p:cNvPr id="286" name="Google Shape;286;p13"/>
          <p:cNvSpPr/>
          <p:nvPr/>
        </p:nvSpPr>
        <p:spPr>
          <a:xfrm>
            <a:off x="320040" y="2916936"/>
            <a:ext cx="4224528" cy="1883664"/>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3"/>
          <p:cNvSpPr/>
          <p:nvPr/>
        </p:nvSpPr>
        <p:spPr>
          <a:xfrm>
            <a:off x="429768" y="3026664"/>
            <a:ext cx="502920" cy="502920"/>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3"/>
          <p:cNvSpPr/>
          <p:nvPr/>
        </p:nvSpPr>
        <p:spPr>
          <a:xfrm>
            <a:off x="429768" y="302666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289" name="Google Shape;289;p13"/>
          <p:cNvSpPr/>
          <p:nvPr/>
        </p:nvSpPr>
        <p:spPr>
          <a:xfrm>
            <a:off x="1014984" y="3044952"/>
            <a:ext cx="3438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Operation</a:t>
            </a:r>
            <a:endParaRPr sz="1100">
              <a:solidFill>
                <a:schemeClr val="dk1"/>
              </a:solidFill>
              <a:latin typeface="Calibri"/>
              <a:ea typeface="Calibri"/>
              <a:cs typeface="Calibri"/>
              <a:sym typeface="Calibri"/>
            </a:endParaRPr>
          </a:p>
        </p:txBody>
      </p:sp>
      <p:sp>
        <p:nvSpPr>
          <p:cNvPr id="290" name="Google Shape;290;p13"/>
          <p:cNvSpPr/>
          <p:nvPr/>
        </p:nvSpPr>
        <p:spPr>
          <a:xfrm>
            <a:off x="429768" y="3557016"/>
            <a:ext cx="4023360" cy="11521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 gun oscillates with period 30, periodically emitting gliders that travel diagonally away from it. The first pattern proven to grow indefinitely.</a:t>
            </a:r>
            <a:endParaRPr sz="1050">
              <a:solidFill>
                <a:schemeClr val="dk1"/>
              </a:solidFill>
              <a:latin typeface="Calibri"/>
              <a:ea typeface="Calibri"/>
              <a:cs typeface="Calibri"/>
              <a:sym typeface="Calibri"/>
            </a:endParaRPr>
          </a:p>
        </p:txBody>
      </p:sp>
      <p:sp>
        <p:nvSpPr>
          <p:cNvPr id="291" name="Google Shape;291;p13"/>
          <p:cNvSpPr/>
          <p:nvPr/>
        </p:nvSpPr>
        <p:spPr>
          <a:xfrm>
            <a:off x="4617720" y="2916936"/>
            <a:ext cx="4224528" cy="1883664"/>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3"/>
          <p:cNvSpPr/>
          <p:nvPr/>
        </p:nvSpPr>
        <p:spPr>
          <a:xfrm>
            <a:off x="4727448" y="3026664"/>
            <a:ext cx="502920" cy="502920"/>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3"/>
          <p:cNvSpPr/>
          <p:nvPr/>
        </p:nvSpPr>
        <p:spPr>
          <a:xfrm>
            <a:off x="4727448" y="302666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294" name="Google Shape;294;p13"/>
          <p:cNvSpPr/>
          <p:nvPr/>
        </p:nvSpPr>
        <p:spPr>
          <a:xfrm>
            <a:off x="5312664" y="3044952"/>
            <a:ext cx="3438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Impact on Computation</a:t>
            </a:r>
            <a:endParaRPr sz="1100">
              <a:solidFill>
                <a:schemeClr val="dk1"/>
              </a:solidFill>
              <a:latin typeface="Calibri"/>
              <a:ea typeface="Calibri"/>
              <a:cs typeface="Calibri"/>
              <a:sym typeface="Calibri"/>
            </a:endParaRPr>
          </a:p>
        </p:txBody>
      </p:sp>
      <p:sp>
        <p:nvSpPr>
          <p:cNvPr id="295" name="Google Shape;295;p13"/>
          <p:cNvSpPr/>
          <p:nvPr/>
        </p:nvSpPr>
        <p:spPr>
          <a:xfrm>
            <a:off x="4727448" y="3557016"/>
            <a:ext cx="4023360" cy="11521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 Glider Gun became the foundation for building logic circuits within Life. Gliders act as signals; guns provide a continuous clock pulse for computation.</a:t>
            </a:r>
            <a:endParaRPr sz="1050">
              <a:solidFill>
                <a:schemeClr val="dk1"/>
              </a:solidFill>
              <a:latin typeface="Calibri"/>
              <a:ea typeface="Calibri"/>
              <a:cs typeface="Calibri"/>
              <a:sym typeface="Calibri"/>
            </a:endParaRPr>
          </a:p>
        </p:txBody>
      </p:sp>
      <p:sp>
        <p:nvSpPr>
          <p:cNvPr descr="Gosperglidergun" id="296" name="Google Shape;296;p13"/>
          <p:cNvSpPr/>
          <p:nvPr/>
        </p:nvSpPr>
        <p:spPr>
          <a:xfrm>
            <a:off x="4419600" y="241935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97" name="Google Shape;297;p13"/>
          <p:cNvPicPr preferRelativeResize="0"/>
          <p:nvPr/>
        </p:nvPicPr>
        <p:blipFill rotWithShape="1">
          <a:blip r:embed="rId3">
            <a:alphaModFix/>
          </a:blip>
          <a:srcRect b="0" l="0" r="0" t="0"/>
          <a:stretch/>
        </p:blipFill>
        <p:spPr>
          <a:xfrm>
            <a:off x="7780669" y="187920"/>
            <a:ext cx="812864" cy="516168"/>
          </a:xfrm>
          <a:prstGeom prst="rect">
            <a:avLst/>
          </a:prstGeom>
          <a:noFill/>
          <a:ln>
            <a:noFill/>
          </a:ln>
        </p:spPr>
      </p:pic>
      <p:pic>
        <p:nvPicPr>
          <p:cNvPr id="298" name="Google Shape;298;p13"/>
          <p:cNvPicPr preferRelativeResize="0"/>
          <p:nvPr/>
        </p:nvPicPr>
        <p:blipFill rotWithShape="1">
          <a:blip r:embed="rId4">
            <a:alphaModFix/>
          </a:blip>
          <a:srcRect b="0" l="0" r="0" t="0"/>
          <a:stretch/>
        </p:blipFill>
        <p:spPr>
          <a:xfrm>
            <a:off x="3137602" y="3959352"/>
            <a:ext cx="1131988" cy="815031"/>
          </a:xfrm>
          <a:prstGeom prst="rect">
            <a:avLst/>
          </a:prstGeom>
          <a:noFill/>
          <a:ln>
            <a:noFill/>
          </a:ln>
        </p:spPr>
      </p:pic>
      <p:sp>
        <p:nvSpPr>
          <p:cNvPr id="299" name="Google Shape;299;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04" name="Shape 304"/>
        <p:cNvGrpSpPr/>
        <p:nvPr/>
      </p:nvGrpSpPr>
      <p:grpSpPr>
        <a:xfrm>
          <a:off x="0" y="0"/>
          <a:ext cx="0" cy="0"/>
          <a:chOff x="0" y="0"/>
          <a:chExt cx="0" cy="0"/>
        </a:xfrm>
      </p:grpSpPr>
      <p:sp>
        <p:nvSpPr>
          <p:cNvPr id="305" name="Google Shape;305;p14"/>
          <p:cNvSpPr/>
          <p:nvPr/>
        </p:nvSpPr>
        <p:spPr>
          <a:xfrm>
            <a:off x="0" y="0"/>
            <a:ext cx="109728"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4"/>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Remarkable Discoveries: Eaters and Reflectors</a:t>
            </a:r>
            <a:endParaRPr sz="2200">
              <a:solidFill>
                <a:schemeClr val="dk1"/>
              </a:solidFill>
              <a:latin typeface="Calibri"/>
              <a:ea typeface="Calibri"/>
              <a:cs typeface="Calibri"/>
              <a:sym typeface="Calibri"/>
            </a:endParaRPr>
          </a:p>
        </p:txBody>
      </p:sp>
      <p:sp>
        <p:nvSpPr>
          <p:cNvPr id="307" name="Google Shape;307;p14"/>
          <p:cNvSpPr/>
          <p:nvPr/>
        </p:nvSpPr>
        <p:spPr>
          <a:xfrm>
            <a:off x="320040" y="758952"/>
            <a:ext cx="8503920" cy="2743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4"/>
          <p:cNvSpPr/>
          <p:nvPr/>
        </p:nvSpPr>
        <p:spPr>
          <a:xfrm>
            <a:off x="320040" y="868680"/>
            <a:ext cx="8503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Two essential classes of static structures that enable controlled computation by managing glider signals.</a:t>
            </a:r>
            <a:endParaRPr sz="1200">
              <a:solidFill>
                <a:schemeClr val="dk1"/>
              </a:solidFill>
              <a:latin typeface="Calibri"/>
              <a:ea typeface="Calibri"/>
              <a:cs typeface="Calibri"/>
              <a:sym typeface="Calibri"/>
            </a:endParaRPr>
          </a:p>
        </p:txBody>
      </p:sp>
      <p:sp>
        <p:nvSpPr>
          <p:cNvPr id="309" name="Google Shape;309;p14"/>
          <p:cNvSpPr/>
          <p:nvPr/>
        </p:nvSpPr>
        <p:spPr>
          <a:xfrm>
            <a:off x="320040" y="1325880"/>
            <a:ext cx="420624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4"/>
          <p:cNvSpPr/>
          <p:nvPr/>
        </p:nvSpPr>
        <p:spPr>
          <a:xfrm>
            <a:off x="320040" y="1325880"/>
            <a:ext cx="420624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4"/>
          <p:cNvSpPr/>
          <p:nvPr/>
        </p:nvSpPr>
        <p:spPr>
          <a:xfrm>
            <a:off x="393192" y="1362456"/>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Eaters</a:t>
            </a:r>
            <a:endParaRPr sz="1100">
              <a:solidFill>
                <a:schemeClr val="dk1"/>
              </a:solidFill>
              <a:latin typeface="Calibri"/>
              <a:ea typeface="Calibri"/>
              <a:cs typeface="Calibri"/>
              <a:sym typeface="Calibri"/>
            </a:endParaRPr>
          </a:p>
        </p:txBody>
      </p:sp>
      <p:sp>
        <p:nvSpPr>
          <p:cNvPr id="312" name="Google Shape;312;p14"/>
          <p:cNvSpPr/>
          <p:nvPr/>
        </p:nvSpPr>
        <p:spPr>
          <a:xfrm>
            <a:off x="411480" y="1737360"/>
            <a:ext cx="4023360" cy="297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 Eater-1 (7 cells) is the simplest and most common eater. It absorbs gliders and other small patterns that collide with it while restoring its own shape completely.</a:t>
            </a:r>
            <a:br>
              <a:rPr lang="en-US" sz="1050">
                <a:solidFill>
                  <a:srgbClr val="1E2329"/>
                </a:solidFill>
                <a:latin typeface="Calibri"/>
                <a:ea typeface="Calibri"/>
                <a:cs typeface="Calibri"/>
                <a:sym typeface="Calibri"/>
              </a:rPr>
            </a:br>
            <a:br>
              <a:rPr lang="en-US" sz="1050">
                <a:solidFill>
                  <a:srgbClr val="1E2329"/>
                </a:solidFill>
                <a:latin typeface="Calibri"/>
                <a:ea typeface="Calibri"/>
                <a:cs typeface="Calibri"/>
                <a:sym typeface="Calibri"/>
              </a:rPr>
            </a:br>
            <a:r>
              <a:rPr b="1" lang="en-US" sz="1050">
                <a:solidFill>
                  <a:srgbClr val="1E2329"/>
                </a:solidFill>
                <a:latin typeface="Calibri"/>
                <a:ea typeface="Calibri"/>
                <a:cs typeface="Calibri"/>
                <a:sym typeface="Calibri"/>
              </a:rPr>
              <a:t>Key properties:</a:t>
            </a:r>
            <a:br>
              <a:rPr b="1"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 Maintains its form after consuming a glider</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Acts as a signal terminator</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Essential for controlled computation</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Can absorb signals from specific directions</a:t>
            </a:r>
            <a:endParaRPr sz="1050">
              <a:solidFill>
                <a:schemeClr val="dk1"/>
              </a:solidFill>
              <a:latin typeface="Calibri"/>
              <a:ea typeface="Calibri"/>
              <a:cs typeface="Calibri"/>
              <a:sym typeface="Calibri"/>
            </a:endParaRPr>
          </a:p>
        </p:txBody>
      </p:sp>
      <p:sp>
        <p:nvSpPr>
          <p:cNvPr id="313" name="Google Shape;313;p14"/>
          <p:cNvSpPr/>
          <p:nvPr/>
        </p:nvSpPr>
        <p:spPr>
          <a:xfrm>
            <a:off x="4663440" y="1325880"/>
            <a:ext cx="41605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4"/>
          <p:cNvSpPr/>
          <p:nvPr/>
        </p:nvSpPr>
        <p:spPr>
          <a:xfrm>
            <a:off x="4663440" y="1325880"/>
            <a:ext cx="41605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4"/>
          <p:cNvSpPr/>
          <p:nvPr/>
        </p:nvSpPr>
        <p:spPr>
          <a:xfrm>
            <a:off x="4736592" y="1362456"/>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Reflectors</a:t>
            </a:r>
            <a:endParaRPr sz="1100">
              <a:solidFill>
                <a:schemeClr val="dk1"/>
              </a:solidFill>
              <a:latin typeface="Calibri"/>
              <a:ea typeface="Calibri"/>
              <a:cs typeface="Calibri"/>
              <a:sym typeface="Calibri"/>
            </a:endParaRPr>
          </a:p>
        </p:txBody>
      </p:sp>
      <p:sp>
        <p:nvSpPr>
          <p:cNvPr id="316" name="Google Shape;316;p14"/>
          <p:cNvSpPr/>
          <p:nvPr/>
        </p:nvSpPr>
        <p:spPr>
          <a:xfrm>
            <a:off x="4754880" y="1737360"/>
            <a:ext cx="3977640" cy="297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Reflectors redirect gliders at specified angles while restoring their own shape, allowing signal routing in complex computation circuits.</a:t>
            </a:r>
            <a:br>
              <a:rPr lang="en-US" sz="1050">
                <a:solidFill>
                  <a:srgbClr val="1E2329"/>
                </a:solidFill>
                <a:latin typeface="Calibri"/>
                <a:ea typeface="Calibri"/>
                <a:cs typeface="Calibri"/>
                <a:sym typeface="Calibri"/>
              </a:rPr>
            </a:br>
            <a:br>
              <a:rPr lang="en-US" sz="1050">
                <a:solidFill>
                  <a:srgbClr val="1E2329"/>
                </a:solidFill>
                <a:latin typeface="Calibri"/>
                <a:ea typeface="Calibri"/>
                <a:cs typeface="Calibri"/>
                <a:sym typeface="Calibri"/>
              </a:rPr>
            </a:br>
            <a:r>
              <a:rPr b="1" lang="en-US" sz="1050">
                <a:solidFill>
                  <a:srgbClr val="1E2329"/>
                </a:solidFill>
                <a:latin typeface="Calibri"/>
                <a:ea typeface="Calibri"/>
                <a:cs typeface="Calibri"/>
                <a:sym typeface="Calibri"/>
              </a:rPr>
              <a:t>Key properties:</a:t>
            </a:r>
            <a:br>
              <a:rPr b="1" lang="en-US" sz="1050">
                <a:solidFill>
                  <a:srgbClr val="1E2329"/>
                </a:solidFill>
                <a:latin typeface="Calibri"/>
                <a:ea typeface="Calibri"/>
                <a:cs typeface="Calibri"/>
                <a:sym typeface="Calibri"/>
              </a:rPr>
            </a:br>
            <a:r>
              <a:rPr lang="en-US" sz="1050">
                <a:solidFill>
                  <a:srgbClr val="1E2329"/>
                </a:solidFill>
                <a:latin typeface="Calibri"/>
                <a:ea typeface="Calibri"/>
                <a:cs typeface="Calibri"/>
                <a:sym typeface="Calibri"/>
              </a:rPr>
              <a:t>· Can reflect gliders at 90° or 180°</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Enable complex signal routing</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Create computational logic circuits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Period-1 reflectors allow full speed routing</a:t>
            </a:r>
            <a:endParaRPr sz="1050">
              <a:solidFill>
                <a:schemeClr val="dk1"/>
              </a:solidFill>
              <a:latin typeface="Calibri"/>
              <a:ea typeface="Calibri"/>
              <a:cs typeface="Calibri"/>
              <a:sym typeface="Calibri"/>
            </a:endParaRPr>
          </a:p>
        </p:txBody>
      </p:sp>
      <p:pic>
        <p:nvPicPr>
          <p:cNvPr id="317" name="Google Shape;317;p14"/>
          <p:cNvPicPr preferRelativeResize="0"/>
          <p:nvPr/>
        </p:nvPicPr>
        <p:blipFill rotWithShape="1">
          <a:blip r:embed="rId3">
            <a:alphaModFix/>
          </a:blip>
          <a:srcRect b="0" l="0" r="0" t="0"/>
          <a:stretch/>
        </p:blipFill>
        <p:spPr>
          <a:xfrm>
            <a:off x="2800109" y="3223260"/>
            <a:ext cx="3635222" cy="1566779"/>
          </a:xfrm>
          <a:prstGeom prst="rect">
            <a:avLst/>
          </a:prstGeom>
          <a:noFill/>
          <a:ln>
            <a:noFill/>
          </a:ln>
        </p:spPr>
      </p:pic>
      <p:sp>
        <p:nvSpPr>
          <p:cNvPr id="318" name="Google Shape;318;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23" name="Shape 323"/>
        <p:cNvGrpSpPr/>
        <p:nvPr/>
      </p:nvGrpSpPr>
      <p:grpSpPr>
        <a:xfrm>
          <a:off x="0" y="0"/>
          <a:ext cx="0" cy="0"/>
          <a:chOff x="0" y="0"/>
          <a:chExt cx="0" cy="0"/>
        </a:xfrm>
      </p:grpSpPr>
      <p:sp>
        <p:nvSpPr>
          <p:cNvPr id="324" name="Google Shape;324;p15"/>
          <p:cNvSpPr/>
          <p:nvPr/>
        </p:nvSpPr>
        <p:spPr>
          <a:xfrm>
            <a:off x="0" y="0"/>
            <a:ext cx="109728"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5"/>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Variations of the Game of Life</a:t>
            </a:r>
            <a:endParaRPr sz="2200">
              <a:solidFill>
                <a:schemeClr val="dk1"/>
              </a:solidFill>
              <a:latin typeface="Calibri"/>
              <a:ea typeface="Calibri"/>
              <a:cs typeface="Calibri"/>
              <a:sym typeface="Calibri"/>
            </a:endParaRPr>
          </a:p>
        </p:txBody>
      </p:sp>
      <p:sp>
        <p:nvSpPr>
          <p:cNvPr id="326" name="Google Shape;326;p15"/>
          <p:cNvSpPr/>
          <p:nvPr/>
        </p:nvSpPr>
        <p:spPr>
          <a:xfrm>
            <a:off x="320040" y="758952"/>
            <a:ext cx="8503920" cy="2743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5"/>
          <p:cNvSpPr/>
          <p:nvPr/>
        </p:nvSpPr>
        <p:spPr>
          <a:xfrm>
            <a:off x="320040" y="868680"/>
            <a:ext cx="85039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Life is just one of infinitely many outer-totalistic cellular automata. Changing the birth/survival counts yields radically different behaviors.</a:t>
            </a:r>
            <a:endParaRPr sz="1200">
              <a:solidFill>
                <a:schemeClr val="dk1"/>
              </a:solidFill>
              <a:latin typeface="Calibri"/>
              <a:ea typeface="Calibri"/>
              <a:cs typeface="Calibri"/>
              <a:sym typeface="Calibri"/>
            </a:endParaRPr>
          </a:p>
        </p:txBody>
      </p:sp>
      <p:graphicFrame>
        <p:nvGraphicFramePr>
          <p:cNvPr id="328" name="Google Shape;328;p15"/>
          <p:cNvGraphicFramePr/>
          <p:nvPr/>
        </p:nvGraphicFramePr>
        <p:xfrm>
          <a:off x="320040" y="1371600"/>
          <a:ext cx="3000000" cy="3000000"/>
        </p:xfrm>
        <a:graphic>
          <a:graphicData uri="http://schemas.openxmlformats.org/drawingml/2006/table">
            <a:tbl>
              <a:tblPr>
                <a:noFill/>
                <a:tableStyleId>{49282F33-EED7-4FBE-BC41-F83F161FEF8C}</a:tableStyleId>
              </a:tblPr>
              <a:tblGrid>
                <a:gridCol w="1280150"/>
                <a:gridCol w="1371600"/>
                <a:gridCol w="3474725"/>
                <a:gridCol w="2560325"/>
              </a:tblGrid>
              <a:tr h="5669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Rule Notation</a:t>
                      </a:r>
                      <a:endParaRPr sz="105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C9A84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Name</a:t>
                      </a:r>
                      <a:endParaRPr sz="105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C9A84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Description</a:t>
                      </a:r>
                      <a:endParaRPr sz="105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C9A84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Special Properties</a:t>
                      </a:r>
                      <a:endParaRPr sz="105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C9A84C"/>
                    </a:solidFill>
                  </a:tcPr>
                </a:tc>
              </a:tr>
              <a:tr h="566925">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B3/S23</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Standard Life</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The canonical Game of Life — balanced birth and survival rules</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Balance of chaos and order; Turing-complete</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B36/S23</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HighLife</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Adds birth at 6 neighbors to the standard rules</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Self-replicating glider exists; similar chaos to Life</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r>
              <a:tr h="566925">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B3678/S34678</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Day &amp; Night</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Symmetric rule: complement of a pattern behaves identically</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Dead and alive regions are interchangeable</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B2/S</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Seeds</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All live cells die each step; born only with exactly 2 neighbors</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Explosive growth that never stabilizes</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7F8FA"/>
                    </a:solidFill>
                  </a:tcPr>
                </a:tc>
              </a:tr>
              <a:tr h="566925">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B368/S245</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Morley</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Also known as Move — spaceships travel at c/4 diagonally</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329"/>
                        </a:buClr>
                        <a:buSzPts val="1000"/>
                        <a:buFont typeface="Calibri"/>
                        <a:buNone/>
                      </a:pPr>
                      <a:r>
                        <a:rPr lang="en-US" sz="1000" u="none" cap="none" strike="noStrike">
                          <a:solidFill>
                            <a:srgbClr val="1E2329"/>
                          </a:solidFill>
                          <a:latin typeface="Calibri"/>
                          <a:ea typeface="Calibri"/>
                          <a:cs typeface="Calibri"/>
                          <a:sym typeface="Calibri"/>
                        </a:rPr>
                        <a:t>Has a natural replicator called the 'spacefiller'</a:t>
                      </a:r>
                      <a:endParaRPr sz="1000" u="none" cap="none" strike="noStrike">
                        <a:latin typeface="Calibri"/>
                        <a:ea typeface="Calibri"/>
                        <a:cs typeface="Calibri"/>
                        <a:sym typeface="Calibri"/>
                      </a:endParaRPr>
                    </a:p>
                  </a:txBody>
                  <a:tcPr marT="45725" marB="45725" marR="91450" marL="9145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FFFFF"/>
                    </a:solidFill>
                  </a:tcPr>
                </a:tc>
              </a:tr>
            </a:tbl>
          </a:graphicData>
        </a:graphic>
      </p:graphicFrame>
      <p:sp>
        <p:nvSpPr>
          <p:cNvPr id="329" name="Google Shape;329;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334" name="Shape 334"/>
        <p:cNvGrpSpPr/>
        <p:nvPr/>
      </p:nvGrpSpPr>
      <p:grpSpPr>
        <a:xfrm>
          <a:off x="0" y="0"/>
          <a:ext cx="0" cy="0"/>
          <a:chOff x="0" y="0"/>
          <a:chExt cx="0" cy="0"/>
        </a:xfrm>
      </p:grpSpPr>
      <p:sp>
        <p:nvSpPr>
          <p:cNvPr id="335" name="Google Shape;335;p16"/>
          <p:cNvSpPr/>
          <p:nvPr/>
        </p:nvSpPr>
        <p:spPr>
          <a:xfrm>
            <a:off x="0" y="0"/>
            <a:ext cx="164592"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6"/>
          <p:cNvSpPr/>
          <p:nvPr/>
        </p:nvSpPr>
        <p:spPr>
          <a:xfrm>
            <a:off x="457200" y="731520"/>
            <a:ext cx="146304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68C8"/>
              </a:buClr>
              <a:buSzPts val="9600"/>
              <a:buFont typeface="Calibri"/>
              <a:buNone/>
            </a:pPr>
            <a:r>
              <a:rPr b="1" lang="en-US" sz="9600">
                <a:solidFill>
                  <a:srgbClr val="7B68C8"/>
                </a:solidFill>
                <a:latin typeface="Calibri"/>
                <a:ea typeface="Calibri"/>
                <a:cs typeface="Calibri"/>
                <a:sym typeface="Calibri"/>
              </a:rPr>
              <a:t>4</a:t>
            </a:r>
            <a:endParaRPr sz="9600">
              <a:solidFill>
                <a:schemeClr val="dk1"/>
              </a:solidFill>
              <a:latin typeface="Calibri"/>
              <a:ea typeface="Calibri"/>
              <a:cs typeface="Calibri"/>
              <a:sym typeface="Calibri"/>
            </a:endParaRPr>
          </a:p>
        </p:txBody>
      </p:sp>
      <p:sp>
        <p:nvSpPr>
          <p:cNvPr id="337" name="Google Shape;337;p16"/>
          <p:cNvSpPr/>
          <p:nvPr/>
        </p:nvSpPr>
        <p:spPr>
          <a:xfrm>
            <a:off x="2194560" y="1463040"/>
            <a:ext cx="6583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Computation &amp; Theory</a:t>
            </a:r>
            <a:endParaRPr sz="3400">
              <a:solidFill>
                <a:schemeClr val="dk1"/>
              </a:solidFill>
              <a:latin typeface="Calibri"/>
              <a:ea typeface="Calibri"/>
              <a:cs typeface="Calibri"/>
              <a:sym typeface="Calibri"/>
            </a:endParaRPr>
          </a:p>
        </p:txBody>
      </p:sp>
      <p:sp>
        <p:nvSpPr>
          <p:cNvPr id="338" name="Google Shape;338;p16"/>
          <p:cNvSpPr/>
          <p:nvPr/>
        </p:nvSpPr>
        <p:spPr>
          <a:xfrm>
            <a:off x="2194560" y="2514600"/>
            <a:ext cx="658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600"/>
              <a:buFont typeface="Calibri"/>
              <a:buNone/>
            </a:pPr>
            <a:r>
              <a:rPr lang="en-US" sz="1600">
                <a:solidFill>
                  <a:srgbClr val="A0AEC0"/>
                </a:solidFill>
                <a:latin typeface="Calibri"/>
                <a:ea typeface="Calibri"/>
                <a:cs typeface="Calibri"/>
                <a:sym typeface="Calibri"/>
              </a:rPr>
              <a:t>Universality, self-replication, and philosophical implications</a:t>
            </a:r>
            <a:endParaRPr sz="1600">
              <a:solidFill>
                <a:schemeClr val="dk1"/>
              </a:solidFill>
              <a:latin typeface="Calibri"/>
              <a:ea typeface="Calibri"/>
              <a:cs typeface="Calibri"/>
              <a:sym typeface="Calibri"/>
            </a:endParaRPr>
          </a:p>
        </p:txBody>
      </p:sp>
      <p:sp>
        <p:nvSpPr>
          <p:cNvPr id="339" name="Google Shape;339;p16"/>
          <p:cNvSpPr/>
          <p:nvPr/>
        </p:nvSpPr>
        <p:spPr>
          <a:xfrm>
            <a:off x="2194560" y="2286000"/>
            <a:ext cx="5486400" cy="45720"/>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45" name="Shape 345"/>
        <p:cNvGrpSpPr/>
        <p:nvPr/>
      </p:nvGrpSpPr>
      <p:grpSpPr>
        <a:xfrm>
          <a:off x="0" y="0"/>
          <a:ext cx="0" cy="0"/>
          <a:chOff x="0" y="0"/>
          <a:chExt cx="0" cy="0"/>
        </a:xfrm>
      </p:grpSpPr>
      <p:sp>
        <p:nvSpPr>
          <p:cNvPr id="346" name="Google Shape;346;p17"/>
          <p:cNvSpPr/>
          <p:nvPr/>
        </p:nvSpPr>
        <p:spPr>
          <a:xfrm>
            <a:off x="0" y="0"/>
            <a:ext cx="109728"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7"/>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Computational Universality</a:t>
            </a:r>
            <a:endParaRPr sz="2200">
              <a:solidFill>
                <a:schemeClr val="dk1"/>
              </a:solidFill>
              <a:latin typeface="Calibri"/>
              <a:ea typeface="Calibri"/>
              <a:cs typeface="Calibri"/>
              <a:sym typeface="Calibri"/>
            </a:endParaRPr>
          </a:p>
        </p:txBody>
      </p:sp>
      <p:sp>
        <p:nvSpPr>
          <p:cNvPr id="348" name="Google Shape;348;p17"/>
          <p:cNvSpPr/>
          <p:nvPr/>
        </p:nvSpPr>
        <p:spPr>
          <a:xfrm>
            <a:off x="320040" y="758952"/>
            <a:ext cx="8503920" cy="2743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7"/>
          <p:cNvSpPr/>
          <p:nvPr/>
        </p:nvSpPr>
        <p:spPr>
          <a:xfrm>
            <a:off x="320040" y="868680"/>
            <a:ext cx="8503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Game of Life is Turing-complete — it can compute anything that is algorithmically computable.</a:t>
            </a:r>
            <a:endParaRPr sz="1200">
              <a:solidFill>
                <a:schemeClr val="dk1"/>
              </a:solidFill>
              <a:latin typeface="Calibri"/>
              <a:ea typeface="Calibri"/>
              <a:cs typeface="Calibri"/>
              <a:sym typeface="Calibri"/>
            </a:endParaRPr>
          </a:p>
        </p:txBody>
      </p:sp>
      <p:sp>
        <p:nvSpPr>
          <p:cNvPr id="350" name="Google Shape;350;p17"/>
          <p:cNvSpPr/>
          <p:nvPr/>
        </p:nvSpPr>
        <p:spPr>
          <a:xfrm>
            <a:off x="320040" y="1371600"/>
            <a:ext cx="2798064" cy="338328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7"/>
          <p:cNvSpPr/>
          <p:nvPr/>
        </p:nvSpPr>
        <p:spPr>
          <a:xfrm>
            <a:off x="320040" y="137160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7"/>
          <p:cNvSpPr/>
          <p:nvPr/>
        </p:nvSpPr>
        <p:spPr>
          <a:xfrm>
            <a:off x="393192" y="140817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Logic Gates</a:t>
            </a:r>
            <a:endParaRPr sz="1100">
              <a:solidFill>
                <a:schemeClr val="dk1"/>
              </a:solidFill>
              <a:latin typeface="Calibri"/>
              <a:ea typeface="Calibri"/>
              <a:cs typeface="Calibri"/>
              <a:sym typeface="Calibri"/>
            </a:endParaRPr>
          </a:p>
        </p:txBody>
      </p:sp>
      <p:sp>
        <p:nvSpPr>
          <p:cNvPr id="353" name="Google Shape;353;p17"/>
          <p:cNvSpPr/>
          <p:nvPr/>
        </p:nvSpPr>
        <p:spPr>
          <a:xfrm>
            <a:off x="411480" y="1773936"/>
            <a:ext cx="2615184"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AND: two glider streams collide only when both are present. OR: either stream triggers an output. NOT: a glider destroys an incoming signal stream.</a:t>
            </a:r>
            <a:endParaRPr sz="10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These three gates are sufficient to implement any Boolean circuit.</a:t>
            </a:r>
            <a:endParaRPr sz="1050">
              <a:solidFill>
                <a:schemeClr val="dk1"/>
              </a:solidFill>
              <a:latin typeface="Calibri"/>
              <a:ea typeface="Calibri"/>
              <a:cs typeface="Calibri"/>
              <a:sym typeface="Calibri"/>
            </a:endParaRPr>
          </a:p>
        </p:txBody>
      </p:sp>
      <p:sp>
        <p:nvSpPr>
          <p:cNvPr id="354" name="Google Shape;354;p17"/>
          <p:cNvSpPr/>
          <p:nvPr/>
        </p:nvSpPr>
        <p:spPr>
          <a:xfrm>
            <a:off x="3218688" y="1371600"/>
            <a:ext cx="2798064" cy="338328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7"/>
          <p:cNvSpPr/>
          <p:nvPr/>
        </p:nvSpPr>
        <p:spPr>
          <a:xfrm>
            <a:off x="3218688" y="137160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7"/>
          <p:cNvSpPr/>
          <p:nvPr/>
        </p:nvSpPr>
        <p:spPr>
          <a:xfrm>
            <a:off x="3291840" y="140817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Turing Machine in Life</a:t>
            </a:r>
            <a:endParaRPr sz="1100">
              <a:solidFill>
                <a:schemeClr val="dk1"/>
              </a:solidFill>
              <a:latin typeface="Calibri"/>
              <a:ea typeface="Calibri"/>
              <a:cs typeface="Calibri"/>
              <a:sym typeface="Calibri"/>
            </a:endParaRPr>
          </a:p>
        </p:txBody>
      </p:sp>
      <p:sp>
        <p:nvSpPr>
          <p:cNvPr id="357" name="Google Shape;357;p17"/>
          <p:cNvSpPr/>
          <p:nvPr/>
        </p:nvSpPr>
        <p:spPr>
          <a:xfrm>
            <a:off x="3310128" y="1773936"/>
            <a:ext cx="2615184"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Paul Rendell (2000) constructed a working Turing machine entirely within Life. A complete universal computer running Life inside Life also exists — demonstrating infinite recursive simulation is theoretically possible.</a:t>
            </a:r>
            <a:endParaRPr sz="1050">
              <a:solidFill>
                <a:schemeClr val="dk1"/>
              </a:solidFill>
              <a:latin typeface="Calibri"/>
              <a:ea typeface="Calibri"/>
              <a:cs typeface="Calibri"/>
              <a:sym typeface="Calibri"/>
            </a:endParaRPr>
          </a:p>
        </p:txBody>
      </p:sp>
      <p:sp>
        <p:nvSpPr>
          <p:cNvPr id="358" name="Google Shape;358;p17"/>
          <p:cNvSpPr/>
          <p:nvPr/>
        </p:nvSpPr>
        <p:spPr>
          <a:xfrm>
            <a:off x="6117336" y="1371600"/>
            <a:ext cx="2798064" cy="338328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7"/>
          <p:cNvSpPr/>
          <p:nvPr/>
        </p:nvSpPr>
        <p:spPr>
          <a:xfrm>
            <a:off x="6117336" y="1371600"/>
            <a:ext cx="2798064"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7"/>
          <p:cNvSpPr/>
          <p:nvPr/>
        </p:nvSpPr>
        <p:spPr>
          <a:xfrm>
            <a:off x="6190488" y="140817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Universal Constructor</a:t>
            </a:r>
            <a:endParaRPr sz="1100">
              <a:solidFill>
                <a:schemeClr val="dk1"/>
              </a:solidFill>
              <a:latin typeface="Calibri"/>
              <a:ea typeface="Calibri"/>
              <a:cs typeface="Calibri"/>
              <a:sym typeface="Calibri"/>
            </a:endParaRPr>
          </a:p>
        </p:txBody>
      </p:sp>
      <p:sp>
        <p:nvSpPr>
          <p:cNvPr id="361" name="Google Shape;361;p17"/>
          <p:cNvSpPr/>
          <p:nvPr/>
        </p:nvSpPr>
        <p:spPr>
          <a:xfrm>
            <a:off x="6208776" y="1773936"/>
            <a:ext cx="2615184"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 Universal Constructor is a pattern that, given a description of any Life pattern as input (encoded as a glider stream), builds that pattern at a remote location. The existence of such constructors was proven in the 1990s.</a:t>
            </a:r>
            <a:endParaRPr sz="1050">
              <a:solidFill>
                <a:schemeClr val="dk1"/>
              </a:solidFill>
              <a:latin typeface="Calibri"/>
              <a:ea typeface="Calibri"/>
              <a:cs typeface="Calibri"/>
              <a:sym typeface="Calibri"/>
            </a:endParaRPr>
          </a:p>
        </p:txBody>
      </p:sp>
      <p:sp>
        <p:nvSpPr>
          <p:cNvPr id="362" name="Google Shape;36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67" name="Shape 367"/>
        <p:cNvGrpSpPr/>
        <p:nvPr/>
      </p:nvGrpSpPr>
      <p:grpSpPr>
        <a:xfrm>
          <a:off x="0" y="0"/>
          <a:ext cx="0" cy="0"/>
          <a:chOff x="0" y="0"/>
          <a:chExt cx="0" cy="0"/>
        </a:xfrm>
      </p:grpSpPr>
      <p:sp>
        <p:nvSpPr>
          <p:cNvPr id="368" name="Google Shape;368;p18"/>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8"/>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Self-Replication in Life</a:t>
            </a:r>
            <a:endParaRPr sz="2200">
              <a:solidFill>
                <a:schemeClr val="dk1"/>
              </a:solidFill>
              <a:latin typeface="Calibri"/>
              <a:ea typeface="Calibri"/>
              <a:cs typeface="Calibri"/>
              <a:sym typeface="Calibri"/>
            </a:endParaRPr>
          </a:p>
        </p:txBody>
      </p:sp>
      <p:sp>
        <p:nvSpPr>
          <p:cNvPr id="370" name="Google Shape;370;p18"/>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8"/>
          <p:cNvSpPr/>
          <p:nvPr/>
        </p:nvSpPr>
        <p:spPr>
          <a:xfrm>
            <a:off x="320040" y="868680"/>
            <a:ext cx="8503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Can a pattern in Life build an exact copy of itself? Yes — and this has profound implications for theories of life, computation, and von Neumann's original question.</a:t>
            </a:r>
            <a:endParaRPr sz="1200">
              <a:solidFill>
                <a:schemeClr val="dk1"/>
              </a:solidFill>
              <a:latin typeface="Calibri"/>
              <a:ea typeface="Calibri"/>
              <a:cs typeface="Calibri"/>
              <a:sym typeface="Calibri"/>
            </a:endParaRPr>
          </a:p>
        </p:txBody>
      </p:sp>
      <p:sp>
        <p:nvSpPr>
          <p:cNvPr id="372" name="Google Shape;372;p18"/>
          <p:cNvSpPr/>
          <p:nvPr/>
        </p:nvSpPr>
        <p:spPr>
          <a:xfrm>
            <a:off x="320040" y="1463040"/>
            <a:ext cx="4224528" cy="16916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8"/>
          <p:cNvSpPr/>
          <p:nvPr/>
        </p:nvSpPr>
        <p:spPr>
          <a:xfrm>
            <a:off x="429768" y="1572768"/>
            <a:ext cx="457200" cy="457200"/>
          </a:xfrm>
          <a:prstGeom prst="ellipse">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8"/>
          <p:cNvSpPr/>
          <p:nvPr/>
        </p:nvSpPr>
        <p:spPr>
          <a:xfrm>
            <a:off x="429768" y="15727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375" name="Google Shape;375;p18"/>
          <p:cNvSpPr/>
          <p:nvPr/>
        </p:nvSpPr>
        <p:spPr>
          <a:xfrm>
            <a:off x="978408" y="159105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Pattern Reading</a:t>
            </a:r>
            <a:endParaRPr sz="1100">
              <a:solidFill>
                <a:schemeClr val="dk1"/>
              </a:solidFill>
              <a:latin typeface="Calibri"/>
              <a:ea typeface="Calibri"/>
              <a:cs typeface="Calibri"/>
              <a:sym typeface="Calibri"/>
            </a:endParaRPr>
          </a:p>
        </p:txBody>
      </p:sp>
      <p:sp>
        <p:nvSpPr>
          <p:cNvPr id="376" name="Google Shape;376;p18"/>
          <p:cNvSpPr/>
          <p:nvPr/>
        </p:nvSpPr>
        <p:spPr>
          <a:xfrm>
            <a:off x="429768" y="2048256"/>
            <a:ext cx="4023360" cy="10332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The initial pattern contains both an 'instruction tape' (description of the pattern) and a construction arm. The instruction tape is read like a genetic sequence.</a:t>
            </a:r>
            <a:endParaRPr sz="1000">
              <a:solidFill>
                <a:schemeClr val="dk1"/>
              </a:solidFill>
              <a:latin typeface="Calibri"/>
              <a:ea typeface="Calibri"/>
              <a:cs typeface="Calibri"/>
              <a:sym typeface="Calibri"/>
            </a:endParaRPr>
          </a:p>
        </p:txBody>
      </p:sp>
      <p:sp>
        <p:nvSpPr>
          <p:cNvPr id="377" name="Google Shape;377;p18"/>
          <p:cNvSpPr/>
          <p:nvPr/>
        </p:nvSpPr>
        <p:spPr>
          <a:xfrm>
            <a:off x="4617720" y="1463040"/>
            <a:ext cx="4224528" cy="16916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8"/>
          <p:cNvSpPr/>
          <p:nvPr/>
        </p:nvSpPr>
        <p:spPr>
          <a:xfrm>
            <a:off x="4727448" y="1572768"/>
            <a:ext cx="457200" cy="457200"/>
          </a:xfrm>
          <a:prstGeom prst="ellipse">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8"/>
          <p:cNvSpPr/>
          <p:nvPr/>
        </p:nvSpPr>
        <p:spPr>
          <a:xfrm>
            <a:off x="4727448" y="15727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380" name="Google Shape;380;p18"/>
          <p:cNvSpPr/>
          <p:nvPr/>
        </p:nvSpPr>
        <p:spPr>
          <a:xfrm>
            <a:off x="5276088" y="159105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Interpretation</a:t>
            </a:r>
            <a:endParaRPr sz="1100">
              <a:solidFill>
                <a:schemeClr val="dk1"/>
              </a:solidFill>
              <a:latin typeface="Calibri"/>
              <a:ea typeface="Calibri"/>
              <a:cs typeface="Calibri"/>
              <a:sym typeface="Calibri"/>
            </a:endParaRPr>
          </a:p>
        </p:txBody>
      </p:sp>
      <p:sp>
        <p:nvSpPr>
          <p:cNvPr id="381" name="Google Shape;381;p18"/>
          <p:cNvSpPr/>
          <p:nvPr/>
        </p:nvSpPr>
        <p:spPr>
          <a:xfrm>
            <a:off x="4727448" y="2048256"/>
            <a:ext cx="4023360" cy="10332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Instructions are decoded from the glider stream into a sequence of construction operations. The construction arm reads these and determines where each cell must be placed.</a:t>
            </a:r>
            <a:endParaRPr sz="1000">
              <a:solidFill>
                <a:schemeClr val="dk1"/>
              </a:solidFill>
              <a:latin typeface="Calibri"/>
              <a:ea typeface="Calibri"/>
              <a:cs typeface="Calibri"/>
              <a:sym typeface="Calibri"/>
            </a:endParaRPr>
          </a:p>
        </p:txBody>
      </p:sp>
      <p:sp>
        <p:nvSpPr>
          <p:cNvPr id="382" name="Google Shape;382;p18"/>
          <p:cNvSpPr/>
          <p:nvPr/>
        </p:nvSpPr>
        <p:spPr>
          <a:xfrm>
            <a:off x="320040" y="3227832"/>
            <a:ext cx="4224528" cy="16916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8"/>
          <p:cNvSpPr/>
          <p:nvPr/>
        </p:nvSpPr>
        <p:spPr>
          <a:xfrm>
            <a:off x="429768" y="3337560"/>
            <a:ext cx="457200" cy="457200"/>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8"/>
          <p:cNvSpPr/>
          <p:nvPr/>
        </p:nvSpPr>
        <p:spPr>
          <a:xfrm>
            <a:off x="429768" y="3337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385" name="Google Shape;385;p18"/>
          <p:cNvSpPr/>
          <p:nvPr/>
        </p:nvSpPr>
        <p:spPr>
          <a:xfrm>
            <a:off x="978408" y="335584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Construction</a:t>
            </a:r>
            <a:endParaRPr sz="1100">
              <a:solidFill>
                <a:schemeClr val="dk1"/>
              </a:solidFill>
              <a:latin typeface="Calibri"/>
              <a:ea typeface="Calibri"/>
              <a:cs typeface="Calibri"/>
              <a:sym typeface="Calibri"/>
            </a:endParaRPr>
          </a:p>
        </p:txBody>
      </p:sp>
      <p:sp>
        <p:nvSpPr>
          <p:cNvPr id="386" name="Google Shape;386;p18"/>
          <p:cNvSpPr/>
          <p:nvPr/>
        </p:nvSpPr>
        <p:spPr>
          <a:xfrm>
            <a:off x="429768" y="3813048"/>
            <a:ext cx="4023360" cy="10332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The construction arm builds a new copy of the original pattern cell by cell at a remote location, following the decoded instructions exactly.</a:t>
            </a:r>
            <a:endParaRPr sz="1000">
              <a:solidFill>
                <a:schemeClr val="dk1"/>
              </a:solidFill>
              <a:latin typeface="Calibri"/>
              <a:ea typeface="Calibri"/>
              <a:cs typeface="Calibri"/>
              <a:sym typeface="Calibri"/>
            </a:endParaRPr>
          </a:p>
        </p:txBody>
      </p:sp>
      <p:sp>
        <p:nvSpPr>
          <p:cNvPr id="387" name="Google Shape;387;p18"/>
          <p:cNvSpPr/>
          <p:nvPr/>
        </p:nvSpPr>
        <p:spPr>
          <a:xfrm>
            <a:off x="4617720" y="3227832"/>
            <a:ext cx="4224528" cy="16916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8"/>
          <p:cNvSpPr/>
          <p:nvPr/>
        </p:nvSpPr>
        <p:spPr>
          <a:xfrm>
            <a:off x="4727448" y="3337560"/>
            <a:ext cx="457200" cy="457200"/>
          </a:xfrm>
          <a:prstGeom prst="ellipse">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8"/>
          <p:cNvSpPr/>
          <p:nvPr/>
        </p:nvSpPr>
        <p:spPr>
          <a:xfrm>
            <a:off x="4727448" y="3337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390" name="Google Shape;390;p18"/>
          <p:cNvSpPr/>
          <p:nvPr/>
        </p:nvSpPr>
        <p:spPr>
          <a:xfrm>
            <a:off x="5276088" y="335584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1100"/>
              <a:buFont typeface="Calibri"/>
              <a:buNone/>
            </a:pPr>
            <a:r>
              <a:rPr b="1" lang="en-US" sz="1100">
                <a:solidFill>
                  <a:srgbClr val="1E2329"/>
                </a:solidFill>
                <a:latin typeface="Calibri"/>
                <a:ea typeface="Calibri"/>
                <a:cs typeface="Calibri"/>
                <a:sym typeface="Calibri"/>
              </a:rPr>
              <a:t>Activation</a:t>
            </a:r>
            <a:endParaRPr sz="1100">
              <a:solidFill>
                <a:schemeClr val="dk1"/>
              </a:solidFill>
              <a:latin typeface="Calibri"/>
              <a:ea typeface="Calibri"/>
              <a:cs typeface="Calibri"/>
              <a:sym typeface="Calibri"/>
            </a:endParaRPr>
          </a:p>
        </p:txBody>
      </p:sp>
      <p:sp>
        <p:nvSpPr>
          <p:cNvPr id="391" name="Google Shape;391;p18"/>
          <p:cNvSpPr/>
          <p:nvPr/>
        </p:nvSpPr>
        <p:spPr>
          <a:xfrm>
            <a:off x="4727448" y="3813048"/>
            <a:ext cx="4023360" cy="10332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00"/>
              <a:buFont typeface="Calibri"/>
              <a:buNone/>
            </a:pPr>
            <a:r>
              <a:rPr lang="en-US" sz="1000">
                <a:solidFill>
                  <a:srgbClr val="1E2329"/>
                </a:solidFill>
                <a:latin typeface="Calibri"/>
                <a:ea typeface="Calibri"/>
                <a:cs typeface="Calibri"/>
                <a:sym typeface="Calibri"/>
              </a:rPr>
              <a:t>Once construction is complete, the copy is activated and begins its own replication cycle — creating a potentially infinite chain of self-reproducing machines.</a:t>
            </a:r>
            <a:endParaRPr sz="1000">
              <a:solidFill>
                <a:schemeClr val="dk1"/>
              </a:solidFill>
              <a:latin typeface="Calibri"/>
              <a:ea typeface="Calibri"/>
              <a:cs typeface="Calibri"/>
              <a:sym typeface="Calibri"/>
            </a:endParaRPr>
          </a:p>
        </p:txBody>
      </p:sp>
      <p:sp>
        <p:nvSpPr>
          <p:cNvPr id="392" name="Google Shape;392;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97" name="Shape 397"/>
        <p:cNvGrpSpPr/>
        <p:nvPr/>
      </p:nvGrpSpPr>
      <p:grpSpPr>
        <a:xfrm>
          <a:off x="0" y="0"/>
          <a:ext cx="0" cy="0"/>
          <a:chOff x="0" y="0"/>
          <a:chExt cx="0" cy="0"/>
        </a:xfrm>
      </p:grpSpPr>
      <p:sp>
        <p:nvSpPr>
          <p:cNvPr id="398" name="Google Shape;398;p19"/>
          <p:cNvSpPr/>
          <p:nvPr/>
        </p:nvSpPr>
        <p:spPr>
          <a:xfrm>
            <a:off x="0" y="0"/>
            <a:ext cx="109728"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9"/>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Philosophical Implications</a:t>
            </a:r>
            <a:endParaRPr sz="2200">
              <a:solidFill>
                <a:schemeClr val="dk1"/>
              </a:solidFill>
              <a:latin typeface="Calibri"/>
              <a:ea typeface="Calibri"/>
              <a:cs typeface="Calibri"/>
              <a:sym typeface="Calibri"/>
            </a:endParaRPr>
          </a:p>
        </p:txBody>
      </p:sp>
      <p:sp>
        <p:nvSpPr>
          <p:cNvPr id="400" name="Google Shape;400;p19"/>
          <p:cNvSpPr/>
          <p:nvPr/>
        </p:nvSpPr>
        <p:spPr>
          <a:xfrm>
            <a:off x="320040" y="758952"/>
            <a:ext cx="8503920" cy="2743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9"/>
          <p:cNvSpPr/>
          <p:nvPr/>
        </p:nvSpPr>
        <p:spPr>
          <a:xfrm>
            <a:off x="32004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9"/>
          <p:cNvSpPr/>
          <p:nvPr/>
        </p:nvSpPr>
        <p:spPr>
          <a:xfrm>
            <a:off x="320040" y="960120"/>
            <a:ext cx="21031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p:nvPr/>
        </p:nvSpPr>
        <p:spPr>
          <a:xfrm>
            <a:off x="39319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Emergence</a:t>
            </a:r>
            <a:endParaRPr sz="1100">
              <a:solidFill>
                <a:schemeClr val="dk1"/>
              </a:solidFill>
              <a:latin typeface="Calibri"/>
              <a:ea typeface="Calibri"/>
              <a:cs typeface="Calibri"/>
              <a:sym typeface="Calibri"/>
            </a:endParaRPr>
          </a:p>
        </p:txBody>
      </p:sp>
      <p:sp>
        <p:nvSpPr>
          <p:cNvPr id="404" name="Google Shape;404;p19"/>
          <p:cNvSpPr/>
          <p:nvPr/>
        </p:nvSpPr>
        <p:spPr>
          <a:xfrm>
            <a:off x="41148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Profoundly complex phenomena — gliders, guns, computers — arise from just four rules applied to binary cells. No central controller; no global plan. Order from local interactions.</a:t>
            </a:r>
            <a:endParaRPr sz="1050">
              <a:solidFill>
                <a:schemeClr val="dk1"/>
              </a:solidFill>
              <a:latin typeface="Calibri"/>
              <a:ea typeface="Calibri"/>
              <a:cs typeface="Calibri"/>
              <a:sym typeface="Calibri"/>
            </a:endParaRPr>
          </a:p>
        </p:txBody>
      </p:sp>
      <p:sp>
        <p:nvSpPr>
          <p:cNvPr id="405" name="Google Shape;405;p19"/>
          <p:cNvSpPr/>
          <p:nvPr/>
        </p:nvSpPr>
        <p:spPr>
          <a:xfrm>
            <a:off x="251460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9"/>
          <p:cNvSpPr/>
          <p:nvPr/>
        </p:nvSpPr>
        <p:spPr>
          <a:xfrm>
            <a:off x="2514600" y="960120"/>
            <a:ext cx="21031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9"/>
          <p:cNvSpPr/>
          <p:nvPr/>
        </p:nvSpPr>
        <p:spPr>
          <a:xfrm>
            <a:off x="258775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Determinism vs. Unpredictability</a:t>
            </a:r>
            <a:endParaRPr sz="1100">
              <a:solidFill>
                <a:schemeClr val="dk1"/>
              </a:solidFill>
              <a:latin typeface="Calibri"/>
              <a:ea typeface="Calibri"/>
              <a:cs typeface="Calibri"/>
              <a:sym typeface="Calibri"/>
            </a:endParaRPr>
          </a:p>
        </p:txBody>
      </p:sp>
      <p:sp>
        <p:nvSpPr>
          <p:cNvPr id="408" name="Google Shape;408;p19"/>
          <p:cNvSpPr/>
          <p:nvPr/>
        </p:nvSpPr>
        <p:spPr>
          <a:xfrm>
            <a:off x="260604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The system is completely deterministic: the same initial state always produces the same future. Yet predicting the outcome of most configurations requires running them — there is no shortcut.</a:t>
            </a:r>
            <a:endParaRPr sz="1050">
              <a:solidFill>
                <a:schemeClr val="dk1"/>
              </a:solidFill>
              <a:latin typeface="Calibri"/>
              <a:ea typeface="Calibri"/>
              <a:cs typeface="Calibri"/>
              <a:sym typeface="Calibri"/>
            </a:endParaRPr>
          </a:p>
        </p:txBody>
      </p:sp>
      <p:sp>
        <p:nvSpPr>
          <p:cNvPr id="409" name="Google Shape;409;p19"/>
          <p:cNvSpPr/>
          <p:nvPr/>
        </p:nvSpPr>
        <p:spPr>
          <a:xfrm>
            <a:off x="470916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9"/>
          <p:cNvSpPr/>
          <p:nvPr/>
        </p:nvSpPr>
        <p:spPr>
          <a:xfrm>
            <a:off x="4709160" y="960120"/>
            <a:ext cx="21031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9"/>
          <p:cNvSpPr/>
          <p:nvPr/>
        </p:nvSpPr>
        <p:spPr>
          <a:xfrm>
            <a:off x="478231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Levels of Description</a:t>
            </a:r>
            <a:endParaRPr sz="1100">
              <a:solidFill>
                <a:schemeClr val="dk1"/>
              </a:solidFill>
              <a:latin typeface="Calibri"/>
              <a:ea typeface="Calibri"/>
              <a:cs typeface="Calibri"/>
              <a:sym typeface="Calibri"/>
            </a:endParaRPr>
          </a:p>
        </p:txBody>
      </p:sp>
      <p:sp>
        <p:nvSpPr>
          <p:cNvPr id="412" name="Google Shape;412;p19"/>
          <p:cNvSpPr/>
          <p:nvPr/>
        </p:nvSpPr>
        <p:spPr>
          <a:xfrm>
            <a:off x="480060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Patterns and behaviors exist at multiple levels: cell states, local patterns (gliders), functional modules (gates), and complete computers. Each level has its own valid description language.</a:t>
            </a:r>
            <a:endParaRPr sz="1050">
              <a:solidFill>
                <a:schemeClr val="dk1"/>
              </a:solidFill>
              <a:latin typeface="Calibri"/>
              <a:ea typeface="Calibri"/>
              <a:cs typeface="Calibri"/>
              <a:sym typeface="Calibri"/>
            </a:endParaRPr>
          </a:p>
        </p:txBody>
      </p:sp>
      <p:sp>
        <p:nvSpPr>
          <p:cNvPr id="413" name="Google Shape;413;p19"/>
          <p:cNvSpPr/>
          <p:nvPr/>
        </p:nvSpPr>
        <p:spPr>
          <a:xfrm>
            <a:off x="690372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9"/>
          <p:cNvSpPr/>
          <p:nvPr/>
        </p:nvSpPr>
        <p:spPr>
          <a:xfrm>
            <a:off x="6903720" y="960120"/>
            <a:ext cx="21031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9"/>
          <p:cNvSpPr/>
          <p:nvPr/>
        </p:nvSpPr>
        <p:spPr>
          <a:xfrm>
            <a:off x="697687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Artificial Life</a:t>
            </a:r>
            <a:endParaRPr sz="1100">
              <a:solidFill>
                <a:schemeClr val="dk1"/>
              </a:solidFill>
              <a:latin typeface="Calibri"/>
              <a:ea typeface="Calibri"/>
              <a:cs typeface="Calibri"/>
              <a:sym typeface="Calibri"/>
            </a:endParaRPr>
          </a:p>
        </p:txBody>
      </p:sp>
      <p:sp>
        <p:nvSpPr>
          <p:cNvPr id="416" name="Google Shape;416;p19"/>
          <p:cNvSpPr/>
          <p:nvPr/>
        </p:nvSpPr>
        <p:spPr>
          <a:xfrm>
            <a:off x="699516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Life blurs the boundary between living and non-living. Self-replicating, computing, evolving patterns challenge definitions of life — and suggest that life itself may be a computational process.</a:t>
            </a:r>
            <a:endParaRPr sz="1050">
              <a:solidFill>
                <a:schemeClr val="dk1"/>
              </a:solidFill>
              <a:latin typeface="Calibri"/>
              <a:ea typeface="Calibri"/>
              <a:cs typeface="Calibri"/>
              <a:sym typeface="Calibri"/>
            </a:endParaRPr>
          </a:p>
        </p:txBody>
      </p:sp>
      <p:sp>
        <p:nvSpPr>
          <p:cNvPr id="417" name="Google Shape;417;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422" name="Shape 422"/>
        <p:cNvGrpSpPr/>
        <p:nvPr/>
      </p:nvGrpSpPr>
      <p:grpSpPr>
        <a:xfrm>
          <a:off x="0" y="0"/>
          <a:ext cx="0" cy="0"/>
          <a:chOff x="0" y="0"/>
          <a:chExt cx="0" cy="0"/>
        </a:xfrm>
      </p:grpSpPr>
      <p:sp>
        <p:nvSpPr>
          <p:cNvPr id="423" name="Google Shape;423;p20"/>
          <p:cNvSpPr/>
          <p:nvPr/>
        </p:nvSpPr>
        <p:spPr>
          <a:xfrm>
            <a:off x="0" y="0"/>
            <a:ext cx="164592"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0"/>
          <p:cNvSpPr/>
          <p:nvPr/>
        </p:nvSpPr>
        <p:spPr>
          <a:xfrm>
            <a:off x="457200" y="731520"/>
            <a:ext cx="146304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DB5"/>
              </a:buClr>
              <a:buSzPts val="9600"/>
              <a:buFont typeface="Calibri"/>
              <a:buNone/>
            </a:pPr>
            <a:r>
              <a:rPr b="1" lang="en-US" sz="9600">
                <a:solidFill>
                  <a:srgbClr val="4A9DB5"/>
                </a:solidFill>
                <a:latin typeface="Calibri"/>
                <a:ea typeface="Calibri"/>
                <a:cs typeface="Calibri"/>
                <a:sym typeface="Calibri"/>
              </a:rPr>
              <a:t>5</a:t>
            </a:r>
            <a:endParaRPr sz="9600">
              <a:solidFill>
                <a:schemeClr val="dk1"/>
              </a:solidFill>
              <a:latin typeface="Calibri"/>
              <a:ea typeface="Calibri"/>
              <a:cs typeface="Calibri"/>
              <a:sym typeface="Calibri"/>
            </a:endParaRPr>
          </a:p>
        </p:txBody>
      </p:sp>
      <p:sp>
        <p:nvSpPr>
          <p:cNvPr id="425" name="Google Shape;425;p20"/>
          <p:cNvSpPr/>
          <p:nvPr/>
        </p:nvSpPr>
        <p:spPr>
          <a:xfrm>
            <a:off x="2194560" y="1463040"/>
            <a:ext cx="6583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Applications &amp; Connections</a:t>
            </a:r>
            <a:endParaRPr sz="3400">
              <a:solidFill>
                <a:schemeClr val="dk1"/>
              </a:solidFill>
              <a:latin typeface="Calibri"/>
              <a:ea typeface="Calibri"/>
              <a:cs typeface="Calibri"/>
              <a:sym typeface="Calibri"/>
            </a:endParaRPr>
          </a:p>
        </p:txBody>
      </p:sp>
      <p:sp>
        <p:nvSpPr>
          <p:cNvPr id="426" name="Google Shape;426;p20"/>
          <p:cNvSpPr/>
          <p:nvPr/>
        </p:nvSpPr>
        <p:spPr>
          <a:xfrm>
            <a:off x="2194560" y="2514600"/>
            <a:ext cx="658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600"/>
              <a:buFont typeface="Calibri"/>
              <a:buNone/>
            </a:pPr>
            <a:r>
              <a:rPr lang="en-US" sz="1600">
                <a:solidFill>
                  <a:srgbClr val="A0AEC0"/>
                </a:solidFill>
                <a:latin typeface="Calibri"/>
                <a:ea typeface="Calibri"/>
                <a:cs typeface="Calibri"/>
                <a:sym typeface="Calibri"/>
              </a:rPr>
              <a:t>Science, biology, ecology, and cultural impact</a:t>
            </a:r>
            <a:endParaRPr sz="1600">
              <a:solidFill>
                <a:schemeClr val="dk1"/>
              </a:solidFill>
              <a:latin typeface="Calibri"/>
              <a:ea typeface="Calibri"/>
              <a:cs typeface="Calibri"/>
              <a:sym typeface="Calibri"/>
            </a:endParaRPr>
          </a:p>
        </p:txBody>
      </p:sp>
      <p:sp>
        <p:nvSpPr>
          <p:cNvPr id="427" name="Google Shape;427;p20"/>
          <p:cNvSpPr/>
          <p:nvPr/>
        </p:nvSpPr>
        <p:spPr>
          <a:xfrm>
            <a:off x="2194560" y="2286000"/>
            <a:ext cx="5486400" cy="4572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433" name="Shape 433"/>
        <p:cNvGrpSpPr/>
        <p:nvPr/>
      </p:nvGrpSpPr>
      <p:grpSpPr>
        <a:xfrm>
          <a:off x="0" y="0"/>
          <a:ext cx="0" cy="0"/>
          <a:chOff x="0" y="0"/>
          <a:chExt cx="0" cy="0"/>
        </a:xfrm>
      </p:grpSpPr>
      <p:sp>
        <p:nvSpPr>
          <p:cNvPr id="434" name="Google Shape;434;p21"/>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1"/>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Applications in Science</a:t>
            </a:r>
            <a:endParaRPr sz="2200">
              <a:solidFill>
                <a:schemeClr val="dk1"/>
              </a:solidFill>
              <a:latin typeface="Calibri"/>
              <a:ea typeface="Calibri"/>
              <a:cs typeface="Calibri"/>
              <a:sym typeface="Calibri"/>
            </a:endParaRPr>
          </a:p>
        </p:txBody>
      </p:sp>
      <p:sp>
        <p:nvSpPr>
          <p:cNvPr id="436" name="Google Shape;436;p21"/>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1"/>
          <p:cNvSpPr/>
          <p:nvPr/>
        </p:nvSpPr>
        <p:spPr>
          <a:xfrm>
            <a:off x="32004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1"/>
          <p:cNvSpPr/>
          <p:nvPr/>
        </p:nvSpPr>
        <p:spPr>
          <a:xfrm>
            <a:off x="320040" y="960120"/>
            <a:ext cx="2103120"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1"/>
          <p:cNvSpPr/>
          <p:nvPr/>
        </p:nvSpPr>
        <p:spPr>
          <a:xfrm>
            <a:off x="39319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Complex Systems Modeling</a:t>
            </a:r>
            <a:endParaRPr sz="1100">
              <a:solidFill>
                <a:schemeClr val="dk1"/>
              </a:solidFill>
              <a:latin typeface="Calibri"/>
              <a:ea typeface="Calibri"/>
              <a:cs typeface="Calibri"/>
              <a:sym typeface="Calibri"/>
            </a:endParaRPr>
          </a:p>
        </p:txBody>
      </p:sp>
      <p:sp>
        <p:nvSpPr>
          <p:cNvPr id="440" name="Google Shape;440;p21"/>
          <p:cNvSpPr/>
          <p:nvPr/>
        </p:nvSpPr>
        <p:spPr>
          <a:xfrm>
            <a:off x="41148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Life illustrates how global order emerges from local interactions — a core principle of complex systems science. Used to study phase transitions, self-organized criticality, and edge-of-chaos dynamics.</a:t>
            </a:r>
            <a:endParaRPr sz="1050">
              <a:solidFill>
                <a:schemeClr val="dk1"/>
              </a:solidFill>
              <a:latin typeface="Calibri"/>
              <a:ea typeface="Calibri"/>
              <a:cs typeface="Calibri"/>
              <a:sym typeface="Calibri"/>
            </a:endParaRPr>
          </a:p>
        </p:txBody>
      </p:sp>
      <p:sp>
        <p:nvSpPr>
          <p:cNvPr id="441" name="Google Shape;441;p21"/>
          <p:cNvSpPr/>
          <p:nvPr/>
        </p:nvSpPr>
        <p:spPr>
          <a:xfrm>
            <a:off x="251460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1"/>
          <p:cNvSpPr/>
          <p:nvPr/>
        </p:nvSpPr>
        <p:spPr>
          <a:xfrm>
            <a:off x="2514600" y="960120"/>
            <a:ext cx="2103120"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1"/>
          <p:cNvSpPr/>
          <p:nvPr/>
        </p:nvSpPr>
        <p:spPr>
          <a:xfrm>
            <a:off x="258775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Pattern Formation</a:t>
            </a:r>
            <a:endParaRPr sz="1100">
              <a:solidFill>
                <a:schemeClr val="dk1"/>
              </a:solidFill>
              <a:latin typeface="Calibri"/>
              <a:ea typeface="Calibri"/>
              <a:cs typeface="Calibri"/>
              <a:sym typeface="Calibri"/>
            </a:endParaRPr>
          </a:p>
        </p:txBody>
      </p:sp>
      <p:sp>
        <p:nvSpPr>
          <p:cNvPr id="444" name="Google Shape;444;p21"/>
          <p:cNvSpPr/>
          <p:nvPr/>
        </p:nvSpPr>
        <p:spPr>
          <a:xfrm>
            <a:off x="260604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Models for biological pattern development (Turing patterns, morphogenesis). Cellular automata frameworks derived from Life are used to simulate reaction-diffusion systems and developmental biology.</a:t>
            </a:r>
            <a:endParaRPr sz="1050">
              <a:solidFill>
                <a:schemeClr val="dk1"/>
              </a:solidFill>
              <a:latin typeface="Calibri"/>
              <a:ea typeface="Calibri"/>
              <a:cs typeface="Calibri"/>
              <a:sym typeface="Calibri"/>
            </a:endParaRPr>
          </a:p>
        </p:txBody>
      </p:sp>
      <p:sp>
        <p:nvSpPr>
          <p:cNvPr id="445" name="Google Shape;445;p21"/>
          <p:cNvSpPr/>
          <p:nvPr/>
        </p:nvSpPr>
        <p:spPr>
          <a:xfrm>
            <a:off x="470916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1"/>
          <p:cNvSpPr/>
          <p:nvPr/>
        </p:nvSpPr>
        <p:spPr>
          <a:xfrm>
            <a:off x="4709160" y="960120"/>
            <a:ext cx="2103120"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1"/>
          <p:cNvSpPr/>
          <p:nvPr/>
        </p:nvSpPr>
        <p:spPr>
          <a:xfrm>
            <a:off x="478231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Artificial Life Research</a:t>
            </a:r>
            <a:endParaRPr sz="1100">
              <a:solidFill>
                <a:schemeClr val="dk1"/>
              </a:solidFill>
              <a:latin typeface="Calibri"/>
              <a:ea typeface="Calibri"/>
              <a:cs typeface="Calibri"/>
              <a:sym typeface="Calibri"/>
            </a:endParaRPr>
          </a:p>
        </p:txBody>
      </p:sp>
      <p:sp>
        <p:nvSpPr>
          <p:cNvPr id="448" name="Google Shape;448;p21"/>
          <p:cNvSpPr/>
          <p:nvPr/>
        </p:nvSpPr>
        <p:spPr>
          <a:xfrm>
            <a:off x="480060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Life is a prototype for studying artificial life forms — entities that exhibit lifelike behaviors (metabolism, reproduction, adaptation) in a computational substrate. Langton's Loops extend this directly.</a:t>
            </a:r>
            <a:endParaRPr sz="1050">
              <a:solidFill>
                <a:schemeClr val="dk1"/>
              </a:solidFill>
              <a:latin typeface="Calibri"/>
              <a:ea typeface="Calibri"/>
              <a:cs typeface="Calibri"/>
              <a:sym typeface="Calibri"/>
            </a:endParaRPr>
          </a:p>
        </p:txBody>
      </p:sp>
      <p:sp>
        <p:nvSpPr>
          <p:cNvPr id="449" name="Google Shape;449;p21"/>
          <p:cNvSpPr/>
          <p:nvPr/>
        </p:nvSpPr>
        <p:spPr>
          <a:xfrm>
            <a:off x="6903720" y="960120"/>
            <a:ext cx="2103120" cy="347472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21"/>
          <p:cNvSpPr/>
          <p:nvPr/>
        </p:nvSpPr>
        <p:spPr>
          <a:xfrm>
            <a:off x="6903720" y="960120"/>
            <a:ext cx="2103120"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1"/>
          <p:cNvSpPr/>
          <p:nvPr/>
        </p:nvSpPr>
        <p:spPr>
          <a:xfrm>
            <a:off x="6976872" y="99669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Education</a:t>
            </a:r>
            <a:endParaRPr sz="1100">
              <a:solidFill>
                <a:schemeClr val="dk1"/>
              </a:solidFill>
              <a:latin typeface="Calibri"/>
              <a:ea typeface="Calibri"/>
              <a:cs typeface="Calibri"/>
              <a:sym typeface="Calibri"/>
            </a:endParaRPr>
          </a:p>
        </p:txBody>
      </p:sp>
      <p:sp>
        <p:nvSpPr>
          <p:cNvPr id="452" name="Google Shape;452;p21"/>
          <p:cNvSpPr/>
          <p:nvPr/>
        </p:nvSpPr>
        <p:spPr>
          <a:xfrm>
            <a:off x="6995160" y="1362456"/>
            <a:ext cx="1920240"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One of the most effective teaching tools for computer science, mathematics, complexity theory, and programming. Widely used in introductory courses worldwide due to its simplicity and depth.</a:t>
            </a:r>
            <a:endParaRPr sz="1050">
              <a:solidFill>
                <a:schemeClr val="dk1"/>
              </a:solidFill>
              <a:latin typeface="Calibri"/>
              <a:ea typeface="Calibri"/>
              <a:cs typeface="Calibri"/>
              <a:sym typeface="Calibri"/>
            </a:endParaRPr>
          </a:p>
        </p:txBody>
      </p:sp>
      <p:sp>
        <p:nvSpPr>
          <p:cNvPr id="453" name="Google Shape;453;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458" name="Shape 458"/>
        <p:cNvGrpSpPr/>
        <p:nvPr/>
      </p:nvGrpSpPr>
      <p:grpSpPr>
        <a:xfrm>
          <a:off x="0" y="0"/>
          <a:ext cx="0" cy="0"/>
          <a:chOff x="0" y="0"/>
          <a:chExt cx="0" cy="0"/>
        </a:xfrm>
      </p:grpSpPr>
      <p:sp>
        <p:nvSpPr>
          <p:cNvPr id="459" name="Google Shape;459;p22"/>
          <p:cNvSpPr/>
          <p:nvPr/>
        </p:nvSpPr>
        <p:spPr>
          <a:xfrm>
            <a:off x="0" y="0"/>
            <a:ext cx="109728"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2"/>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Connections to Biology and Ecology</a:t>
            </a:r>
            <a:endParaRPr sz="2200">
              <a:solidFill>
                <a:schemeClr val="dk1"/>
              </a:solidFill>
              <a:latin typeface="Calibri"/>
              <a:ea typeface="Calibri"/>
              <a:cs typeface="Calibri"/>
              <a:sym typeface="Calibri"/>
            </a:endParaRPr>
          </a:p>
        </p:txBody>
      </p:sp>
      <p:sp>
        <p:nvSpPr>
          <p:cNvPr id="461" name="Google Shape;461;p22"/>
          <p:cNvSpPr/>
          <p:nvPr/>
        </p:nvSpPr>
        <p:spPr>
          <a:xfrm>
            <a:off x="320040" y="758952"/>
            <a:ext cx="8503920" cy="2743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22"/>
          <p:cNvSpPr/>
          <p:nvPr/>
        </p:nvSpPr>
        <p:spPr>
          <a:xfrm>
            <a:off x="320040" y="914400"/>
            <a:ext cx="2798064" cy="19202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2"/>
          <p:cNvSpPr/>
          <p:nvPr/>
        </p:nvSpPr>
        <p:spPr>
          <a:xfrm>
            <a:off x="320040" y="91440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22"/>
          <p:cNvSpPr/>
          <p:nvPr/>
        </p:nvSpPr>
        <p:spPr>
          <a:xfrm>
            <a:off x="393192" y="95097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Cellular Processes</a:t>
            </a:r>
            <a:endParaRPr sz="1100">
              <a:solidFill>
                <a:schemeClr val="dk1"/>
              </a:solidFill>
              <a:latin typeface="Calibri"/>
              <a:ea typeface="Calibri"/>
              <a:cs typeface="Calibri"/>
              <a:sym typeface="Calibri"/>
            </a:endParaRPr>
          </a:p>
        </p:txBody>
      </p:sp>
      <p:sp>
        <p:nvSpPr>
          <p:cNvPr id="465" name="Google Shape;465;p22"/>
          <p:cNvSpPr/>
          <p:nvPr/>
        </p:nvSpPr>
        <p:spPr>
          <a:xfrm>
            <a:off x="411480" y="1316736"/>
            <a:ext cx="2615184"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Cell division, death, and interaction follow local rules. Life provides intuition for how multicellular organisms develop from single cells following simple genetic instructions. Cellular automata models of tumor growth use Life-like rules.</a:t>
            </a:r>
            <a:endParaRPr sz="1050">
              <a:solidFill>
                <a:schemeClr val="dk1"/>
              </a:solidFill>
              <a:latin typeface="Calibri"/>
              <a:ea typeface="Calibri"/>
              <a:cs typeface="Calibri"/>
              <a:sym typeface="Calibri"/>
            </a:endParaRPr>
          </a:p>
        </p:txBody>
      </p:sp>
      <p:sp>
        <p:nvSpPr>
          <p:cNvPr id="466" name="Google Shape;466;p22"/>
          <p:cNvSpPr/>
          <p:nvPr/>
        </p:nvSpPr>
        <p:spPr>
          <a:xfrm>
            <a:off x="3218688" y="914400"/>
            <a:ext cx="2798064" cy="19202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2"/>
          <p:cNvSpPr/>
          <p:nvPr/>
        </p:nvSpPr>
        <p:spPr>
          <a:xfrm>
            <a:off x="3218688" y="91440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22"/>
          <p:cNvSpPr/>
          <p:nvPr/>
        </p:nvSpPr>
        <p:spPr>
          <a:xfrm>
            <a:off x="3291840" y="95097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Population Dynamics</a:t>
            </a:r>
            <a:endParaRPr sz="1100">
              <a:solidFill>
                <a:schemeClr val="dk1"/>
              </a:solidFill>
              <a:latin typeface="Calibri"/>
              <a:ea typeface="Calibri"/>
              <a:cs typeface="Calibri"/>
              <a:sym typeface="Calibri"/>
            </a:endParaRPr>
          </a:p>
        </p:txBody>
      </p:sp>
      <p:sp>
        <p:nvSpPr>
          <p:cNvPr id="469" name="Google Shape;469;p22"/>
          <p:cNvSpPr/>
          <p:nvPr/>
        </p:nvSpPr>
        <p:spPr>
          <a:xfrm>
            <a:off x="3310128" y="1316736"/>
            <a:ext cx="2615184"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Spatial ecological models — including predator-prey lattice models and epidemiological spread — use Life-like frameworks. Local birth/death/movement rules produce observed spatial clustering and wave patterns.</a:t>
            </a:r>
            <a:endParaRPr sz="1050">
              <a:solidFill>
                <a:schemeClr val="dk1"/>
              </a:solidFill>
              <a:latin typeface="Calibri"/>
              <a:ea typeface="Calibri"/>
              <a:cs typeface="Calibri"/>
              <a:sym typeface="Calibri"/>
            </a:endParaRPr>
          </a:p>
        </p:txBody>
      </p:sp>
      <p:sp>
        <p:nvSpPr>
          <p:cNvPr id="470" name="Google Shape;470;p22"/>
          <p:cNvSpPr/>
          <p:nvPr/>
        </p:nvSpPr>
        <p:spPr>
          <a:xfrm>
            <a:off x="6117336" y="914400"/>
            <a:ext cx="2798064" cy="19202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2"/>
          <p:cNvSpPr/>
          <p:nvPr/>
        </p:nvSpPr>
        <p:spPr>
          <a:xfrm>
            <a:off x="6117336" y="914400"/>
            <a:ext cx="2798064"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22"/>
          <p:cNvSpPr/>
          <p:nvPr/>
        </p:nvSpPr>
        <p:spPr>
          <a:xfrm>
            <a:off x="6190488" y="95097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Pattern Formation</a:t>
            </a:r>
            <a:endParaRPr sz="1100">
              <a:solidFill>
                <a:schemeClr val="dk1"/>
              </a:solidFill>
              <a:latin typeface="Calibri"/>
              <a:ea typeface="Calibri"/>
              <a:cs typeface="Calibri"/>
              <a:sym typeface="Calibri"/>
            </a:endParaRPr>
          </a:p>
        </p:txBody>
      </p:sp>
      <p:sp>
        <p:nvSpPr>
          <p:cNvPr id="473" name="Google Shape;473;p22"/>
          <p:cNvSpPr/>
          <p:nvPr/>
        </p:nvSpPr>
        <p:spPr>
          <a:xfrm>
            <a:off x="6208776" y="1316736"/>
            <a:ext cx="2615184"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Alan Turing's reaction-diffusion equations and Klausmeier's vegetation models produce stripe/spot patterns similar to Life patterns. The 'local rule → global pattern' principle is shared across all these systems.</a:t>
            </a:r>
            <a:endParaRPr sz="1050">
              <a:solidFill>
                <a:schemeClr val="dk1"/>
              </a:solidFill>
              <a:latin typeface="Calibri"/>
              <a:ea typeface="Calibri"/>
              <a:cs typeface="Calibri"/>
              <a:sym typeface="Calibri"/>
            </a:endParaRPr>
          </a:p>
        </p:txBody>
      </p:sp>
      <p:sp>
        <p:nvSpPr>
          <p:cNvPr id="474" name="Google Shape;474;p22"/>
          <p:cNvSpPr txBox="1"/>
          <p:nvPr/>
        </p:nvSpPr>
        <p:spPr>
          <a:xfrm>
            <a:off x="2650787" y="4485088"/>
            <a:ext cx="4575242"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https://packaged-media.redd.it/ze6aaqtc6h3c1/pb/m2-res_720p.mp4?m=DASHPlaylist.mpd&amp;var=sgpssan&amp;v=1&amp;e=1779886800&amp;s=ba507a452764c30317808e7f10c5c344477b4484</a:t>
            </a:r>
            <a:endParaRPr/>
          </a:p>
        </p:txBody>
      </p:sp>
      <p:pic>
        <p:nvPicPr>
          <p:cNvPr id="475" name="Google Shape;475;p22"/>
          <p:cNvPicPr preferRelativeResize="0"/>
          <p:nvPr/>
        </p:nvPicPr>
        <p:blipFill rotWithShape="1">
          <a:blip r:embed="rId3">
            <a:alphaModFix/>
          </a:blip>
          <a:srcRect b="0" l="0" r="0" t="0"/>
          <a:stretch/>
        </p:blipFill>
        <p:spPr>
          <a:xfrm>
            <a:off x="3044951" y="2912320"/>
            <a:ext cx="2480359" cy="1395962"/>
          </a:xfrm>
          <a:prstGeom prst="rect">
            <a:avLst/>
          </a:prstGeom>
          <a:noFill/>
          <a:ln>
            <a:noFill/>
          </a:ln>
        </p:spPr>
      </p:pic>
      <p:sp>
        <p:nvSpPr>
          <p:cNvPr id="476" name="Google Shape;476;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0"/>
                                        <p:tgtEl>
                                          <p:spTgt spid="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481" name="Shape 481"/>
        <p:cNvGrpSpPr/>
        <p:nvPr/>
      </p:nvGrpSpPr>
      <p:grpSpPr>
        <a:xfrm>
          <a:off x="0" y="0"/>
          <a:ext cx="0" cy="0"/>
          <a:chOff x="0" y="0"/>
          <a:chExt cx="0" cy="0"/>
        </a:xfrm>
      </p:grpSpPr>
      <p:sp>
        <p:nvSpPr>
          <p:cNvPr id="482" name="Google Shape;482;p23"/>
          <p:cNvSpPr/>
          <p:nvPr/>
        </p:nvSpPr>
        <p:spPr>
          <a:xfrm>
            <a:off x="0" y="0"/>
            <a:ext cx="109728"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23"/>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Connections to Biology and Ecology</a:t>
            </a:r>
            <a:endParaRPr sz="2200">
              <a:solidFill>
                <a:schemeClr val="dk1"/>
              </a:solidFill>
              <a:latin typeface="Calibri"/>
              <a:ea typeface="Calibri"/>
              <a:cs typeface="Calibri"/>
              <a:sym typeface="Calibri"/>
            </a:endParaRPr>
          </a:p>
        </p:txBody>
      </p:sp>
      <p:sp>
        <p:nvSpPr>
          <p:cNvPr id="484" name="Google Shape;484;p23"/>
          <p:cNvSpPr/>
          <p:nvPr/>
        </p:nvSpPr>
        <p:spPr>
          <a:xfrm>
            <a:off x="320040" y="758952"/>
            <a:ext cx="8503920" cy="2743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3"/>
          <p:cNvSpPr/>
          <p:nvPr/>
        </p:nvSpPr>
        <p:spPr>
          <a:xfrm>
            <a:off x="320040" y="909861"/>
            <a:ext cx="2798064" cy="19202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23"/>
          <p:cNvSpPr/>
          <p:nvPr/>
        </p:nvSpPr>
        <p:spPr>
          <a:xfrm>
            <a:off x="320040" y="909861"/>
            <a:ext cx="2798064"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23"/>
          <p:cNvSpPr/>
          <p:nvPr/>
        </p:nvSpPr>
        <p:spPr>
          <a:xfrm>
            <a:off x="393192" y="946437"/>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Emergence in Ecosystems</a:t>
            </a:r>
            <a:endParaRPr sz="1100">
              <a:solidFill>
                <a:schemeClr val="dk1"/>
              </a:solidFill>
              <a:latin typeface="Calibri"/>
              <a:ea typeface="Calibri"/>
              <a:cs typeface="Calibri"/>
              <a:sym typeface="Calibri"/>
            </a:endParaRPr>
          </a:p>
        </p:txBody>
      </p:sp>
      <p:sp>
        <p:nvSpPr>
          <p:cNvPr id="488" name="Google Shape;488;p23"/>
          <p:cNvSpPr/>
          <p:nvPr/>
        </p:nvSpPr>
        <p:spPr>
          <a:xfrm>
            <a:off x="411480" y="1312197"/>
            <a:ext cx="2615184"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Ecosystem-level properties (stability, resilience, biodiversity) emerge from species interactions, just as gliders emerge from cell rules. Neither is explicitly programmed — both arise from lower-level dynamics.</a:t>
            </a:r>
            <a:endParaRPr sz="1050">
              <a:solidFill>
                <a:schemeClr val="dk1"/>
              </a:solidFill>
              <a:latin typeface="Calibri"/>
              <a:ea typeface="Calibri"/>
              <a:cs typeface="Calibri"/>
              <a:sym typeface="Calibri"/>
            </a:endParaRPr>
          </a:p>
        </p:txBody>
      </p:sp>
      <p:sp>
        <p:nvSpPr>
          <p:cNvPr id="489" name="Google Shape;489;p23"/>
          <p:cNvSpPr/>
          <p:nvPr/>
        </p:nvSpPr>
        <p:spPr>
          <a:xfrm>
            <a:off x="3218688" y="909861"/>
            <a:ext cx="2798064" cy="19202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23"/>
          <p:cNvSpPr/>
          <p:nvPr/>
        </p:nvSpPr>
        <p:spPr>
          <a:xfrm>
            <a:off x="3218688" y="909861"/>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23"/>
          <p:cNvSpPr/>
          <p:nvPr/>
        </p:nvSpPr>
        <p:spPr>
          <a:xfrm>
            <a:off x="3291840" y="946437"/>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Limitations</a:t>
            </a:r>
            <a:endParaRPr sz="1100">
              <a:solidFill>
                <a:schemeClr val="dk1"/>
              </a:solidFill>
              <a:latin typeface="Calibri"/>
              <a:ea typeface="Calibri"/>
              <a:cs typeface="Calibri"/>
              <a:sym typeface="Calibri"/>
            </a:endParaRPr>
          </a:p>
        </p:txBody>
      </p:sp>
      <p:sp>
        <p:nvSpPr>
          <p:cNvPr id="492" name="Google Shape;492;p23"/>
          <p:cNvSpPr/>
          <p:nvPr/>
        </p:nvSpPr>
        <p:spPr>
          <a:xfrm>
            <a:off x="3310128" y="1312197"/>
            <a:ext cx="2615184"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Life uses a uniform grid, synchronous updating, and binary states. Real biological systems have continuous values, asynchronous dynamics, stochasticity, and three-dimensional structure. Life is a metaphor, not a model.</a:t>
            </a:r>
            <a:endParaRPr sz="1050">
              <a:solidFill>
                <a:schemeClr val="dk1"/>
              </a:solidFill>
              <a:latin typeface="Calibri"/>
              <a:ea typeface="Calibri"/>
              <a:cs typeface="Calibri"/>
              <a:sym typeface="Calibri"/>
            </a:endParaRPr>
          </a:p>
        </p:txBody>
      </p:sp>
      <p:sp>
        <p:nvSpPr>
          <p:cNvPr id="493" name="Google Shape;493;p23"/>
          <p:cNvSpPr/>
          <p:nvPr/>
        </p:nvSpPr>
        <p:spPr>
          <a:xfrm>
            <a:off x="6117336" y="909861"/>
            <a:ext cx="2798064" cy="19202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23"/>
          <p:cNvSpPr/>
          <p:nvPr/>
        </p:nvSpPr>
        <p:spPr>
          <a:xfrm>
            <a:off x="6117336" y="909861"/>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23"/>
          <p:cNvSpPr/>
          <p:nvPr/>
        </p:nvSpPr>
        <p:spPr>
          <a:xfrm>
            <a:off x="6190488" y="946437"/>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Research Directions</a:t>
            </a:r>
            <a:endParaRPr sz="1100">
              <a:solidFill>
                <a:schemeClr val="dk1"/>
              </a:solidFill>
              <a:latin typeface="Calibri"/>
              <a:ea typeface="Calibri"/>
              <a:cs typeface="Calibri"/>
              <a:sym typeface="Calibri"/>
            </a:endParaRPr>
          </a:p>
        </p:txBody>
      </p:sp>
      <p:sp>
        <p:nvSpPr>
          <p:cNvPr id="496" name="Google Shape;496;p23"/>
          <p:cNvSpPr/>
          <p:nvPr/>
        </p:nvSpPr>
        <p:spPr>
          <a:xfrm>
            <a:off x="6208776" y="1312197"/>
            <a:ext cx="2615184"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Probabilistic cellular automata, off-lattice models, and agent-based systems extend Life's principles toward realistic ecological modeling while preserving the core insight: complexity from simplicity.</a:t>
            </a:r>
            <a:endParaRPr sz="1050">
              <a:solidFill>
                <a:schemeClr val="dk1"/>
              </a:solidFill>
              <a:latin typeface="Calibri"/>
              <a:ea typeface="Calibri"/>
              <a:cs typeface="Calibri"/>
              <a:sym typeface="Calibri"/>
            </a:endParaRPr>
          </a:p>
        </p:txBody>
      </p:sp>
      <p:sp>
        <p:nvSpPr>
          <p:cNvPr id="497" name="Google Shape;497;p23"/>
          <p:cNvSpPr txBox="1"/>
          <p:nvPr/>
        </p:nvSpPr>
        <p:spPr>
          <a:xfrm>
            <a:off x="320050" y="31320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https://www.nature.com/articles/353255a0.pdf</a:t>
            </a:r>
            <a:endParaRPr>
              <a:latin typeface="Calibri"/>
              <a:ea typeface="Calibri"/>
              <a:cs typeface="Calibri"/>
              <a:sym typeface="Calibri"/>
            </a:endParaRPr>
          </a:p>
        </p:txBody>
      </p:sp>
      <p:sp>
        <p:nvSpPr>
          <p:cNvPr id="498" name="Google Shape;498;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03" name="Shape 503"/>
        <p:cNvGrpSpPr/>
        <p:nvPr/>
      </p:nvGrpSpPr>
      <p:grpSpPr>
        <a:xfrm>
          <a:off x="0" y="0"/>
          <a:ext cx="0" cy="0"/>
          <a:chOff x="0" y="0"/>
          <a:chExt cx="0" cy="0"/>
        </a:xfrm>
      </p:grpSpPr>
      <p:sp>
        <p:nvSpPr>
          <p:cNvPr id="504" name="Google Shape;504;p24"/>
          <p:cNvSpPr/>
          <p:nvPr/>
        </p:nvSpPr>
        <p:spPr>
          <a:xfrm>
            <a:off x="0" y="0"/>
            <a:ext cx="109728"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4"/>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Cultural Impact</a:t>
            </a:r>
            <a:endParaRPr sz="2200">
              <a:solidFill>
                <a:schemeClr val="dk1"/>
              </a:solidFill>
              <a:latin typeface="Calibri"/>
              <a:ea typeface="Calibri"/>
              <a:cs typeface="Calibri"/>
              <a:sym typeface="Calibri"/>
            </a:endParaRPr>
          </a:p>
        </p:txBody>
      </p:sp>
      <p:sp>
        <p:nvSpPr>
          <p:cNvPr id="506" name="Google Shape;506;p24"/>
          <p:cNvSpPr/>
          <p:nvPr/>
        </p:nvSpPr>
        <p:spPr>
          <a:xfrm>
            <a:off x="320040" y="758952"/>
            <a:ext cx="8503920" cy="2743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24"/>
          <p:cNvSpPr/>
          <p:nvPr/>
        </p:nvSpPr>
        <p:spPr>
          <a:xfrm>
            <a:off x="-2209419" y="2853688"/>
            <a:ext cx="1237442" cy="2108835"/>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24"/>
          <p:cNvSpPr/>
          <p:nvPr/>
        </p:nvSpPr>
        <p:spPr>
          <a:xfrm>
            <a:off x="320040" y="100584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24"/>
          <p:cNvSpPr/>
          <p:nvPr/>
        </p:nvSpPr>
        <p:spPr>
          <a:xfrm>
            <a:off x="393192" y="104241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Digital Art &amp; Generative Design</a:t>
            </a:r>
            <a:endParaRPr sz="1100">
              <a:solidFill>
                <a:schemeClr val="dk1"/>
              </a:solidFill>
              <a:latin typeface="Calibri"/>
              <a:ea typeface="Calibri"/>
              <a:cs typeface="Calibri"/>
              <a:sym typeface="Calibri"/>
            </a:endParaRPr>
          </a:p>
        </p:txBody>
      </p:sp>
      <p:sp>
        <p:nvSpPr>
          <p:cNvPr id="510" name="Google Shape;510;p24"/>
          <p:cNvSpPr/>
          <p:nvPr/>
        </p:nvSpPr>
        <p:spPr>
          <a:xfrm>
            <a:off x="411480" y="1408176"/>
            <a:ext cx="2615184"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Life is the foundation of algorithmic art. Its patterns — especially gliders and guns — appear in countless artworks, animations, and music visualizations. The glider became the hacker community's emblem, proposed by Eric Raymond in 2003.</a:t>
            </a:r>
            <a:endParaRPr sz="1050">
              <a:solidFill>
                <a:schemeClr val="dk1"/>
              </a:solidFill>
              <a:latin typeface="Calibri"/>
              <a:ea typeface="Calibri"/>
              <a:cs typeface="Calibri"/>
              <a:sym typeface="Calibri"/>
            </a:endParaRPr>
          </a:p>
        </p:txBody>
      </p:sp>
      <p:sp>
        <p:nvSpPr>
          <p:cNvPr id="511" name="Google Shape;511;p24"/>
          <p:cNvSpPr/>
          <p:nvPr/>
        </p:nvSpPr>
        <p:spPr>
          <a:xfrm>
            <a:off x="3218688" y="1005840"/>
            <a:ext cx="2798064" cy="37490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24"/>
          <p:cNvSpPr/>
          <p:nvPr/>
        </p:nvSpPr>
        <p:spPr>
          <a:xfrm>
            <a:off x="3218688" y="100584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4"/>
          <p:cNvSpPr/>
          <p:nvPr/>
        </p:nvSpPr>
        <p:spPr>
          <a:xfrm>
            <a:off x="3291840" y="104241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Education &amp; Programming</a:t>
            </a:r>
            <a:endParaRPr sz="1100">
              <a:solidFill>
                <a:schemeClr val="dk1"/>
              </a:solidFill>
              <a:latin typeface="Calibri"/>
              <a:ea typeface="Calibri"/>
              <a:cs typeface="Calibri"/>
              <a:sym typeface="Calibri"/>
            </a:endParaRPr>
          </a:p>
        </p:txBody>
      </p:sp>
      <p:sp>
        <p:nvSpPr>
          <p:cNvPr id="514" name="Google Shape;514;p24"/>
          <p:cNvSpPr/>
          <p:nvPr/>
        </p:nvSpPr>
        <p:spPr>
          <a:xfrm>
            <a:off x="3310128" y="1408176"/>
            <a:ext cx="2615184"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Implementing Life is a classic programming exercise. It teaches 2D arrays, simulation loops, boundary conditions, and optimization. Many programmers cite Life as their first complex program. Still widely used in CS education.</a:t>
            </a:r>
            <a:endParaRPr sz="1050">
              <a:solidFill>
                <a:schemeClr val="dk1"/>
              </a:solidFill>
              <a:latin typeface="Calibri"/>
              <a:ea typeface="Calibri"/>
              <a:cs typeface="Calibri"/>
              <a:sym typeface="Calibri"/>
            </a:endParaRPr>
          </a:p>
        </p:txBody>
      </p:sp>
      <p:sp>
        <p:nvSpPr>
          <p:cNvPr id="515" name="Google Shape;515;p24"/>
          <p:cNvSpPr/>
          <p:nvPr/>
        </p:nvSpPr>
        <p:spPr>
          <a:xfrm>
            <a:off x="6117336" y="1005840"/>
            <a:ext cx="2798064" cy="37490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4"/>
          <p:cNvSpPr/>
          <p:nvPr/>
        </p:nvSpPr>
        <p:spPr>
          <a:xfrm>
            <a:off x="6117336" y="1005840"/>
            <a:ext cx="2798064" cy="34747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4"/>
          <p:cNvSpPr/>
          <p:nvPr/>
        </p:nvSpPr>
        <p:spPr>
          <a:xfrm>
            <a:off x="6190488" y="104241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Computing &amp; Philosophy</a:t>
            </a:r>
            <a:endParaRPr sz="1100">
              <a:solidFill>
                <a:schemeClr val="dk1"/>
              </a:solidFill>
              <a:latin typeface="Calibri"/>
              <a:ea typeface="Calibri"/>
              <a:cs typeface="Calibri"/>
              <a:sym typeface="Calibri"/>
            </a:endParaRPr>
          </a:p>
        </p:txBody>
      </p:sp>
      <p:sp>
        <p:nvSpPr>
          <p:cNvPr id="518" name="Google Shape;518;p24"/>
          <p:cNvSpPr/>
          <p:nvPr/>
        </p:nvSpPr>
        <p:spPr>
          <a:xfrm>
            <a:off x="6208776" y="1408176"/>
            <a:ext cx="2615184"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Life influenced thinking in computer science (parallelism, cellular computation), philosophy of mind (substrate independence), and physics (digital physics hypothesis: Is the universe a cellular automaton?). Wolfram's 'A New Kind of Science' (2002) extends these ideas.</a:t>
            </a:r>
            <a:endParaRPr sz="1050">
              <a:solidFill>
                <a:schemeClr val="dk1"/>
              </a:solidFill>
              <a:latin typeface="Calibri"/>
              <a:ea typeface="Calibri"/>
              <a:cs typeface="Calibri"/>
              <a:sym typeface="Calibri"/>
            </a:endParaRPr>
          </a:p>
        </p:txBody>
      </p:sp>
      <p:pic>
        <p:nvPicPr>
          <p:cNvPr id="519" name="Google Shape;519;p24"/>
          <p:cNvPicPr preferRelativeResize="0"/>
          <p:nvPr/>
        </p:nvPicPr>
        <p:blipFill rotWithShape="1">
          <a:blip r:embed="rId3">
            <a:alphaModFix/>
          </a:blip>
          <a:srcRect b="0" l="0" r="0" t="0"/>
          <a:stretch/>
        </p:blipFill>
        <p:spPr>
          <a:xfrm>
            <a:off x="1627924" y="2646044"/>
            <a:ext cx="1200150" cy="1200150"/>
          </a:xfrm>
          <a:prstGeom prst="rect">
            <a:avLst/>
          </a:prstGeom>
          <a:noFill/>
          <a:ln>
            <a:noFill/>
          </a:ln>
        </p:spPr>
      </p:pic>
      <p:sp>
        <p:nvSpPr>
          <p:cNvPr id="520" name="Google Shape;520;p24"/>
          <p:cNvSpPr txBox="1"/>
          <p:nvPr/>
        </p:nvSpPr>
        <p:spPr>
          <a:xfrm>
            <a:off x="3258155" y="3061453"/>
            <a:ext cx="57183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https://golly.sourceforge.io/</a:t>
            </a:r>
            <a:endParaRPr/>
          </a:p>
        </p:txBody>
      </p:sp>
      <p:pic>
        <p:nvPicPr>
          <p:cNvPr id="521" name="Google Shape;521;p24"/>
          <p:cNvPicPr preferRelativeResize="0"/>
          <p:nvPr/>
        </p:nvPicPr>
        <p:blipFill rotWithShape="1">
          <a:blip r:embed="rId4">
            <a:alphaModFix/>
          </a:blip>
          <a:srcRect b="0" l="0" r="0" t="0"/>
          <a:stretch/>
        </p:blipFill>
        <p:spPr>
          <a:xfrm>
            <a:off x="3406140" y="3892833"/>
            <a:ext cx="2423160" cy="623466"/>
          </a:xfrm>
          <a:prstGeom prst="rect">
            <a:avLst/>
          </a:prstGeom>
          <a:noFill/>
          <a:ln>
            <a:noFill/>
          </a:ln>
        </p:spPr>
      </p:pic>
      <p:pic>
        <p:nvPicPr>
          <p:cNvPr id="522" name="Google Shape;522;p24">
            <a:hlinkClick r:id="rId5"/>
          </p:cNvPr>
          <p:cNvPicPr preferRelativeResize="0"/>
          <p:nvPr/>
        </p:nvPicPr>
        <p:blipFill rotWithShape="1">
          <a:blip r:embed="rId6">
            <a:alphaModFix/>
          </a:blip>
          <a:srcRect b="0" l="0" r="0" t="0"/>
          <a:stretch/>
        </p:blipFill>
        <p:spPr>
          <a:xfrm>
            <a:off x="7574983" y="3064137"/>
            <a:ext cx="1093304" cy="1470991"/>
          </a:xfrm>
          <a:prstGeom prst="rect">
            <a:avLst/>
          </a:prstGeom>
          <a:noFill/>
          <a:ln>
            <a:noFill/>
          </a:ln>
        </p:spPr>
      </p:pic>
      <p:pic>
        <p:nvPicPr>
          <p:cNvPr id="523" name="Google Shape;523;p24"/>
          <p:cNvPicPr preferRelativeResize="0"/>
          <p:nvPr/>
        </p:nvPicPr>
        <p:blipFill rotWithShape="1">
          <a:blip r:embed="rId7">
            <a:alphaModFix/>
          </a:blip>
          <a:srcRect b="0" l="0" r="0" t="0"/>
          <a:stretch/>
        </p:blipFill>
        <p:spPr>
          <a:xfrm>
            <a:off x="6304788" y="3053948"/>
            <a:ext cx="1078171" cy="1462351"/>
          </a:xfrm>
          <a:prstGeom prst="rect">
            <a:avLst/>
          </a:prstGeom>
          <a:noFill/>
          <a:ln>
            <a:noFill/>
          </a:ln>
        </p:spPr>
      </p:pic>
      <p:sp>
        <p:nvSpPr>
          <p:cNvPr id="524" name="Google Shape;524;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93A"/>
        </a:solidFill>
      </p:bgPr>
    </p:bg>
    <p:spTree>
      <p:nvGrpSpPr>
        <p:cNvPr id="529" name="Shape 529"/>
        <p:cNvGrpSpPr/>
        <p:nvPr/>
      </p:nvGrpSpPr>
      <p:grpSpPr>
        <a:xfrm>
          <a:off x="0" y="0"/>
          <a:ext cx="0" cy="0"/>
          <a:chOff x="0" y="0"/>
          <a:chExt cx="0" cy="0"/>
        </a:xfrm>
      </p:grpSpPr>
      <p:sp>
        <p:nvSpPr>
          <p:cNvPr id="530" name="Google Shape;530;p25"/>
          <p:cNvSpPr/>
          <p:nvPr/>
        </p:nvSpPr>
        <p:spPr>
          <a:xfrm>
            <a:off x="0" y="0"/>
            <a:ext cx="164592" cy="514350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25"/>
          <p:cNvSpPr/>
          <p:nvPr/>
        </p:nvSpPr>
        <p:spPr>
          <a:xfrm>
            <a:off x="457200" y="731520"/>
            <a:ext cx="146304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4756B"/>
              </a:buClr>
              <a:buSzPts val="9600"/>
              <a:buFont typeface="Calibri"/>
              <a:buNone/>
            </a:pPr>
            <a:r>
              <a:rPr b="1" lang="en-US" sz="9600">
                <a:solidFill>
                  <a:srgbClr val="D4756B"/>
                </a:solidFill>
                <a:latin typeface="Calibri"/>
                <a:ea typeface="Calibri"/>
                <a:cs typeface="Calibri"/>
                <a:sym typeface="Calibri"/>
              </a:rPr>
              <a:t>6</a:t>
            </a:r>
            <a:endParaRPr sz="9600">
              <a:solidFill>
                <a:schemeClr val="dk1"/>
              </a:solidFill>
              <a:latin typeface="Calibri"/>
              <a:ea typeface="Calibri"/>
              <a:cs typeface="Calibri"/>
              <a:sym typeface="Calibri"/>
            </a:endParaRPr>
          </a:p>
        </p:txBody>
      </p:sp>
      <p:sp>
        <p:nvSpPr>
          <p:cNvPr id="532" name="Google Shape;532;p25"/>
          <p:cNvSpPr/>
          <p:nvPr/>
        </p:nvSpPr>
        <p:spPr>
          <a:xfrm>
            <a:off x="2194560" y="1463040"/>
            <a:ext cx="65836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Further Exploration</a:t>
            </a:r>
            <a:endParaRPr sz="3400">
              <a:solidFill>
                <a:schemeClr val="dk1"/>
              </a:solidFill>
              <a:latin typeface="Calibri"/>
              <a:ea typeface="Calibri"/>
              <a:cs typeface="Calibri"/>
              <a:sym typeface="Calibri"/>
            </a:endParaRPr>
          </a:p>
        </p:txBody>
      </p:sp>
      <p:sp>
        <p:nvSpPr>
          <p:cNvPr id="533" name="Google Shape;533;p25"/>
          <p:cNvSpPr/>
          <p:nvPr/>
        </p:nvSpPr>
        <p:spPr>
          <a:xfrm>
            <a:off x="2194560" y="2514600"/>
            <a:ext cx="65836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1600"/>
              <a:buFont typeface="Calibri"/>
              <a:buNone/>
            </a:pPr>
            <a:r>
              <a:rPr lang="en-US" sz="1600">
                <a:solidFill>
                  <a:srgbClr val="A0AEC0"/>
                </a:solidFill>
                <a:latin typeface="Calibri"/>
                <a:ea typeface="Calibri"/>
                <a:cs typeface="Calibri"/>
                <a:sym typeface="Calibri"/>
              </a:rPr>
              <a:t>Resources, simulators, and key references</a:t>
            </a:r>
            <a:endParaRPr sz="1600">
              <a:solidFill>
                <a:schemeClr val="dk1"/>
              </a:solidFill>
              <a:latin typeface="Calibri"/>
              <a:ea typeface="Calibri"/>
              <a:cs typeface="Calibri"/>
              <a:sym typeface="Calibri"/>
            </a:endParaRPr>
          </a:p>
        </p:txBody>
      </p:sp>
      <p:sp>
        <p:nvSpPr>
          <p:cNvPr id="534" name="Google Shape;534;p25"/>
          <p:cNvSpPr/>
          <p:nvPr/>
        </p:nvSpPr>
        <p:spPr>
          <a:xfrm>
            <a:off x="2194560" y="2286000"/>
            <a:ext cx="5486400" cy="45720"/>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40" name="Shape 540"/>
        <p:cNvGrpSpPr/>
        <p:nvPr/>
      </p:nvGrpSpPr>
      <p:grpSpPr>
        <a:xfrm>
          <a:off x="0" y="0"/>
          <a:ext cx="0" cy="0"/>
          <a:chOff x="0" y="0"/>
          <a:chExt cx="0" cy="0"/>
        </a:xfrm>
      </p:grpSpPr>
      <p:sp>
        <p:nvSpPr>
          <p:cNvPr id="541" name="Google Shape;541;p26"/>
          <p:cNvSpPr/>
          <p:nvPr/>
        </p:nvSpPr>
        <p:spPr>
          <a:xfrm>
            <a:off x="0" y="0"/>
            <a:ext cx="109728" cy="5143500"/>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26"/>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Further Exploration</a:t>
            </a:r>
            <a:endParaRPr sz="2200">
              <a:solidFill>
                <a:schemeClr val="dk1"/>
              </a:solidFill>
              <a:latin typeface="Calibri"/>
              <a:ea typeface="Calibri"/>
              <a:cs typeface="Calibri"/>
              <a:sym typeface="Calibri"/>
            </a:endParaRPr>
          </a:p>
        </p:txBody>
      </p:sp>
      <p:sp>
        <p:nvSpPr>
          <p:cNvPr id="543" name="Google Shape;543;p26"/>
          <p:cNvSpPr/>
          <p:nvPr/>
        </p:nvSpPr>
        <p:spPr>
          <a:xfrm>
            <a:off x="320040" y="758952"/>
            <a:ext cx="8503920" cy="2743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26"/>
          <p:cNvSpPr/>
          <p:nvPr/>
        </p:nvSpPr>
        <p:spPr>
          <a:xfrm>
            <a:off x="320040" y="960120"/>
            <a:ext cx="2798064" cy="37490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26"/>
          <p:cNvSpPr/>
          <p:nvPr/>
        </p:nvSpPr>
        <p:spPr>
          <a:xfrm>
            <a:off x="320040" y="960120"/>
            <a:ext cx="2798064" cy="347472"/>
          </a:xfrm>
          <a:prstGeom prst="rect">
            <a:avLst/>
          </a:prstGeom>
          <a:solidFill>
            <a:srgbClr val="4A9DB5"/>
          </a:solidFill>
          <a:ln cap="flat" cmpd="sng" w="12700">
            <a:solidFill>
              <a:srgbClr val="4A9D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26"/>
          <p:cNvSpPr/>
          <p:nvPr/>
        </p:nvSpPr>
        <p:spPr>
          <a:xfrm>
            <a:off x="393192" y="99669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Key Books</a:t>
            </a:r>
            <a:endParaRPr sz="1100">
              <a:solidFill>
                <a:schemeClr val="dk1"/>
              </a:solidFill>
              <a:latin typeface="Calibri"/>
              <a:ea typeface="Calibri"/>
              <a:cs typeface="Calibri"/>
              <a:sym typeface="Calibri"/>
            </a:endParaRPr>
          </a:p>
        </p:txBody>
      </p:sp>
      <p:sp>
        <p:nvSpPr>
          <p:cNvPr id="547" name="Google Shape;547;p26"/>
          <p:cNvSpPr/>
          <p:nvPr/>
        </p:nvSpPr>
        <p:spPr>
          <a:xfrm>
            <a:off x="411480" y="1362456"/>
            <a:ext cx="2615184"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Gardner (1970): Scientific American articles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Conway et al.: Winning Ways for Mathematical Plays (Vol. 2)</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Poundstone: The Recursive Universe (1985)</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Wolfram: A New Kind of Science (2002)</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Berlekamp et al.: Winning Ways (1982)</a:t>
            </a:r>
            <a:endParaRPr sz="1050">
              <a:solidFill>
                <a:schemeClr val="dk1"/>
              </a:solidFill>
              <a:latin typeface="Calibri"/>
              <a:ea typeface="Calibri"/>
              <a:cs typeface="Calibri"/>
              <a:sym typeface="Calibri"/>
            </a:endParaRPr>
          </a:p>
        </p:txBody>
      </p:sp>
      <p:sp>
        <p:nvSpPr>
          <p:cNvPr id="548" name="Google Shape;548;p26"/>
          <p:cNvSpPr/>
          <p:nvPr/>
        </p:nvSpPr>
        <p:spPr>
          <a:xfrm>
            <a:off x="3218688" y="960120"/>
            <a:ext cx="2798064" cy="37490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26"/>
          <p:cNvSpPr/>
          <p:nvPr/>
        </p:nvSpPr>
        <p:spPr>
          <a:xfrm>
            <a:off x="3218688" y="960120"/>
            <a:ext cx="2798064" cy="347472"/>
          </a:xfrm>
          <a:prstGeom prst="rect">
            <a:avLst/>
          </a:prstGeom>
          <a:solidFill>
            <a:srgbClr val="D4756B"/>
          </a:solidFill>
          <a:ln cap="flat" cmpd="sng" w="12700">
            <a:solidFill>
              <a:srgbClr val="D4756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26"/>
          <p:cNvSpPr/>
          <p:nvPr/>
        </p:nvSpPr>
        <p:spPr>
          <a:xfrm>
            <a:off x="3291840" y="99669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Online Resources</a:t>
            </a:r>
            <a:endParaRPr sz="1100">
              <a:solidFill>
                <a:schemeClr val="dk1"/>
              </a:solidFill>
              <a:latin typeface="Calibri"/>
              <a:ea typeface="Calibri"/>
              <a:cs typeface="Calibri"/>
              <a:sym typeface="Calibri"/>
            </a:endParaRPr>
          </a:p>
        </p:txBody>
      </p:sp>
      <p:sp>
        <p:nvSpPr>
          <p:cNvPr id="551" name="Google Shape;551;p26"/>
          <p:cNvSpPr/>
          <p:nvPr/>
        </p:nvSpPr>
        <p:spPr>
          <a:xfrm>
            <a:off x="3310128" y="1362456"/>
            <a:ext cx="2615184"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LifeWiki (conwaylife.com/wiki) — the pattern encyclopedia</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Golly simulator — fast, multi-rule cellular automaton simulator</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ConwayLife.com forums — active community</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Paul Rendell's Turing Machine page</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catagolue.appspot.com — soup search statistics</a:t>
            </a:r>
            <a:endParaRPr sz="1050">
              <a:solidFill>
                <a:schemeClr val="dk1"/>
              </a:solidFill>
              <a:latin typeface="Calibri"/>
              <a:ea typeface="Calibri"/>
              <a:cs typeface="Calibri"/>
              <a:sym typeface="Calibri"/>
            </a:endParaRPr>
          </a:p>
        </p:txBody>
      </p:sp>
      <p:sp>
        <p:nvSpPr>
          <p:cNvPr id="552" name="Google Shape;552;p26"/>
          <p:cNvSpPr/>
          <p:nvPr/>
        </p:nvSpPr>
        <p:spPr>
          <a:xfrm>
            <a:off x="6117336" y="960120"/>
            <a:ext cx="2798064" cy="3749040"/>
          </a:xfrm>
          <a:prstGeom prst="rect">
            <a:avLst/>
          </a:prstGeom>
          <a:solidFill>
            <a:srgbClr val="FFFFFF"/>
          </a:solidFill>
          <a:ln cap="flat" cmpd="sng" w="12700">
            <a:solidFill>
              <a:srgbClr val="E2E8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26"/>
          <p:cNvSpPr/>
          <p:nvPr/>
        </p:nvSpPr>
        <p:spPr>
          <a:xfrm>
            <a:off x="6117336" y="960120"/>
            <a:ext cx="2798064" cy="347472"/>
          </a:xfrm>
          <a:prstGeom prst="rect">
            <a:avLst/>
          </a:prstGeom>
          <a:solidFill>
            <a:srgbClr val="C9A84C"/>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26"/>
          <p:cNvSpPr/>
          <p:nvPr/>
        </p:nvSpPr>
        <p:spPr>
          <a:xfrm>
            <a:off x="6190488" y="996696"/>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Try It Yourself</a:t>
            </a:r>
            <a:endParaRPr sz="1100">
              <a:solidFill>
                <a:schemeClr val="dk1"/>
              </a:solidFill>
              <a:latin typeface="Calibri"/>
              <a:ea typeface="Calibri"/>
              <a:cs typeface="Calibri"/>
              <a:sym typeface="Calibri"/>
            </a:endParaRPr>
          </a:p>
        </p:txBody>
      </p:sp>
      <p:sp>
        <p:nvSpPr>
          <p:cNvPr id="555" name="Google Shape;555;p26"/>
          <p:cNvSpPr/>
          <p:nvPr/>
        </p:nvSpPr>
        <p:spPr>
          <a:xfrm>
            <a:off x="6208776" y="1362456"/>
            <a:ext cx="2615184" cy="320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Copy a Life pattern from LifeWiki and paste into Golly</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Build a Glider Gun from scratch</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Start with a random soup and observe stabilization</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Implement Life in Python in under 30 lines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E2329"/>
              </a:buClr>
              <a:buSzPts val="1050"/>
              <a:buFont typeface="Calibri"/>
              <a:buNone/>
            </a:pPr>
            <a:r>
              <a:rPr lang="en-US" sz="1050">
                <a:solidFill>
                  <a:srgbClr val="1E2329"/>
                </a:solidFill>
                <a:latin typeface="Calibri"/>
                <a:ea typeface="Calibri"/>
                <a:cs typeface="Calibri"/>
                <a:sym typeface="Calibri"/>
              </a:rPr>
              <a:t>· Search for your own Methuselahs</a:t>
            </a:r>
            <a:endParaRPr sz="1050">
              <a:solidFill>
                <a:schemeClr val="dk1"/>
              </a:solidFill>
              <a:latin typeface="Calibri"/>
              <a:ea typeface="Calibri"/>
              <a:cs typeface="Calibri"/>
              <a:sym typeface="Calibri"/>
            </a:endParaRPr>
          </a:p>
        </p:txBody>
      </p:sp>
      <p:sp>
        <p:nvSpPr>
          <p:cNvPr id="556" name="Google Shape;556;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61" name="Shape 561"/>
        <p:cNvGrpSpPr/>
        <p:nvPr/>
      </p:nvGrpSpPr>
      <p:grpSpPr>
        <a:xfrm>
          <a:off x="0" y="0"/>
          <a:ext cx="0" cy="0"/>
          <a:chOff x="0" y="0"/>
          <a:chExt cx="0" cy="0"/>
        </a:xfrm>
      </p:grpSpPr>
      <p:sp>
        <p:nvSpPr>
          <p:cNvPr id="562" name="Google Shape;562;p27"/>
          <p:cNvSpPr/>
          <p:nvPr/>
        </p:nvSpPr>
        <p:spPr>
          <a:xfrm>
            <a:off x="0" y="0"/>
            <a:ext cx="109728"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7"/>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References</a:t>
            </a:r>
            <a:endParaRPr sz="2200">
              <a:solidFill>
                <a:schemeClr val="dk1"/>
              </a:solidFill>
              <a:latin typeface="Calibri"/>
              <a:ea typeface="Calibri"/>
              <a:cs typeface="Calibri"/>
              <a:sym typeface="Calibri"/>
            </a:endParaRPr>
          </a:p>
        </p:txBody>
      </p:sp>
      <p:sp>
        <p:nvSpPr>
          <p:cNvPr id="564" name="Google Shape;564;p27"/>
          <p:cNvSpPr/>
          <p:nvPr/>
        </p:nvSpPr>
        <p:spPr>
          <a:xfrm>
            <a:off x="320040" y="758952"/>
            <a:ext cx="8503920" cy="2743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7"/>
          <p:cNvSpPr/>
          <p:nvPr/>
        </p:nvSpPr>
        <p:spPr>
          <a:xfrm>
            <a:off x="365760" y="868680"/>
            <a:ext cx="84582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 J. Conway, "The Game of Life," Scientific American, vol. 223, no. 4, pp. 4–10, 1970.</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 M. Gardner, "Mathematical games: The fantastic combinations of John Conway's new solitaire game 'life'," Scientific American, vol. 223, no. 4, pp. 120–123, 1970.</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[3] S. Wolfram, "Statistical mechanics of cellular automata," Reviews of Modern Physics, vol. 55, no. 3, pp. 601–644, 1983.</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[4] S. Wolfram, A New Kind of Science, Wolfram Media, 2002.</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[5] E. R. Berlekamp, J. H. Conway, and R. K. Guy, Winning Ways for Your Mathematical Plays, Volume 2, Academic Press, 1982.</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[6] T. Toffoli and N. Margolus, Cellular Automata Machines: A New Environment for Modeling, MIT Press, 1987.</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[7] B. Chopard and M. Droz, Cellular Automata Modeling of Physical Systems, Cambridge University Press, 1998.</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[8] A. Ilachinski, Cellular Automata: A Discrete Universe, World Scientific, 2001.</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[9] M. A. Nowak and R. M. May, "Evolutionary games and spatial chaos," Nature, vol. 359, pp. 826–829, 1992.</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[10] R. M. May, "Simple mathematical models with very complicated dynamics," Nature, vol. 261, pp. 459–467, 1976.</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[11] D. Tilman and P. Kareiva, Spatial Ecology: The Role of Space in Population Dynamics, Princeton University Press, 1997.</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[12] S. A. Levin, "The problem of pattern and scale in ecology," Ecology, vol. 73, no. 6, pp. 1943–1967, 1992.</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[13] A. Hastings, "Complex interactions between dispersal and dynamics," Ecology, vol. 74, no. 5, pp. 1362–1372, 1993.</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[14] M. P. Hassell, H. N. Comins, and R. M. May, "Spatial structure and chaos in insect population dynamics," Nature, vol. 353, pp. 255–258, 1991.</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[15] B. T. Grenfell, O. N. Bjørnstad, and J. Kappey, "Travelling waves and spatial hierarchies in measles epidemics," Nature, vol. 414, pp. 716–723, 2001.</a:t>
            </a:r>
            <a:endParaRPr sz="900">
              <a:solidFill>
                <a:schemeClr val="dk1"/>
              </a:solidFill>
              <a:latin typeface="Calibri"/>
              <a:ea typeface="Calibri"/>
              <a:cs typeface="Calibri"/>
              <a:sym typeface="Calibri"/>
            </a:endParaRPr>
          </a:p>
        </p:txBody>
      </p:sp>
      <p:sp>
        <p:nvSpPr>
          <p:cNvPr id="566" name="Google Shape;566;p27"/>
          <p:cNvSpPr/>
          <p:nvPr/>
        </p:nvSpPr>
        <p:spPr>
          <a:xfrm>
            <a:off x="320040" y="4892040"/>
            <a:ext cx="8503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800"/>
              <a:buFont typeface="Calibri"/>
              <a:buNone/>
            </a:pPr>
            <a:r>
              <a:rPr lang="en-US" sz="800">
                <a:solidFill>
                  <a:srgbClr val="A0AEC0"/>
                </a:solidFill>
                <a:latin typeface="Calibri"/>
                <a:ea typeface="Calibri"/>
                <a:cs typeface="Calibri"/>
                <a:sym typeface="Calibri"/>
              </a:rPr>
              <a:t>Dr. Naomi Shpigel  ·  Introduction to Ecological Modeling  ·  Lec 5 — Game of Life</a:t>
            </a:r>
            <a:endParaRPr sz="800">
              <a:solidFill>
                <a:schemeClr val="dk1"/>
              </a:solidFill>
              <a:latin typeface="Calibri"/>
              <a:ea typeface="Calibri"/>
              <a:cs typeface="Calibri"/>
              <a:sym typeface="Calibri"/>
            </a:endParaRPr>
          </a:p>
        </p:txBody>
      </p:sp>
      <p:sp>
        <p:nvSpPr>
          <p:cNvPr id="567" name="Google Shape;567;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572" name="Shape 572"/>
        <p:cNvGrpSpPr/>
        <p:nvPr/>
      </p:nvGrpSpPr>
      <p:grpSpPr>
        <a:xfrm>
          <a:off x="0" y="0"/>
          <a:ext cx="0" cy="0"/>
          <a:chOff x="0" y="0"/>
          <a:chExt cx="0" cy="0"/>
        </a:xfrm>
      </p:grpSpPr>
      <p:sp>
        <p:nvSpPr>
          <p:cNvPr id="573" name="Google Shape;573;p28"/>
          <p:cNvSpPr/>
          <p:nvPr/>
        </p:nvSpPr>
        <p:spPr>
          <a:xfrm>
            <a:off x="0" y="0"/>
            <a:ext cx="109728" cy="5143500"/>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8"/>
          <p:cNvSpPr/>
          <p:nvPr/>
        </p:nvSpPr>
        <p:spPr>
          <a:xfrm>
            <a:off x="320040" y="201168"/>
            <a:ext cx="8503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29"/>
              </a:buClr>
              <a:buSzPts val="2200"/>
              <a:buFont typeface="Calibri"/>
              <a:buNone/>
            </a:pPr>
            <a:r>
              <a:rPr b="1" lang="en-US" sz="2200">
                <a:solidFill>
                  <a:srgbClr val="1E2329"/>
                </a:solidFill>
                <a:latin typeface="Calibri"/>
                <a:ea typeface="Calibri"/>
                <a:cs typeface="Calibri"/>
                <a:sym typeface="Calibri"/>
              </a:rPr>
              <a:t>References (cont.)</a:t>
            </a:r>
            <a:endParaRPr sz="2200">
              <a:solidFill>
                <a:schemeClr val="dk1"/>
              </a:solidFill>
              <a:latin typeface="Calibri"/>
              <a:ea typeface="Calibri"/>
              <a:cs typeface="Calibri"/>
              <a:sym typeface="Calibri"/>
            </a:endParaRPr>
          </a:p>
        </p:txBody>
      </p:sp>
      <p:sp>
        <p:nvSpPr>
          <p:cNvPr id="575" name="Google Shape;575;p28"/>
          <p:cNvSpPr/>
          <p:nvPr/>
        </p:nvSpPr>
        <p:spPr>
          <a:xfrm>
            <a:off x="320040" y="758952"/>
            <a:ext cx="8503920" cy="27432"/>
          </a:xfrm>
          <a:prstGeom prst="rect">
            <a:avLst/>
          </a:prstGeom>
          <a:solidFill>
            <a:srgbClr val="7B68C8"/>
          </a:solidFill>
          <a:ln cap="flat" cmpd="sng" w="12700">
            <a:solidFill>
              <a:srgbClr val="7B68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8"/>
          <p:cNvSpPr/>
          <p:nvPr/>
        </p:nvSpPr>
        <p:spPr>
          <a:xfrm>
            <a:off x="365760" y="868680"/>
            <a:ext cx="84582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[16] C. A. Klausmeier, "Regular and irregular patterns in semiarid vegetation," Science, vol. 284, no. 5421, pp. 1826–1828, 1999.</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[17] M. Rietkerk and J. van de Koppel, "Regular pattern formation in real ecosystems," Trends in Ecology &amp; Evolution, vol. 23, no. 3, pp. 169–175, 2008.</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[18] R. Durrett and S. Levin, "The importance of being discrete (and spatial)," Theoretical Population Biology, vol. 46, no. 3, pp. 363–394, 1994.</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[19] M. Begon, C. R. Townsend, and J. L. Harper, Ecology: From Individuals to Ecosystems, 4th ed., Blackwell, 2006.</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[20] J. D. Murray, Mathematical Biology I: An Introduction, 3rd ed., Springer, 2002.</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[21] J. D. Murray, Mathematical Biology II: Spatial Models and Biomedical Applications, 3rd ed., Springer, 2003.</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[22] A. Okubo and S. A. Levin, Diffusion and Ecological Problems: Modern Perspectives, 2nd ed., Springer, 2001.</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[23] M. Droz, A. Pękalski, and K. Sznajd-Weron, "Phase transitions in cellular automata models," Physical Review E, vol. 91, no. 2, pp. 022705, 2015.</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[24] G. Ermentrout and L. Edelstein-Keshet, "Cellular automata approaches to biological modeling," J. Theoretical Biology, vol. 160, no. 1, pp. 97–133, 1993.</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[25] M. A. Nowak, Evolutionary Dynamics: Exploring the Equations of Life, Harvard University Press, 2006.</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[26] R. Sole and J. Bascompte, Self-Organization in Complex Ecosystems, Princeton University Press, 2006.</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[27] C. Langton, "Computation at the edge of chaos," Physica D, vol. 42, pp. 12–37, 1990.</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[28] S. Kauffman, The Origins of Order: Self-Organization and Selection in Evolution, Oxford University Press, 1993.</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[29] P. Bak, C. Tang, and K. Wiesenfeld, "Self-organized criticality," Physical Review A, vol. 38, no. 1, pp. 364–374, 1988.</a:t>
            </a:r>
            <a:endParaRPr sz="900">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00"/>
              <a:buFont typeface="Calibri"/>
              <a:buNone/>
            </a:pPr>
            <a:r>
              <a:rPr lang="en-US" sz="900">
                <a:solidFill>
                  <a:srgbClr val="4A5568"/>
                </a:solidFill>
                <a:latin typeface="Calibri"/>
                <a:ea typeface="Calibri"/>
                <a:cs typeface="Calibri"/>
                <a:sym typeface="Calibri"/>
              </a:rPr>
              <a:t>[30] M. Scheffer et al., "Early-warning signals for critical transitions," Nature, vol. 461, pp. 53–59, 2009.</a:t>
            </a:r>
            <a:endParaRPr sz="900">
              <a:solidFill>
                <a:schemeClr val="dk1"/>
              </a:solidFill>
              <a:latin typeface="Calibri"/>
              <a:ea typeface="Calibri"/>
              <a:cs typeface="Calibri"/>
              <a:sym typeface="Calibri"/>
            </a:endParaRPr>
          </a:p>
        </p:txBody>
      </p:sp>
      <p:sp>
        <p:nvSpPr>
          <p:cNvPr id="577" name="Google Shape;577;p28"/>
          <p:cNvSpPr/>
          <p:nvPr/>
        </p:nvSpPr>
        <p:spPr>
          <a:xfrm>
            <a:off x="320040" y="4892040"/>
            <a:ext cx="8503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AEC0"/>
              </a:buClr>
              <a:buSzPts val="800"/>
              <a:buFont typeface="Calibri"/>
              <a:buNone/>
            </a:pPr>
            <a:r>
              <a:rPr lang="en-US" sz="800">
                <a:solidFill>
                  <a:srgbClr val="A0AEC0"/>
                </a:solidFill>
                <a:latin typeface="Calibri"/>
                <a:ea typeface="Calibri"/>
                <a:cs typeface="Calibri"/>
                <a:sym typeface="Calibri"/>
              </a:rPr>
              <a:t>Dr. Naomi Shpigel  ·  Introduction to Ecological Modeling  ·  Lec 5 — Game of Life</a:t>
            </a:r>
            <a:endParaRPr sz="800">
              <a:solidFill>
                <a:schemeClr val="dk1"/>
              </a:solidFill>
              <a:latin typeface="Calibri"/>
              <a:ea typeface="Calibri"/>
              <a:cs typeface="Calibri"/>
              <a:sym typeface="Calibri"/>
            </a:endParaRPr>
          </a:p>
        </p:txBody>
      </p:sp>
      <p:sp>
        <p:nvSpPr>
          <p:cNvPr id="578" name="Google Shape;578;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2026-05-26T19:16:53Z</dcterms:created>
  <dc:creator>PptxGenJS</dc:creator>
</cp:coreProperties>
</file>