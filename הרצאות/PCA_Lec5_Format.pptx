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5143500" cx="9144000"/>
  <p:notesSz cx="5143500" cy="9144000"/>
  <p:embeddedFontLst>
    <p:embeddedFont>
      <p:font typeface="DM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gRMSg+GXUl3xorVpNsXD0+ZHrn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DMSans-regular.fntdata"/><Relationship Id="rId25" Type="http://schemas.openxmlformats.org/officeDocument/2006/relationships/slide" Target="slides/slide21.xml"/><Relationship Id="rId28" Type="http://schemas.openxmlformats.org/officeDocument/2006/relationships/font" Target="fonts/DMSans-italic.fntdata"/><Relationship Id="rId27" Type="http://schemas.openxmlformats.org/officeDocument/2006/relationships/font" Target="fonts/DMSa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DMSans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" name="Google Shape;3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" name="Google Shape;6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" name="Google Shape;156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" name="Google Shape;219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Google Shape;321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7" name="Google Shape;407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7" name="Google Shape;457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0" name="Google Shape;580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7" name="Google Shape;587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2" name="Google Shape;612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8" name="Google Shape;648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ibm.com/think/topics/principal-component-analysis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93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7772400" y="-274320"/>
            <a:ext cx="1645920" cy="1645920"/>
          </a:xfrm>
          <a:prstGeom prst="ellipse">
            <a:avLst/>
          </a:prstGeom>
          <a:solidFill>
            <a:srgbClr val="E8734A">
              <a:alpha val="60000"/>
            </a:srgbClr>
          </a:solidFill>
          <a:ln cap="flat" cmpd="sng" w="12700">
            <a:solidFill>
              <a:srgbClr val="E8734A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8412480" y="731520"/>
            <a:ext cx="1280160" cy="1280160"/>
          </a:xfrm>
          <a:prstGeom prst="ellipse">
            <a:avLst/>
          </a:prstGeom>
          <a:solidFill>
            <a:srgbClr val="4A9B8E">
              <a:alpha val="50196"/>
            </a:srgbClr>
          </a:solidFill>
          <a:ln cap="flat" cmpd="sng" w="12700">
            <a:solidFill>
              <a:srgbClr val="4A9B8E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7132320" y="822960"/>
            <a:ext cx="914400" cy="914400"/>
          </a:xfrm>
          <a:prstGeom prst="ellipse">
            <a:avLst/>
          </a:prstGeom>
          <a:solidFill>
            <a:srgbClr val="E05A5A">
              <a:alpha val="50196"/>
            </a:srgbClr>
          </a:solidFill>
          <a:ln cap="flat" cmpd="sng" w="12700">
            <a:solidFill>
              <a:srgbClr val="E05A5A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7589520" y="3474720"/>
            <a:ext cx="1463040" cy="1463040"/>
          </a:xfrm>
          <a:prstGeom prst="ellipse">
            <a:avLst/>
          </a:prstGeom>
          <a:solidFill>
            <a:srgbClr val="7C6FA0">
              <a:alpha val="40000"/>
            </a:srgbClr>
          </a:solidFill>
          <a:ln cap="flat" cmpd="sng" w="12700">
            <a:solidFill>
              <a:srgbClr val="7C6FA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8503920" y="3840480"/>
            <a:ext cx="1097280" cy="1097280"/>
          </a:xfrm>
          <a:prstGeom prst="ellipse">
            <a:avLst/>
          </a:prstGeom>
          <a:solidFill>
            <a:srgbClr val="4A9B8E">
              <a:alpha val="40000"/>
            </a:srgbClr>
          </a:solidFill>
          <a:ln cap="flat" cmpd="sng" w="12700">
            <a:solidFill>
              <a:srgbClr val="4A9B8E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45720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Introduction to Ecological Modeling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914400"/>
            <a:ext cx="685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Lec 5 — Series </a:t>
            </a: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- PCA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17830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Calibri"/>
              <a:buNone/>
            </a:pPr>
            <a:r>
              <a:rPr i="1" lang="en-US" sz="20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in Ecological Systems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2423160"/>
            <a:ext cx="4114800" cy="36576"/>
          </a:xfrm>
          <a:prstGeom prst="rect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257860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Spatial and temporal analysis·  Dimensionality Reduction  ·  Eigendecomposition  ·  Ecological Analysis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46634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Dr. Naomi Unkelos-Shpigel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A6E78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0" y="457200"/>
            <a:ext cx="9144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0"/>
              <a:buFont typeface="Calibri"/>
              <a:buNone/>
            </a:pPr>
            <a:r>
              <a:rPr b="1" lang="en-US" sz="18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0" y="429768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PCA?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"/>
          <p:cNvSpPr/>
          <p:nvPr/>
        </p:nvSpPr>
        <p:spPr>
          <a:xfrm>
            <a:off x="365760" y="256032"/>
            <a:ext cx="201168" cy="201168"/>
          </a:xfrm>
          <a:prstGeom prst="ellipse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658368" y="20116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Temporal analysis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Google Shape;3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376" y="1179575"/>
            <a:ext cx="7439782" cy="3320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2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/>
          <p:nvPr/>
        </p:nvSpPr>
        <p:spPr>
          <a:xfrm>
            <a:off x="365760" y="256032"/>
            <a:ext cx="201168" cy="201168"/>
          </a:xfrm>
          <a:prstGeom prst="ellipse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58368" y="20116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Principal Component Analysis (PCA)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PCA reduces the number of dimensions in large datasets while retaining most of the original information.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320040" y="1097280"/>
            <a:ext cx="2834640" cy="411480"/>
          </a:xfrm>
          <a:prstGeom prst="rect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320040" y="109728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20040" y="1508760"/>
            <a:ext cx="2834640" cy="3200400"/>
          </a:xfrm>
          <a:prstGeom prst="rect">
            <a:avLst/>
          </a:prstGeom>
          <a:solidFill>
            <a:srgbClr val="FAE5D3"/>
          </a:solidFill>
          <a:ln cap="flat" cmpd="sng" w="12700">
            <a:solidFill>
              <a:srgbClr val="FAE5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11480" y="1600200"/>
            <a:ext cx="265176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PCA transforms potentially correlated variables into a smaller set of uncorrelated variables called principal components.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Developed by Karl Pearson in 1901, it became widely used with the rise of computational power.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3246120" y="1097280"/>
            <a:ext cx="2834640" cy="411480"/>
          </a:xfrm>
          <a:prstGeom prst="rect">
            <a:avLst/>
          </a:prstGeom>
          <a:solidFill>
            <a:srgbClr val="4A9B6A"/>
          </a:solidFill>
          <a:ln cap="flat" cmpd="sng" w="12700">
            <a:solidFill>
              <a:srgbClr val="4A9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3246120" y="109728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Uses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3246120" y="1508760"/>
            <a:ext cx="2834640" cy="3200400"/>
          </a:xfrm>
          <a:prstGeom prst="rect">
            <a:avLst/>
          </a:prstGeom>
          <a:solidFill>
            <a:srgbClr val="D5EAE0"/>
          </a:solidFill>
          <a:ln cap="flat" cmpd="sng" w="12700">
            <a:solidFill>
              <a:srgbClr val="D5EA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3337560" y="1600200"/>
            <a:ext cx="265176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· Visualizing high-dimensional ecological datasets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· Detecting trends, patterns, and outliers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· Data preprocessing for machine learning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· Extracting the most informative features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172200" y="1097280"/>
            <a:ext cx="2834640" cy="411480"/>
          </a:xfrm>
          <a:prstGeom prst="rect">
            <a:avLst/>
          </a:prstGeom>
          <a:solidFill>
            <a:srgbClr val="4A7AB5"/>
          </a:solidFill>
          <a:ln cap="flat" cmpd="sng" w="12700">
            <a:solidFill>
              <a:srgbClr val="4A7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6172200" y="109728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It Matters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6172200" y="1508760"/>
            <a:ext cx="2834640" cy="3200400"/>
          </a:xfrm>
          <a:prstGeom prst="rect">
            <a:avLst/>
          </a:prstGeom>
          <a:solidFill>
            <a:srgbClr val="D3E4FA"/>
          </a:solidFill>
          <a:ln cap="flat" cmpd="sng" w="12700">
            <a:solidFill>
              <a:srgbClr val="D3E4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6263640" y="1600200"/>
            <a:ext cx="265176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Each new feature added to a model negatively impacts performance — the 'curse of dimensionality.'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PCA solves this by compressing information without losing key patterns.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2726987" y="4709160"/>
            <a:ext cx="4572000" cy="333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1A2D7A"/>
              </a:buClr>
              <a:buSzPts val="1100"/>
              <a:buFont typeface="DM Sans"/>
              <a:buNone/>
            </a:pPr>
            <a:r>
              <a:rPr b="0" i="0" lang="en-US" sz="1100" u="sng" cap="none" strike="noStrike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3"/>
              </a:rPr>
              <a:t>https://www.ibm.com/think/topics/principal-component-analysis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2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365760" y="256032"/>
            <a:ext cx="201168" cy="201168"/>
          </a:xfrm>
          <a:prstGeom prst="ellipse">
            <a:avLst/>
          </a:prstGeom>
          <a:solidFill>
            <a:srgbClr val="4A9B8E"/>
          </a:solidFill>
          <a:ln cap="flat" cmpd="sng" w="12700">
            <a:solidFill>
              <a:srgbClr val="4A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58368" y="20116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Understanding Principal Components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Each principal component captures a portion of variance in the data, ordered from most to least informative.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320040" y="1097280"/>
            <a:ext cx="4114800" cy="411480"/>
          </a:xfrm>
          <a:prstGeom prst="rect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320040" y="109728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First Principal Component (PC1)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320040" y="1508760"/>
            <a:ext cx="4114800" cy="1737360"/>
          </a:xfrm>
          <a:prstGeom prst="rect">
            <a:avLst/>
          </a:prstGeom>
          <a:solidFill>
            <a:srgbClr val="FAE5D3"/>
          </a:solidFill>
          <a:ln cap="flat" cmpd="sng" w="12700">
            <a:solidFill>
              <a:srgbClr val="FAE5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11480" y="1600200"/>
            <a:ext cx="39319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PC1 is the direction in space along which the data points have the highest variance.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It is the line that best represents the shape of the projected data.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The larger the variability in PC1, the more information is retained from the original dataset.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No other component can have higher variability.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709160" y="1097280"/>
            <a:ext cx="4114800" cy="411480"/>
          </a:xfrm>
          <a:prstGeom prst="rect">
            <a:avLst/>
          </a:prstGeom>
          <a:solidFill>
            <a:srgbClr val="4A7AB5"/>
          </a:solidFill>
          <a:ln cap="flat" cmpd="sng" w="12700">
            <a:solidFill>
              <a:srgbClr val="4A7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709160" y="109728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Second Principal Component (PC2)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709160" y="1508760"/>
            <a:ext cx="4114800" cy="1737360"/>
          </a:xfrm>
          <a:prstGeom prst="rect">
            <a:avLst/>
          </a:prstGeom>
          <a:solidFill>
            <a:srgbClr val="D3E4FA"/>
          </a:solidFill>
          <a:ln cap="flat" cmpd="sng" w="12700">
            <a:solidFill>
              <a:srgbClr val="D3E4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800600" y="1600200"/>
            <a:ext cx="39319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PC2 accounts for the next highest variance in the dataset.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Crucially, PC2 must be uncorrelated with PC1 — it is orthogonal (perpendicular) to PC1.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This means: correlation(PC1, PC2) = 0.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A scatterplot of PC1 vs. PC2 will always show perpendicular axes.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320040" y="3383280"/>
            <a:ext cx="8503920" cy="1417320"/>
          </a:xfrm>
          <a:prstGeom prst="rect">
            <a:avLst/>
          </a:prstGeom>
          <a:solidFill>
            <a:srgbClr val="D5EAE0"/>
          </a:solidFill>
          <a:ln cap="flat" cmpd="sng" w="12700">
            <a:solidFill>
              <a:srgbClr val="D5EA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320040" y="3383280"/>
            <a:ext cx="73152" cy="1417320"/>
          </a:xfrm>
          <a:prstGeom prst="rect">
            <a:avLst/>
          </a:prstGeom>
          <a:solidFill>
            <a:srgbClr val="4A9B6A"/>
          </a:solidFill>
          <a:ln cap="flat" cmpd="sng" w="12700">
            <a:solidFill>
              <a:srgbClr val="4A9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02920" y="345643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B6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4A9B6A"/>
                </a:solidFill>
                <a:latin typeface="Calibri"/>
                <a:ea typeface="Calibri"/>
                <a:cs typeface="Calibri"/>
                <a:sym typeface="Calibri"/>
              </a:rPr>
              <a:t>Key Property: Orthogonality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02920" y="3749040"/>
            <a:ext cx="40690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Each successive principal component explains the maximum possible remaining variance while being completely orthogonal to all previous components. This guarantees that principal components carry non-redundant information, making PCA ideal for ecological datasets where environmental variables are often correlated.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4286" y="3473417"/>
            <a:ext cx="1995613" cy="1237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B4E7D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/>
          <p:nvPr/>
        </p:nvSpPr>
        <p:spPr>
          <a:xfrm>
            <a:off x="0" y="457200"/>
            <a:ext cx="9144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0"/>
              <a:buFont typeface="Calibri"/>
              <a:buNone/>
            </a:pPr>
            <a:r>
              <a:rPr b="1" lang="en-US" sz="18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0" y="429768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PCA Workflow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/>
          <p:nvPr/>
        </p:nvSpPr>
        <p:spPr>
          <a:xfrm>
            <a:off x="365760" y="256032"/>
            <a:ext cx="201168" cy="201168"/>
          </a:xfrm>
          <a:prstGeom prst="ellipse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658368" y="20116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PCA in a nutshell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321944" y="470916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PCA workflow step by step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6982" y="1426723"/>
            <a:ext cx="4250056" cy="3066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2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"/>
          <p:cNvSpPr/>
          <p:nvPr/>
        </p:nvSpPr>
        <p:spPr>
          <a:xfrm>
            <a:off x="365760" y="256032"/>
            <a:ext cx="201168" cy="201168"/>
          </a:xfrm>
          <a:prstGeom prst="ellipse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658368" y="20116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Step 1: Standardize the Data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PCA is sensitive to the scale of variables — standardization is always the first step.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320040" y="1097280"/>
            <a:ext cx="4114800" cy="411480"/>
          </a:xfrm>
          <a:prstGeom prst="rect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320040" y="109728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Standardize?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320040" y="1508760"/>
            <a:ext cx="4114800" cy="3200400"/>
          </a:xfrm>
          <a:prstGeom prst="rect">
            <a:avLst/>
          </a:prstGeom>
          <a:solidFill>
            <a:srgbClr val="FAE5D3"/>
          </a:solidFill>
          <a:ln cap="flat" cmpd="sng" w="12700">
            <a:solidFill>
              <a:srgbClr val="FAE5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411480" y="1600200"/>
            <a:ext cx="393192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Variables with larger magnitudes would dominate the principal components if left unscaled.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For example: if one variable is measured in meters (0–5,000) and another as a proportion (0–1), PCA would treat the first as far more important.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Standardization transforms all features to have: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· Mean = 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· Standard deviation = 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This ensures equal contribution from each variable.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4709160" y="1097280"/>
            <a:ext cx="4114800" cy="411480"/>
          </a:xfrm>
          <a:prstGeom prst="rect">
            <a:avLst/>
          </a:prstGeom>
          <a:solidFill>
            <a:srgbClr val="4A7AB5"/>
          </a:solidFill>
          <a:ln cap="flat" cmpd="sng" w="12700">
            <a:solidFill>
              <a:srgbClr val="4A7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4709160" y="109728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Formula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4709160" y="1508760"/>
            <a:ext cx="4114800" cy="3200400"/>
          </a:xfrm>
          <a:prstGeom prst="rect">
            <a:avLst/>
          </a:prstGeom>
          <a:solidFill>
            <a:srgbClr val="D3E4FA"/>
          </a:solidFill>
          <a:ln cap="flat" cmpd="sng" w="12700">
            <a:solidFill>
              <a:srgbClr val="D3E4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5029200" y="1965960"/>
            <a:ext cx="3474720" cy="594360"/>
          </a:xfrm>
          <a:prstGeom prst="rect">
            <a:avLst/>
          </a:prstGeom>
          <a:solidFill>
            <a:srgbClr val="2C4A7A"/>
          </a:solidFill>
          <a:ln cap="flat" cmpd="sng" w="12700">
            <a:solidFill>
              <a:srgbClr val="2C4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5029200" y="196596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urier New"/>
              <a:buNone/>
            </a:pPr>
            <a:r>
              <a:rPr b="1" lang="en-US" sz="16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X_scaled = (X − μ) / σ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4800600" y="2651760"/>
            <a:ext cx="39319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Where: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X   = the original data matrix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μ   = mean of each feature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σ   = standard deviation of each feature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After standardization, the scaled data matrix X_scaled has: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· Each column with mean ≈ 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· Each column with std dev = 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In Python: sklearn.preprocessing.StandardScaler()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In R: scale(data)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2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"/>
          <p:cNvSpPr/>
          <p:nvPr/>
        </p:nvSpPr>
        <p:spPr>
          <a:xfrm>
            <a:off x="365760" y="256032"/>
            <a:ext cx="201168" cy="201168"/>
          </a:xfrm>
          <a:prstGeom prst="ellipse">
            <a:avLst/>
          </a:prstGeom>
          <a:solidFill>
            <a:srgbClr val="4A9B8E"/>
          </a:solidFill>
          <a:ln cap="flat" cmpd="sng" w="12700">
            <a:solidFill>
              <a:srgbClr val="4A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658368" y="20116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Step 2: Compute the Covariance Matrix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Covariance measures how much two features vary together — the foundation for finding principal components.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320040" y="1097280"/>
            <a:ext cx="4114800" cy="411480"/>
          </a:xfrm>
          <a:prstGeom prst="rect">
            <a:avLst/>
          </a:prstGeom>
          <a:solidFill>
            <a:srgbClr val="4A9B6A"/>
          </a:solidFill>
          <a:ln cap="flat" cmpd="sng" w="12700">
            <a:solidFill>
              <a:srgbClr val="4A9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320040" y="109728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Covariance?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320040" y="1508760"/>
            <a:ext cx="4114800" cy="3200400"/>
          </a:xfrm>
          <a:prstGeom prst="rect">
            <a:avLst/>
          </a:prstGeom>
          <a:solidFill>
            <a:srgbClr val="D5EAE0"/>
          </a:solidFill>
          <a:ln cap="flat" cmpd="sng" w="12700">
            <a:solidFill>
              <a:srgbClr val="D5EA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411480" y="1600200"/>
            <a:ext cx="393192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Covariance between two variables x and y: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· Positive: they increase together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· Negative: one increases as the other decreases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· Near zero: they are largely independent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The covariance matrix C is a square p×p matrix (where p = number of features).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It captures all pairwise relationships between variables.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In ecology: species abundance, temperature, and precipitation may all co-vary — the covariance matrix quantifies this structure.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4709160" y="1097280"/>
            <a:ext cx="4114800" cy="411480"/>
          </a:xfrm>
          <a:prstGeom prst="rect">
            <a:avLst/>
          </a:prstGeom>
          <a:solidFill>
            <a:srgbClr val="4A7AB5"/>
          </a:solidFill>
          <a:ln cap="flat" cmpd="sng" w="12700">
            <a:solidFill>
              <a:srgbClr val="4A7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4709160" y="109728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Formula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4709160" y="1508760"/>
            <a:ext cx="4114800" cy="3200400"/>
          </a:xfrm>
          <a:prstGeom prst="rect">
            <a:avLst/>
          </a:prstGeom>
          <a:solidFill>
            <a:srgbClr val="D3E4FA"/>
          </a:solidFill>
          <a:ln cap="flat" cmpd="sng" w="12700">
            <a:solidFill>
              <a:srgbClr val="D3E4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5029200" y="1828800"/>
            <a:ext cx="3474720" cy="594360"/>
          </a:xfrm>
          <a:prstGeom prst="rect">
            <a:avLst/>
          </a:prstGeom>
          <a:solidFill>
            <a:srgbClr val="2C4A7A"/>
          </a:solidFill>
          <a:ln cap="flat" cmpd="sng" w="12700">
            <a:solidFill>
              <a:srgbClr val="2C4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5029200" y="182880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 = (1/n) · X_scaledᵀ · X_scaled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800600" y="2514600"/>
            <a:ext cx="393192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For X_scaled with dimensions n × p: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C is a symmetric p×p matrix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Diagonal elements: variance of each feature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Off-diagonal: covariance between feature pairs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Key properties: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· Always symmetric: C = Cᵀ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· Positive semi-definite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· Diagonal values = variances ≥ 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In Python: np.cov(X_scaled.T)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In R: cov(X_scaled)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"/>
          <p:cNvSpPr/>
          <p:nvPr/>
        </p:nvSpPr>
        <p:spPr>
          <a:xfrm>
            <a:off x="365760" y="256032"/>
            <a:ext cx="201168" cy="201168"/>
          </a:xfrm>
          <a:prstGeom prst="ellipse">
            <a:avLst/>
          </a:prstGeom>
          <a:solidFill>
            <a:srgbClr val="7C6FA0"/>
          </a:solidFill>
          <a:ln cap="flat" cmpd="sng" w="12700">
            <a:solidFill>
              <a:srgbClr val="7C6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658368" y="20116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Step 3: Compute Eigenvalues &amp; Eigenvectors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Eigendecomposition finds the directions of maximum variance — the heart of PCA.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1828800" y="1051560"/>
            <a:ext cx="5486400" cy="685800"/>
          </a:xfrm>
          <a:prstGeom prst="rect">
            <a:avLst/>
          </a:prstGeom>
          <a:solidFill>
            <a:srgbClr val="2C2C5A"/>
          </a:solidFill>
          <a:ln cap="flat" cmpd="sng" w="12700">
            <a:solidFill>
              <a:srgbClr val="2C2C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1828800" y="1051560"/>
            <a:ext cx="548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ourier New"/>
              <a:buNone/>
            </a:pPr>
            <a:r>
              <a:rPr b="1" lang="en-US" sz="26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Cv = λv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0"/>
          <p:cNvSpPr/>
          <p:nvPr/>
        </p:nvSpPr>
        <p:spPr>
          <a:xfrm>
            <a:off x="320040" y="1920240"/>
            <a:ext cx="2834640" cy="365760"/>
          </a:xfrm>
          <a:prstGeom prst="rect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0"/>
          <p:cNvSpPr/>
          <p:nvPr/>
        </p:nvSpPr>
        <p:spPr>
          <a:xfrm>
            <a:off x="320040" y="192024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Eigenvectors (v)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320040" y="2286000"/>
            <a:ext cx="2834640" cy="2514600"/>
          </a:xfrm>
          <a:prstGeom prst="rect">
            <a:avLst/>
          </a:prstGeom>
          <a:solidFill>
            <a:srgbClr val="FAE5D3"/>
          </a:solidFill>
          <a:ln cap="flat" cmpd="sng" w="12700">
            <a:solidFill>
              <a:srgbClr val="FAE5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411480" y="2377440"/>
            <a:ext cx="265176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Represent the directions of the principal components.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Each eigenvector defines an axis in the transformed space.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They are orthogonal to each other — guaranteeing uncorrelated components.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The eigenvectors are the 'new axes' onto which data is projected.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3246120" y="1920240"/>
            <a:ext cx="2834640" cy="365760"/>
          </a:xfrm>
          <a:prstGeom prst="rect">
            <a:avLst/>
          </a:prstGeom>
          <a:solidFill>
            <a:srgbClr val="4A9B6A"/>
          </a:solidFill>
          <a:ln cap="flat" cmpd="sng" w="12700">
            <a:solidFill>
              <a:srgbClr val="4A9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3246120" y="192024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Eigenvalues (λ)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3246120" y="2286000"/>
            <a:ext cx="2834640" cy="2514600"/>
          </a:xfrm>
          <a:prstGeom prst="rect">
            <a:avLst/>
          </a:prstGeom>
          <a:solidFill>
            <a:srgbClr val="D5EAE0"/>
          </a:solidFill>
          <a:ln cap="flat" cmpd="sng" w="12700">
            <a:solidFill>
              <a:srgbClr val="D5EA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3337560" y="2377440"/>
            <a:ext cx="265176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Measure the amount of variance captured by each eigenvector.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Larger eigenvalue = more variance explained = more information.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Sorted in descending order: PC1 has the largest eigenvalue.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Used to calculate the proportion of variance explained by each component.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6172200" y="1920240"/>
            <a:ext cx="2834640" cy="365760"/>
          </a:xfrm>
          <a:prstGeom prst="rect">
            <a:avLst/>
          </a:prstGeom>
          <a:solidFill>
            <a:srgbClr val="7C6FA0"/>
          </a:solidFill>
          <a:ln cap="flat" cmpd="sng" w="12700">
            <a:solidFill>
              <a:srgbClr val="7C6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6172200" y="192024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Selection Rule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6172200" y="2286000"/>
            <a:ext cx="2834640" cy="2514600"/>
          </a:xfrm>
          <a:prstGeom prst="rect">
            <a:avLst/>
          </a:prstGeom>
          <a:solidFill>
            <a:srgbClr val="E8D5FA"/>
          </a:solidFill>
          <a:ln cap="flat" cmpd="sng" w="12700">
            <a:solidFill>
              <a:srgbClr val="E8D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6263640" y="2377440"/>
            <a:ext cx="265176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After sorting eigenvalues, select the top k eigenvectors.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Common rules: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· Keep components explaining &gt;80% cumulative variance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· Kaiser rule: keep eigenvalues &gt;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· Scree plot: look for the 'elbow'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This reduces p dimensions to k dimensions.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2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"/>
          <p:cNvSpPr/>
          <p:nvPr/>
        </p:nvSpPr>
        <p:spPr>
          <a:xfrm>
            <a:off x="365760" y="256032"/>
            <a:ext cx="201168" cy="201168"/>
          </a:xfrm>
          <a:prstGeom prst="ellipse">
            <a:avLst/>
          </a:prstGeom>
          <a:solidFill>
            <a:srgbClr val="E05A5A"/>
          </a:solidFill>
          <a:ln cap="flat" cmpd="sng" w="12700">
            <a:solidFill>
              <a:srgbClr val="E0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658368" y="20116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Steps 4 &amp; 5: Select Components &amp; Project Data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1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The final steps complete the dimensionality reduction by selecting and applying the principal components.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1"/>
          <p:cNvSpPr/>
          <p:nvPr/>
        </p:nvSpPr>
        <p:spPr>
          <a:xfrm>
            <a:off x="320040" y="1097280"/>
            <a:ext cx="4114800" cy="411480"/>
          </a:xfrm>
          <a:prstGeom prst="rect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320040" y="109728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4: Select Top k Components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320040" y="1508760"/>
            <a:ext cx="4114800" cy="3200400"/>
          </a:xfrm>
          <a:prstGeom prst="rect">
            <a:avLst/>
          </a:prstGeom>
          <a:solidFill>
            <a:srgbClr val="FAE5D3"/>
          </a:solidFill>
          <a:ln cap="flat" cmpd="sng" w="12700">
            <a:solidFill>
              <a:srgbClr val="FAE5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411480" y="1600200"/>
            <a:ext cx="393192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Rank all eigenvalues in descending order.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Choose the top k eigenvectors that together capture sufficient variance (typically 80–95%).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How to decide k: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· Cumulative variance plot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· Scree plot — look for the 'elbow'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· Kaiser criterion: eigenvalue &gt; 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Example: In a 15-variable ecological dataset, the first 3 PCs might explain 85% of variance — reducing 15 dimensions to 3.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4709160" y="1097280"/>
            <a:ext cx="4114800" cy="411480"/>
          </a:xfrm>
          <a:prstGeom prst="rect">
            <a:avLst/>
          </a:prstGeom>
          <a:solidFill>
            <a:srgbClr val="4A7AB5"/>
          </a:solidFill>
          <a:ln cap="flat" cmpd="sng" w="12700">
            <a:solidFill>
              <a:srgbClr val="4A7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4709160" y="109728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5: Project the Data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4709160" y="1508760"/>
            <a:ext cx="4114800" cy="3200400"/>
          </a:xfrm>
          <a:prstGeom prst="rect">
            <a:avLst/>
          </a:prstGeom>
          <a:solidFill>
            <a:srgbClr val="D3E4FA"/>
          </a:solidFill>
          <a:ln cap="flat" cmpd="sng" w="12700">
            <a:solidFill>
              <a:srgbClr val="D3E4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5029200" y="1828800"/>
            <a:ext cx="3474720" cy="594360"/>
          </a:xfrm>
          <a:prstGeom prst="rect">
            <a:avLst/>
          </a:prstGeom>
          <a:solidFill>
            <a:srgbClr val="2C4A7A"/>
          </a:solidFill>
          <a:ln cap="flat" cmpd="sng" w="12700">
            <a:solidFill>
              <a:srgbClr val="2C4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5029200" y="182880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1" lang="en-US" sz="1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Z = X_scaled · W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800600" y="2514600"/>
            <a:ext cx="393192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Where W is the matrix of top k eigenvectors.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Z is the reduced dataset: n rows × k columns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This new representation: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· Has k &lt;&lt; p dimensions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· Preserves most of the variance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· Removes redundant correlations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In Python: pca = PCA(n_components=k)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                 Z = pca.fit_transform(X_scaled)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In R: prcomp(X_scaled, scale=TRUE)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2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"/>
          <p:cNvSpPr/>
          <p:nvPr/>
        </p:nvSpPr>
        <p:spPr>
          <a:xfrm>
            <a:off x="365760" y="256032"/>
            <a:ext cx="201168" cy="201168"/>
          </a:xfrm>
          <a:prstGeom prst="ellipse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2"/>
          <p:cNvSpPr/>
          <p:nvPr/>
        </p:nvSpPr>
        <p:spPr>
          <a:xfrm>
            <a:off x="658368" y="20116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PCA Workflow Summary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2"/>
          <p:cNvSpPr/>
          <p:nvPr/>
        </p:nvSpPr>
        <p:spPr>
          <a:xfrm>
            <a:off x="822960" y="685800"/>
            <a:ext cx="640080" cy="640080"/>
          </a:xfrm>
          <a:prstGeom prst="ellipse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2"/>
          <p:cNvSpPr/>
          <p:nvPr/>
        </p:nvSpPr>
        <p:spPr>
          <a:xfrm>
            <a:off x="822960" y="6858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2"/>
          <p:cNvSpPr/>
          <p:nvPr/>
        </p:nvSpPr>
        <p:spPr>
          <a:xfrm>
            <a:off x="1828800" y="960120"/>
            <a:ext cx="530352" cy="73152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320040" y="1463040"/>
            <a:ext cx="1627632" cy="347472"/>
          </a:xfrm>
          <a:prstGeom prst="rect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2"/>
          <p:cNvSpPr/>
          <p:nvPr/>
        </p:nvSpPr>
        <p:spPr>
          <a:xfrm>
            <a:off x="320040" y="1463040"/>
            <a:ext cx="16276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Standardize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2"/>
          <p:cNvSpPr/>
          <p:nvPr/>
        </p:nvSpPr>
        <p:spPr>
          <a:xfrm>
            <a:off x="320040" y="1810512"/>
            <a:ext cx="1627632" cy="1280160"/>
          </a:xfrm>
          <a:prstGeom prst="rect">
            <a:avLst/>
          </a:prstGeom>
          <a:solidFill>
            <a:srgbClr val="FAE5D3"/>
          </a:solidFill>
          <a:ln cap="flat" cmpd="sng" w="12700">
            <a:solidFill>
              <a:srgbClr val="FAE5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2"/>
          <p:cNvSpPr/>
          <p:nvPr/>
        </p:nvSpPr>
        <p:spPr>
          <a:xfrm>
            <a:off x="393192" y="1901952"/>
            <a:ext cx="1463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Center mean to 0, scale variance to 1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2"/>
          <p:cNvSpPr/>
          <p:nvPr/>
        </p:nvSpPr>
        <p:spPr>
          <a:xfrm>
            <a:off x="2542032" y="685800"/>
            <a:ext cx="640080" cy="640080"/>
          </a:xfrm>
          <a:prstGeom prst="ellipse">
            <a:avLst/>
          </a:prstGeom>
          <a:solidFill>
            <a:srgbClr val="4A9B6A"/>
          </a:solidFill>
          <a:ln cap="flat" cmpd="sng" w="12700">
            <a:solidFill>
              <a:srgbClr val="4A9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2"/>
          <p:cNvSpPr/>
          <p:nvPr/>
        </p:nvSpPr>
        <p:spPr>
          <a:xfrm>
            <a:off x="2542032" y="6858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3547872" y="960120"/>
            <a:ext cx="530352" cy="73152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2039112" y="1463040"/>
            <a:ext cx="1627632" cy="347472"/>
          </a:xfrm>
          <a:prstGeom prst="rect">
            <a:avLst/>
          </a:prstGeom>
          <a:solidFill>
            <a:srgbClr val="4A9B6A"/>
          </a:solidFill>
          <a:ln cap="flat" cmpd="sng" w="12700">
            <a:solidFill>
              <a:srgbClr val="4A9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2"/>
          <p:cNvSpPr/>
          <p:nvPr/>
        </p:nvSpPr>
        <p:spPr>
          <a:xfrm>
            <a:off x="2039112" y="1463040"/>
            <a:ext cx="16276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Covariance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Matrix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2"/>
          <p:cNvSpPr/>
          <p:nvPr/>
        </p:nvSpPr>
        <p:spPr>
          <a:xfrm>
            <a:off x="2039112" y="1810512"/>
            <a:ext cx="1627632" cy="1280160"/>
          </a:xfrm>
          <a:prstGeom prst="rect">
            <a:avLst/>
          </a:prstGeom>
          <a:solidFill>
            <a:srgbClr val="D5EAE0"/>
          </a:solidFill>
          <a:ln cap="flat" cmpd="sng" w="12700">
            <a:solidFill>
              <a:srgbClr val="D5EA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2"/>
          <p:cNvSpPr/>
          <p:nvPr/>
        </p:nvSpPr>
        <p:spPr>
          <a:xfrm>
            <a:off x="2112264" y="1901952"/>
            <a:ext cx="1463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Compute pairwise feature relationships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4261104" y="685800"/>
            <a:ext cx="640080" cy="640080"/>
          </a:xfrm>
          <a:prstGeom prst="ellipse">
            <a:avLst/>
          </a:prstGeom>
          <a:solidFill>
            <a:srgbClr val="4A7AB5"/>
          </a:solidFill>
          <a:ln cap="flat" cmpd="sng" w="12700">
            <a:solidFill>
              <a:srgbClr val="4A7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4261104" y="6858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2"/>
          <p:cNvSpPr/>
          <p:nvPr/>
        </p:nvSpPr>
        <p:spPr>
          <a:xfrm>
            <a:off x="5266944" y="960120"/>
            <a:ext cx="530352" cy="73152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2"/>
          <p:cNvSpPr/>
          <p:nvPr/>
        </p:nvSpPr>
        <p:spPr>
          <a:xfrm>
            <a:off x="3758184" y="1463040"/>
            <a:ext cx="1627632" cy="347472"/>
          </a:xfrm>
          <a:prstGeom prst="rect">
            <a:avLst/>
          </a:prstGeom>
          <a:solidFill>
            <a:srgbClr val="4A7AB5"/>
          </a:solidFill>
          <a:ln cap="flat" cmpd="sng" w="12700">
            <a:solidFill>
              <a:srgbClr val="4A7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3758184" y="1463040"/>
            <a:ext cx="16276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Eigen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Decomposition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3758184" y="1810512"/>
            <a:ext cx="1627632" cy="1280160"/>
          </a:xfrm>
          <a:prstGeom prst="rect">
            <a:avLst/>
          </a:prstGeom>
          <a:solidFill>
            <a:srgbClr val="D3E4FA"/>
          </a:solidFill>
          <a:ln cap="flat" cmpd="sng" w="12700">
            <a:solidFill>
              <a:srgbClr val="D3E4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3831336" y="1901952"/>
            <a:ext cx="1463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Find eigenvectors and eigenvalues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5980176" y="685800"/>
            <a:ext cx="640080" cy="640080"/>
          </a:xfrm>
          <a:prstGeom prst="ellipse">
            <a:avLst/>
          </a:prstGeom>
          <a:solidFill>
            <a:srgbClr val="7C6FA0"/>
          </a:solidFill>
          <a:ln cap="flat" cmpd="sng" w="12700">
            <a:solidFill>
              <a:srgbClr val="7C6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5980176" y="6858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6986016" y="960120"/>
            <a:ext cx="530352" cy="73152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5477256" y="1463040"/>
            <a:ext cx="1627632" cy="347472"/>
          </a:xfrm>
          <a:prstGeom prst="rect">
            <a:avLst/>
          </a:prstGeom>
          <a:solidFill>
            <a:srgbClr val="7C6FA0"/>
          </a:solidFill>
          <a:ln cap="flat" cmpd="sng" w="12700">
            <a:solidFill>
              <a:srgbClr val="7C6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5477256" y="1463040"/>
            <a:ext cx="16276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Components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5477256" y="1810512"/>
            <a:ext cx="1627632" cy="1280160"/>
          </a:xfrm>
          <a:prstGeom prst="rect">
            <a:avLst/>
          </a:prstGeom>
          <a:solidFill>
            <a:srgbClr val="E8D5FA"/>
          </a:solidFill>
          <a:ln cap="flat" cmpd="sng" w="12700">
            <a:solidFill>
              <a:srgbClr val="E8D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5550408" y="1901952"/>
            <a:ext cx="1463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Keep top k components by variance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7699248" y="685800"/>
            <a:ext cx="640080" cy="640080"/>
          </a:xfrm>
          <a:prstGeom prst="ellipse">
            <a:avLst/>
          </a:prstGeom>
          <a:solidFill>
            <a:srgbClr val="C0562A"/>
          </a:solidFill>
          <a:ln cap="flat" cmpd="sng" w="12700">
            <a:solidFill>
              <a:srgbClr val="C056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7699248" y="6858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7196328" y="1463040"/>
            <a:ext cx="1627632" cy="347472"/>
          </a:xfrm>
          <a:prstGeom prst="rect">
            <a:avLst/>
          </a:prstGeom>
          <a:solidFill>
            <a:srgbClr val="C0562A"/>
          </a:solidFill>
          <a:ln cap="flat" cmpd="sng" w="12700">
            <a:solidFill>
              <a:srgbClr val="C056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7196328" y="1463040"/>
            <a:ext cx="16276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7196328" y="1810512"/>
            <a:ext cx="1627632" cy="1280160"/>
          </a:xfrm>
          <a:prstGeom prst="rect">
            <a:avLst/>
          </a:prstGeom>
          <a:solidFill>
            <a:srgbClr val="FAD5C3"/>
          </a:solidFill>
          <a:ln cap="flat" cmpd="sng" w="12700">
            <a:solidFill>
              <a:srgbClr val="FAD5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7269480" y="1901952"/>
            <a:ext cx="1463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Transform to reduced k-dimensional space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320040" y="3246120"/>
            <a:ext cx="8503920" cy="1554480"/>
          </a:xfrm>
          <a:prstGeom prst="rect">
            <a:avLst/>
          </a:prstGeom>
          <a:solidFill>
            <a:srgbClr val="2C2C3E"/>
          </a:solidFill>
          <a:ln cap="flat" cmpd="sng" w="12700">
            <a:solidFill>
              <a:srgbClr val="2C2C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320040" y="3246120"/>
            <a:ext cx="73152" cy="1554480"/>
          </a:xfrm>
          <a:prstGeom prst="rect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502920" y="331012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34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E8734A"/>
                </a:solidFill>
                <a:latin typeface="Calibri"/>
                <a:ea typeface="Calibri"/>
                <a:cs typeface="Calibri"/>
                <a:sym typeface="Calibri"/>
              </a:rPr>
              <a:t>Python Implementation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502920" y="361188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CCDDFF"/>
                </a:solidFill>
                <a:latin typeface="Courier New"/>
                <a:ea typeface="Courier New"/>
                <a:cs typeface="Courier New"/>
                <a:sym typeface="Courier New"/>
              </a:rPr>
              <a:t>from sklearn.preprocessing import StandardScaler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CCDDFF"/>
                </a:solidFill>
                <a:latin typeface="Courier New"/>
                <a:ea typeface="Courier New"/>
                <a:cs typeface="Courier New"/>
                <a:sym typeface="Courier New"/>
              </a:rPr>
              <a:t>from sklearn.decomposition import PCA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CCDDFF"/>
                </a:solidFill>
                <a:latin typeface="Courier New"/>
                <a:ea typeface="Courier New"/>
                <a:cs typeface="Courier New"/>
                <a:sym typeface="Courier New"/>
              </a:rPr>
              <a:t>scaler = StandardScaler()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CCDDFF"/>
                </a:solidFill>
                <a:latin typeface="Courier New"/>
                <a:ea typeface="Courier New"/>
                <a:cs typeface="Courier New"/>
                <a:sym typeface="Courier New"/>
              </a:rPr>
              <a:t>X_scaled = scaler.fit_transform(X)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CCDDFF"/>
                </a:solidFill>
                <a:latin typeface="Courier New"/>
                <a:ea typeface="Courier New"/>
                <a:cs typeface="Courier New"/>
                <a:sym typeface="Courier New"/>
              </a:rPr>
              <a:t>pca = PCA(n_components=0.85)   # keep 85% variance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CCDDFF"/>
                </a:solidFill>
                <a:latin typeface="Courier New"/>
                <a:ea typeface="Courier New"/>
                <a:cs typeface="Courier New"/>
                <a:sym typeface="Courier New"/>
              </a:rPr>
              <a:t>Z = pca.fit_transform(X_scaled)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0562A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3"/>
          <p:cNvSpPr/>
          <p:nvPr/>
        </p:nvSpPr>
        <p:spPr>
          <a:xfrm>
            <a:off x="0" y="457200"/>
            <a:ext cx="9144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0"/>
              <a:buFont typeface="Calibri"/>
              <a:buNone/>
            </a:pPr>
            <a:r>
              <a:rPr b="1" lang="en-US" sz="18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3"/>
          <p:cNvSpPr/>
          <p:nvPr/>
        </p:nvSpPr>
        <p:spPr>
          <a:xfrm>
            <a:off x="0" y="429768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PCA in Ecology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4"/>
          <p:cNvSpPr/>
          <p:nvPr/>
        </p:nvSpPr>
        <p:spPr>
          <a:xfrm>
            <a:off x="365760" y="256032"/>
            <a:ext cx="201168" cy="201168"/>
          </a:xfrm>
          <a:prstGeom prst="ellipse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4"/>
          <p:cNvSpPr/>
          <p:nvPr/>
        </p:nvSpPr>
        <p:spPr>
          <a:xfrm>
            <a:off x="658368" y="20116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Example 1: Community Composition in Forest Plots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4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50 forest plots × 12 tree species abundance → reduced to 2 principal components.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4"/>
          <p:cNvSpPr/>
          <p:nvPr/>
        </p:nvSpPr>
        <p:spPr>
          <a:xfrm>
            <a:off x="320040" y="1051560"/>
            <a:ext cx="4114800" cy="365760"/>
          </a:xfrm>
          <a:prstGeom prst="rect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4"/>
          <p:cNvSpPr/>
          <p:nvPr/>
        </p:nvSpPr>
        <p:spPr>
          <a:xfrm>
            <a:off x="320040" y="105156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Dataset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320040" y="1417320"/>
            <a:ext cx="4114800" cy="3383280"/>
          </a:xfrm>
          <a:prstGeom prst="rect">
            <a:avLst/>
          </a:prstGeom>
          <a:solidFill>
            <a:srgbClr val="FAE5D3"/>
          </a:solidFill>
          <a:ln cap="flat" cmpd="sng" w="12700">
            <a:solidFill>
              <a:srgbClr val="FAE5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411480" y="1508760"/>
            <a:ext cx="594360" cy="256032"/>
          </a:xfrm>
          <a:prstGeom prst="rect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411480" y="150876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Plot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4"/>
          <p:cNvSpPr/>
          <p:nvPr/>
        </p:nvSpPr>
        <p:spPr>
          <a:xfrm>
            <a:off x="1024128" y="1508760"/>
            <a:ext cx="475488" cy="256032"/>
          </a:xfrm>
          <a:prstGeom prst="rect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4"/>
          <p:cNvSpPr/>
          <p:nvPr/>
        </p:nvSpPr>
        <p:spPr>
          <a:xfrm>
            <a:off x="1024128" y="1508760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Oak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4"/>
          <p:cNvSpPr/>
          <p:nvPr/>
        </p:nvSpPr>
        <p:spPr>
          <a:xfrm>
            <a:off x="1517904" y="1508760"/>
            <a:ext cx="475488" cy="256032"/>
          </a:xfrm>
          <a:prstGeom prst="rect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4"/>
          <p:cNvSpPr/>
          <p:nvPr/>
        </p:nvSpPr>
        <p:spPr>
          <a:xfrm>
            <a:off x="1517904" y="1508760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Pine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4"/>
          <p:cNvSpPr/>
          <p:nvPr/>
        </p:nvSpPr>
        <p:spPr>
          <a:xfrm>
            <a:off x="2011680" y="1508760"/>
            <a:ext cx="475488" cy="256032"/>
          </a:xfrm>
          <a:prstGeom prst="rect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4"/>
          <p:cNvSpPr/>
          <p:nvPr/>
        </p:nvSpPr>
        <p:spPr>
          <a:xfrm>
            <a:off x="2011680" y="1508760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Beech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4"/>
          <p:cNvSpPr/>
          <p:nvPr/>
        </p:nvSpPr>
        <p:spPr>
          <a:xfrm>
            <a:off x="2505456" y="1508760"/>
            <a:ext cx="475488" cy="256032"/>
          </a:xfrm>
          <a:prstGeom prst="rect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4"/>
          <p:cNvSpPr/>
          <p:nvPr/>
        </p:nvSpPr>
        <p:spPr>
          <a:xfrm>
            <a:off x="2505456" y="1508760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Birch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2999232" y="1508760"/>
            <a:ext cx="384048" cy="256032"/>
          </a:xfrm>
          <a:prstGeom prst="rect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4"/>
          <p:cNvSpPr/>
          <p:nvPr/>
        </p:nvSpPr>
        <p:spPr>
          <a:xfrm>
            <a:off x="2999232" y="1508760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4"/>
          <p:cNvSpPr/>
          <p:nvPr/>
        </p:nvSpPr>
        <p:spPr>
          <a:xfrm>
            <a:off x="411480" y="1764792"/>
            <a:ext cx="594360" cy="246888"/>
          </a:xfrm>
          <a:prstGeom prst="rect">
            <a:avLst/>
          </a:prstGeom>
          <a:solidFill>
            <a:srgbClr val="FFF0E6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4"/>
          <p:cNvSpPr/>
          <p:nvPr/>
        </p:nvSpPr>
        <p:spPr>
          <a:xfrm>
            <a:off x="411480" y="1764792"/>
            <a:ext cx="5943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Plot 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4"/>
          <p:cNvSpPr/>
          <p:nvPr/>
        </p:nvSpPr>
        <p:spPr>
          <a:xfrm>
            <a:off x="1024128" y="1764792"/>
            <a:ext cx="475488" cy="246888"/>
          </a:xfrm>
          <a:prstGeom prst="rect">
            <a:avLst/>
          </a:prstGeom>
          <a:solidFill>
            <a:srgbClr val="FFF0E6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4"/>
          <p:cNvSpPr/>
          <p:nvPr/>
        </p:nvSpPr>
        <p:spPr>
          <a:xfrm>
            <a:off x="1024128" y="1764792"/>
            <a:ext cx="4754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4"/>
          <p:cNvSpPr/>
          <p:nvPr/>
        </p:nvSpPr>
        <p:spPr>
          <a:xfrm>
            <a:off x="1517904" y="1764792"/>
            <a:ext cx="475488" cy="246888"/>
          </a:xfrm>
          <a:prstGeom prst="rect">
            <a:avLst/>
          </a:prstGeom>
          <a:solidFill>
            <a:srgbClr val="FFF0E6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1517904" y="1764792"/>
            <a:ext cx="4754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2011680" y="1764792"/>
            <a:ext cx="475488" cy="246888"/>
          </a:xfrm>
          <a:prstGeom prst="rect">
            <a:avLst/>
          </a:prstGeom>
          <a:solidFill>
            <a:srgbClr val="FFF0E6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2011680" y="1764792"/>
            <a:ext cx="4754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2505456" y="1764792"/>
            <a:ext cx="475488" cy="246888"/>
          </a:xfrm>
          <a:prstGeom prst="rect">
            <a:avLst/>
          </a:prstGeom>
          <a:solidFill>
            <a:srgbClr val="FFF0E6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2505456" y="1764792"/>
            <a:ext cx="4754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4"/>
          <p:cNvSpPr/>
          <p:nvPr/>
        </p:nvSpPr>
        <p:spPr>
          <a:xfrm>
            <a:off x="2999232" y="1764792"/>
            <a:ext cx="384048" cy="246888"/>
          </a:xfrm>
          <a:prstGeom prst="rect">
            <a:avLst/>
          </a:prstGeom>
          <a:solidFill>
            <a:srgbClr val="FFF0E6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2999232" y="1764792"/>
            <a:ext cx="38404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411480" y="2020824"/>
            <a:ext cx="594360" cy="2468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4"/>
          <p:cNvSpPr/>
          <p:nvPr/>
        </p:nvSpPr>
        <p:spPr>
          <a:xfrm>
            <a:off x="411480" y="2020824"/>
            <a:ext cx="5943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Plot 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1024128" y="2020824"/>
            <a:ext cx="475488" cy="2468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1024128" y="2020824"/>
            <a:ext cx="4754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1517904" y="2020824"/>
            <a:ext cx="475488" cy="2468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1517904" y="2020824"/>
            <a:ext cx="4754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2011680" y="2020824"/>
            <a:ext cx="475488" cy="2468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2011680" y="2020824"/>
            <a:ext cx="4754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2505456" y="2020824"/>
            <a:ext cx="475488" cy="2468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4"/>
          <p:cNvSpPr/>
          <p:nvPr/>
        </p:nvSpPr>
        <p:spPr>
          <a:xfrm>
            <a:off x="2505456" y="2020824"/>
            <a:ext cx="4754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4"/>
          <p:cNvSpPr/>
          <p:nvPr/>
        </p:nvSpPr>
        <p:spPr>
          <a:xfrm>
            <a:off x="2999232" y="2020824"/>
            <a:ext cx="384048" cy="2468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2999232" y="2020824"/>
            <a:ext cx="38404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411480" y="2276856"/>
            <a:ext cx="594360" cy="246888"/>
          </a:xfrm>
          <a:prstGeom prst="rect">
            <a:avLst/>
          </a:prstGeom>
          <a:solidFill>
            <a:srgbClr val="FFF0E6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4"/>
          <p:cNvSpPr/>
          <p:nvPr/>
        </p:nvSpPr>
        <p:spPr>
          <a:xfrm>
            <a:off x="411480" y="2276856"/>
            <a:ext cx="5943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Plot 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4"/>
          <p:cNvSpPr/>
          <p:nvPr/>
        </p:nvSpPr>
        <p:spPr>
          <a:xfrm>
            <a:off x="1024128" y="2276856"/>
            <a:ext cx="475488" cy="246888"/>
          </a:xfrm>
          <a:prstGeom prst="rect">
            <a:avLst/>
          </a:prstGeom>
          <a:solidFill>
            <a:srgbClr val="FFF0E6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4"/>
          <p:cNvSpPr/>
          <p:nvPr/>
        </p:nvSpPr>
        <p:spPr>
          <a:xfrm>
            <a:off x="1024128" y="2276856"/>
            <a:ext cx="4754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4"/>
          <p:cNvSpPr/>
          <p:nvPr/>
        </p:nvSpPr>
        <p:spPr>
          <a:xfrm>
            <a:off x="1517904" y="2276856"/>
            <a:ext cx="475488" cy="246888"/>
          </a:xfrm>
          <a:prstGeom prst="rect">
            <a:avLst/>
          </a:prstGeom>
          <a:solidFill>
            <a:srgbClr val="FFF0E6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4"/>
          <p:cNvSpPr/>
          <p:nvPr/>
        </p:nvSpPr>
        <p:spPr>
          <a:xfrm>
            <a:off x="1517904" y="2276856"/>
            <a:ext cx="4754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41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4"/>
          <p:cNvSpPr/>
          <p:nvPr/>
        </p:nvSpPr>
        <p:spPr>
          <a:xfrm>
            <a:off x="2011680" y="2276856"/>
            <a:ext cx="475488" cy="246888"/>
          </a:xfrm>
          <a:prstGeom prst="rect">
            <a:avLst/>
          </a:prstGeom>
          <a:solidFill>
            <a:srgbClr val="FFF0E6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4"/>
          <p:cNvSpPr/>
          <p:nvPr/>
        </p:nvSpPr>
        <p:spPr>
          <a:xfrm>
            <a:off x="2011680" y="2276856"/>
            <a:ext cx="4754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4"/>
          <p:cNvSpPr/>
          <p:nvPr/>
        </p:nvSpPr>
        <p:spPr>
          <a:xfrm>
            <a:off x="2505456" y="2276856"/>
            <a:ext cx="475488" cy="246888"/>
          </a:xfrm>
          <a:prstGeom prst="rect">
            <a:avLst/>
          </a:prstGeom>
          <a:solidFill>
            <a:srgbClr val="FFF0E6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4"/>
          <p:cNvSpPr/>
          <p:nvPr/>
        </p:nvSpPr>
        <p:spPr>
          <a:xfrm>
            <a:off x="2505456" y="2276856"/>
            <a:ext cx="4754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4"/>
          <p:cNvSpPr/>
          <p:nvPr/>
        </p:nvSpPr>
        <p:spPr>
          <a:xfrm>
            <a:off x="2999232" y="2276856"/>
            <a:ext cx="384048" cy="246888"/>
          </a:xfrm>
          <a:prstGeom prst="rect">
            <a:avLst/>
          </a:prstGeom>
          <a:solidFill>
            <a:srgbClr val="FFF0E6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4"/>
          <p:cNvSpPr/>
          <p:nvPr/>
        </p:nvSpPr>
        <p:spPr>
          <a:xfrm>
            <a:off x="2999232" y="2276856"/>
            <a:ext cx="38404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411480" y="2532888"/>
            <a:ext cx="594360" cy="2468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411480" y="2532888"/>
            <a:ext cx="5943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Plot 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1024128" y="2532888"/>
            <a:ext cx="475488" cy="2468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1024128" y="2532888"/>
            <a:ext cx="4754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1517904" y="2532888"/>
            <a:ext cx="475488" cy="2468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1517904" y="2532888"/>
            <a:ext cx="4754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2011680" y="2532888"/>
            <a:ext cx="475488" cy="2468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4"/>
          <p:cNvSpPr/>
          <p:nvPr/>
        </p:nvSpPr>
        <p:spPr>
          <a:xfrm>
            <a:off x="2011680" y="2532888"/>
            <a:ext cx="4754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2505456" y="2532888"/>
            <a:ext cx="475488" cy="2468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2505456" y="2532888"/>
            <a:ext cx="4754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4"/>
          <p:cNvSpPr/>
          <p:nvPr/>
        </p:nvSpPr>
        <p:spPr>
          <a:xfrm>
            <a:off x="2999232" y="2532888"/>
            <a:ext cx="384048" cy="2468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2999232" y="2532888"/>
            <a:ext cx="38404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411480" y="2788920"/>
            <a:ext cx="594360" cy="246888"/>
          </a:xfrm>
          <a:prstGeom prst="rect">
            <a:avLst/>
          </a:prstGeom>
          <a:solidFill>
            <a:srgbClr val="FFF0E6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411480" y="2788920"/>
            <a:ext cx="5943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1024128" y="2788920"/>
            <a:ext cx="475488" cy="246888"/>
          </a:xfrm>
          <a:prstGeom prst="rect">
            <a:avLst/>
          </a:prstGeom>
          <a:solidFill>
            <a:srgbClr val="FFF0E6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1024128" y="2788920"/>
            <a:ext cx="4754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1517904" y="2788920"/>
            <a:ext cx="475488" cy="246888"/>
          </a:xfrm>
          <a:prstGeom prst="rect">
            <a:avLst/>
          </a:prstGeom>
          <a:solidFill>
            <a:srgbClr val="FFF0E6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1517904" y="2788920"/>
            <a:ext cx="4754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2011680" y="2788920"/>
            <a:ext cx="475488" cy="246888"/>
          </a:xfrm>
          <a:prstGeom prst="rect">
            <a:avLst/>
          </a:prstGeom>
          <a:solidFill>
            <a:srgbClr val="FFF0E6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2011680" y="2788920"/>
            <a:ext cx="4754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2505456" y="2788920"/>
            <a:ext cx="475488" cy="246888"/>
          </a:xfrm>
          <a:prstGeom prst="rect">
            <a:avLst/>
          </a:prstGeom>
          <a:solidFill>
            <a:srgbClr val="FFF0E6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2505456" y="2788920"/>
            <a:ext cx="4754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2999232" y="2788920"/>
            <a:ext cx="384048" cy="246888"/>
          </a:xfrm>
          <a:prstGeom prst="rect">
            <a:avLst/>
          </a:prstGeom>
          <a:solidFill>
            <a:srgbClr val="FFF0E6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2999232" y="2788920"/>
            <a:ext cx="38404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411480" y="3127248"/>
            <a:ext cx="39319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12 species variables, 50 plots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After standardization → covariance matrix → eigendecomposition: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PC1 explains 48% variance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PC2 explains 23% variance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Total: 71% with just 2 components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4709160" y="1051560"/>
            <a:ext cx="4114800" cy="365760"/>
          </a:xfrm>
          <a:prstGeom prst="rect">
            <a:avLst/>
          </a:prstGeom>
          <a:solidFill>
            <a:srgbClr val="4A9B6A"/>
          </a:solidFill>
          <a:ln cap="flat" cmpd="sng" w="12700">
            <a:solidFill>
              <a:srgbClr val="4A9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4709160" y="105156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Ecological Interpretation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4709160" y="1417320"/>
            <a:ext cx="4114800" cy="3383280"/>
          </a:xfrm>
          <a:prstGeom prst="rect">
            <a:avLst/>
          </a:prstGeom>
          <a:solidFill>
            <a:srgbClr val="D5EAE0"/>
          </a:solidFill>
          <a:ln cap="flat" cmpd="sng" w="12700">
            <a:solidFill>
              <a:srgbClr val="D5EA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4846320" y="1572768"/>
            <a:ext cx="3749040" cy="256032"/>
          </a:xfrm>
          <a:prstGeom prst="rect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4846320" y="157276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PC1 — Moisture Gradient (48%)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4846320" y="1847088"/>
            <a:ext cx="3749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High positive loadings: Oak, Beech (mesic species)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High negative loadings: Pine, Birch (xeric species)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Interpretation: PC1 separates dry vs. wet forest types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4846320" y="2606040"/>
            <a:ext cx="3749040" cy="256032"/>
          </a:xfrm>
          <a:prstGeom prst="rect">
            <a:avLst/>
          </a:prstGeom>
          <a:solidFill>
            <a:srgbClr val="4A7AB5"/>
          </a:solidFill>
          <a:ln cap="flat" cmpd="sng" w="12700">
            <a:solidFill>
              <a:srgbClr val="4A7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4846320" y="260604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PC2 — Disturbance Axis (23%)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4846320" y="2880360"/>
            <a:ext cx="3749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High positive loadings: Birch, Aspen (pioneer species)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High negative loadings: Beech, Spruce (late-successional)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Interpretation: PC2 captures disturbance history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4846320" y="3657600"/>
            <a:ext cx="3749040" cy="73152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4846320" y="3794760"/>
            <a:ext cx="3749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Result: Plotting PC1 vs PC2 reveals two distinct forest clusters — wet mature forest vs. dry disturbed forest — that were invisible in the raw 12-variable data.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5"/>
          <p:cNvSpPr/>
          <p:nvPr/>
        </p:nvSpPr>
        <p:spPr>
          <a:xfrm>
            <a:off x="365760" y="256032"/>
            <a:ext cx="201168" cy="201168"/>
          </a:xfrm>
          <a:prstGeom prst="ellipse">
            <a:avLst/>
          </a:prstGeom>
          <a:solidFill>
            <a:srgbClr val="4A9B8E"/>
          </a:solidFill>
          <a:ln cap="flat" cmpd="sng" w="12700">
            <a:solidFill>
              <a:srgbClr val="4A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5"/>
          <p:cNvSpPr/>
          <p:nvPr/>
        </p:nvSpPr>
        <p:spPr>
          <a:xfrm>
            <a:off x="658368" y="20116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Example 2: Environmental Gradient Analysis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5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8 correlated climate variables across 120 sites → 2 PCs explain 81% of variance.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5"/>
          <p:cNvSpPr/>
          <p:nvPr/>
        </p:nvSpPr>
        <p:spPr>
          <a:xfrm>
            <a:off x="320040" y="1051560"/>
            <a:ext cx="2743200" cy="365760"/>
          </a:xfrm>
          <a:prstGeom prst="rect">
            <a:avLst/>
          </a:prstGeom>
          <a:solidFill>
            <a:srgbClr val="4A7AB5"/>
          </a:solidFill>
          <a:ln cap="flat" cmpd="sng" w="12700">
            <a:solidFill>
              <a:srgbClr val="4A7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"/>
          <p:cNvSpPr/>
          <p:nvPr/>
        </p:nvSpPr>
        <p:spPr>
          <a:xfrm>
            <a:off x="320040" y="10515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 Variables (8)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320040" y="1417320"/>
            <a:ext cx="2743200" cy="3383280"/>
          </a:xfrm>
          <a:prstGeom prst="rect">
            <a:avLst/>
          </a:prstGeom>
          <a:solidFill>
            <a:srgbClr val="D3E4FA"/>
          </a:solidFill>
          <a:ln cap="flat" cmpd="sng" w="12700">
            <a:solidFill>
              <a:srgbClr val="D3E4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5"/>
          <p:cNvSpPr/>
          <p:nvPr/>
        </p:nvSpPr>
        <p:spPr>
          <a:xfrm>
            <a:off x="438912" y="1508760"/>
            <a:ext cx="118872" cy="118872"/>
          </a:xfrm>
          <a:prstGeom prst="ellipse">
            <a:avLst/>
          </a:prstGeom>
          <a:solidFill>
            <a:srgbClr val="4A7AB5"/>
          </a:solidFill>
          <a:ln cap="flat" cmpd="sng" w="12700">
            <a:solidFill>
              <a:srgbClr val="4A7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/>
          <p:nvPr/>
        </p:nvSpPr>
        <p:spPr>
          <a:xfrm>
            <a:off x="612648" y="1453896"/>
            <a:ext cx="2331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Mean Annual Temperature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5"/>
          <p:cNvSpPr/>
          <p:nvPr/>
        </p:nvSpPr>
        <p:spPr>
          <a:xfrm>
            <a:off x="438912" y="1901952"/>
            <a:ext cx="118872" cy="118872"/>
          </a:xfrm>
          <a:prstGeom prst="ellipse">
            <a:avLst/>
          </a:prstGeom>
          <a:solidFill>
            <a:srgbClr val="4A7AB5"/>
          </a:solidFill>
          <a:ln cap="flat" cmpd="sng" w="12700">
            <a:solidFill>
              <a:srgbClr val="4A7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5"/>
          <p:cNvSpPr/>
          <p:nvPr/>
        </p:nvSpPr>
        <p:spPr>
          <a:xfrm>
            <a:off x="612648" y="1847088"/>
            <a:ext cx="2331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Min Winter Temp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5"/>
          <p:cNvSpPr/>
          <p:nvPr/>
        </p:nvSpPr>
        <p:spPr>
          <a:xfrm>
            <a:off x="438912" y="2295144"/>
            <a:ext cx="118872" cy="118872"/>
          </a:xfrm>
          <a:prstGeom prst="ellipse">
            <a:avLst/>
          </a:prstGeom>
          <a:solidFill>
            <a:srgbClr val="4A7AB5"/>
          </a:solidFill>
          <a:ln cap="flat" cmpd="sng" w="12700">
            <a:solidFill>
              <a:srgbClr val="4A7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5"/>
          <p:cNvSpPr/>
          <p:nvPr/>
        </p:nvSpPr>
        <p:spPr>
          <a:xfrm>
            <a:off x="612648" y="2240280"/>
            <a:ext cx="2331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Max Summer Temp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438912" y="2688336"/>
            <a:ext cx="118872" cy="118872"/>
          </a:xfrm>
          <a:prstGeom prst="ellipse">
            <a:avLst/>
          </a:prstGeom>
          <a:solidFill>
            <a:srgbClr val="4A7AB5"/>
          </a:solidFill>
          <a:ln cap="flat" cmpd="sng" w="12700">
            <a:solidFill>
              <a:srgbClr val="4A7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612648" y="2633472"/>
            <a:ext cx="2331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Annual Precipitation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5"/>
          <p:cNvSpPr/>
          <p:nvPr/>
        </p:nvSpPr>
        <p:spPr>
          <a:xfrm>
            <a:off x="438912" y="3081528"/>
            <a:ext cx="118872" cy="118872"/>
          </a:xfrm>
          <a:prstGeom prst="ellipse">
            <a:avLst/>
          </a:prstGeom>
          <a:solidFill>
            <a:srgbClr val="4A7AB5"/>
          </a:solidFill>
          <a:ln cap="flat" cmpd="sng" w="12700">
            <a:solidFill>
              <a:srgbClr val="4A7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5"/>
          <p:cNvSpPr/>
          <p:nvPr/>
        </p:nvSpPr>
        <p:spPr>
          <a:xfrm>
            <a:off x="612648" y="3026664"/>
            <a:ext cx="2331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Summer Precipitation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438912" y="3474720"/>
            <a:ext cx="118872" cy="118872"/>
          </a:xfrm>
          <a:prstGeom prst="ellipse">
            <a:avLst/>
          </a:prstGeom>
          <a:solidFill>
            <a:srgbClr val="4A7AB5"/>
          </a:solidFill>
          <a:ln cap="flat" cmpd="sng" w="12700">
            <a:solidFill>
              <a:srgbClr val="4A7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5"/>
          <p:cNvSpPr/>
          <p:nvPr/>
        </p:nvSpPr>
        <p:spPr>
          <a:xfrm>
            <a:off x="612648" y="3419856"/>
            <a:ext cx="2331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Relative Humidity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5"/>
          <p:cNvSpPr/>
          <p:nvPr/>
        </p:nvSpPr>
        <p:spPr>
          <a:xfrm>
            <a:off x="438912" y="3867912"/>
            <a:ext cx="118872" cy="118872"/>
          </a:xfrm>
          <a:prstGeom prst="ellipse">
            <a:avLst/>
          </a:prstGeom>
          <a:solidFill>
            <a:srgbClr val="4A7AB5"/>
          </a:solidFill>
          <a:ln cap="flat" cmpd="sng" w="12700">
            <a:solidFill>
              <a:srgbClr val="4A7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5"/>
          <p:cNvSpPr/>
          <p:nvPr/>
        </p:nvSpPr>
        <p:spPr>
          <a:xfrm>
            <a:off x="612648" y="3813048"/>
            <a:ext cx="2331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Solar Radiation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438912" y="4261104"/>
            <a:ext cx="118872" cy="118872"/>
          </a:xfrm>
          <a:prstGeom prst="ellipse">
            <a:avLst/>
          </a:prstGeom>
          <a:solidFill>
            <a:srgbClr val="4A7AB5"/>
          </a:solidFill>
          <a:ln cap="flat" cmpd="sng" w="12700">
            <a:solidFill>
              <a:srgbClr val="4A7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5"/>
          <p:cNvSpPr/>
          <p:nvPr/>
        </p:nvSpPr>
        <p:spPr>
          <a:xfrm>
            <a:off x="612648" y="4206240"/>
            <a:ext cx="2331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Wind Speed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5"/>
          <p:cNvSpPr/>
          <p:nvPr/>
        </p:nvSpPr>
        <p:spPr>
          <a:xfrm>
            <a:off x="3246120" y="1051560"/>
            <a:ext cx="2834640" cy="365760"/>
          </a:xfrm>
          <a:prstGeom prst="rect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5"/>
          <p:cNvSpPr/>
          <p:nvPr/>
        </p:nvSpPr>
        <p:spPr>
          <a:xfrm>
            <a:off x="3246120" y="105156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PC Loadings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5"/>
          <p:cNvSpPr/>
          <p:nvPr/>
        </p:nvSpPr>
        <p:spPr>
          <a:xfrm>
            <a:off x="3246120" y="1417320"/>
            <a:ext cx="2834640" cy="3383280"/>
          </a:xfrm>
          <a:prstGeom prst="rect">
            <a:avLst/>
          </a:prstGeom>
          <a:solidFill>
            <a:srgbClr val="FAE5D3"/>
          </a:solidFill>
          <a:ln cap="flat" cmpd="sng" w="12700">
            <a:solidFill>
              <a:srgbClr val="FAE5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5"/>
          <p:cNvSpPr/>
          <p:nvPr/>
        </p:nvSpPr>
        <p:spPr>
          <a:xfrm>
            <a:off x="3337560" y="150876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34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E8734A"/>
                </a:solidFill>
                <a:latin typeface="Calibri"/>
                <a:ea typeface="Calibri"/>
                <a:cs typeface="Calibri"/>
                <a:sym typeface="Calibri"/>
              </a:rPr>
              <a:t>PC1 — Temperature Axis (53%)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3337560" y="182880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Mean Temp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5"/>
          <p:cNvSpPr/>
          <p:nvPr/>
        </p:nvSpPr>
        <p:spPr>
          <a:xfrm>
            <a:off x="4389120" y="1865376"/>
            <a:ext cx="1248156" cy="182880"/>
          </a:xfrm>
          <a:prstGeom prst="rect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5"/>
          <p:cNvSpPr/>
          <p:nvPr/>
        </p:nvSpPr>
        <p:spPr>
          <a:xfrm>
            <a:off x="5682996" y="1828800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0.91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3337560" y="2121408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Max Summer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4389120" y="2157984"/>
            <a:ext cx="1207008" cy="182880"/>
          </a:xfrm>
          <a:prstGeom prst="rect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5"/>
          <p:cNvSpPr/>
          <p:nvPr/>
        </p:nvSpPr>
        <p:spPr>
          <a:xfrm>
            <a:off x="5641848" y="2121408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0.88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3337560" y="241401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Min Winter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4389120" y="2450592"/>
            <a:ext cx="1165860" cy="182880"/>
          </a:xfrm>
          <a:prstGeom prst="rect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5600700" y="2414016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0.85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3337560" y="2706624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Humidity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4389120" y="2743200"/>
            <a:ext cx="850392" cy="182880"/>
          </a:xfrm>
          <a:prstGeom prst="rect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5285232" y="270662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0.62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3337560" y="2999232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Precip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4389120" y="3035808"/>
            <a:ext cx="562356" cy="182880"/>
          </a:xfrm>
          <a:prstGeom prst="rect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4997196" y="2999232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0.41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3337560" y="3355848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B5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4A7AB5"/>
                </a:solidFill>
                <a:latin typeface="Calibri"/>
                <a:ea typeface="Calibri"/>
                <a:cs typeface="Calibri"/>
                <a:sym typeface="Calibri"/>
              </a:rPr>
              <a:t>PC2 — Precipitation Axis (28%)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3337560" y="3675888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Annual Precip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5"/>
          <p:cNvSpPr/>
          <p:nvPr/>
        </p:nvSpPr>
        <p:spPr>
          <a:xfrm>
            <a:off x="4389120" y="3712464"/>
            <a:ext cx="1220724" cy="182880"/>
          </a:xfrm>
          <a:prstGeom prst="rect">
            <a:avLst/>
          </a:prstGeom>
          <a:solidFill>
            <a:srgbClr val="4A7AB5"/>
          </a:solidFill>
          <a:ln cap="flat" cmpd="sng" w="12700">
            <a:solidFill>
              <a:srgbClr val="4A7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5"/>
          <p:cNvSpPr/>
          <p:nvPr/>
        </p:nvSpPr>
        <p:spPr>
          <a:xfrm>
            <a:off x="5655564" y="3675888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0.89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3337560" y="396849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Summer Precip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4389120" y="4005072"/>
            <a:ext cx="1152144" cy="182880"/>
          </a:xfrm>
          <a:prstGeom prst="rect">
            <a:avLst/>
          </a:prstGeom>
          <a:solidFill>
            <a:srgbClr val="4A7AB5"/>
          </a:solidFill>
          <a:ln cap="flat" cmpd="sng" w="12700">
            <a:solidFill>
              <a:srgbClr val="4A7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5"/>
          <p:cNvSpPr/>
          <p:nvPr/>
        </p:nvSpPr>
        <p:spPr>
          <a:xfrm>
            <a:off x="5586984" y="3968496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0.84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5"/>
          <p:cNvSpPr/>
          <p:nvPr/>
        </p:nvSpPr>
        <p:spPr>
          <a:xfrm>
            <a:off x="3337560" y="4261104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Wind Speed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4389120" y="4297680"/>
            <a:ext cx="973836" cy="182880"/>
          </a:xfrm>
          <a:prstGeom prst="rect">
            <a:avLst/>
          </a:prstGeom>
          <a:solidFill>
            <a:srgbClr val="4A7AB5"/>
          </a:solidFill>
          <a:ln cap="flat" cmpd="sng" w="12700">
            <a:solidFill>
              <a:srgbClr val="4A7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5408676" y="4261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0.71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6263640" y="1051560"/>
            <a:ext cx="2560320" cy="365760"/>
          </a:xfrm>
          <a:prstGeom prst="rect">
            <a:avLst/>
          </a:prstGeom>
          <a:solidFill>
            <a:srgbClr val="4A9B6A"/>
          </a:solidFill>
          <a:ln cap="flat" cmpd="sng" w="12700">
            <a:solidFill>
              <a:srgbClr val="4A9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6263640" y="105156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6263640" y="1417320"/>
            <a:ext cx="2560320" cy="3383280"/>
          </a:xfrm>
          <a:prstGeom prst="rect">
            <a:avLst/>
          </a:prstGeom>
          <a:solidFill>
            <a:srgbClr val="D5EAE0"/>
          </a:solidFill>
          <a:ln cap="flat" cmpd="sng" w="12700">
            <a:solidFill>
              <a:srgbClr val="D5EA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6446520" y="1554480"/>
            <a:ext cx="219456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9" name="Google Shape;379;p15"/>
          <p:cNvCxnSpPr/>
          <p:nvPr/>
        </p:nvCxnSpPr>
        <p:spPr>
          <a:xfrm>
            <a:off x="6537960" y="2514600"/>
            <a:ext cx="2011680" cy="0"/>
          </a:xfrm>
          <a:prstGeom prst="straightConnector1">
            <a:avLst/>
          </a:prstGeom>
          <a:noFill/>
          <a:ln cap="flat" cmpd="sng" w="127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0" name="Google Shape;380;p15"/>
          <p:cNvCxnSpPr/>
          <p:nvPr/>
        </p:nvCxnSpPr>
        <p:spPr>
          <a:xfrm>
            <a:off x="7543800" y="1627632"/>
            <a:ext cx="0" cy="1828800"/>
          </a:xfrm>
          <a:prstGeom prst="straightConnector1">
            <a:avLst/>
          </a:prstGeom>
          <a:noFill/>
          <a:ln cap="flat" cmpd="sng" w="127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1" name="Google Shape;381;p15"/>
          <p:cNvSpPr/>
          <p:nvPr/>
        </p:nvSpPr>
        <p:spPr>
          <a:xfrm>
            <a:off x="8321040" y="242316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PC1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7562088" y="157276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PC2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6720840" y="2011680"/>
            <a:ext cx="91440" cy="91440"/>
          </a:xfrm>
          <a:prstGeom prst="ellipse">
            <a:avLst/>
          </a:prstGeom>
          <a:solidFill>
            <a:srgbClr val="E05A5A"/>
          </a:solidFill>
          <a:ln cap="flat" cmpd="sng" w="12700">
            <a:solidFill>
              <a:srgbClr val="E0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6784848" y="2148840"/>
            <a:ext cx="91440" cy="91440"/>
          </a:xfrm>
          <a:prstGeom prst="ellipse">
            <a:avLst/>
          </a:prstGeom>
          <a:solidFill>
            <a:srgbClr val="E05A5A"/>
          </a:solidFill>
          <a:ln cap="flat" cmpd="sng" w="12700">
            <a:solidFill>
              <a:srgbClr val="E0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6656832" y="2084832"/>
            <a:ext cx="91440" cy="91440"/>
          </a:xfrm>
          <a:prstGeom prst="ellipse">
            <a:avLst/>
          </a:prstGeom>
          <a:solidFill>
            <a:srgbClr val="E05A5A"/>
          </a:solidFill>
          <a:ln cap="flat" cmpd="sng" w="12700">
            <a:solidFill>
              <a:srgbClr val="E0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6858000" y="1993392"/>
            <a:ext cx="91440" cy="91440"/>
          </a:xfrm>
          <a:prstGeom prst="ellipse">
            <a:avLst/>
          </a:prstGeom>
          <a:solidFill>
            <a:srgbClr val="E05A5A"/>
          </a:solidFill>
          <a:ln cap="flat" cmpd="sng" w="12700">
            <a:solidFill>
              <a:srgbClr val="E0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6748272" y="2212848"/>
            <a:ext cx="91440" cy="91440"/>
          </a:xfrm>
          <a:prstGeom prst="ellipse">
            <a:avLst/>
          </a:prstGeom>
          <a:solidFill>
            <a:srgbClr val="E05A5A"/>
          </a:solidFill>
          <a:ln cap="flat" cmpd="sng" w="12700">
            <a:solidFill>
              <a:srgbClr val="E0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8046720" y="1874520"/>
            <a:ext cx="91440" cy="91440"/>
          </a:xfrm>
          <a:prstGeom prst="ellipse">
            <a:avLst/>
          </a:prstGeom>
          <a:solidFill>
            <a:srgbClr val="4A9B8E"/>
          </a:solidFill>
          <a:ln cap="flat" cmpd="sng" w="12700">
            <a:solidFill>
              <a:srgbClr val="4A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8119872" y="1993392"/>
            <a:ext cx="91440" cy="91440"/>
          </a:xfrm>
          <a:prstGeom prst="ellipse">
            <a:avLst/>
          </a:prstGeom>
          <a:solidFill>
            <a:srgbClr val="4A9B8E"/>
          </a:solidFill>
          <a:ln cap="flat" cmpd="sng" w="12700">
            <a:solidFill>
              <a:srgbClr val="4A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8001000" y="1920240"/>
            <a:ext cx="91440" cy="91440"/>
          </a:xfrm>
          <a:prstGeom prst="ellipse">
            <a:avLst/>
          </a:prstGeom>
          <a:solidFill>
            <a:srgbClr val="4A9B8E"/>
          </a:solidFill>
          <a:ln cap="flat" cmpd="sng" w="12700">
            <a:solidFill>
              <a:srgbClr val="4A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8183880" y="1847088"/>
            <a:ext cx="91440" cy="91440"/>
          </a:xfrm>
          <a:prstGeom prst="ellipse">
            <a:avLst/>
          </a:prstGeom>
          <a:solidFill>
            <a:srgbClr val="4A9B8E"/>
          </a:solidFill>
          <a:ln cap="flat" cmpd="sng" w="12700">
            <a:solidFill>
              <a:srgbClr val="4A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8065008" y="2057400"/>
            <a:ext cx="91440" cy="91440"/>
          </a:xfrm>
          <a:prstGeom prst="ellipse">
            <a:avLst/>
          </a:prstGeom>
          <a:solidFill>
            <a:srgbClr val="4A9B8E"/>
          </a:solidFill>
          <a:ln cap="flat" cmpd="sng" w="12700">
            <a:solidFill>
              <a:srgbClr val="4A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7360920" y="2834640"/>
            <a:ext cx="91440" cy="91440"/>
          </a:xfrm>
          <a:prstGeom prst="ellipse">
            <a:avLst/>
          </a:prstGeom>
          <a:solidFill>
            <a:srgbClr val="7C6FA0"/>
          </a:solidFill>
          <a:ln cap="flat" cmpd="sng" w="12700">
            <a:solidFill>
              <a:srgbClr val="7C6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7479792" y="2907792"/>
            <a:ext cx="91440" cy="91440"/>
          </a:xfrm>
          <a:prstGeom prst="ellipse">
            <a:avLst/>
          </a:prstGeom>
          <a:solidFill>
            <a:srgbClr val="7C6FA0"/>
          </a:solidFill>
          <a:ln cap="flat" cmpd="sng" w="12700">
            <a:solidFill>
              <a:srgbClr val="7C6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7296912" y="2944368"/>
            <a:ext cx="91440" cy="91440"/>
          </a:xfrm>
          <a:prstGeom prst="ellipse">
            <a:avLst/>
          </a:prstGeom>
          <a:solidFill>
            <a:srgbClr val="7C6FA0"/>
          </a:solidFill>
          <a:ln cap="flat" cmpd="sng" w="12700">
            <a:solidFill>
              <a:srgbClr val="7C6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7424928" y="2816352"/>
            <a:ext cx="91440" cy="91440"/>
          </a:xfrm>
          <a:prstGeom prst="ellipse">
            <a:avLst/>
          </a:prstGeom>
          <a:solidFill>
            <a:srgbClr val="7C6FA0"/>
          </a:solidFill>
          <a:ln cap="flat" cmpd="sng" w="12700">
            <a:solidFill>
              <a:srgbClr val="7C6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7516368" y="2971800"/>
            <a:ext cx="91440" cy="91440"/>
          </a:xfrm>
          <a:prstGeom prst="ellipse">
            <a:avLst/>
          </a:prstGeom>
          <a:solidFill>
            <a:srgbClr val="7C6FA0"/>
          </a:solidFill>
          <a:ln cap="flat" cmpd="sng" w="12700">
            <a:solidFill>
              <a:srgbClr val="7C6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5"/>
          <p:cNvSpPr/>
          <p:nvPr/>
        </p:nvSpPr>
        <p:spPr>
          <a:xfrm>
            <a:off x="6473952" y="3218688"/>
            <a:ext cx="91440" cy="91440"/>
          </a:xfrm>
          <a:prstGeom prst="ellipse">
            <a:avLst/>
          </a:prstGeom>
          <a:solidFill>
            <a:srgbClr val="E05A5A"/>
          </a:solidFill>
          <a:ln cap="flat" cmpd="sng" w="12700">
            <a:solidFill>
              <a:srgbClr val="E0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5"/>
          <p:cNvSpPr/>
          <p:nvPr/>
        </p:nvSpPr>
        <p:spPr>
          <a:xfrm>
            <a:off x="6583680" y="318211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5A5A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E05A5A"/>
                </a:solidFill>
                <a:latin typeface="Calibri"/>
                <a:ea typeface="Calibri"/>
                <a:cs typeface="Calibri"/>
                <a:sym typeface="Calibri"/>
              </a:rPr>
              <a:t>Mediterranean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6473952" y="3401568"/>
            <a:ext cx="91440" cy="91440"/>
          </a:xfrm>
          <a:prstGeom prst="ellipse">
            <a:avLst/>
          </a:prstGeom>
          <a:solidFill>
            <a:srgbClr val="4A9B8E"/>
          </a:solidFill>
          <a:ln cap="flat" cmpd="sng" w="12700">
            <a:solidFill>
              <a:srgbClr val="4A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6583680" y="336499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B8E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4A9B8E"/>
                </a:solidFill>
                <a:latin typeface="Calibri"/>
                <a:ea typeface="Calibri"/>
                <a:cs typeface="Calibri"/>
                <a:sym typeface="Calibri"/>
              </a:rPr>
              <a:t>Boreal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7406640" y="3218688"/>
            <a:ext cx="91440" cy="91440"/>
          </a:xfrm>
          <a:prstGeom prst="ellipse">
            <a:avLst/>
          </a:prstGeom>
          <a:solidFill>
            <a:srgbClr val="7C6FA0"/>
          </a:solidFill>
          <a:ln cap="flat" cmpd="sng" w="12700">
            <a:solidFill>
              <a:srgbClr val="7C6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7516368" y="31821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6FA0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7C6FA0"/>
                </a:solidFill>
                <a:latin typeface="Calibri"/>
                <a:ea typeface="Calibri"/>
                <a:cs typeface="Calibri"/>
                <a:sym typeface="Calibri"/>
              </a:rPr>
              <a:t>Temperate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6327648" y="4462272"/>
            <a:ext cx="2423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3 climate zones emerge clearly from 8 correlated variables — no pre-labeling required.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6"/>
          <p:cNvSpPr/>
          <p:nvPr/>
        </p:nvSpPr>
        <p:spPr>
          <a:xfrm>
            <a:off x="365760" y="256032"/>
            <a:ext cx="201168" cy="201168"/>
          </a:xfrm>
          <a:prstGeom prst="ellipse">
            <a:avLst/>
          </a:prstGeom>
          <a:solidFill>
            <a:srgbClr val="7C6FA0"/>
          </a:solidFill>
          <a:ln cap="flat" cmpd="sng" w="12700">
            <a:solidFill>
              <a:srgbClr val="7C6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6"/>
          <p:cNvSpPr/>
          <p:nvPr/>
        </p:nvSpPr>
        <p:spPr>
          <a:xfrm>
            <a:off x="658368" y="20116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Example 3: Morphological Variation in Bird Species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6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6 body measurements across 3 finch species (n=180) — can PCA separate them without using species labels?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6"/>
          <p:cNvSpPr/>
          <p:nvPr/>
        </p:nvSpPr>
        <p:spPr>
          <a:xfrm>
            <a:off x="320040" y="1097280"/>
            <a:ext cx="2834640" cy="365760"/>
          </a:xfrm>
          <a:prstGeom prst="rect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6"/>
          <p:cNvSpPr/>
          <p:nvPr/>
        </p:nvSpPr>
        <p:spPr>
          <a:xfrm>
            <a:off x="320040" y="109728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Variables Measured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6"/>
          <p:cNvSpPr/>
          <p:nvPr/>
        </p:nvSpPr>
        <p:spPr>
          <a:xfrm>
            <a:off x="320040" y="1463040"/>
            <a:ext cx="2834640" cy="3337560"/>
          </a:xfrm>
          <a:prstGeom prst="rect">
            <a:avLst/>
          </a:prstGeom>
          <a:solidFill>
            <a:srgbClr val="FAE5D3"/>
          </a:solidFill>
          <a:ln cap="flat" cmpd="sng" w="12700">
            <a:solidFill>
              <a:srgbClr val="FAE5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6"/>
          <p:cNvSpPr/>
          <p:nvPr/>
        </p:nvSpPr>
        <p:spPr>
          <a:xfrm>
            <a:off x="429768" y="1645920"/>
            <a:ext cx="118872" cy="118872"/>
          </a:xfrm>
          <a:prstGeom prst="ellipse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6"/>
          <p:cNvSpPr/>
          <p:nvPr/>
        </p:nvSpPr>
        <p:spPr>
          <a:xfrm>
            <a:off x="612648" y="1572768"/>
            <a:ext cx="2423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Bill length (mm)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6"/>
          <p:cNvSpPr/>
          <p:nvPr/>
        </p:nvSpPr>
        <p:spPr>
          <a:xfrm>
            <a:off x="429768" y="2167128"/>
            <a:ext cx="118872" cy="118872"/>
          </a:xfrm>
          <a:prstGeom prst="ellipse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6"/>
          <p:cNvSpPr/>
          <p:nvPr/>
        </p:nvSpPr>
        <p:spPr>
          <a:xfrm>
            <a:off x="612648" y="2093976"/>
            <a:ext cx="2423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Bill depth (mm)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6"/>
          <p:cNvSpPr/>
          <p:nvPr/>
        </p:nvSpPr>
        <p:spPr>
          <a:xfrm>
            <a:off x="429768" y="2688336"/>
            <a:ext cx="118872" cy="118872"/>
          </a:xfrm>
          <a:prstGeom prst="ellipse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6"/>
          <p:cNvSpPr/>
          <p:nvPr/>
        </p:nvSpPr>
        <p:spPr>
          <a:xfrm>
            <a:off x="612648" y="2615184"/>
            <a:ext cx="2423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Bill width (mm)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429768" y="3209544"/>
            <a:ext cx="118872" cy="118872"/>
          </a:xfrm>
          <a:prstGeom prst="ellipse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6"/>
          <p:cNvSpPr/>
          <p:nvPr/>
        </p:nvSpPr>
        <p:spPr>
          <a:xfrm>
            <a:off x="612648" y="3136392"/>
            <a:ext cx="2423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Wing chord (mm)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6"/>
          <p:cNvSpPr/>
          <p:nvPr/>
        </p:nvSpPr>
        <p:spPr>
          <a:xfrm>
            <a:off x="429768" y="3730752"/>
            <a:ext cx="118872" cy="118872"/>
          </a:xfrm>
          <a:prstGeom prst="ellipse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6"/>
          <p:cNvSpPr/>
          <p:nvPr/>
        </p:nvSpPr>
        <p:spPr>
          <a:xfrm>
            <a:off x="612648" y="3657600"/>
            <a:ext cx="2423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Tarsus length (mm)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6"/>
          <p:cNvSpPr/>
          <p:nvPr/>
        </p:nvSpPr>
        <p:spPr>
          <a:xfrm>
            <a:off x="429768" y="4251960"/>
            <a:ext cx="118872" cy="118872"/>
          </a:xfrm>
          <a:prstGeom prst="ellipse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6"/>
          <p:cNvSpPr/>
          <p:nvPr/>
        </p:nvSpPr>
        <p:spPr>
          <a:xfrm>
            <a:off x="612648" y="4178808"/>
            <a:ext cx="2423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Body mass (g)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6"/>
          <p:cNvSpPr/>
          <p:nvPr/>
        </p:nvSpPr>
        <p:spPr>
          <a:xfrm>
            <a:off x="3246120" y="1097280"/>
            <a:ext cx="2834640" cy="365760"/>
          </a:xfrm>
          <a:prstGeom prst="rect">
            <a:avLst/>
          </a:prstGeom>
          <a:solidFill>
            <a:srgbClr val="4A7AB5"/>
          </a:solidFill>
          <a:ln cap="flat" cmpd="sng" w="12700">
            <a:solidFill>
              <a:srgbClr val="4A7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6"/>
          <p:cNvSpPr/>
          <p:nvPr/>
        </p:nvSpPr>
        <p:spPr>
          <a:xfrm>
            <a:off x="3246120" y="109728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PCA Findings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6"/>
          <p:cNvSpPr/>
          <p:nvPr/>
        </p:nvSpPr>
        <p:spPr>
          <a:xfrm>
            <a:off x="3246120" y="1463040"/>
            <a:ext cx="2834640" cy="3337560"/>
          </a:xfrm>
          <a:prstGeom prst="rect">
            <a:avLst/>
          </a:prstGeom>
          <a:solidFill>
            <a:srgbClr val="D3E4FA"/>
          </a:solidFill>
          <a:ln cap="flat" cmpd="sng" w="12700">
            <a:solidFill>
              <a:srgbClr val="D3E4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6"/>
          <p:cNvSpPr/>
          <p:nvPr/>
        </p:nvSpPr>
        <p:spPr>
          <a:xfrm>
            <a:off x="3355848" y="1645920"/>
            <a:ext cx="118872" cy="118872"/>
          </a:xfrm>
          <a:prstGeom prst="ellipse">
            <a:avLst/>
          </a:prstGeom>
          <a:solidFill>
            <a:srgbClr val="4A7AB5"/>
          </a:solidFill>
          <a:ln cap="flat" cmpd="sng" w="12700">
            <a:solidFill>
              <a:srgbClr val="4A7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6"/>
          <p:cNvSpPr/>
          <p:nvPr/>
        </p:nvSpPr>
        <p:spPr>
          <a:xfrm>
            <a:off x="3538728" y="1572768"/>
            <a:ext cx="2423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PC1 (61%): overall body size — all variables load positively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6"/>
          <p:cNvSpPr/>
          <p:nvPr/>
        </p:nvSpPr>
        <p:spPr>
          <a:xfrm>
            <a:off x="3355848" y="2167128"/>
            <a:ext cx="118872" cy="118872"/>
          </a:xfrm>
          <a:prstGeom prst="ellipse">
            <a:avLst/>
          </a:prstGeom>
          <a:solidFill>
            <a:srgbClr val="4A7AB5"/>
          </a:solidFill>
          <a:ln cap="flat" cmpd="sng" w="12700">
            <a:solidFill>
              <a:srgbClr val="4A7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6"/>
          <p:cNvSpPr/>
          <p:nvPr/>
        </p:nvSpPr>
        <p:spPr>
          <a:xfrm>
            <a:off x="3538728" y="2093976"/>
            <a:ext cx="2423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PC2 (19%): bill shape — bill depth &amp; width vs. wing &amp; tarsus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6"/>
          <p:cNvSpPr/>
          <p:nvPr/>
        </p:nvSpPr>
        <p:spPr>
          <a:xfrm>
            <a:off x="3355848" y="2688336"/>
            <a:ext cx="118872" cy="118872"/>
          </a:xfrm>
          <a:prstGeom prst="ellipse">
            <a:avLst/>
          </a:prstGeom>
          <a:solidFill>
            <a:srgbClr val="4A7AB5"/>
          </a:solidFill>
          <a:ln cap="flat" cmpd="sng" w="12700">
            <a:solidFill>
              <a:srgbClr val="4A7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6"/>
          <p:cNvSpPr/>
          <p:nvPr/>
        </p:nvSpPr>
        <p:spPr>
          <a:xfrm>
            <a:off x="3538728" y="2615184"/>
            <a:ext cx="2423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PC3 (9%): residual variation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6"/>
          <p:cNvSpPr/>
          <p:nvPr/>
        </p:nvSpPr>
        <p:spPr>
          <a:xfrm>
            <a:off x="3355848" y="3209544"/>
            <a:ext cx="118872" cy="118872"/>
          </a:xfrm>
          <a:prstGeom prst="ellipse">
            <a:avLst/>
          </a:prstGeom>
          <a:solidFill>
            <a:srgbClr val="4A7AB5"/>
          </a:solidFill>
          <a:ln cap="flat" cmpd="sng" w="12700">
            <a:solidFill>
              <a:srgbClr val="4A7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6"/>
          <p:cNvSpPr/>
          <p:nvPr/>
        </p:nvSpPr>
        <p:spPr>
          <a:xfrm>
            <a:off x="3538728" y="3136392"/>
            <a:ext cx="2423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PC1 + PC2 = 80% total variance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6"/>
          <p:cNvSpPr/>
          <p:nvPr/>
        </p:nvSpPr>
        <p:spPr>
          <a:xfrm>
            <a:off x="3355848" y="3730752"/>
            <a:ext cx="118872" cy="118872"/>
          </a:xfrm>
          <a:prstGeom prst="ellipse">
            <a:avLst/>
          </a:prstGeom>
          <a:solidFill>
            <a:srgbClr val="4A7AB5"/>
          </a:solidFill>
          <a:ln cap="flat" cmpd="sng" w="12700">
            <a:solidFill>
              <a:srgbClr val="4A7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6"/>
          <p:cNvSpPr/>
          <p:nvPr/>
        </p:nvSpPr>
        <p:spPr>
          <a:xfrm>
            <a:off x="3538728" y="3657600"/>
            <a:ext cx="2423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3 species form distinct clusters on PC1–PC2 biplot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6"/>
          <p:cNvSpPr/>
          <p:nvPr/>
        </p:nvSpPr>
        <p:spPr>
          <a:xfrm>
            <a:off x="6172200" y="1097280"/>
            <a:ext cx="2834640" cy="365760"/>
          </a:xfrm>
          <a:prstGeom prst="rect">
            <a:avLst/>
          </a:prstGeom>
          <a:solidFill>
            <a:srgbClr val="4A9B6A"/>
          </a:solidFill>
          <a:ln cap="flat" cmpd="sng" w="12700">
            <a:solidFill>
              <a:srgbClr val="4A9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6"/>
          <p:cNvSpPr/>
          <p:nvPr/>
        </p:nvSpPr>
        <p:spPr>
          <a:xfrm>
            <a:off x="6172200" y="109728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Ecological Meaning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6"/>
          <p:cNvSpPr/>
          <p:nvPr/>
        </p:nvSpPr>
        <p:spPr>
          <a:xfrm>
            <a:off x="6172200" y="1463040"/>
            <a:ext cx="2834640" cy="3337560"/>
          </a:xfrm>
          <a:prstGeom prst="rect">
            <a:avLst/>
          </a:prstGeom>
          <a:solidFill>
            <a:srgbClr val="D5EAE0"/>
          </a:solidFill>
          <a:ln cap="flat" cmpd="sng" w="12700">
            <a:solidFill>
              <a:srgbClr val="D5EA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6"/>
          <p:cNvSpPr/>
          <p:nvPr/>
        </p:nvSpPr>
        <p:spPr>
          <a:xfrm>
            <a:off x="6281928" y="1645920"/>
            <a:ext cx="118872" cy="118872"/>
          </a:xfrm>
          <a:prstGeom prst="ellipse">
            <a:avLst/>
          </a:prstGeom>
          <a:solidFill>
            <a:srgbClr val="4A9B6A"/>
          </a:solidFill>
          <a:ln cap="flat" cmpd="sng" w="12700">
            <a:solidFill>
              <a:srgbClr val="4A9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6"/>
          <p:cNvSpPr/>
          <p:nvPr/>
        </p:nvSpPr>
        <p:spPr>
          <a:xfrm>
            <a:off x="6464808" y="1572768"/>
            <a:ext cx="2423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PC1 = body size axis: separates large vs. small species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6281928" y="2167128"/>
            <a:ext cx="118872" cy="118872"/>
          </a:xfrm>
          <a:prstGeom prst="ellipse">
            <a:avLst/>
          </a:prstGeom>
          <a:solidFill>
            <a:srgbClr val="4A9B6A"/>
          </a:solidFill>
          <a:ln cap="flat" cmpd="sng" w="12700">
            <a:solidFill>
              <a:srgbClr val="4A9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6"/>
          <p:cNvSpPr/>
          <p:nvPr/>
        </p:nvSpPr>
        <p:spPr>
          <a:xfrm>
            <a:off x="6464808" y="2093976"/>
            <a:ext cx="2423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PC2 = bill morphology axis: linked to dietary niche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6"/>
          <p:cNvSpPr/>
          <p:nvPr/>
        </p:nvSpPr>
        <p:spPr>
          <a:xfrm>
            <a:off x="6281928" y="2688336"/>
            <a:ext cx="118872" cy="118872"/>
          </a:xfrm>
          <a:prstGeom prst="ellipse">
            <a:avLst/>
          </a:prstGeom>
          <a:solidFill>
            <a:srgbClr val="4A9B6A"/>
          </a:solidFill>
          <a:ln cap="flat" cmpd="sng" w="12700">
            <a:solidFill>
              <a:srgbClr val="4A9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6"/>
          <p:cNvSpPr/>
          <p:nvPr/>
        </p:nvSpPr>
        <p:spPr>
          <a:xfrm>
            <a:off x="6464808" y="2615184"/>
            <a:ext cx="2423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Species clusters reflect resource partitioning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6"/>
          <p:cNvSpPr/>
          <p:nvPr/>
        </p:nvSpPr>
        <p:spPr>
          <a:xfrm>
            <a:off x="6281928" y="3209544"/>
            <a:ext cx="118872" cy="118872"/>
          </a:xfrm>
          <a:prstGeom prst="ellipse">
            <a:avLst/>
          </a:prstGeom>
          <a:solidFill>
            <a:srgbClr val="4A9B6A"/>
          </a:solidFill>
          <a:ln cap="flat" cmpd="sng" w="12700">
            <a:solidFill>
              <a:srgbClr val="4A9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6"/>
          <p:cNvSpPr/>
          <p:nvPr/>
        </p:nvSpPr>
        <p:spPr>
          <a:xfrm>
            <a:off x="6464808" y="3136392"/>
            <a:ext cx="2423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No labels needed — PCA 'discovers' the groupings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6"/>
          <p:cNvSpPr/>
          <p:nvPr/>
        </p:nvSpPr>
        <p:spPr>
          <a:xfrm>
            <a:off x="6281928" y="3730752"/>
            <a:ext cx="118872" cy="118872"/>
          </a:xfrm>
          <a:prstGeom prst="ellipse">
            <a:avLst/>
          </a:prstGeom>
          <a:solidFill>
            <a:srgbClr val="4A9B6A"/>
          </a:solidFill>
          <a:ln cap="flat" cmpd="sng" w="12700">
            <a:solidFill>
              <a:srgbClr val="4A9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6"/>
          <p:cNvSpPr/>
          <p:nvPr/>
        </p:nvSpPr>
        <p:spPr>
          <a:xfrm>
            <a:off x="6464808" y="3657600"/>
            <a:ext cx="2423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Used in studies of adaptive radiation (e.g. Darwin's finches)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6"/>
          <p:cNvSpPr/>
          <p:nvPr/>
        </p:nvSpPr>
        <p:spPr>
          <a:xfrm>
            <a:off x="320040" y="4864608"/>
            <a:ext cx="8503920" cy="18288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7"/>
          <p:cNvSpPr/>
          <p:nvPr/>
        </p:nvSpPr>
        <p:spPr>
          <a:xfrm>
            <a:off x="365760" y="256032"/>
            <a:ext cx="201168" cy="201168"/>
          </a:xfrm>
          <a:prstGeom prst="ellipse">
            <a:avLst/>
          </a:prstGeom>
          <a:solidFill>
            <a:srgbClr val="E05A5A"/>
          </a:solidFill>
          <a:ln cap="flat" cmpd="sng" w="12700">
            <a:solidFill>
              <a:srgbClr val="E0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7"/>
          <p:cNvSpPr/>
          <p:nvPr/>
        </p:nvSpPr>
        <p:spPr>
          <a:xfrm>
            <a:off x="658368" y="20116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Reading a Scree Plot &amp; Choosing Components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7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The scree plot shows eigenvalues in descending order. The 'elbow' marks how many components to keep.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7"/>
          <p:cNvSpPr/>
          <p:nvPr/>
        </p:nvSpPr>
        <p:spPr>
          <a:xfrm>
            <a:off x="457200" y="1005840"/>
            <a:ext cx="4754880" cy="320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4" name="Google Shape;464;p17"/>
          <p:cNvCxnSpPr/>
          <p:nvPr/>
        </p:nvCxnSpPr>
        <p:spPr>
          <a:xfrm>
            <a:off x="914400" y="3886200"/>
            <a:ext cx="41148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5" name="Google Shape;465;p17"/>
          <p:cNvSpPr/>
          <p:nvPr/>
        </p:nvSpPr>
        <p:spPr>
          <a:xfrm>
            <a:off x="457200" y="377647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6" name="Google Shape;466;p17"/>
          <p:cNvCxnSpPr/>
          <p:nvPr/>
        </p:nvCxnSpPr>
        <p:spPr>
          <a:xfrm>
            <a:off x="914400" y="3346704"/>
            <a:ext cx="41148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7" name="Google Shape;467;p17"/>
          <p:cNvSpPr/>
          <p:nvPr/>
        </p:nvSpPr>
        <p:spPr>
          <a:xfrm>
            <a:off x="457200" y="3236976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8" name="Google Shape;468;p17"/>
          <p:cNvCxnSpPr/>
          <p:nvPr/>
        </p:nvCxnSpPr>
        <p:spPr>
          <a:xfrm>
            <a:off x="914400" y="2807208"/>
            <a:ext cx="41148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9" name="Google Shape;469;p17"/>
          <p:cNvSpPr/>
          <p:nvPr/>
        </p:nvSpPr>
        <p:spPr>
          <a:xfrm>
            <a:off x="457200" y="2697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0" name="Google Shape;470;p17"/>
          <p:cNvCxnSpPr/>
          <p:nvPr/>
        </p:nvCxnSpPr>
        <p:spPr>
          <a:xfrm>
            <a:off x="914400" y="2267712"/>
            <a:ext cx="41148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1" name="Google Shape;471;p17"/>
          <p:cNvSpPr/>
          <p:nvPr/>
        </p:nvSpPr>
        <p:spPr>
          <a:xfrm>
            <a:off x="457200" y="2157984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2" name="Google Shape;472;p17"/>
          <p:cNvCxnSpPr/>
          <p:nvPr/>
        </p:nvCxnSpPr>
        <p:spPr>
          <a:xfrm>
            <a:off x="914400" y="1728216"/>
            <a:ext cx="41148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3" name="Google Shape;473;p17"/>
          <p:cNvSpPr/>
          <p:nvPr/>
        </p:nvSpPr>
        <p:spPr>
          <a:xfrm>
            <a:off x="457200" y="16184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4" name="Google Shape;474;p17"/>
          <p:cNvCxnSpPr/>
          <p:nvPr/>
        </p:nvCxnSpPr>
        <p:spPr>
          <a:xfrm>
            <a:off x="914400" y="1188720"/>
            <a:ext cx="41148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5" name="Google Shape;475;p17"/>
          <p:cNvSpPr/>
          <p:nvPr/>
        </p:nvSpPr>
        <p:spPr>
          <a:xfrm>
            <a:off x="457200" y="107899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7"/>
          <p:cNvSpPr/>
          <p:nvPr/>
        </p:nvSpPr>
        <p:spPr>
          <a:xfrm>
            <a:off x="978408" y="1296619"/>
            <a:ext cx="386334" cy="2589581"/>
          </a:xfrm>
          <a:prstGeom prst="rect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7"/>
          <p:cNvSpPr/>
          <p:nvPr/>
        </p:nvSpPr>
        <p:spPr>
          <a:xfrm>
            <a:off x="978408" y="3931920"/>
            <a:ext cx="38633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PC1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7"/>
          <p:cNvSpPr/>
          <p:nvPr/>
        </p:nvSpPr>
        <p:spPr>
          <a:xfrm>
            <a:off x="978408" y="1113739"/>
            <a:ext cx="38633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4.8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7"/>
          <p:cNvSpPr/>
          <p:nvPr/>
        </p:nvSpPr>
        <p:spPr>
          <a:xfrm>
            <a:off x="1492758" y="2753258"/>
            <a:ext cx="386334" cy="1132942"/>
          </a:xfrm>
          <a:prstGeom prst="rect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7"/>
          <p:cNvSpPr/>
          <p:nvPr/>
        </p:nvSpPr>
        <p:spPr>
          <a:xfrm>
            <a:off x="1492758" y="3931920"/>
            <a:ext cx="38633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PC2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7"/>
          <p:cNvSpPr/>
          <p:nvPr/>
        </p:nvSpPr>
        <p:spPr>
          <a:xfrm>
            <a:off x="1492758" y="2570378"/>
            <a:ext cx="38633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7"/>
          <p:cNvSpPr/>
          <p:nvPr/>
        </p:nvSpPr>
        <p:spPr>
          <a:xfrm>
            <a:off x="2007108" y="3400654"/>
            <a:ext cx="386334" cy="485546"/>
          </a:xfrm>
          <a:prstGeom prst="rect">
            <a:avLst/>
          </a:prstGeom>
          <a:solidFill>
            <a:srgbClr val="E8A87A"/>
          </a:solidFill>
          <a:ln cap="flat" cmpd="sng" w="12700">
            <a:solidFill>
              <a:srgbClr val="E8A8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7"/>
          <p:cNvSpPr/>
          <p:nvPr/>
        </p:nvSpPr>
        <p:spPr>
          <a:xfrm>
            <a:off x="2007108" y="3931920"/>
            <a:ext cx="38633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PC3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7"/>
          <p:cNvSpPr/>
          <p:nvPr/>
        </p:nvSpPr>
        <p:spPr>
          <a:xfrm>
            <a:off x="2007108" y="3217774"/>
            <a:ext cx="38633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7"/>
          <p:cNvSpPr/>
          <p:nvPr/>
        </p:nvSpPr>
        <p:spPr>
          <a:xfrm>
            <a:off x="2521458" y="3616452"/>
            <a:ext cx="386334" cy="269748"/>
          </a:xfrm>
          <a:prstGeom prst="rect">
            <a:avLst/>
          </a:prstGeom>
          <a:solidFill>
            <a:srgbClr val="DDDDDD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7"/>
          <p:cNvSpPr/>
          <p:nvPr/>
        </p:nvSpPr>
        <p:spPr>
          <a:xfrm>
            <a:off x="2521458" y="3931920"/>
            <a:ext cx="38633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PC4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7"/>
          <p:cNvSpPr/>
          <p:nvPr/>
        </p:nvSpPr>
        <p:spPr>
          <a:xfrm>
            <a:off x="2521458" y="3433572"/>
            <a:ext cx="38633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7"/>
          <p:cNvSpPr/>
          <p:nvPr/>
        </p:nvSpPr>
        <p:spPr>
          <a:xfrm>
            <a:off x="3035808" y="3697376"/>
            <a:ext cx="386334" cy="188824"/>
          </a:xfrm>
          <a:prstGeom prst="rect">
            <a:avLst/>
          </a:prstGeom>
          <a:solidFill>
            <a:srgbClr val="DDDDDD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7"/>
          <p:cNvSpPr/>
          <p:nvPr/>
        </p:nvSpPr>
        <p:spPr>
          <a:xfrm>
            <a:off x="3035808" y="3931920"/>
            <a:ext cx="38633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PC5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7"/>
          <p:cNvSpPr/>
          <p:nvPr/>
        </p:nvSpPr>
        <p:spPr>
          <a:xfrm>
            <a:off x="3550158" y="3767511"/>
            <a:ext cx="386334" cy="118689"/>
          </a:xfrm>
          <a:prstGeom prst="rect">
            <a:avLst/>
          </a:prstGeom>
          <a:solidFill>
            <a:srgbClr val="DDDDDD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7"/>
          <p:cNvSpPr/>
          <p:nvPr/>
        </p:nvSpPr>
        <p:spPr>
          <a:xfrm>
            <a:off x="3550158" y="3931920"/>
            <a:ext cx="38633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PC6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7"/>
          <p:cNvSpPr/>
          <p:nvPr/>
        </p:nvSpPr>
        <p:spPr>
          <a:xfrm>
            <a:off x="4064508" y="3843040"/>
            <a:ext cx="386334" cy="43160"/>
          </a:xfrm>
          <a:prstGeom prst="rect">
            <a:avLst/>
          </a:prstGeom>
          <a:solidFill>
            <a:srgbClr val="DDDDDD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7"/>
          <p:cNvSpPr/>
          <p:nvPr/>
        </p:nvSpPr>
        <p:spPr>
          <a:xfrm>
            <a:off x="4064508" y="3931920"/>
            <a:ext cx="38633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PC7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7"/>
          <p:cNvSpPr/>
          <p:nvPr/>
        </p:nvSpPr>
        <p:spPr>
          <a:xfrm>
            <a:off x="4578858" y="3848435"/>
            <a:ext cx="386334" cy="37765"/>
          </a:xfrm>
          <a:prstGeom prst="rect">
            <a:avLst/>
          </a:prstGeom>
          <a:solidFill>
            <a:srgbClr val="DDDDDD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7"/>
          <p:cNvSpPr/>
          <p:nvPr/>
        </p:nvSpPr>
        <p:spPr>
          <a:xfrm>
            <a:off x="4578858" y="3931920"/>
            <a:ext cx="38633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PC8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6" name="Google Shape;496;p17"/>
          <p:cNvCxnSpPr/>
          <p:nvPr/>
        </p:nvCxnSpPr>
        <p:spPr>
          <a:xfrm>
            <a:off x="1943100" y="1417320"/>
            <a:ext cx="0" cy="1188720"/>
          </a:xfrm>
          <a:prstGeom prst="straightConnector1">
            <a:avLst/>
          </a:prstGeom>
          <a:noFill/>
          <a:ln cap="flat" cmpd="sng" w="19050">
            <a:solidFill>
              <a:srgbClr val="E05A5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97" name="Google Shape;497;p17"/>
          <p:cNvSpPr/>
          <p:nvPr/>
        </p:nvSpPr>
        <p:spPr>
          <a:xfrm>
            <a:off x="1988820" y="137160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5A5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E05A5A"/>
                </a:solidFill>
                <a:latin typeface="Calibri"/>
                <a:ea typeface="Calibri"/>
                <a:cs typeface="Calibri"/>
                <a:sym typeface="Calibri"/>
              </a:rPr>
              <a:t>elbow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7"/>
          <p:cNvSpPr/>
          <p:nvPr/>
        </p:nvSpPr>
        <p:spPr>
          <a:xfrm rot="-5400000">
            <a:off x="411480" y="205740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Eigenvalue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7"/>
          <p:cNvSpPr/>
          <p:nvPr/>
        </p:nvSpPr>
        <p:spPr>
          <a:xfrm>
            <a:off x="1554480" y="422452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Principal Component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7"/>
          <p:cNvSpPr/>
          <p:nvPr/>
        </p:nvSpPr>
        <p:spPr>
          <a:xfrm>
            <a:off x="5394960" y="1005840"/>
            <a:ext cx="3429000" cy="365760"/>
          </a:xfrm>
          <a:prstGeom prst="rect">
            <a:avLst/>
          </a:prstGeom>
          <a:solidFill>
            <a:srgbClr val="4A7AB5"/>
          </a:solidFill>
          <a:ln cap="flat" cmpd="sng" w="12700">
            <a:solidFill>
              <a:srgbClr val="4A7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7"/>
          <p:cNvSpPr/>
          <p:nvPr/>
        </p:nvSpPr>
        <p:spPr>
          <a:xfrm>
            <a:off x="5394960" y="100584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Variance Explained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7"/>
          <p:cNvSpPr/>
          <p:nvPr/>
        </p:nvSpPr>
        <p:spPr>
          <a:xfrm>
            <a:off x="5394960" y="1371600"/>
            <a:ext cx="3429000" cy="2834640"/>
          </a:xfrm>
          <a:prstGeom prst="rect">
            <a:avLst/>
          </a:prstGeom>
          <a:solidFill>
            <a:srgbClr val="D3E4FA"/>
          </a:solidFill>
          <a:ln cap="flat" cmpd="sng" w="12700">
            <a:solidFill>
              <a:srgbClr val="D3E4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7"/>
          <p:cNvSpPr/>
          <p:nvPr/>
        </p:nvSpPr>
        <p:spPr>
          <a:xfrm>
            <a:off x="5458968" y="1463040"/>
            <a:ext cx="411480" cy="256032"/>
          </a:xfrm>
          <a:prstGeom prst="rect">
            <a:avLst/>
          </a:prstGeom>
          <a:solidFill>
            <a:srgbClr val="4A7AB5"/>
          </a:solidFill>
          <a:ln cap="flat" cmpd="sng" w="12700">
            <a:solidFill>
              <a:srgbClr val="4A7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7"/>
          <p:cNvSpPr/>
          <p:nvPr/>
        </p:nvSpPr>
        <p:spPr>
          <a:xfrm>
            <a:off x="5458968" y="1463040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PC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7"/>
          <p:cNvSpPr/>
          <p:nvPr/>
        </p:nvSpPr>
        <p:spPr>
          <a:xfrm>
            <a:off x="5888736" y="1463040"/>
            <a:ext cx="777240" cy="256032"/>
          </a:xfrm>
          <a:prstGeom prst="rect">
            <a:avLst/>
          </a:prstGeom>
          <a:solidFill>
            <a:srgbClr val="4A7AB5"/>
          </a:solidFill>
          <a:ln cap="flat" cmpd="sng" w="12700">
            <a:solidFill>
              <a:srgbClr val="4A7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7"/>
          <p:cNvSpPr/>
          <p:nvPr/>
        </p:nvSpPr>
        <p:spPr>
          <a:xfrm>
            <a:off x="5888736" y="1463040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Eigenvalue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7"/>
          <p:cNvSpPr/>
          <p:nvPr/>
        </p:nvSpPr>
        <p:spPr>
          <a:xfrm>
            <a:off x="6684264" y="1463040"/>
            <a:ext cx="822960" cy="256032"/>
          </a:xfrm>
          <a:prstGeom prst="rect">
            <a:avLst/>
          </a:prstGeom>
          <a:solidFill>
            <a:srgbClr val="4A7AB5"/>
          </a:solidFill>
          <a:ln cap="flat" cmpd="sng" w="12700">
            <a:solidFill>
              <a:srgbClr val="4A7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7"/>
          <p:cNvSpPr/>
          <p:nvPr/>
        </p:nvSpPr>
        <p:spPr>
          <a:xfrm>
            <a:off x="6684264" y="146304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% Variance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7"/>
          <p:cNvSpPr/>
          <p:nvPr/>
        </p:nvSpPr>
        <p:spPr>
          <a:xfrm>
            <a:off x="7525512" y="1463040"/>
            <a:ext cx="868680" cy="256032"/>
          </a:xfrm>
          <a:prstGeom prst="rect">
            <a:avLst/>
          </a:prstGeom>
          <a:solidFill>
            <a:srgbClr val="4A7AB5"/>
          </a:solidFill>
          <a:ln cap="flat" cmpd="sng" w="12700">
            <a:solidFill>
              <a:srgbClr val="4A7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7"/>
          <p:cNvSpPr/>
          <p:nvPr/>
        </p:nvSpPr>
        <p:spPr>
          <a:xfrm>
            <a:off x="7525512" y="146304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Cumulative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7"/>
          <p:cNvSpPr/>
          <p:nvPr/>
        </p:nvSpPr>
        <p:spPr>
          <a:xfrm>
            <a:off x="5458968" y="1719072"/>
            <a:ext cx="411480" cy="246888"/>
          </a:xfrm>
          <a:prstGeom prst="rect">
            <a:avLst/>
          </a:prstGeom>
          <a:solidFill>
            <a:srgbClr val="FFDDC8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7"/>
          <p:cNvSpPr/>
          <p:nvPr/>
        </p:nvSpPr>
        <p:spPr>
          <a:xfrm>
            <a:off x="5458968" y="1719072"/>
            <a:ext cx="411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7"/>
          <p:cNvSpPr/>
          <p:nvPr/>
        </p:nvSpPr>
        <p:spPr>
          <a:xfrm>
            <a:off x="5888736" y="1719072"/>
            <a:ext cx="777240" cy="246888"/>
          </a:xfrm>
          <a:prstGeom prst="rect">
            <a:avLst/>
          </a:prstGeom>
          <a:solidFill>
            <a:srgbClr val="FFDDC8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7"/>
          <p:cNvSpPr/>
          <p:nvPr/>
        </p:nvSpPr>
        <p:spPr>
          <a:xfrm>
            <a:off x="5888736" y="1719072"/>
            <a:ext cx="7772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4.80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7"/>
          <p:cNvSpPr/>
          <p:nvPr/>
        </p:nvSpPr>
        <p:spPr>
          <a:xfrm>
            <a:off x="6684264" y="1719072"/>
            <a:ext cx="822960" cy="246888"/>
          </a:xfrm>
          <a:prstGeom prst="rect">
            <a:avLst/>
          </a:prstGeom>
          <a:solidFill>
            <a:srgbClr val="FFDDC8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7"/>
          <p:cNvSpPr/>
          <p:nvPr/>
        </p:nvSpPr>
        <p:spPr>
          <a:xfrm>
            <a:off x="6684264" y="1719072"/>
            <a:ext cx="8229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60.0%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7"/>
          <p:cNvSpPr/>
          <p:nvPr/>
        </p:nvSpPr>
        <p:spPr>
          <a:xfrm>
            <a:off x="7525512" y="1719072"/>
            <a:ext cx="868680" cy="246888"/>
          </a:xfrm>
          <a:prstGeom prst="rect">
            <a:avLst/>
          </a:prstGeom>
          <a:solidFill>
            <a:srgbClr val="FFDDC8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7"/>
          <p:cNvSpPr/>
          <p:nvPr/>
        </p:nvSpPr>
        <p:spPr>
          <a:xfrm>
            <a:off x="7525512" y="1719072"/>
            <a:ext cx="8686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60.0%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7"/>
          <p:cNvSpPr/>
          <p:nvPr/>
        </p:nvSpPr>
        <p:spPr>
          <a:xfrm>
            <a:off x="5458968" y="1975104"/>
            <a:ext cx="411480" cy="246888"/>
          </a:xfrm>
          <a:prstGeom prst="rect">
            <a:avLst/>
          </a:prstGeom>
          <a:solidFill>
            <a:srgbClr val="FFDDC8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7"/>
          <p:cNvSpPr/>
          <p:nvPr/>
        </p:nvSpPr>
        <p:spPr>
          <a:xfrm>
            <a:off x="5458968" y="1975104"/>
            <a:ext cx="411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7"/>
          <p:cNvSpPr/>
          <p:nvPr/>
        </p:nvSpPr>
        <p:spPr>
          <a:xfrm>
            <a:off x="5888736" y="1975104"/>
            <a:ext cx="777240" cy="246888"/>
          </a:xfrm>
          <a:prstGeom prst="rect">
            <a:avLst/>
          </a:prstGeom>
          <a:solidFill>
            <a:srgbClr val="FFDDC8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7"/>
          <p:cNvSpPr/>
          <p:nvPr/>
        </p:nvSpPr>
        <p:spPr>
          <a:xfrm>
            <a:off x="5888736" y="1975104"/>
            <a:ext cx="7772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2.10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7"/>
          <p:cNvSpPr/>
          <p:nvPr/>
        </p:nvSpPr>
        <p:spPr>
          <a:xfrm>
            <a:off x="6684264" y="1975104"/>
            <a:ext cx="822960" cy="246888"/>
          </a:xfrm>
          <a:prstGeom prst="rect">
            <a:avLst/>
          </a:prstGeom>
          <a:solidFill>
            <a:srgbClr val="FFDDC8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7"/>
          <p:cNvSpPr/>
          <p:nvPr/>
        </p:nvSpPr>
        <p:spPr>
          <a:xfrm>
            <a:off x="6684264" y="1975104"/>
            <a:ext cx="8229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26.3%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7"/>
          <p:cNvSpPr/>
          <p:nvPr/>
        </p:nvSpPr>
        <p:spPr>
          <a:xfrm>
            <a:off x="7525512" y="1975104"/>
            <a:ext cx="868680" cy="246888"/>
          </a:xfrm>
          <a:prstGeom prst="rect">
            <a:avLst/>
          </a:prstGeom>
          <a:solidFill>
            <a:srgbClr val="FFDDC8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7"/>
          <p:cNvSpPr/>
          <p:nvPr/>
        </p:nvSpPr>
        <p:spPr>
          <a:xfrm>
            <a:off x="7525512" y="1975104"/>
            <a:ext cx="8686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86.3%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7"/>
          <p:cNvSpPr/>
          <p:nvPr/>
        </p:nvSpPr>
        <p:spPr>
          <a:xfrm>
            <a:off x="5458968" y="2231136"/>
            <a:ext cx="411480" cy="246888"/>
          </a:xfrm>
          <a:prstGeom prst="rect">
            <a:avLst/>
          </a:prstGeom>
          <a:solidFill>
            <a:srgbClr val="FFF0E6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7"/>
          <p:cNvSpPr/>
          <p:nvPr/>
        </p:nvSpPr>
        <p:spPr>
          <a:xfrm>
            <a:off x="5458968" y="2231136"/>
            <a:ext cx="411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7"/>
          <p:cNvSpPr/>
          <p:nvPr/>
        </p:nvSpPr>
        <p:spPr>
          <a:xfrm>
            <a:off x="5888736" y="2231136"/>
            <a:ext cx="777240" cy="246888"/>
          </a:xfrm>
          <a:prstGeom prst="rect">
            <a:avLst/>
          </a:prstGeom>
          <a:solidFill>
            <a:srgbClr val="FFF0E6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7"/>
          <p:cNvSpPr/>
          <p:nvPr/>
        </p:nvSpPr>
        <p:spPr>
          <a:xfrm>
            <a:off x="5888736" y="2231136"/>
            <a:ext cx="7772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0.90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7"/>
          <p:cNvSpPr/>
          <p:nvPr/>
        </p:nvSpPr>
        <p:spPr>
          <a:xfrm>
            <a:off x="6684264" y="2231136"/>
            <a:ext cx="822960" cy="246888"/>
          </a:xfrm>
          <a:prstGeom prst="rect">
            <a:avLst/>
          </a:prstGeom>
          <a:solidFill>
            <a:srgbClr val="FFF0E6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7"/>
          <p:cNvSpPr/>
          <p:nvPr/>
        </p:nvSpPr>
        <p:spPr>
          <a:xfrm>
            <a:off x="6684264" y="2231136"/>
            <a:ext cx="8229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11.2%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7"/>
          <p:cNvSpPr/>
          <p:nvPr/>
        </p:nvSpPr>
        <p:spPr>
          <a:xfrm>
            <a:off x="7525512" y="2231136"/>
            <a:ext cx="868680" cy="246888"/>
          </a:xfrm>
          <a:prstGeom prst="rect">
            <a:avLst/>
          </a:prstGeom>
          <a:solidFill>
            <a:srgbClr val="FFF0E6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7"/>
          <p:cNvSpPr/>
          <p:nvPr/>
        </p:nvSpPr>
        <p:spPr>
          <a:xfrm>
            <a:off x="7525512" y="2231136"/>
            <a:ext cx="8686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97.5%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7"/>
          <p:cNvSpPr/>
          <p:nvPr/>
        </p:nvSpPr>
        <p:spPr>
          <a:xfrm>
            <a:off x="5458968" y="2487168"/>
            <a:ext cx="411480" cy="2468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7"/>
          <p:cNvSpPr/>
          <p:nvPr/>
        </p:nvSpPr>
        <p:spPr>
          <a:xfrm>
            <a:off x="5458968" y="2487168"/>
            <a:ext cx="411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7"/>
          <p:cNvSpPr/>
          <p:nvPr/>
        </p:nvSpPr>
        <p:spPr>
          <a:xfrm>
            <a:off x="5888736" y="2487168"/>
            <a:ext cx="777240" cy="2468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7"/>
          <p:cNvSpPr/>
          <p:nvPr/>
        </p:nvSpPr>
        <p:spPr>
          <a:xfrm>
            <a:off x="5888736" y="2487168"/>
            <a:ext cx="7772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0.50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7"/>
          <p:cNvSpPr/>
          <p:nvPr/>
        </p:nvSpPr>
        <p:spPr>
          <a:xfrm>
            <a:off x="6684264" y="2487168"/>
            <a:ext cx="822960" cy="2468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7"/>
          <p:cNvSpPr/>
          <p:nvPr/>
        </p:nvSpPr>
        <p:spPr>
          <a:xfrm>
            <a:off x="6684264" y="2487168"/>
            <a:ext cx="8229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6.3%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7"/>
          <p:cNvSpPr/>
          <p:nvPr/>
        </p:nvSpPr>
        <p:spPr>
          <a:xfrm>
            <a:off x="7525512" y="2487168"/>
            <a:ext cx="868680" cy="2468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7"/>
          <p:cNvSpPr/>
          <p:nvPr/>
        </p:nvSpPr>
        <p:spPr>
          <a:xfrm>
            <a:off x="7525512" y="2487168"/>
            <a:ext cx="8686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103.8%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7"/>
          <p:cNvSpPr/>
          <p:nvPr/>
        </p:nvSpPr>
        <p:spPr>
          <a:xfrm>
            <a:off x="5458968" y="2743200"/>
            <a:ext cx="411480" cy="2468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7"/>
          <p:cNvSpPr/>
          <p:nvPr/>
        </p:nvSpPr>
        <p:spPr>
          <a:xfrm>
            <a:off x="5458968" y="2743200"/>
            <a:ext cx="411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7"/>
          <p:cNvSpPr/>
          <p:nvPr/>
        </p:nvSpPr>
        <p:spPr>
          <a:xfrm>
            <a:off x="5888736" y="2743200"/>
            <a:ext cx="777240" cy="2468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7"/>
          <p:cNvSpPr/>
          <p:nvPr/>
        </p:nvSpPr>
        <p:spPr>
          <a:xfrm>
            <a:off x="5888736" y="2743200"/>
            <a:ext cx="7772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0.35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7"/>
          <p:cNvSpPr/>
          <p:nvPr/>
        </p:nvSpPr>
        <p:spPr>
          <a:xfrm>
            <a:off x="6684264" y="2743200"/>
            <a:ext cx="822960" cy="2468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7"/>
          <p:cNvSpPr/>
          <p:nvPr/>
        </p:nvSpPr>
        <p:spPr>
          <a:xfrm>
            <a:off x="6684264" y="2743200"/>
            <a:ext cx="8229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4.4%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7"/>
          <p:cNvSpPr/>
          <p:nvPr/>
        </p:nvSpPr>
        <p:spPr>
          <a:xfrm>
            <a:off x="7525512" y="2743200"/>
            <a:ext cx="868680" cy="2468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7"/>
          <p:cNvSpPr/>
          <p:nvPr/>
        </p:nvSpPr>
        <p:spPr>
          <a:xfrm>
            <a:off x="7525512" y="2743200"/>
            <a:ext cx="8686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7"/>
          <p:cNvSpPr/>
          <p:nvPr/>
        </p:nvSpPr>
        <p:spPr>
          <a:xfrm>
            <a:off x="5458968" y="2999232"/>
            <a:ext cx="411480" cy="2468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7"/>
          <p:cNvSpPr/>
          <p:nvPr/>
        </p:nvSpPr>
        <p:spPr>
          <a:xfrm>
            <a:off x="5458968" y="2999232"/>
            <a:ext cx="411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7"/>
          <p:cNvSpPr/>
          <p:nvPr/>
        </p:nvSpPr>
        <p:spPr>
          <a:xfrm>
            <a:off x="5888736" y="2999232"/>
            <a:ext cx="777240" cy="2468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7"/>
          <p:cNvSpPr/>
          <p:nvPr/>
        </p:nvSpPr>
        <p:spPr>
          <a:xfrm>
            <a:off x="5888736" y="2999232"/>
            <a:ext cx="7772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0.22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7"/>
          <p:cNvSpPr/>
          <p:nvPr/>
        </p:nvSpPr>
        <p:spPr>
          <a:xfrm>
            <a:off x="6684264" y="2999232"/>
            <a:ext cx="822960" cy="2468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7"/>
          <p:cNvSpPr/>
          <p:nvPr/>
        </p:nvSpPr>
        <p:spPr>
          <a:xfrm>
            <a:off x="6684264" y="2999232"/>
            <a:ext cx="8229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2.8%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7"/>
          <p:cNvSpPr/>
          <p:nvPr/>
        </p:nvSpPr>
        <p:spPr>
          <a:xfrm>
            <a:off x="7525512" y="2999232"/>
            <a:ext cx="868680" cy="2468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7"/>
          <p:cNvSpPr/>
          <p:nvPr/>
        </p:nvSpPr>
        <p:spPr>
          <a:xfrm>
            <a:off x="7525512" y="2999232"/>
            <a:ext cx="8686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7"/>
          <p:cNvSpPr/>
          <p:nvPr/>
        </p:nvSpPr>
        <p:spPr>
          <a:xfrm>
            <a:off x="5458968" y="3255264"/>
            <a:ext cx="411480" cy="2468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7"/>
          <p:cNvSpPr/>
          <p:nvPr/>
        </p:nvSpPr>
        <p:spPr>
          <a:xfrm>
            <a:off x="5458968" y="3255264"/>
            <a:ext cx="411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7"/>
          <p:cNvSpPr/>
          <p:nvPr/>
        </p:nvSpPr>
        <p:spPr>
          <a:xfrm>
            <a:off x="5888736" y="3255264"/>
            <a:ext cx="777240" cy="2468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7"/>
          <p:cNvSpPr/>
          <p:nvPr/>
        </p:nvSpPr>
        <p:spPr>
          <a:xfrm>
            <a:off x="5888736" y="3255264"/>
            <a:ext cx="7772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0.08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7"/>
          <p:cNvSpPr/>
          <p:nvPr/>
        </p:nvSpPr>
        <p:spPr>
          <a:xfrm>
            <a:off x="6684264" y="3255264"/>
            <a:ext cx="822960" cy="2468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7"/>
          <p:cNvSpPr/>
          <p:nvPr/>
        </p:nvSpPr>
        <p:spPr>
          <a:xfrm>
            <a:off x="6684264" y="3255264"/>
            <a:ext cx="8229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1.0%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7"/>
          <p:cNvSpPr/>
          <p:nvPr/>
        </p:nvSpPr>
        <p:spPr>
          <a:xfrm>
            <a:off x="7525512" y="3255264"/>
            <a:ext cx="868680" cy="2468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7"/>
          <p:cNvSpPr/>
          <p:nvPr/>
        </p:nvSpPr>
        <p:spPr>
          <a:xfrm>
            <a:off x="7525512" y="3255264"/>
            <a:ext cx="8686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7"/>
          <p:cNvSpPr/>
          <p:nvPr/>
        </p:nvSpPr>
        <p:spPr>
          <a:xfrm>
            <a:off x="5458968" y="3511296"/>
            <a:ext cx="411480" cy="2468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7"/>
          <p:cNvSpPr/>
          <p:nvPr/>
        </p:nvSpPr>
        <p:spPr>
          <a:xfrm>
            <a:off x="5458968" y="3511296"/>
            <a:ext cx="411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7"/>
          <p:cNvSpPr/>
          <p:nvPr/>
        </p:nvSpPr>
        <p:spPr>
          <a:xfrm>
            <a:off x="5888736" y="3511296"/>
            <a:ext cx="777240" cy="2468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7"/>
          <p:cNvSpPr/>
          <p:nvPr/>
        </p:nvSpPr>
        <p:spPr>
          <a:xfrm>
            <a:off x="5888736" y="3511296"/>
            <a:ext cx="7772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0.07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7"/>
          <p:cNvSpPr/>
          <p:nvPr/>
        </p:nvSpPr>
        <p:spPr>
          <a:xfrm>
            <a:off x="6684264" y="3511296"/>
            <a:ext cx="822960" cy="2468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7"/>
          <p:cNvSpPr/>
          <p:nvPr/>
        </p:nvSpPr>
        <p:spPr>
          <a:xfrm>
            <a:off x="6684264" y="3511296"/>
            <a:ext cx="8229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0.9%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7"/>
          <p:cNvSpPr/>
          <p:nvPr/>
        </p:nvSpPr>
        <p:spPr>
          <a:xfrm>
            <a:off x="7525512" y="3511296"/>
            <a:ext cx="868680" cy="2468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7"/>
          <p:cNvSpPr/>
          <p:nvPr/>
        </p:nvSpPr>
        <p:spPr>
          <a:xfrm>
            <a:off x="7525512" y="3511296"/>
            <a:ext cx="8686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7"/>
          <p:cNvSpPr/>
          <p:nvPr/>
        </p:nvSpPr>
        <p:spPr>
          <a:xfrm>
            <a:off x="320040" y="4343400"/>
            <a:ext cx="8503920" cy="685800"/>
          </a:xfrm>
          <a:prstGeom prst="rect">
            <a:avLst/>
          </a:prstGeom>
          <a:solidFill>
            <a:srgbClr val="FAE5D3"/>
          </a:solidFill>
          <a:ln cap="flat" cmpd="sng" w="12700">
            <a:solidFill>
              <a:srgbClr val="FAE5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7"/>
          <p:cNvSpPr/>
          <p:nvPr/>
        </p:nvSpPr>
        <p:spPr>
          <a:xfrm>
            <a:off x="320040" y="4343400"/>
            <a:ext cx="73152" cy="685800"/>
          </a:xfrm>
          <a:prstGeom prst="rect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7"/>
          <p:cNvSpPr/>
          <p:nvPr/>
        </p:nvSpPr>
        <p:spPr>
          <a:xfrm>
            <a:off x="502920" y="440740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Decision: Keep PC1 and PC2 (86.3% cumulative variance, elbow at PC3). This is a common outcome in ecological datasets — a small number of components capture most biological signal.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A6E78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8"/>
          <p:cNvSpPr/>
          <p:nvPr/>
        </p:nvSpPr>
        <p:spPr>
          <a:xfrm>
            <a:off x="0" y="457200"/>
            <a:ext cx="9144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0"/>
              <a:buFont typeface="Calibri"/>
              <a:buNone/>
            </a:pPr>
            <a:r>
              <a:rPr b="1" lang="en-US" sz="18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8"/>
          <p:cNvSpPr/>
          <p:nvPr/>
        </p:nvSpPr>
        <p:spPr>
          <a:xfrm>
            <a:off x="0" y="429768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Exercise and additional methods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2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19"/>
          <p:cNvSpPr/>
          <p:nvPr/>
        </p:nvSpPr>
        <p:spPr>
          <a:xfrm>
            <a:off x="365760" y="256032"/>
            <a:ext cx="201168" cy="201168"/>
          </a:xfrm>
          <a:prstGeom prst="ellipse">
            <a:avLst/>
          </a:prstGeom>
          <a:solidFill>
            <a:srgbClr val="4A9B8E"/>
          </a:solidFill>
          <a:ln cap="flat" cmpd="sng" w="12700">
            <a:solidFill>
              <a:srgbClr val="4A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9"/>
          <p:cNvSpPr/>
          <p:nvPr/>
        </p:nvSpPr>
        <p:spPr>
          <a:xfrm>
            <a:off x="658368" y="20116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PCA Analysis Exercise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9"/>
          <p:cNvSpPr/>
          <p:nvPr/>
        </p:nvSpPr>
        <p:spPr>
          <a:xfrm>
            <a:off x="320040" y="685800"/>
            <a:ext cx="8503920" cy="457200"/>
          </a:xfrm>
          <a:prstGeom prst="rect">
            <a:avLst/>
          </a:prstGeom>
          <a:solidFill>
            <a:srgbClr val="D3E4FA"/>
          </a:solidFill>
          <a:ln cap="flat" cmpd="sng" w="12700">
            <a:solidFill>
              <a:srgbClr val="D3E4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9"/>
          <p:cNvSpPr/>
          <p:nvPr/>
        </p:nvSpPr>
        <p:spPr>
          <a:xfrm>
            <a:off x="320040" y="685800"/>
            <a:ext cx="73152" cy="457200"/>
          </a:xfrm>
          <a:prstGeom prst="rect">
            <a:avLst/>
          </a:prstGeom>
          <a:solidFill>
            <a:srgbClr val="4A7AB5"/>
          </a:solidFill>
          <a:ln cap="flat" cmpd="sng" w="12700">
            <a:solidFill>
              <a:srgbClr val="4A7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9"/>
          <p:cNvSpPr/>
          <p:nvPr/>
        </p:nvSpPr>
        <p:spPr>
          <a:xfrm>
            <a:off x="502920" y="7498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Analyze Vulnerabilities: Discuss climate change impacts on energy flow and propose conservation solutions.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9"/>
          <p:cNvSpPr/>
          <p:nvPr/>
        </p:nvSpPr>
        <p:spPr>
          <a:xfrm>
            <a:off x="320040" y="1298448"/>
            <a:ext cx="2816352" cy="365760"/>
          </a:xfrm>
          <a:prstGeom prst="rect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9"/>
          <p:cNvSpPr/>
          <p:nvPr/>
        </p:nvSpPr>
        <p:spPr>
          <a:xfrm>
            <a:off x="320040" y="1298448"/>
            <a:ext cx="2816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Explore the Dataset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9"/>
          <p:cNvSpPr/>
          <p:nvPr/>
        </p:nvSpPr>
        <p:spPr>
          <a:xfrm>
            <a:off x="320040" y="1664208"/>
            <a:ext cx="2816352" cy="2286000"/>
          </a:xfrm>
          <a:prstGeom prst="rect">
            <a:avLst/>
          </a:prstGeom>
          <a:solidFill>
            <a:srgbClr val="FAE5D3"/>
          </a:solidFill>
          <a:ln cap="flat" cmpd="sng" w="12700">
            <a:solidFill>
              <a:srgbClr val="FAE5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9"/>
          <p:cNvSpPr/>
          <p:nvPr/>
        </p:nvSpPr>
        <p:spPr>
          <a:xfrm>
            <a:off x="411480" y="1755648"/>
            <a:ext cx="2633472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Open the provided ecological dataset.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Identify the variables and their units.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Check for missing values and outliers.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Describe what each variable represents ecologically.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9"/>
          <p:cNvSpPr/>
          <p:nvPr/>
        </p:nvSpPr>
        <p:spPr>
          <a:xfrm>
            <a:off x="3227832" y="1298448"/>
            <a:ext cx="2816352" cy="365760"/>
          </a:xfrm>
          <a:prstGeom prst="rect">
            <a:avLst/>
          </a:prstGeom>
          <a:solidFill>
            <a:srgbClr val="4A9B6A"/>
          </a:solidFill>
          <a:ln cap="flat" cmpd="sng" w="12700">
            <a:solidFill>
              <a:srgbClr val="4A9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9"/>
          <p:cNvSpPr/>
          <p:nvPr/>
        </p:nvSpPr>
        <p:spPr>
          <a:xfrm>
            <a:off x="3227832" y="1298448"/>
            <a:ext cx="2816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Apply PCA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9"/>
          <p:cNvSpPr/>
          <p:nvPr/>
        </p:nvSpPr>
        <p:spPr>
          <a:xfrm>
            <a:off x="3227832" y="1664208"/>
            <a:ext cx="2816352" cy="2286000"/>
          </a:xfrm>
          <a:prstGeom prst="rect">
            <a:avLst/>
          </a:prstGeom>
          <a:solidFill>
            <a:srgbClr val="D5EAE0"/>
          </a:solidFill>
          <a:ln cap="flat" cmpd="sng" w="12700">
            <a:solidFill>
              <a:srgbClr val="D5EA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9"/>
          <p:cNvSpPr/>
          <p:nvPr/>
        </p:nvSpPr>
        <p:spPr>
          <a:xfrm>
            <a:off x="3319272" y="1755648"/>
            <a:ext cx="2633472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Standardize all variables.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Compute the covariance matrix.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Extract eigenvalues and eigenvectors.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Decide how many components to retain using a scree plot.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9"/>
          <p:cNvSpPr/>
          <p:nvPr/>
        </p:nvSpPr>
        <p:spPr>
          <a:xfrm>
            <a:off x="6135624" y="1298448"/>
            <a:ext cx="2816352" cy="365760"/>
          </a:xfrm>
          <a:prstGeom prst="rect">
            <a:avLst/>
          </a:prstGeom>
          <a:solidFill>
            <a:srgbClr val="4A7AB5"/>
          </a:solidFill>
          <a:ln cap="flat" cmpd="sng" w="12700">
            <a:solidFill>
              <a:srgbClr val="4A7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9"/>
          <p:cNvSpPr/>
          <p:nvPr/>
        </p:nvSpPr>
        <p:spPr>
          <a:xfrm>
            <a:off x="6135624" y="1298448"/>
            <a:ext cx="2816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Interpret Results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9"/>
          <p:cNvSpPr/>
          <p:nvPr/>
        </p:nvSpPr>
        <p:spPr>
          <a:xfrm>
            <a:off x="6135624" y="1664208"/>
            <a:ext cx="2816352" cy="2286000"/>
          </a:xfrm>
          <a:prstGeom prst="rect">
            <a:avLst/>
          </a:prstGeom>
          <a:solidFill>
            <a:srgbClr val="D3E4FA"/>
          </a:solidFill>
          <a:ln cap="flat" cmpd="sng" w="12700">
            <a:solidFill>
              <a:srgbClr val="D3E4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9"/>
          <p:cNvSpPr/>
          <p:nvPr/>
        </p:nvSpPr>
        <p:spPr>
          <a:xfrm>
            <a:off x="6227064" y="1755648"/>
            <a:ext cx="2633472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Plot PC1 vs. PC2 as a biplot.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Identify which variables load heavily on each component.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Interpret the ecological meaning of each axis.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Link PCA findings to climate change vulnerability.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9"/>
          <p:cNvSpPr/>
          <p:nvPr/>
        </p:nvSpPr>
        <p:spPr>
          <a:xfrm>
            <a:off x="320040" y="4069080"/>
            <a:ext cx="8503920" cy="777240"/>
          </a:xfrm>
          <a:prstGeom prst="rect">
            <a:avLst/>
          </a:prstGeom>
          <a:solidFill>
            <a:srgbClr val="FAE5D3"/>
          </a:solidFill>
          <a:ln cap="flat" cmpd="sng" w="12700">
            <a:solidFill>
              <a:srgbClr val="FAE5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9"/>
          <p:cNvSpPr/>
          <p:nvPr/>
        </p:nvSpPr>
        <p:spPr>
          <a:xfrm>
            <a:off x="320040" y="4069080"/>
            <a:ext cx="73152" cy="777240"/>
          </a:xfrm>
          <a:prstGeom prst="rect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9"/>
          <p:cNvSpPr/>
          <p:nvPr/>
        </p:nvSpPr>
        <p:spPr>
          <a:xfrm>
            <a:off x="502920" y="416052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Work in teams.  Document your assumptions and model limitations.  Be prepared to present results to the class.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2"/>
        </a:solid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0"/>
          <p:cNvSpPr/>
          <p:nvPr/>
        </p:nvSpPr>
        <p:spPr>
          <a:xfrm>
            <a:off x="365760" y="256032"/>
            <a:ext cx="201168" cy="201168"/>
          </a:xfrm>
          <a:prstGeom prst="ellipse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0"/>
          <p:cNvSpPr/>
          <p:nvPr/>
        </p:nvSpPr>
        <p:spPr>
          <a:xfrm>
            <a:off x="658368" y="20116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Multivariate Statistical Methods in Ecology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0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PCA is one of several multivariate techniques used to analyze complex ecological data.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0"/>
          <p:cNvSpPr/>
          <p:nvPr/>
        </p:nvSpPr>
        <p:spPr>
          <a:xfrm>
            <a:off x="320040" y="1051560"/>
            <a:ext cx="3200400" cy="384048"/>
          </a:xfrm>
          <a:prstGeom prst="rect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0"/>
          <p:cNvSpPr/>
          <p:nvPr/>
        </p:nvSpPr>
        <p:spPr>
          <a:xfrm>
            <a:off x="320040" y="1051560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0"/>
          <p:cNvSpPr/>
          <p:nvPr/>
        </p:nvSpPr>
        <p:spPr>
          <a:xfrm>
            <a:off x="3520440" y="1051560"/>
            <a:ext cx="5303520" cy="384048"/>
          </a:xfrm>
          <a:prstGeom prst="rect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0"/>
          <p:cNvSpPr/>
          <p:nvPr/>
        </p:nvSpPr>
        <p:spPr>
          <a:xfrm>
            <a:off x="3520440" y="1051560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Purpose &amp; Application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0"/>
          <p:cNvSpPr/>
          <p:nvPr/>
        </p:nvSpPr>
        <p:spPr>
          <a:xfrm>
            <a:off x="320040" y="1435608"/>
            <a:ext cx="3200400" cy="530352"/>
          </a:xfrm>
          <a:prstGeom prst="rect">
            <a:avLst/>
          </a:prstGeom>
          <a:solidFill>
            <a:srgbClr val="FAE5D3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0"/>
          <p:cNvSpPr/>
          <p:nvPr/>
        </p:nvSpPr>
        <p:spPr>
          <a:xfrm>
            <a:off x="365760" y="1472184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Principal Component Analysis (PCA)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0"/>
          <p:cNvSpPr/>
          <p:nvPr/>
        </p:nvSpPr>
        <p:spPr>
          <a:xfrm>
            <a:off x="3520440" y="1435608"/>
            <a:ext cx="5303520" cy="530352"/>
          </a:xfrm>
          <a:prstGeom prst="rect">
            <a:avLst/>
          </a:prstGeom>
          <a:solidFill>
            <a:srgbClr val="FAE5D3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0"/>
          <p:cNvSpPr/>
          <p:nvPr/>
        </p:nvSpPr>
        <p:spPr>
          <a:xfrm>
            <a:off x="3566160" y="1472184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Dimension reduction; find main axes of variation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0"/>
          <p:cNvSpPr/>
          <p:nvPr/>
        </p:nvSpPr>
        <p:spPr>
          <a:xfrm>
            <a:off x="320040" y="1984248"/>
            <a:ext cx="320040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0"/>
          <p:cNvSpPr/>
          <p:nvPr/>
        </p:nvSpPr>
        <p:spPr>
          <a:xfrm>
            <a:off x="365760" y="2020824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Cluster Analysis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0"/>
          <p:cNvSpPr/>
          <p:nvPr/>
        </p:nvSpPr>
        <p:spPr>
          <a:xfrm>
            <a:off x="3520440" y="1984248"/>
            <a:ext cx="530352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0"/>
          <p:cNvSpPr/>
          <p:nvPr/>
        </p:nvSpPr>
        <p:spPr>
          <a:xfrm>
            <a:off x="3566160" y="2020824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Group similar observations or species together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0"/>
          <p:cNvSpPr/>
          <p:nvPr/>
        </p:nvSpPr>
        <p:spPr>
          <a:xfrm>
            <a:off x="320040" y="2532888"/>
            <a:ext cx="3200400" cy="530352"/>
          </a:xfrm>
          <a:prstGeom prst="rect">
            <a:avLst/>
          </a:prstGeom>
          <a:solidFill>
            <a:srgbClr val="FAE5D3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0"/>
          <p:cNvSpPr/>
          <p:nvPr/>
        </p:nvSpPr>
        <p:spPr>
          <a:xfrm>
            <a:off x="365760" y="2569464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Discriminant Analysis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0"/>
          <p:cNvSpPr/>
          <p:nvPr/>
        </p:nvSpPr>
        <p:spPr>
          <a:xfrm>
            <a:off x="3520440" y="2532888"/>
            <a:ext cx="5303520" cy="530352"/>
          </a:xfrm>
          <a:prstGeom prst="rect">
            <a:avLst/>
          </a:prstGeom>
          <a:solidFill>
            <a:srgbClr val="FAE5D3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0"/>
          <p:cNvSpPr/>
          <p:nvPr/>
        </p:nvSpPr>
        <p:spPr>
          <a:xfrm>
            <a:off x="3566160" y="2569464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Classify observations into predefined groups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0"/>
          <p:cNvSpPr/>
          <p:nvPr/>
        </p:nvSpPr>
        <p:spPr>
          <a:xfrm>
            <a:off x="320040" y="3081528"/>
            <a:ext cx="320040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0"/>
          <p:cNvSpPr/>
          <p:nvPr/>
        </p:nvSpPr>
        <p:spPr>
          <a:xfrm>
            <a:off x="365760" y="3118104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Canonical Correspondence Analysis (CCA)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0"/>
          <p:cNvSpPr/>
          <p:nvPr/>
        </p:nvSpPr>
        <p:spPr>
          <a:xfrm>
            <a:off x="3520440" y="3081528"/>
            <a:ext cx="530352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0"/>
          <p:cNvSpPr/>
          <p:nvPr/>
        </p:nvSpPr>
        <p:spPr>
          <a:xfrm>
            <a:off x="3566160" y="3118104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Species–environment relationships; constrained ordination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0"/>
          <p:cNvSpPr/>
          <p:nvPr/>
        </p:nvSpPr>
        <p:spPr>
          <a:xfrm>
            <a:off x="320040" y="3630168"/>
            <a:ext cx="3200400" cy="530352"/>
          </a:xfrm>
          <a:prstGeom prst="rect">
            <a:avLst/>
          </a:prstGeom>
          <a:solidFill>
            <a:srgbClr val="FAE5D3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0"/>
          <p:cNvSpPr/>
          <p:nvPr/>
        </p:nvSpPr>
        <p:spPr>
          <a:xfrm>
            <a:off x="365760" y="3666744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Non-metric MDS (NMDS)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0"/>
          <p:cNvSpPr/>
          <p:nvPr/>
        </p:nvSpPr>
        <p:spPr>
          <a:xfrm>
            <a:off x="3520440" y="3630168"/>
            <a:ext cx="5303520" cy="530352"/>
          </a:xfrm>
          <a:prstGeom prst="rect">
            <a:avLst/>
          </a:prstGeom>
          <a:solidFill>
            <a:srgbClr val="FAE5D3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0"/>
          <p:cNvSpPr/>
          <p:nvPr/>
        </p:nvSpPr>
        <p:spPr>
          <a:xfrm>
            <a:off x="3566160" y="3666744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Ordination based on rank dissimilarities; community data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0"/>
          <p:cNvSpPr/>
          <p:nvPr/>
        </p:nvSpPr>
        <p:spPr>
          <a:xfrm>
            <a:off x="320040" y="4178808"/>
            <a:ext cx="320040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0"/>
          <p:cNvSpPr/>
          <p:nvPr/>
        </p:nvSpPr>
        <p:spPr>
          <a:xfrm>
            <a:off x="365760" y="4215384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Structural Equation Modeling (SEM)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0"/>
          <p:cNvSpPr/>
          <p:nvPr/>
        </p:nvSpPr>
        <p:spPr>
          <a:xfrm>
            <a:off x="3520440" y="4178808"/>
            <a:ext cx="530352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0"/>
          <p:cNvSpPr/>
          <p:nvPr/>
        </p:nvSpPr>
        <p:spPr>
          <a:xfrm>
            <a:off x="3566160" y="4215384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Test causal pathways and latent variable relationships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2"/>
        </a:solidFill>
      </p:bgPr>
    </p:bg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21"/>
          <p:cNvSpPr/>
          <p:nvPr/>
        </p:nvSpPr>
        <p:spPr>
          <a:xfrm>
            <a:off x="365760" y="256032"/>
            <a:ext cx="201168" cy="201168"/>
          </a:xfrm>
          <a:prstGeom prst="ellipse">
            <a:avLst/>
          </a:prstGeom>
          <a:solidFill>
            <a:srgbClr val="7C6FA0"/>
          </a:solidFill>
          <a:ln cap="flat" cmpd="sng" w="12700">
            <a:solidFill>
              <a:srgbClr val="7C6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1"/>
          <p:cNvSpPr/>
          <p:nvPr/>
        </p:nvSpPr>
        <p:spPr>
          <a:xfrm>
            <a:off x="658368" y="20116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Resources for Ecological Data Analysis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1"/>
          <p:cNvSpPr/>
          <p:nvPr/>
        </p:nvSpPr>
        <p:spPr>
          <a:xfrm>
            <a:off x="320040" y="731520"/>
            <a:ext cx="2816352" cy="365760"/>
          </a:xfrm>
          <a:prstGeom prst="rect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1"/>
          <p:cNvSpPr/>
          <p:nvPr/>
        </p:nvSpPr>
        <p:spPr>
          <a:xfrm>
            <a:off x="320040" y="731520"/>
            <a:ext cx="2816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Programming Libraries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1"/>
          <p:cNvSpPr/>
          <p:nvPr/>
        </p:nvSpPr>
        <p:spPr>
          <a:xfrm>
            <a:off x="320040" y="1097280"/>
            <a:ext cx="2816352" cy="3794760"/>
          </a:xfrm>
          <a:prstGeom prst="rect">
            <a:avLst/>
          </a:prstGeom>
          <a:solidFill>
            <a:srgbClr val="FAE5D3"/>
          </a:solidFill>
          <a:ln cap="flat" cmpd="sng" w="12700">
            <a:solidFill>
              <a:srgbClr val="FAE5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1"/>
          <p:cNvSpPr/>
          <p:nvPr/>
        </p:nvSpPr>
        <p:spPr>
          <a:xfrm>
            <a:off x="429768" y="1243584"/>
            <a:ext cx="128016" cy="128016"/>
          </a:xfrm>
          <a:prstGeom prst="ellipse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1"/>
          <p:cNvSpPr/>
          <p:nvPr/>
        </p:nvSpPr>
        <p:spPr>
          <a:xfrm>
            <a:off x="612648" y="1188720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R: vegan, ade4, lme4, nlme, mgcv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1"/>
          <p:cNvSpPr/>
          <p:nvPr/>
        </p:nvSpPr>
        <p:spPr>
          <a:xfrm>
            <a:off x="429768" y="1947672"/>
            <a:ext cx="128016" cy="128016"/>
          </a:xfrm>
          <a:prstGeom prst="ellipse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1"/>
          <p:cNvSpPr/>
          <p:nvPr/>
        </p:nvSpPr>
        <p:spPr>
          <a:xfrm>
            <a:off x="612648" y="1892808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Python: scipy.stats, scikit-learn, statsmodels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1"/>
          <p:cNvSpPr/>
          <p:nvPr/>
        </p:nvSpPr>
        <p:spPr>
          <a:xfrm>
            <a:off x="429768" y="2651760"/>
            <a:ext cx="128016" cy="128016"/>
          </a:xfrm>
          <a:prstGeom prst="ellipse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1"/>
          <p:cNvSpPr/>
          <p:nvPr/>
        </p:nvSpPr>
        <p:spPr>
          <a:xfrm>
            <a:off x="612648" y="2596896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QGIS and GeoDa for spatial analysis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1"/>
          <p:cNvSpPr/>
          <p:nvPr/>
        </p:nvSpPr>
        <p:spPr>
          <a:xfrm>
            <a:off x="429768" y="3355848"/>
            <a:ext cx="128016" cy="128016"/>
          </a:xfrm>
          <a:prstGeom prst="ellipse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1"/>
          <p:cNvSpPr/>
          <p:nvPr/>
        </p:nvSpPr>
        <p:spPr>
          <a:xfrm>
            <a:off x="612648" y="3300984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EcoSimR — null model analysis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1"/>
          <p:cNvSpPr/>
          <p:nvPr/>
        </p:nvSpPr>
        <p:spPr>
          <a:xfrm>
            <a:off x="429768" y="4059936"/>
            <a:ext cx="128016" cy="128016"/>
          </a:xfrm>
          <a:prstGeom prst="ellipse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1"/>
          <p:cNvSpPr/>
          <p:nvPr/>
        </p:nvSpPr>
        <p:spPr>
          <a:xfrm>
            <a:off x="612648" y="4005072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ggplot2 — publication-quality graphics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1"/>
          <p:cNvSpPr/>
          <p:nvPr/>
        </p:nvSpPr>
        <p:spPr>
          <a:xfrm>
            <a:off x="3227832" y="731520"/>
            <a:ext cx="2816352" cy="365760"/>
          </a:xfrm>
          <a:prstGeom prst="rect">
            <a:avLst/>
          </a:prstGeom>
          <a:solidFill>
            <a:srgbClr val="4A9B6A"/>
          </a:solidFill>
          <a:ln cap="flat" cmpd="sng" w="12700">
            <a:solidFill>
              <a:srgbClr val="4A9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1"/>
          <p:cNvSpPr/>
          <p:nvPr/>
        </p:nvSpPr>
        <p:spPr>
          <a:xfrm>
            <a:off x="3227832" y="731520"/>
            <a:ext cx="2816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Texts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1"/>
          <p:cNvSpPr/>
          <p:nvPr/>
        </p:nvSpPr>
        <p:spPr>
          <a:xfrm>
            <a:off x="3227832" y="1097280"/>
            <a:ext cx="2816352" cy="3794760"/>
          </a:xfrm>
          <a:prstGeom prst="rect">
            <a:avLst/>
          </a:prstGeom>
          <a:solidFill>
            <a:srgbClr val="D5EAE0"/>
          </a:solidFill>
          <a:ln cap="flat" cmpd="sng" w="12700">
            <a:solidFill>
              <a:srgbClr val="D5EA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1"/>
          <p:cNvSpPr/>
          <p:nvPr/>
        </p:nvSpPr>
        <p:spPr>
          <a:xfrm>
            <a:off x="3337560" y="1243584"/>
            <a:ext cx="128016" cy="128016"/>
          </a:xfrm>
          <a:prstGeom prst="ellipse">
            <a:avLst/>
          </a:prstGeom>
          <a:solidFill>
            <a:srgbClr val="4A9B6A"/>
          </a:solidFill>
          <a:ln cap="flat" cmpd="sng" w="12700">
            <a:solidFill>
              <a:srgbClr val="4A9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1"/>
          <p:cNvSpPr/>
          <p:nvPr/>
        </p:nvSpPr>
        <p:spPr>
          <a:xfrm>
            <a:off x="3520440" y="1188720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Gotelli &amp; Ellison (2004). A Primer of Ecological Statistics. Sinauer.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1"/>
          <p:cNvSpPr/>
          <p:nvPr/>
        </p:nvSpPr>
        <p:spPr>
          <a:xfrm>
            <a:off x="3337560" y="1947672"/>
            <a:ext cx="128016" cy="128016"/>
          </a:xfrm>
          <a:prstGeom prst="ellipse">
            <a:avLst/>
          </a:prstGeom>
          <a:solidFill>
            <a:srgbClr val="4A9B6A"/>
          </a:solidFill>
          <a:ln cap="flat" cmpd="sng" w="12700">
            <a:solidFill>
              <a:srgbClr val="4A9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1"/>
          <p:cNvSpPr/>
          <p:nvPr/>
        </p:nvSpPr>
        <p:spPr>
          <a:xfrm>
            <a:off x="3520440" y="1892808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Quinn &amp; Keough (2002). Experimental Design &amp; Data Analysis. Cambridge.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1"/>
          <p:cNvSpPr/>
          <p:nvPr/>
        </p:nvSpPr>
        <p:spPr>
          <a:xfrm>
            <a:off x="3337560" y="2651760"/>
            <a:ext cx="128016" cy="128016"/>
          </a:xfrm>
          <a:prstGeom prst="ellipse">
            <a:avLst/>
          </a:prstGeom>
          <a:solidFill>
            <a:srgbClr val="4A9B6A"/>
          </a:solidFill>
          <a:ln cap="flat" cmpd="sng" w="12700">
            <a:solidFill>
              <a:srgbClr val="4A9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1"/>
          <p:cNvSpPr/>
          <p:nvPr/>
        </p:nvSpPr>
        <p:spPr>
          <a:xfrm>
            <a:off x="3520440" y="2596896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Edelstein-Keshet (2005). Mathematical Models in Biology. SIAM.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1"/>
          <p:cNvSpPr/>
          <p:nvPr/>
        </p:nvSpPr>
        <p:spPr>
          <a:xfrm>
            <a:off x="3337560" y="3355848"/>
            <a:ext cx="128016" cy="128016"/>
          </a:xfrm>
          <a:prstGeom prst="ellipse">
            <a:avLst/>
          </a:prstGeom>
          <a:solidFill>
            <a:srgbClr val="4A9B6A"/>
          </a:solidFill>
          <a:ln cap="flat" cmpd="sng" w="12700">
            <a:solidFill>
              <a:srgbClr val="4A9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1"/>
          <p:cNvSpPr/>
          <p:nvPr/>
        </p:nvSpPr>
        <p:spPr>
          <a:xfrm>
            <a:off x="3520440" y="3300984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Odum, H.T. (1994). Ecological and General Systems.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1"/>
          <p:cNvSpPr/>
          <p:nvPr/>
        </p:nvSpPr>
        <p:spPr>
          <a:xfrm>
            <a:off x="3337560" y="4059936"/>
            <a:ext cx="128016" cy="128016"/>
          </a:xfrm>
          <a:prstGeom prst="ellipse">
            <a:avLst/>
          </a:prstGeom>
          <a:solidFill>
            <a:srgbClr val="4A9B6A"/>
          </a:solidFill>
          <a:ln cap="flat" cmpd="sng" w="12700">
            <a:solidFill>
              <a:srgbClr val="4A9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1"/>
          <p:cNvSpPr/>
          <p:nvPr/>
        </p:nvSpPr>
        <p:spPr>
          <a:xfrm>
            <a:off x="3520440" y="4005072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Lindeman (1942). Trophic-Dynamic Aspect of Ecology.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1"/>
          <p:cNvSpPr/>
          <p:nvPr/>
        </p:nvSpPr>
        <p:spPr>
          <a:xfrm>
            <a:off x="6135624" y="731520"/>
            <a:ext cx="2816352" cy="365760"/>
          </a:xfrm>
          <a:prstGeom prst="rect">
            <a:avLst/>
          </a:prstGeom>
          <a:solidFill>
            <a:srgbClr val="4A7AB5"/>
          </a:solidFill>
          <a:ln cap="flat" cmpd="sng" w="12700">
            <a:solidFill>
              <a:srgbClr val="4A7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1"/>
          <p:cNvSpPr/>
          <p:nvPr/>
        </p:nvSpPr>
        <p:spPr>
          <a:xfrm>
            <a:off x="6135624" y="731520"/>
            <a:ext cx="2816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Online Resources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1"/>
          <p:cNvSpPr/>
          <p:nvPr/>
        </p:nvSpPr>
        <p:spPr>
          <a:xfrm>
            <a:off x="6135624" y="1097280"/>
            <a:ext cx="2816352" cy="3794760"/>
          </a:xfrm>
          <a:prstGeom prst="rect">
            <a:avLst/>
          </a:prstGeom>
          <a:solidFill>
            <a:srgbClr val="D3E4FA"/>
          </a:solidFill>
          <a:ln cap="flat" cmpd="sng" w="12700">
            <a:solidFill>
              <a:srgbClr val="D3E4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1"/>
          <p:cNvSpPr/>
          <p:nvPr/>
        </p:nvSpPr>
        <p:spPr>
          <a:xfrm>
            <a:off x="6245352" y="1243584"/>
            <a:ext cx="128016" cy="128016"/>
          </a:xfrm>
          <a:prstGeom prst="ellipse">
            <a:avLst/>
          </a:prstGeom>
          <a:solidFill>
            <a:srgbClr val="4A7AB5"/>
          </a:solidFill>
          <a:ln cap="flat" cmpd="sng" w="12700">
            <a:solidFill>
              <a:srgbClr val="4A7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1"/>
          <p:cNvSpPr/>
          <p:nvPr/>
        </p:nvSpPr>
        <p:spPr>
          <a:xfrm>
            <a:off x="6428232" y="1188720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Ecological Society of America: esa.org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1"/>
          <p:cNvSpPr/>
          <p:nvPr/>
        </p:nvSpPr>
        <p:spPr>
          <a:xfrm>
            <a:off x="6245352" y="1947672"/>
            <a:ext cx="128016" cy="128016"/>
          </a:xfrm>
          <a:prstGeom prst="ellipse">
            <a:avLst/>
          </a:prstGeom>
          <a:solidFill>
            <a:srgbClr val="4A7AB5"/>
          </a:solidFill>
          <a:ln cap="flat" cmpd="sng" w="12700">
            <a:solidFill>
              <a:srgbClr val="4A7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1"/>
          <p:cNvSpPr/>
          <p:nvPr/>
        </p:nvSpPr>
        <p:spPr>
          <a:xfrm>
            <a:off x="6428232" y="1892808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Khan Academy — Photosynthesis &amp; Ecology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1"/>
          <p:cNvSpPr/>
          <p:nvPr/>
        </p:nvSpPr>
        <p:spPr>
          <a:xfrm>
            <a:off x="6245352" y="2651760"/>
            <a:ext cx="128016" cy="128016"/>
          </a:xfrm>
          <a:prstGeom prst="ellipse">
            <a:avLst/>
          </a:prstGeom>
          <a:solidFill>
            <a:srgbClr val="4A7AB5"/>
          </a:solidFill>
          <a:ln cap="flat" cmpd="sng" w="12700">
            <a:solidFill>
              <a:srgbClr val="4A7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1"/>
          <p:cNvSpPr/>
          <p:nvPr/>
        </p:nvSpPr>
        <p:spPr>
          <a:xfrm>
            <a:off x="6428232" y="2596896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DataCamp: Ecological Statistics in 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1"/>
          <p:cNvSpPr/>
          <p:nvPr/>
        </p:nvSpPr>
        <p:spPr>
          <a:xfrm>
            <a:off x="6245352" y="3355848"/>
            <a:ext cx="128016" cy="128016"/>
          </a:xfrm>
          <a:prstGeom prst="ellipse">
            <a:avLst/>
          </a:prstGeom>
          <a:solidFill>
            <a:srgbClr val="4A7AB5"/>
          </a:solidFill>
          <a:ln cap="flat" cmpd="sng" w="12700">
            <a:solidFill>
              <a:srgbClr val="4A7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1"/>
          <p:cNvSpPr/>
          <p:nvPr/>
        </p:nvSpPr>
        <p:spPr>
          <a:xfrm>
            <a:off x="6428232" y="3300984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IBM: PCA Explained — ibm.com/think/topics/pca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1"/>
          <p:cNvSpPr/>
          <p:nvPr/>
        </p:nvSpPr>
        <p:spPr>
          <a:xfrm>
            <a:off x="6245352" y="4059936"/>
            <a:ext cx="128016" cy="128016"/>
          </a:xfrm>
          <a:prstGeom prst="ellipse">
            <a:avLst/>
          </a:prstGeom>
          <a:solidFill>
            <a:srgbClr val="4A7AB5"/>
          </a:solidFill>
          <a:ln cap="flat" cmpd="sng" w="12700">
            <a:solidFill>
              <a:srgbClr val="4A7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1"/>
          <p:cNvSpPr/>
          <p:nvPr/>
        </p:nvSpPr>
        <p:spPr>
          <a:xfrm>
            <a:off x="6428232" y="4005072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Wolfram Demonstrations: ecological models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2026-05-13T07:05:28Z</dcterms:created>
  <dc:creator>PptxGenJS</dc:creator>
</cp:coreProperties>
</file>