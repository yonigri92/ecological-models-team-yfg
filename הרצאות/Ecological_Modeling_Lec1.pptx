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ibpb1Yi2VLsrmBgHB8jok5naIt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FA1A3C-07E7-4F52-BFD8-076DE1D8FEE2}">
  <a:tblStyle styleId="{2CFA1A3C-07E7-4F52-BFD8-076DE1D8FEE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0b63cec61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g3d0b63cec61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g3d0b63cec61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d0b63cec61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3d0b63cec61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g3d0b63cec61_0_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d0b63cec61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d0b63cec61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g3d0b63cec61_0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d0b63cec61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g3d0b63cec61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g3d0b63cec61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d0b63cec61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g3d0b63cec61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g3d0b63cec61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d0b63cec61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d0b63cec61_0_1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g3d0b63cec61_0_1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d0b63cec61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g3d0b63cec61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g3d0b63cec61_0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d0b63cec61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g3d0b63cec61_0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g3d0b63cec61_0_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5" name="Google Shape;80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5" name="Google Shape;90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17" name="Shape 17"/>
        <p:cNvGrpSpPr/>
        <p:nvPr/>
      </p:nvGrpSpPr>
      <p:grpSpPr>
        <a:xfrm>
          <a:off x="0" y="0"/>
          <a:ext cx="0" cy="0"/>
          <a:chOff x="0" y="0"/>
          <a:chExt cx="0" cy="0"/>
        </a:xfrm>
      </p:grpSpPr>
      <p:sp>
        <p:nvSpPr>
          <p:cNvPr id="18" name="Google Shape;18;p1"/>
          <p:cNvSpPr/>
          <p:nvPr/>
        </p:nvSpPr>
        <p:spPr>
          <a:xfrm>
            <a:off x="5943600" y="0"/>
            <a:ext cx="3200400" cy="5143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7132320" y="457200"/>
            <a:ext cx="1005840" cy="1005840"/>
          </a:xfrm>
          <a:prstGeom prst="ellipse">
            <a:avLst/>
          </a:prstGeom>
          <a:solidFill>
            <a:srgbClr val="4A9DB5">
              <a:alpha val="70196"/>
            </a:srgbClr>
          </a:solidFill>
          <a:ln cap="flat" cmpd="sng" w="12700">
            <a:solidFill>
              <a:srgbClr val="4A9DB5">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8229600" y="1645920"/>
            <a:ext cx="640080" cy="640080"/>
          </a:xfrm>
          <a:prstGeom prst="ellipse">
            <a:avLst/>
          </a:prstGeom>
          <a:solidFill>
            <a:srgbClr val="D4756B">
              <a:alpha val="70196"/>
            </a:srgbClr>
          </a:solidFill>
          <a:ln cap="flat" cmpd="sng" w="12700">
            <a:solidFill>
              <a:srgbClr val="D4756B">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6583680" y="2194560"/>
            <a:ext cx="457200" cy="457200"/>
          </a:xfrm>
          <a:prstGeom prst="ellipse">
            <a:avLst/>
          </a:prstGeom>
          <a:solidFill>
            <a:srgbClr val="C9A84C">
              <a:alpha val="70196"/>
            </a:srgbClr>
          </a:solidFill>
          <a:ln cap="flat" cmpd="sng" w="12700">
            <a:solidFill>
              <a:srgbClr val="C9A84C">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7772400" y="3200400"/>
            <a:ext cx="822960" cy="822960"/>
          </a:xfrm>
          <a:prstGeom prst="ellipse">
            <a:avLst/>
          </a:prstGeom>
          <a:solidFill>
            <a:srgbClr val="4CAF8A">
              <a:alpha val="70196"/>
            </a:srgbClr>
          </a:solidFill>
          <a:ln cap="flat" cmpd="sng" w="12700">
            <a:solidFill>
              <a:srgbClr val="4CAF8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6400800" y="3749040"/>
            <a:ext cx="365760" cy="365760"/>
          </a:xfrm>
          <a:prstGeom prst="ellipse">
            <a:avLst/>
          </a:prstGeom>
          <a:solidFill>
            <a:srgbClr val="7B68C8">
              <a:alpha val="70196"/>
            </a:srgbClr>
          </a:solidFill>
          <a:ln cap="flat" cmpd="sng" w="12700">
            <a:solidFill>
              <a:srgbClr val="7B68C8">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0" y="4914900"/>
            <a:ext cx="1828800" cy="2286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1828800" y="4914900"/>
            <a:ext cx="1828800" cy="2286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3657600" y="4914900"/>
            <a:ext cx="1828800" cy="2286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5486400" y="4914900"/>
            <a:ext cx="1828800" cy="2286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7315200" y="4914900"/>
            <a:ext cx="1828800" cy="22860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502920" y="1097280"/>
            <a:ext cx="5669400" cy="201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Introduction to</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Ecological Modeling</a:t>
            </a:r>
            <a:endParaRPr b="0" i="0" sz="4000" u="none" cap="none" strike="noStrike">
              <a:solidFill>
                <a:schemeClr val="dk1"/>
              </a:solidFill>
              <a:latin typeface="Calibri"/>
              <a:ea typeface="Calibri"/>
              <a:cs typeface="Calibri"/>
              <a:sym typeface="Calibri"/>
            </a:endParaRPr>
          </a:p>
        </p:txBody>
      </p:sp>
      <p:sp>
        <p:nvSpPr>
          <p:cNvPr id="30" name="Google Shape;30;p1"/>
          <p:cNvSpPr/>
          <p:nvPr/>
        </p:nvSpPr>
        <p:spPr>
          <a:xfrm>
            <a:off x="502920" y="3200400"/>
            <a:ext cx="5486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DB5"/>
              </a:buClr>
              <a:buSzPts val="1500"/>
              <a:buFont typeface="Calibri"/>
              <a:buNone/>
            </a:pPr>
            <a:r>
              <a:rPr b="0" i="0" lang="en-US" sz="1500" u="none" cap="none" strike="noStrike">
                <a:solidFill>
                  <a:srgbClr val="4A9DB5"/>
                </a:solidFill>
                <a:latin typeface="Calibri"/>
                <a:ea typeface="Calibri"/>
                <a:cs typeface="Calibri"/>
                <a:sym typeface="Calibri"/>
              </a:rPr>
              <a:t>Lecture 1  ·  Naomi Unkelos-Shpigel</a:t>
            </a:r>
            <a:endParaRPr b="0" i="0" sz="1500" u="none" cap="none" strike="noStrike">
              <a:solidFill>
                <a:schemeClr val="dk1"/>
              </a:solidFill>
              <a:latin typeface="Calibri"/>
              <a:ea typeface="Calibri"/>
              <a:cs typeface="Calibri"/>
              <a:sym typeface="Calibri"/>
            </a:endParaRPr>
          </a:p>
        </p:txBody>
      </p:sp>
      <p:sp>
        <p:nvSpPr>
          <p:cNvPr id="31" name="Google Shape;31;p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 name="Shape 36"/>
        <p:cNvGrpSpPr/>
        <p:nvPr/>
      </p:nvGrpSpPr>
      <p:grpSpPr>
        <a:xfrm>
          <a:off x="0" y="0"/>
          <a:ext cx="0" cy="0"/>
          <a:chOff x="0" y="0"/>
          <a:chExt cx="0" cy="0"/>
        </a:xfrm>
      </p:grpSpPr>
      <p:sp>
        <p:nvSpPr>
          <p:cNvPr id="37" name="Google Shape;37;p2"/>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320040" y="137160"/>
            <a:ext cx="402336" cy="402336"/>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Course Overview</a:t>
            </a:r>
            <a:endParaRPr b="0" i="0" sz="2200" u="none" cap="none" strike="noStrike">
              <a:solidFill>
                <a:schemeClr val="dk1"/>
              </a:solidFill>
              <a:latin typeface="Calibri"/>
              <a:ea typeface="Calibri"/>
              <a:cs typeface="Calibri"/>
              <a:sym typeface="Calibri"/>
            </a:endParaRPr>
          </a:p>
        </p:txBody>
      </p:sp>
      <p:sp>
        <p:nvSpPr>
          <p:cNvPr id="41" name="Google Shape;41;p2"/>
          <p:cNvSpPr/>
          <p:nvPr/>
        </p:nvSpPr>
        <p:spPr>
          <a:xfrm>
            <a:off x="164592" y="685800"/>
            <a:ext cx="8979408" cy="36576"/>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20040" y="804672"/>
            <a:ext cx="4160520" cy="1755648"/>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20040" y="804672"/>
            <a:ext cx="41605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2976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Credits</a:t>
            </a:r>
            <a:endParaRPr b="0" i="0" sz="1300" u="none" cap="none" strike="noStrike">
              <a:solidFill>
                <a:schemeClr val="dk1"/>
              </a:solidFill>
              <a:latin typeface="Calibri"/>
              <a:ea typeface="Calibri"/>
              <a:cs typeface="Calibri"/>
              <a:sym typeface="Calibri"/>
            </a:endParaRPr>
          </a:p>
        </p:txBody>
      </p:sp>
      <p:sp>
        <p:nvSpPr>
          <p:cNvPr id="45" name="Google Shape;45;p2"/>
          <p:cNvSpPr/>
          <p:nvPr/>
        </p:nvSpPr>
        <p:spPr>
          <a:xfrm>
            <a:off x="429768" y="1225296"/>
            <a:ext cx="3941064"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350"/>
              <a:buFont typeface="Calibri"/>
              <a:buNone/>
            </a:pPr>
            <a:r>
              <a:rPr b="0" i="0" lang="en-US" sz="1350" u="none" cap="none" strike="noStrike">
                <a:solidFill>
                  <a:srgbClr val="2B2D42"/>
                </a:solidFill>
                <a:latin typeface="Calibri"/>
                <a:ea typeface="Calibri"/>
                <a:cs typeface="Calibri"/>
                <a:sym typeface="Calibri"/>
              </a:rPr>
              <a:t>2.5 credit points</a:t>
            </a:r>
            <a:endParaRPr b="0" i="0" sz="1350" u="none" cap="none" strike="noStrike">
              <a:solidFill>
                <a:schemeClr val="dk1"/>
              </a:solidFill>
              <a:latin typeface="Calibri"/>
              <a:ea typeface="Calibri"/>
              <a:cs typeface="Calibri"/>
              <a:sym typeface="Calibri"/>
            </a:endParaRPr>
          </a:p>
        </p:txBody>
      </p:sp>
      <p:sp>
        <p:nvSpPr>
          <p:cNvPr id="46" name="Google Shape;46;p2"/>
          <p:cNvSpPr/>
          <p:nvPr/>
        </p:nvSpPr>
        <p:spPr>
          <a:xfrm>
            <a:off x="4754880" y="804672"/>
            <a:ext cx="4160520" cy="1755648"/>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754880" y="804672"/>
            <a:ext cx="4160520"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486460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Schedule</a:t>
            </a:r>
            <a:endParaRPr b="0" i="0" sz="1300" u="none" cap="none" strike="noStrike">
              <a:solidFill>
                <a:schemeClr val="dk1"/>
              </a:solidFill>
              <a:latin typeface="Calibri"/>
              <a:ea typeface="Calibri"/>
              <a:cs typeface="Calibri"/>
              <a:sym typeface="Calibri"/>
            </a:endParaRPr>
          </a:p>
        </p:txBody>
      </p:sp>
      <p:sp>
        <p:nvSpPr>
          <p:cNvPr id="49" name="Google Shape;49;p2"/>
          <p:cNvSpPr/>
          <p:nvPr/>
        </p:nvSpPr>
        <p:spPr>
          <a:xfrm>
            <a:off x="4864608" y="1225296"/>
            <a:ext cx="3941064"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350"/>
              <a:buFont typeface="Calibri"/>
              <a:buNone/>
            </a:pPr>
            <a:r>
              <a:rPr b="0" i="0" lang="en-US" sz="1350" u="none" cap="none" strike="noStrike">
                <a:solidFill>
                  <a:srgbClr val="2B2D42"/>
                </a:solidFill>
                <a:latin typeface="Calibri"/>
                <a:ea typeface="Calibri"/>
                <a:cs typeface="Calibri"/>
                <a:sym typeface="Calibri"/>
              </a:rPr>
              <a:t>2h lecture + 1h practice per week</a:t>
            </a:r>
            <a:endParaRPr b="0" i="0" sz="1350" u="none" cap="none" strike="noStrike">
              <a:solidFill>
                <a:schemeClr val="dk1"/>
              </a:solidFill>
              <a:latin typeface="Calibri"/>
              <a:ea typeface="Calibri"/>
              <a:cs typeface="Calibri"/>
              <a:sym typeface="Calibri"/>
            </a:endParaRPr>
          </a:p>
        </p:txBody>
      </p:sp>
      <p:sp>
        <p:nvSpPr>
          <p:cNvPr id="50" name="Google Shape;50;p2"/>
          <p:cNvSpPr/>
          <p:nvPr/>
        </p:nvSpPr>
        <p:spPr>
          <a:xfrm>
            <a:off x="320040" y="2743200"/>
            <a:ext cx="4160520" cy="1755648"/>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320040" y="2743200"/>
            <a:ext cx="41605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429768" y="2770632"/>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Grading</a:t>
            </a:r>
            <a:endParaRPr b="0" i="0" sz="1300" u="none" cap="none" strike="noStrike">
              <a:solidFill>
                <a:schemeClr val="dk1"/>
              </a:solidFill>
              <a:latin typeface="Calibri"/>
              <a:ea typeface="Calibri"/>
              <a:cs typeface="Calibri"/>
              <a:sym typeface="Calibri"/>
            </a:endParaRPr>
          </a:p>
        </p:txBody>
      </p:sp>
      <p:sp>
        <p:nvSpPr>
          <p:cNvPr id="53" name="Google Shape;53;p2"/>
          <p:cNvSpPr/>
          <p:nvPr/>
        </p:nvSpPr>
        <p:spPr>
          <a:xfrm>
            <a:off x="429768" y="3163824"/>
            <a:ext cx="3941064"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350"/>
              <a:buFont typeface="Calibri"/>
              <a:buNone/>
            </a:pPr>
            <a:r>
              <a:rPr b="0" i="0" lang="en-US" sz="1350" u="none" cap="none" strike="noStrike">
                <a:solidFill>
                  <a:srgbClr val="2B2D42"/>
                </a:solidFill>
                <a:latin typeface="Calibri"/>
                <a:ea typeface="Calibri"/>
                <a:cs typeface="Calibri"/>
                <a:sym typeface="Calibri"/>
              </a:rPr>
              <a:t>Homework 30%  ·  Project 60%  ·  Participation 10%</a:t>
            </a:r>
            <a:endParaRPr b="0" i="0" sz="1350" u="none" cap="none" strike="noStrike">
              <a:solidFill>
                <a:schemeClr val="dk1"/>
              </a:solidFill>
              <a:latin typeface="Calibri"/>
              <a:ea typeface="Calibri"/>
              <a:cs typeface="Calibri"/>
              <a:sym typeface="Calibri"/>
            </a:endParaRPr>
          </a:p>
        </p:txBody>
      </p:sp>
      <p:sp>
        <p:nvSpPr>
          <p:cNvPr id="54" name="Google Shape;54;p2"/>
          <p:cNvSpPr/>
          <p:nvPr/>
        </p:nvSpPr>
        <p:spPr>
          <a:xfrm>
            <a:off x="4754880" y="2743200"/>
            <a:ext cx="4160520" cy="1755648"/>
          </a:xfrm>
          <a:prstGeom prst="rect">
            <a:avLst/>
          </a:prstGeom>
          <a:solidFill>
            <a:srgbClr val="F0ECFA"/>
          </a:solidFill>
          <a:ln cap="flat" cmpd="sng" w="12700">
            <a:solidFill>
              <a:srgbClr val="7B68C8">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4754880" y="2743200"/>
            <a:ext cx="41605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4864608" y="2770632"/>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Project</a:t>
            </a:r>
            <a:endParaRPr b="0" i="0" sz="1300" u="none" cap="none" strike="noStrike">
              <a:solidFill>
                <a:schemeClr val="dk1"/>
              </a:solidFill>
              <a:latin typeface="Calibri"/>
              <a:ea typeface="Calibri"/>
              <a:cs typeface="Calibri"/>
              <a:sym typeface="Calibri"/>
            </a:endParaRPr>
          </a:p>
        </p:txBody>
      </p:sp>
      <p:sp>
        <p:nvSpPr>
          <p:cNvPr id="57" name="Google Shape;57;p2"/>
          <p:cNvSpPr/>
          <p:nvPr/>
        </p:nvSpPr>
        <p:spPr>
          <a:xfrm>
            <a:off x="4864608" y="3163824"/>
            <a:ext cx="3941064"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350"/>
              <a:buFont typeface="Calibri"/>
              <a:buNone/>
            </a:pPr>
            <a:r>
              <a:rPr b="0" i="0" lang="en-US" sz="1350" u="none" cap="none" strike="noStrike">
                <a:solidFill>
                  <a:srgbClr val="2B2D42"/>
                </a:solidFill>
                <a:latin typeface="Calibri"/>
                <a:ea typeface="Calibri"/>
                <a:cs typeface="Calibri"/>
                <a:sym typeface="Calibri"/>
              </a:rPr>
              <a:t>Presentation 20% + Research 20% + Submission 20%</a:t>
            </a:r>
            <a:endParaRPr b="0" i="0" sz="1350" u="none" cap="none" strike="noStrike">
              <a:solidFill>
                <a:schemeClr val="dk1"/>
              </a:solidFill>
              <a:latin typeface="Calibri"/>
              <a:ea typeface="Calibri"/>
              <a:cs typeface="Calibri"/>
              <a:sym typeface="Calibri"/>
            </a:endParaRPr>
          </a:p>
        </p:txBody>
      </p:sp>
      <p:sp>
        <p:nvSpPr>
          <p:cNvPr id="58" name="Google Shape;58;p2"/>
          <p:cNvSpPr/>
          <p:nvPr/>
        </p:nvSpPr>
        <p:spPr>
          <a:xfrm>
            <a:off x="320040" y="4736592"/>
            <a:ext cx="8503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150"/>
              <a:buFont typeface="Calibri"/>
              <a:buNone/>
            </a:pPr>
            <a:r>
              <a:rPr b="0" i="1" lang="en-US" sz="1150" u="none" cap="none" strike="noStrike">
                <a:solidFill>
                  <a:srgbClr val="8D99AE"/>
                </a:solidFill>
                <a:latin typeface="Calibri"/>
                <a:ea typeface="Calibri"/>
                <a:cs typeface="Calibri"/>
                <a:sym typeface="Calibri"/>
              </a:rPr>
              <a:t>Prerequisites: Algorithms (61753)  ·  Introduction to Cloud Computing (61773)</a:t>
            </a:r>
            <a:endParaRPr b="0" i="0" sz="1150" u="none" cap="none" strike="noStrike">
              <a:solidFill>
                <a:schemeClr val="dk1"/>
              </a:solidFill>
              <a:latin typeface="Calibri"/>
              <a:ea typeface="Calibri"/>
              <a:cs typeface="Calibri"/>
              <a:sym typeface="Calibri"/>
            </a:endParaRPr>
          </a:p>
        </p:txBody>
      </p:sp>
      <p:sp>
        <p:nvSpPr>
          <p:cNvPr id="59" name="Google Shape;59;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g3d0b63cec61_0_4"/>
          <p:cNvSpPr/>
          <p:nvPr/>
        </p:nvSpPr>
        <p:spPr>
          <a:xfrm>
            <a:off x="0" y="0"/>
            <a:ext cx="164700"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3d0b63cec61_0_4"/>
          <p:cNvSpPr/>
          <p:nvPr/>
        </p:nvSpPr>
        <p:spPr>
          <a:xfrm>
            <a:off x="164592" y="0"/>
            <a:ext cx="8979300"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3d0b63cec61_0_4"/>
          <p:cNvSpPr/>
          <p:nvPr/>
        </p:nvSpPr>
        <p:spPr>
          <a:xfrm>
            <a:off x="320040" y="137160"/>
            <a:ext cx="402300" cy="40230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3d0b63cec61_0_4"/>
          <p:cNvSpPr/>
          <p:nvPr/>
        </p:nvSpPr>
        <p:spPr>
          <a:xfrm>
            <a:off x="868680" y="91440"/>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lang="en-US" sz="2200">
                <a:solidFill>
                  <a:srgbClr val="23293A"/>
                </a:solidFill>
                <a:latin typeface="Calibri"/>
                <a:ea typeface="Calibri"/>
                <a:cs typeface="Calibri"/>
                <a:sym typeface="Calibri"/>
              </a:rPr>
              <a:t>Opening survey</a:t>
            </a:r>
            <a:endParaRPr b="0" i="0" sz="2200" u="none" cap="none" strike="noStrike">
              <a:solidFill>
                <a:schemeClr val="dk1"/>
              </a:solidFill>
              <a:latin typeface="Calibri"/>
              <a:ea typeface="Calibri"/>
              <a:cs typeface="Calibri"/>
              <a:sym typeface="Calibri"/>
            </a:endParaRPr>
          </a:p>
        </p:txBody>
      </p:sp>
      <p:sp>
        <p:nvSpPr>
          <p:cNvPr id="69" name="Google Shape;69;g3d0b63cec61_0_4"/>
          <p:cNvSpPr/>
          <p:nvPr/>
        </p:nvSpPr>
        <p:spPr>
          <a:xfrm>
            <a:off x="164592" y="685800"/>
            <a:ext cx="8979300" cy="36600"/>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d0b63cec61_0_4"/>
          <p:cNvSpPr/>
          <p:nvPr/>
        </p:nvSpPr>
        <p:spPr>
          <a:xfrm>
            <a:off x="320050" y="804678"/>
            <a:ext cx="4160400" cy="3306600"/>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d0b63cec61_0_4"/>
          <p:cNvSpPr/>
          <p:nvPr/>
        </p:nvSpPr>
        <p:spPr>
          <a:xfrm>
            <a:off x="320040" y="804672"/>
            <a:ext cx="4160400" cy="3474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3d0b63cec61_0_4"/>
          <p:cNvSpPr/>
          <p:nvPr/>
        </p:nvSpPr>
        <p:spPr>
          <a:xfrm>
            <a:off x="429768" y="832104"/>
            <a:ext cx="3941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Google form</a:t>
            </a:r>
            <a:endParaRPr b="0" i="0" sz="1300" u="none" cap="none" strike="noStrike">
              <a:solidFill>
                <a:schemeClr val="dk1"/>
              </a:solidFill>
              <a:latin typeface="Calibri"/>
              <a:ea typeface="Calibri"/>
              <a:cs typeface="Calibri"/>
              <a:sym typeface="Calibri"/>
            </a:endParaRPr>
          </a:p>
        </p:txBody>
      </p:sp>
      <p:sp>
        <p:nvSpPr>
          <p:cNvPr id="73" name="Google Shape;73;g3d0b63cec61_0_4"/>
          <p:cNvSpPr/>
          <p:nvPr/>
        </p:nvSpPr>
        <p:spPr>
          <a:xfrm>
            <a:off x="365993" y="1239046"/>
            <a:ext cx="3941100" cy="122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chemeClr val="dk1"/>
                </a:solidFill>
              </a:rPr>
              <a:t>https://docs.google.com/forms/d/e/1FAIpQLSdMH8j2gEeSR9r-av2IW4CSRrRiz1fgkDE3_imhZX5LIgCZJg/viewform</a:t>
            </a:r>
            <a:endParaRPr/>
          </a:p>
        </p:txBody>
      </p:sp>
      <p:sp>
        <p:nvSpPr>
          <p:cNvPr id="74" name="Google Shape;74;g3d0b63cec61_0_4"/>
          <p:cNvSpPr/>
          <p:nvPr/>
        </p:nvSpPr>
        <p:spPr>
          <a:xfrm>
            <a:off x="4754875" y="804678"/>
            <a:ext cx="4160400" cy="3306600"/>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d0b63cec61_0_4"/>
          <p:cNvSpPr/>
          <p:nvPr/>
        </p:nvSpPr>
        <p:spPr>
          <a:xfrm>
            <a:off x="4754880" y="804672"/>
            <a:ext cx="4160400" cy="3474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d0b63cec61_0_4"/>
          <p:cNvSpPr/>
          <p:nvPr/>
        </p:nvSpPr>
        <p:spPr>
          <a:xfrm>
            <a:off x="4864608" y="832104"/>
            <a:ext cx="3941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Padlet</a:t>
            </a:r>
            <a:endParaRPr b="0" i="0" sz="1300" u="none" cap="none" strike="noStrike">
              <a:solidFill>
                <a:schemeClr val="dk1"/>
              </a:solidFill>
              <a:latin typeface="Calibri"/>
              <a:ea typeface="Calibri"/>
              <a:cs typeface="Calibri"/>
              <a:sym typeface="Calibri"/>
            </a:endParaRPr>
          </a:p>
        </p:txBody>
      </p:sp>
      <p:sp>
        <p:nvSpPr>
          <p:cNvPr id="77" name="Google Shape;77;g3d0b63cec61_0_4"/>
          <p:cNvSpPr/>
          <p:nvPr/>
        </p:nvSpPr>
        <p:spPr>
          <a:xfrm>
            <a:off x="4864608" y="1225296"/>
            <a:ext cx="3941100" cy="122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350"/>
              <a:buFont typeface="Calibri"/>
              <a:buNone/>
            </a:pPr>
            <a:r>
              <a:rPr lang="en-US" sz="1350">
                <a:solidFill>
                  <a:srgbClr val="2B2D42"/>
                </a:solidFill>
                <a:latin typeface="Calibri"/>
                <a:ea typeface="Calibri"/>
                <a:cs typeface="Calibri"/>
                <a:sym typeface="Calibri"/>
              </a:rPr>
              <a:t>https://padlet.com/naomius/my-supercalifragilisticexpialidocious-padlet-e7e3pwdhmtaakmb9</a:t>
            </a:r>
            <a:endParaRPr b="0" i="0" sz="1350" u="none" cap="none" strike="noStrike">
              <a:solidFill>
                <a:schemeClr val="dk1"/>
              </a:solidFill>
              <a:latin typeface="Calibri"/>
              <a:ea typeface="Calibri"/>
              <a:cs typeface="Calibri"/>
              <a:sym typeface="Calibri"/>
            </a:endParaRPr>
          </a:p>
        </p:txBody>
      </p:sp>
      <p:sp>
        <p:nvSpPr>
          <p:cNvPr id="78" name="Google Shape;78;g3d0b63cec61_0_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79" name="Google Shape;79;g3d0b63cec61_0_4"/>
          <p:cNvPicPr preferRelativeResize="0"/>
          <p:nvPr/>
        </p:nvPicPr>
        <p:blipFill>
          <a:blip r:embed="rId3">
            <a:alphaModFix/>
          </a:blip>
          <a:stretch>
            <a:fillRect/>
          </a:stretch>
        </p:blipFill>
        <p:spPr>
          <a:xfrm>
            <a:off x="320050" y="2001787"/>
            <a:ext cx="4160401" cy="16483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9DB5"/>
        </a:solidFill>
      </p:bgPr>
    </p:bg>
    <p:spTree>
      <p:nvGrpSpPr>
        <p:cNvPr id="84" name="Shape 84"/>
        <p:cNvGrpSpPr/>
        <p:nvPr/>
      </p:nvGrpSpPr>
      <p:grpSpPr>
        <a:xfrm>
          <a:off x="0" y="0"/>
          <a:ext cx="0" cy="0"/>
          <a:chOff x="0" y="0"/>
          <a:chExt cx="0" cy="0"/>
        </a:xfrm>
      </p:grpSpPr>
      <p:sp>
        <p:nvSpPr>
          <p:cNvPr id="85" name="Google Shape;85;p3"/>
          <p:cNvSpPr/>
          <p:nvPr/>
        </p:nvSpPr>
        <p:spPr>
          <a:xfrm>
            <a:off x="6858000" y="-457200"/>
            <a:ext cx="3200400" cy="3200400"/>
          </a:xfrm>
          <a:prstGeom prst="ellipse">
            <a:avLst/>
          </a:prstGeom>
          <a:solidFill>
            <a:srgbClr val="FFFFFF">
              <a:alpha val="14901"/>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7772400" y="2743200"/>
            <a:ext cx="1828800" cy="182880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182880" y="3840480"/>
            <a:ext cx="1097280" cy="109728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457200" y="640080"/>
            <a:ext cx="12801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1</a:t>
            </a:r>
            <a:endParaRPr b="0" i="0" sz="6400" u="none" cap="none" strike="noStrike">
              <a:solidFill>
                <a:schemeClr val="dk1"/>
              </a:solidFill>
              <a:latin typeface="Calibri"/>
              <a:ea typeface="Calibri"/>
              <a:cs typeface="Calibri"/>
              <a:sym typeface="Calibri"/>
            </a:endParaRPr>
          </a:p>
        </p:txBody>
      </p:sp>
      <p:sp>
        <p:nvSpPr>
          <p:cNvPr id="89" name="Google Shape;89;p3"/>
          <p:cNvSpPr/>
          <p:nvPr/>
        </p:nvSpPr>
        <p:spPr>
          <a:xfrm>
            <a:off x="457200" y="1920240"/>
            <a:ext cx="68580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What Is</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Ecological Modeling?</a:t>
            </a:r>
            <a:endParaRPr b="0" i="0" sz="3600" u="none" cap="none" strike="noStrike">
              <a:solidFill>
                <a:schemeClr val="dk1"/>
              </a:solidFill>
              <a:latin typeface="Calibri"/>
              <a:ea typeface="Calibri"/>
              <a:cs typeface="Calibri"/>
              <a:sym typeface="Calibri"/>
            </a:endParaRPr>
          </a:p>
        </p:txBody>
      </p:sp>
      <p:sp>
        <p:nvSpPr>
          <p:cNvPr id="90" name="Google Shape;90;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4"/>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320040" y="137160"/>
            <a:ext cx="402336" cy="402336"/>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What Is Ecological Modeling?</a:t>
            </a:r>
            <a:endParaRPr b="0" i="0" sz="2200" u="none" cap="none" strike="noStrike">
              <a:solidFill>
                <a:schemeClr val="dk1"/>
              </a:solidFill>
              <a:latin typeface="Calibri"/>
              <a:ea typeface="Calibri"/>
              <a:cs typeface="Calibri"/>
              <a:sym typeface="Calibri"/>
            </a:endParaRPr>
          </a:p>
        </p:txBody>
      </p:sp>
      <p:sp>
        <p:nvSpPr>
          <p:cNvPr id="100" name="Google Shape;100;p4"/>
          <p:cNvSpPr/>
          <p:nvPr/>
        </p:nvSpPr>
        <p:spPr>
          <a:xfrm>
            <a:off x="164592" y="685800"/>
            <a:ext cx="8979408" cy="36576"/>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320040" y="777240"/>
            <a:ext cx="8503920" cy="960120"/>
          </a:xfrm>
          <a:prstGeom prst="rect">
            <a:avLst/>
          </a:prstGeom>
          <a:solidFill>
            <a:srgbClr val="4A9DB5"/>
          </a:solidFill>
          <a:ln cap="flat" cmpd="sng" w="12700">
            <a:solidFill>
              <a:srgbClr val="4A9DB5"/>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502920" y="804672"/>
            <a:ext cx="8229600" cy="8961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Calibri"/>
              <a:buNone/>
            </a:pPr>
            <a:r>
              <a:rPr b="1" i="0" lang="en-US" sz="1550" u="none" cap="none" strike="noStrike">
                <a:solidFill>
                  <a:srgbClr val="FFFFFF"/>
                </a:solidFill>
                <a:latin typeface="Calibri"/>
                <a:ea typeface="Calibri"/>
                <a:cs typeface="Calibri"/>
                <a:sym typeface="Calibri"/>
              </a:rPr>
              <a:t>A scientific approach to understanding and predicting ecosystem behaviour —</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550"/>
              <a:buFont typeface="Calibri"/>
              <a:buNone/>
            </a:pPr>
            <a:r>
              <a:rPr b="1" i="0" lang="en-US" sz="1550" u="none" cap="none" strike="noStrike">
                <a:solidFill>
                  <a:srgbClr val="FFFFFF"/>
                </a:solidFill>
                <a:latin typeface="Calibri"/>
                <a:ea typeface="Calibri"/>
                <a:cs typeface="Calibri"/>
                <a:sym typeface="Calibri"/>
              </a:rPr>
              <a:t>bridging ecological theory and real-world observations.</a:t>
            </a:r>
            <a:endParaRPr b="0" i="0" sz="1550" u="none" cap="none" strike="noStrike">
              <a:solidFill>
                <a:schemeClr val="dk1"/>
              </a:solidFill>
              <a:latin typeface="Calibri"/>
              <a:ea typeface="Calibri"/>
              <a:cs typeface="Calibri"/>
              <a:sym typeface="Calibri"/>
            </a:endParaRPr>
          </a:p>
        </p:txBody>
      </p:sp>
      <p:sp>
        <p:nvSpPr>
          <p:cNvPr id="103" name="Google Shape;103;p4"/>
          <p:cNvSpPr/>
          <p:nvPr/>
        </p:nvSpPr>
        <p:spPr>
          <a:xfrm>
            <a:off x="320040" y="1874520"/>
            <a:ext cx="8503920" cy="2834640"/>
          </a:xfrm>
          <a:prstGeom prst="rect">
            <a:avLst/>
          </a:prstGeom>
          <a:noFill/>
          <a:ln>
            <a:noFill/>
          </a:ln>
        </p:spPr>
        <p:txBody>
          <a:bodyPr anchorCtr="0" anchor="t" bIns="45700" lIns="91425" spcFirstLastPara="1" rIns="91425" wrap="square" tIns="45700">
            <a:noAutofit/>
          </a:bodyPr>
          <a:lstStyle/>
          <a:p>
            <a:pPr indent="-368300" lvl="0" marL="342900" marR="0" rtl="0" algn="l">
              <a:spcBef>
                <a:spcPts val="0"/>
              </a:spcBef>
              <a:spcAft>
                <a:spcPts val="0"/>
              </a:spcAft>
              <a:buClr>
                <a:srgbClr val="2B2D42"/>
              </a:buClr>
              <a:buSzPts val="1800"/>
              <a:buFont typeface="Calibri"/>
              <a:buChar char="•"/>
            </a:pPr>
            <a:r>
              <a:rPr b="0" i="0" lang="en-US" sz="1800" u="none" cap="none" strike="noStrike">
                <a:solidFill>
                  <a:srgbClr val="2B2D42"/>
                </a:solidFill>
                <a:latin typeface="Calibri"/>
                <a:ea typeface="Calibri"/>
                <a:cs typeface="Calibri"/>
                <a:sym typeface="Calibri"/>
              </a:rPr>
              <a:t>Translates ecological processes and relationships into mathematical language</a:t>
            </a:r>
            <a:endParaRPr b="0" i="0" sz="18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2B2D42"/>
              </a:buClr>
              <a:buSzPts val="1800"/>
              <a:buFont typeface="Calibri"/>
              <a:buChar char="•"/>
            </a:pPr>
            <a:r>
              <a:rPr b="0" i="0" lang="en-US" sz="1800" u="none" cap="none" strike="noStrike">
                <a:solidFill>
                  <a:srgbClr val="2B2D42"/>
                </a:solidFill>
                <a:latin typeface="Calibri"/>
                <a:ea typeface="Calibri"/>
                <a:cs typeface="Calibri"/>
                <a:sym typeface="Calibri"/>
              </a:rPr>
              <a:t>Manages complexity by breaking intricate biological systems into manageable components</a:t>
            </a:r>
            <a:endParaRPr b="0" i="0" sz="1800" u="none" cap="none" strike="noStrike">
              <a:solidFill>
                <a:srgbClr val="2B2D42"/>
              </a:solidFill>
              <a:latin typeface="Calibri"/>
              <a:ea typeface="Calibri"/>
              <a:cs typeface="Calibri"/>
              <a:sym typeface="Calibri"/>
            </a:endParaRPr>
          </a:p>
          <a:p>
            <a:pPr indent="-368300" lvl="0" marL="342900" marR="0" rtl="0" algn="l">
              <a:spcBef>
                <a:spcPts val="0"/>
              </a:spcBef>
              <a:spcAft>
                <a:spcPts val="0"/>
              </a:spcAft>
              <a:buClr>
                <a:srgbClr val="2B2D42"/>
              </a:buClr>
              <a:buSzPts val="1800"/>
              <a:buFont typeface="Calibri"/>
              <a:buChar char="•"/>
            </a:pPr>
            <a:r>
              <a:t/>
            </a:r>
            <a:endParaRPr sz="1800">
              <a:solidFill>
                <a:srgbClr val="2B2D42"/>
              </a:solidFill>
              <a:latin typeface="Calibri"/>
              <a:ea typeface="Calibri"/>
              <a:cs typeface="Calibri"/>
              <a:sym typeface="Calibri"/>
            </a:endParaRPr>
          </a:p>
          <a:p>
            <a:pPr indent="-368300" lvl="0" marL="342900" marR="0" rtl="0" algn="l">
              <a:spcBef>
                <a:spcPts val="0"/>
              </a:spcBef>
              <a:spcAft>
                <a:spcPts val="0"/>
              </a:spcAft>
              <a:buClr>
                <a:srgbClr val="2B2D42"/>
              </a:buClr>
              <a:buSzPts val="1800"/>
              <a:buFont typeface="Calibri"/>
              <a:buChar char="•"/>
            </a:pPr>
            <a:r>
              <a:rPr b="0" i="0" lang="en-US" sz="1800" u="none" cap="none" strike="noStrike">
                <a:solidFill>
                  <a:srgbClr val="2B2D42"/>
                </a:solidFill>
                <a:latin typeface="Calibri"/>
                <a:ea typeface="Calibri"/>
                <a:cs typeface="Calibri"/>
                <a:sym typeface="Calibri"/>
              </a:rPr>
              <a:t>Enables quantitative predictions about ecological dynamics across time and space</a:t>
            </a:r>
            <a:endParaRPr b="0" i="0" sz="18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2B2D42"/>
              </a:buClr>
              <a:buSzPts val="1800"/>
              <a:buFont typeface="Calibri"/>
              <a:buChar char="•"/>
            </a:pPr>
            <a:r>
              <a:rPr b="0" i="0" lang="en-US" sz="1800" u="none" cap="none" strike="noStrike">
                <a:solidFill>
                  <a:srgbClr val="2B2D42"/>
                </a:solidFill>
                <a:latin typeface="Calibri"/>
                <a:ea typeface="Calibri"/>
                <a:cs typeface="Calibri"/>
                <a:sym typeface="Calibri"/>
              </a:rPr>
              <a:t>Ranges from simple equations to sophisticated computer simulations</a:t>
            </a:r>
            <a:endParaRPr b="0" i="0" sz="18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2B2D42"/>
              </a:buClr>
              <a:buSzPts val="1800"/>
              <a:buFont typeface="Calibri"/>
              <a:buChar char="•"/>
            </a:pPr>
            <a:r>
              <a:rPr b="0" i="0" lang="en-US" sz="1800" u="none" cap="none" strike="noStrike">
                <a:solidFill>
                  <a:srgbClr val="2B2D42"/>
                </a:solidFill>
                <a:latin typeface="Calibri"/>
                <a:ea typeface="Calibri"/>
                <a:cs typeface="Calibri"/>
                <a:sym typeface="Calibri"/>
              </a:rPr>
              <a:t>Provides a shared framework for communicating ecological knowledge across disciplines</a:t>
            </a:r>
            <a:endParaRPr b="0" i="0" sz="1800" u="none" cap="none" strike="noStrike">
              <a:solidFill>
                <a:schemeClr val="dk1"/>
              </a:solidFill>
              <a:latin typeface="Calibri"/>
              <a:ea typeface="Calibri"/>
              <a:cs typeface="Calibri"/>
              <a:sym typeface="Calibri"/>
            </a:endParaRPr>
          </a:p>
        </p:txBody>
      </p:sp>
      <p:sp>
        <p:nvSpPr>
          <p:cNvPr id="104" name="Google Shape;104;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5"/>
          <p:cNvSpPr/>
          <p:nvPr/>
        </p:nvSpPr>
        <p:spPr>
          <a:xfrm>
            <a:off x="0" y="0"/>
            <a:ext cx="164592" cy="51435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320040" y="137160"/>
            <a:ext cx="402336" cy="402336"/>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Why Model Ecological Systems?</a:t>
            </a:r>
            <a:endParaRPr b="0" i="0" sz="2200" u="none" cap="none" strike="noStrike">
              <a:solidFill>
                <a:schemeClr val="dk1"/>
              </a:solidFill>
              <a:latin typeface="Calibri"/>
              <a:ea typeface="Calibri"/>
              <a:cs typeface="Calibri"/>
              <a:sym typeface="Calibri"/>
            </a:endParaRPr>
          </a:p>
        </p:txBody>
      </p:sp>
      <p:sp>
        <p:nvSpPr>
          <p:cNvPr id="114" name="Google Shape;114;p5"/>
          <p:cNvSpPr/>
          <p:nvPr/>
        </p:nvSpPr>
        <p:spPr>
          <a:xfrm>
            <a:off x="164592" y="685800"/>
            <a:ext cx="8979408" cy="36576"/>
          </a:xfrm>
          <a:prstGeom prst="rect">
            <a:avLst/>
          </a:prstGeom>
          <a:solidFill>
            <a:srgbClr val="4CAF8A">
              <a:alpha val="40000"/>
            </a:srgbClr>
          </a:solidFill>
          <a:ln cap="flat" cmpd="sng" w="12700">
            <a:solidFill>
              <a:srgbClr val="4CAF8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320040" y="804672"/>
            <a:ext cx="4160520" cy="1828800"/>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320040" y="804672"/>
            <a:ext cx="41605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42976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Test Hypotheses</a:t>
            </a:r>
            <a:endParaRPr b="0" i="0" sz="1300" u="none" cap="none" strike="noStrike">
              <a:solidFill>
                <a:schemeClr val="dk1"/>
              </a:solidFill>
              <a:latin typeface="Calibri"/>
              <a:ea typeface="Calibri"/>
              <a:cs typeface="Calibri"/>
              <a:sym typeface="Calibri"/>
            </a:endParaRPr>
          </a:p>
        </p:txBody>
      </p:sp>
      <p:sp>
        <p:nvSpPr>
          <p:cNvPr id="118" name="Google Shape;118;p5"/>
          <p:cNvSpPr/>
          <p:nvPr/>
        </p:nvSpPr>
        <p:spPr>
          <a:xfrm>
            <a:off x="429768" y="1225296"/>
            <a:ext cx="3941064"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Models let us test ideas about ecological processes (climate change, pollution, species interactions) without costly or impossible field experiments.</a:t>
            </a:r>
            <a:endParaRPr b="0" i="0" sz="1200" u="none" cap="none" strike="noStrike">
              <a:solidFill>
                <a:schemeClr val="dk1"/>
              </a:solidFill>
              <a:latin typeface="Calibri"/>
              <a:ea typeface="Calibri"/>
              <a:cs typeface="Calibri"/>
              <a:sym typeface="Calibri"/>
            </a:endParaRPr>
          </a:p>
        </p:txBody>
      </p:sp>
      <p:sp>
        <p:nvSpPr>
          <p:cNvPr id="119" name="Google Shape;119;p5"/>
          <p:cNvSpPr/>
          <p:nvPr/>
        </p:nvSpPr>
        <p:spPr>
          <a:xfrm>
            <a:off x="4754880" y="804672"/>
            <a:ext cx="4160520" cy="1828800"/>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4754880" y="804672"/>
            <a:ext cx="41605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486460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Predict Future States</a:t>
            </a:r>
            <a:endParaRPr b="0" i="0" sz="1300" u="none" cap="none" strike="noStrike">
              <a:solidFill>
                <a:schemeClr val="dk1"/>
              </a:solidFill>
              <a:latin typeface="Calibri"/>
              <a:ea typeface="Calibri"/>
              <a:cs typeface="Calibri"/>
              <a:sym typeface="Calibri"/>
            </a:endParaRPr>
          </a:p>
        </p:txBody>
      </p:sp>
      <p:sp>
        <p:nvSpPr>
          <p:cNvPr id="122" name="Google Shape;122;p5"/>
          <p:cNvSpPr/>
          <p:nvPr/>
        </p:nvSpPr>
        <p:spPr>
          <a:xfrm>
            <a:off x="4864608" y="1225296"/>
            <a:ext cx="3941064"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By simulating different scenarios, we forecast future ecosystem states and identify threats to biodiversity before they occur.</a:t>
            </a:r>
            <a:endParaRPr b="0" i="0" sz="1200" u="none" cap="none" strike="noStrike">
              <a:solidFill>
                <a:schemeClr val="dk1"/>
              </a:solidFill>
              <a:latin typeface="Calibri"/>
              <a:ea typeface="Calibri"/>
              <a:cs typeface="Calibri"/>
              <a:sym typeface="Calibri"/>
            </a:endParaRPr>
          </a:p>
        </p:txBody>
      </p:sp>
      <p:sp>
        <p:nvSpPr>
          <p:cNvPr id="123" name="Google Shape;123;p5"/>
          <p:cNvSpPr/>
          <p:nvPr/>
        </p:nvSpPr>
        <p:spPr>
          <a:xfrm>
            <a:off x="320040" y="2816352"/>
            <a:ext cx="4160520" cy="1828800"/>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320040" y="2816352"/>
            <a:ext cx="4160520"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429768" y="284378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Bridge Theory &amp; Data</a:t>
            </a:r>
            <a:endParaRPr b="0" i="0" sz="1300" u="none" cap="none" strike="noStrike">
              <a:solidFill>
                <a:schemeClr val="dk1"/>
              </a:solidFill>
              <a:latin typeface="Calibri"/>
              <a:ea typeface="Calibri"/>
              <a:cs typeface="Calibri"/>
              <a:sym typeface="Calibri"/>
            </a:endParaRPr>
          </a:p>
        </p:txBody>
      </p:sp>
      <p:sp>
        <p:nvSpPr>
          <p:cNvPr id="126" name="Google Shape;126;p5"/>
          <p:cNvSpPr/>
          <p:nvPr/>
        </p:nvSpPr>
        <p:spPr>
          <a:xfrm>
            <a:off x="429768" y="3236976"/>
            <a:ext cx="3941064"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Models connect theoretical concepts to real-world observations — incorporating temperature, rainfall, nutrients, competition, and predation.</a:t>
            </a:r>
            <a:endParaRPr b="0" i="0" sz="1200" u="none" cap="none" strike="noStrike">
              <a:solidFill>
                <a:schemeClr val="dk1"/>
              </a:solidFill>
              <a:latin typeface="Calibri"/>
              <a:ea typeface="Calibri"/>
              <a:cs typeface="Calibri"/>
              <a:sym typeface="Calibri"/>
            </a:endParaRPr>
          </a:p>
        </p:txBody>
      </p:sp>
      <p:sp>
        <p:nvSpPr>
          <p:cNvPr id="127" name="Google Shape;127;p5"/>
          <p:cNvSpPr/>
          <p:nvPr/>
        </p:nvSpPr>
        <p:spPr>
          <a:xfrm>
            <a:off x="4754880" y="2816352"/>
            <a:ext cx="4160520" cy="1828800"/>
          </a:xfrm>
          <a:prstGeom prst="rect">
            <a:avLst/>
          </a:prstGeom>
          <a:solidFill>
            <a:srgbClr val="F0ECFA"/>
          </a:solidFill>
          <a:ln cap="flat" cmpd="sng" w="12700">
            <a:solidFill>
              <a:srgbClr val="7B68C8">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4754880" y="2816352"/>
            <a:ext cx="41605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4864608" y="284378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Guide Decisions</a:t>
            </a:r>
            <a:endParaRPr b="0" i="0" sz="1300" u="none" cap="none" strike="noStrike">
              <a:solidFill>
                <a:schemeClr val="dk1"/>
              </a:solidFill>
              <a:latin typeface="Calibri"/>
              <a:ea typeface="Calibri"/>
              <a:cs typeface="Calibri"/>
              <a:sym typeface="Calibri"/>
            </a:endParaRPr>
          </a:p>
        </p:txBody>
      </p:sp>
      <p:sp>
        <p:nvSpPr>
          <p:cNvPr id="130" name="Google Shape;130;p5"/>
          <p:cNvSpPr/>
          <p:nvPr/>
        </p:nvSpPr>
        <p:spPr>
          <a:xfrm>
            <a:off x="4864608" y="3236976"/>
            <a:ext cx="3941064"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Models translate science into policy — providing actionable information for resource management and conservation planning.</a:t>
            </a:r>
            <a:endParaRPr b="0" i="0" sz="1200" u="none" cap="none" strike="noStrike">
              <a:solidFill>
                <a:schemeClr val="dk1"/>
              </a:solidFill>
              <a:latin typeface="Calibri"/>
              <a:ea typeface="Calibri"/>
              <a:cs typeface="Calibri"/>
              <a:sym typeface="Calibri"/>
            </a:endParaRPr>
          </a:p>
        </p:txBody>
      </p:sp>
      <p:sp>
        <p:nvSpPr>
          <p:cNvPr id="131" name="Google Shape;131;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6"/>
          <p:cNvSpPr/>
          <p:nvPr/>
        </p:nvSpPr>
        <p:spPr>
          <a:xfrm>
            <a:off x="-46075" y="-84475"/>
            <a:ext cx="164700"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320040" y="137160"/>
            <a:ext cx="402336" cy="402336"/>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History of Ecological Modeling</a:t>
            </a:r>
            <a:endParaRPr b="0" i="0" sz="2200" u="none" cap="none" strike="noStrike">
              <a:solidFill>
                <a:schemeClr val="dk1"/>
              </a:solidFill>
              <a:latin typeface="Calibri"/>
              <a:ea typeface="Calibri"/>
              <a:cs typeface="Calibri"/>
              <a:sym typeface="Calibri"/>
            </a:endParaRPr>
          </a:p>
        </p:txBody>
      </p:sp>
      <p:sp>
        <p:nvSpPr>
          <p:cNvPr id="141" name="Google Shape;141;p6"/>
          <p:cNvSpPr/>
          <p:nvPr/>
        </p:nvSpPr>
        <p:spPr>
          <a:xfrm>
            <a:off x="164592" y="685800"/>
            <a:ext cx="8979408" cy="36576"/>
          </a:xfrm>
          <a:prstGeom prst="rect">
            <a:avLst/>
          </a:prstGeom>
          <a:solidFill>
            <a:srgbClr val="D4756B">
              <a:alpha val="40000"/>
            </a:srgbClr>
          </a:solidFill>
          <a:ln cap="flat" cmpd="sng" w="12700">
            <a:solidFill>
              <a:srgbClr val="D4756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320040" y="777240"/>
            <a:ext cx="8503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300"/>
              <a:buFont typeface="Calibri"/>
              <a:buNone/>
            </a:pPr>
            <a:r>
              <a:rPr b="0" i="1" lang="en-US" sz="1300" u="none" cap="none" strike="noStrike">
                <a:solidFill>
                  <a:srgbClr val="8D99AE"/>
                </a:solidFill>
                <a:latin typeface="Calibri"/>
                <a:ea typeface="Calibri"/>
                <a:cs typeface="Calibri"/>
                <a:sym typeface="Calibri"/>
              </a:rPr>
              <a:t>From pencil-and-paper equations to machine learning — the field has evolved dramatically.</a:t>
            </a:r>
            <a:endParaRPr b="0" i="0" sz="1300" u="none" cap="none" strike="noStrike">
              <a:solidFill>
                <a:schemeClr val="dk1"/>
              </a:solidFill>
              <a:latin typeface="Calibri"/>
              <a:ea typeface="Calibri"/>
              <a:cs typeface="Calibri"/>
              <a:sym typeface="Calibri"/>
            </a:endParaRPr>
          </a:p>
        </p:txBody>
      </p:sp>
      <p:sp>
        <p:nvSpPr>
          <p:cNvPr id="143" name="Google Shape;143;p6"/>
          <p:cNvSpPr/>
          <p:nvPr/>
        </p:nvSpPr>
        <p:spPr>
          <a:xfrm>
            <a:off x="320040" y="1161288"/>
            <a:ext cx="804672" cy="53035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320040" y="1161288"/>
            <a:ext cx="8046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1920s</a:t>
            </a:r>
            <a:endParaRPr b="0" i="0" sz="1200" u="none" cap="none" strike="noStrike">
              <a:solidFill>
                <a:schemeClr val="dk1"/>
              </a:solidFill>
              <a:latin typeface="Calibri"/>
              <a:ea typeface="Calibri"/>
              <a:cs typeface="Calibri"/>
              <a:sym typeface="Calibri"/>
            </a:endParaRPr>
          </a:p>
        </p:txBody>
      </p:sp>
      <p:sp>
        <p:nvSpPr>
          <p:cNvPr id="145" name="Google Shape;145;p6"/>
          <p:cNvSpPr/>
          <p:nvPr/>
        </p:nvSpPr>
        <p:spPr>
          <a:xfrm>
            <a:off x="1216152" y="1197864"/>
            <a:ext cx="7562088" cy="475488"/>
          </a:xfrm>
          <a:prstGeom prst="rect">
            <a:avLst/>
          </a:prstGeom>
          <a:solidFill>
            <a:srgbClr val="F8F9FA"/>
          </a:solidFill>
          <a:ln cap="flat" cmpd="sng" w="12700">
            <a:solidFill>
              <a:srgbClr val="4A9DB5">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1216152" y="1197864"/>
            <a:ext cx="45720" cy="475488"/>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1353312" y="1225296"/>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DB5"/>
              </a:buClr>
              <a:buSzPts val="1250"/>
              <a:buFont typeface="Calibri"/>
              <a:buNone/>
            </a:pPr>
            <a:r>
              <a:rPr b="1" i="0" lang="en-US" sz="1250" u="none" cap="none" strike="noStrike">
                <a:solidFill>
                  <a:srgbClr val="4A9DB5"/>
                </a:solidFill>
                <a:latin typeface="Calibri"/>
                <a:ea typeface="Calibri"/>
                <a:cs typeface="Calibri"/>
                <a:sym typeface="Calibri"/>
              </a:rPr>
              <a:t>Lotka-Volterra</a:t>
            </a:r>
            <a:endParaRPr b="0" i="0" sz="1250" u="none" cap="none" strike="noStrike">
              <a:solidFill>
                <a:schemeClr val="dk1"/>
              </a:solidFill>
              <a:latin typeface="Calibri"/>
              <a:ea typeface="Calibri"/>
              <a:cs typeface="Calibri"/>
              <a:sym typeface="Calibri"/>
            </a:endParaRPr>
          </a:p>
        </p:txBody>
      </p:sp>
      <p:sp>
        <p:nvSpPr>
          <p:cNvPr id="148" name="Google Shape;148;p6"/>
          <p:cNvSpPr/>
          <p:nvPr/>
        </p:nvSpPr>
        <p:spPr>
          <a:xfrm>
            <a:off x="3337560" y="1225296"/>
            <a:ext cx="5303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Mathematical foundations of predator-prey dynamics and competition — still central today.</a:t>
            </a:r>
            <a:endParaRPr b="0" i="0" sz="1200" u="none" cap="none" strike="noStrike">
              <a:solidFill>
                <a:schemeClr val="dk1"/>
              </a:solidFill>
              <a:latin typeface="Calibri"/>
              <a:ea typeface="Calibri"/>
              <a:cs typeface="Calibri"/>
              <a:sym typeface="Calibri"/>
            </a:endParaRPr>
          </a:p>
        </p:txBody>
      </p:sp>
      <p:sp>
        <p:nvSpPr>
          <p:cNvPr id="149" name="Google Shape;149;p6"/>
          <p:cNvSpPr/>
          <p:nvPr/>
        </p:nvSpPr>
        <p:spPr>
          <a:xfrm>
            <a:off x="320040" y="1874520"/>
            <a:ext cx="804672" cy="53035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320040" y="1874520"/>
            <a:ext cx="8046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1960s</a:t>
            </a:r>
            <a:endParaRPr b="0" i="0" sz="1200" u="none" cap="none" strike="noStrike">
              <a:solidFill>
                <a:schemeClr val="dk1"/>
              </a:solidFill>
              <a:latin typeface="Calibri"/>
              <a:ea typeface="Calibri"/>
              <a:cs typeface="Calibri"/>
              <a:sym typeface="Calibri"/>
            </a:endParaRPr>
          </a:p>
        </p:txBody>
      </p:sp>
      <p:sp>
        <p:nvSpPr>
          <p:cNvPr id="151" name="Google Shape;151;p6"/>
          <p:cNvSpPr/>
          <p:nvPr/>
        </p:nvSpPr>
        <p:spPr>
          <a:xfrm>
            <a:off x="1216152" y="1911096"/>
            <a:ext cx="7562088" cy="475488"/>
          </a:xfrm>
          <a:prstGeom prst="rect">
            <a:avLst/>
          </a:prstGeom>
          <a:solidFill>
            <a:srgbClr val="F8F9FA"/>
          </a:solidFill>
          <a:ln cap="flat" cmpd="sng" w="12700">
            <a:solidFill>
              <a:srgbClr val="4CAF8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1216152" y="1911096"/>
            <a:ext cx="45720" cy="475488"/>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1353312" y="1938528"/>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8A"/>
              </a:buClr>
              <a:buSzPts val="1250"/>
              <a:buFont typeface="Calibri"/>
              <a:buNone/>
            </a:pPr>
            <a:r>
              <a:rPr b="1" i="0" lang="en-US" sz="1250" u="none" cap="none" strike="noStrike">
                <a:solidFill>
                  <a:srgbClr val="4CAF8A"/>
                </a:solidFill>
                <a:latin typeface="Calibri"/>
                <a:ea typeface="Calibri"/>
                <a:cs typeface="Calibri"/>
                <a:sym typeface="Calibri"/>
              </a:rPr>
              <a:t>Systems Ecology</a:t>
            </a:r>
            <a:endParaRPr b="0" i="0" sz="1250" u="none" cap="none" strike="noStrike">
              <a:solidFill>
                <a:schemeClr val="dk1"/>
              </a:solidFill>
              <a:latin typeface="Calibri"/>
              <a:ea typeface="Calibri"/>
              <a:cs typeface="Calibri"/>
              <a:sym typeface="Calibri"/>
            </a:endParaRPr>
          </a:p>
        </p:txBody>
      </p:sp>
      <p:sp>
        <p:nvSpPr>
          <p:cNvPr id="154" name="Google Shape;154;p6"/>
          <p:cNvSpPr/>
          <p:nvPr/>
        </p:nvSpPr>
        <p:spPr>
          <a:xfrm>
            <a:off x="3337560" y="1938528"/>
            <a:ext cx="5303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Engineering principles applied to ecosystems; energy flow and nutrient cycling formalised.</a:t>
            </a:r>
            <a:endParaRPr b="0" i="0" sz="1200" u="none" cap="none" strike="noStrike">
              <a:solidFill>
                <a:schemeClr val="dk1"/>
              </a:solidFill>
              <a:latin typeface="Calibri"/>
              <a:ea typeface="Calibri"/>
              <a:cs typeface="Calibri"/>
              <a:sym typeface="Calibri"/>
            </a:endParaRPr>
          </a:p>
        </p:txBody>
      </p:sp>
      <p:sp>
        <p:nvSpPr>
          <p:cNvPr id="155" name="Google Shape;155;p6"/>
          <p:cNvSpPr/>
          <p:nvPr/>
        </p:nvSpPr>
        <p:spPr>
          <a:xfrm>
            <a:off x="320040" y="2587752"/>
            <a:ext cx="804672" cy="53035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320040" y="2587752"/>
            <a:ext cx="8046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1970s</a:t>
            </a:r>
            <a:endParaRPr b="0" i="0" sz="1200" u="none" cap="none" strike="noStrike">
              <a:solidFill>
                <a:schemeClr val="dk1"/>
              </a:solidFill>
              <a:latin typeface="Calibri"/>
              <a:ea typeface="Calibri"/>
              <a:cs typeface="Calibri"/>
              <a:sym typeface="Calibri"/>
            </a:endParaRPr>
          </a:p>
        </p:txBody>
      </p:sp>
      <p:sp>
        <p:nvSpPr>
          <p:cNvPr id="157" name="Google Shape;157;p6"/>
          <p:cNvSpPr/>
          <p:nvPr/>
        </p:nvSpPr>
        <p:spPr>
          <a:xfrm>
            <a:off x="1216152" y="2624328"/>
            <a:ext cx="7562088" cy="475488"/>
          </a:xfrm>
          <a:prstGeom prst="rect">
            <a:avLst/>
          </a:prstGeom>
          <a:solidFill>
            <a:srgbClr val="F8F9FA"/>
          </a:solidFill>
          <a:ln cap="flat" cmpd="sng" w="12700">
            <a:solidFill>
              <a:srgbClr val="D4756B">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1216152" y="2624328"/>
            <a:ext cx="45720" cy="475488"/>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1353312" y="265176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756B"/>
              </a:buClr>
              <a:buSzPts val="1250"/>
              <a:buFont typeface="Calibri"/>
              <a:buNone/>
            </a:pPr>
            <a:r>
              <a:rPr b="1" i="0" lang="en-US" sz="1250" u="none" cap="none" strike="noStrike">
                <a:solidFill>
                  <a:srgbClr val="D4756B"/>
                </a:solidFill>
                <a:latin typeface="Calibri"/>
                <a:ea typeface="Calibri"/>
                <a:cs typeface="Calibri"/>
                <a:sym typeface="Calibri"/>
              </a:rPr>
              <a:t>Computer Simulations</a:t>
            </a:r>
            <a:endParaRPr b="0" i="0" sz="1250" u="none" cap="none" strike="noStrike">
              <a:solidFill>
                <a:schemeClr val="dk1"/>
              </a:solidFill>
              <a:latin typeface="Calibri"/>
              <a:ea typeface="Calibri"/>
              <a:cs typeface="Calibri"/>
              <a:sym typeface="Calibri"/>
            </a:endParaRPr>
          </a:p>
        </p:txBody>
      </p:sp>
      <p:sp>
        <p:nvSpPr>
          <p:cNvPr id="160" name="Google Shape;160;p6"/>
          <p:cNvSpPr/>
          <p:nvPr/>
        </p:nvSpPr>
        <p:spPr>
          <a:xfrm>
            <a:off x="3337560" y="2651760"/>
            <a:ext cx="5303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Increased computing power enabled dynamic simulations; IBP drove large-scale modelling.</a:t>
            </a:r>
            <a:endParaRPr b="0" i="0" sz="1200" u="none" cap="none" strike="noStrike">
              <a:solidFill>
                <a:schemeClr val="dk1"/>
              </a:solidFill>
              <a:latin typeface="Calibri"/>
              <a:ea typeface="Calibri"/>
              <a:cs typeface="Calibri"/>
              <a:sym typeface="Calibri"/>
            </a:endParaRPr>
          </a:p>
        </p:txBody>
      </p:sp>
      <p:sp>
        <p:nvSpPr>
          <p:cNvPr id="161" name="Google Shape;161;p6"/>
          <p:cNvSpPr/>
          <p:nvPr/>
        </p:nvSpPr>
        <p:spPr>
          <a:xfrm>
            <a:off x="320040" y="3300984"/>
            <a:ext cx="804672" cy="530352"/>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320040" y="3300984"/>
            <a:ext cx="8046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2000s</a:t>
            </a:r>
            <a:endParaRPr b="0" i="0" sz="1200" u="none" cap="none" strike="noStrike">
              <a:solidFill>
                <a:schemeClr val="dk1"/>
              </a:solidFill>
              <a:latin typeface="Calibri"/>
              <a:ea typeface="Calibri"/>
              <a:cs typeface="Calibri"/>
              <a:sym typeface="Calibri"/>
            </a:endParaRPr>
          </a:p>
        </p:txBody>
      </p:sp>
      <p:sp>
        <p:nvSpPr>
          <p:cNvPr id="163" name="Google Shape;163;p6"/>
          <p:cNvSpPr/>
          <p:nvPr/>
        </p:nvSpPr>
        <p:spPr>
          <a:xfrm>
            <a:off x="1216152" y="3337560"/>
            <a:ext cx="7562088" cy="475488"/>
          </a:xfrm>
          <a:prstGeom prst="rect">
            <a:avLst/>
          </a:prstGeom>
          <a:solidFill>
            <a:srgbClr val="F8F9FA"/>
          </a:solidFill>
          <a:ln cap="flat" cmpd="sng" w="12700">
            <a:solidFill>
              <a:srgbClr val="7B68C8">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1216152" y="3337560"/>
            <a:ext cx="45720" cy="475488"/>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1353312" y="3364992"/>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68C8"/>
              </a:buClr>
              <a:buSzPts val="1250"/>
              <a:buFont typeface="Calibri"/>
              <a:buNone/>
            </a:pPr>
            <a:r>
              <a:rPr b="1" i="0" lang="en-US" sz="1250" u="none" cap="none" strike="noStrike">
                <a:solidFill>
                  <a:srgbClr val="7B68C8"/>
                </a:solidFill>
                <a:latin typeface="Calibri"/>
                <a:ea typeface="Calibri"/>
                <a:cs typeface="Calibri"/>
                <a:sym typeface="Calibri"/>
              </a:rPr>
              <a:t>Agent-based &amp; SDMs</a:t>
            </a:r>
            <a:endParaRPr b="0" i="0" sz="1250" u="none" cap="none" strike="noStrike">
              <a:solidFill>
                <a:schemeClr val="dk1"/>
              </a:solidFill>
              <a:latin typeface="Calibri"/>
              <a:ea typeface="Calibri"/>
              <a:cs typeface="Calibri"/>
              <a:sym typeface="Calibri"/>
            </a:endParaRPr>
          </a:p>
        </p:txBody>
      </p:sp>
      <p:sp>
        <p:nvSpPr>
          <p:cNvPr id="166" name="Google Shape;166;p6"/>
          <p:cNvSpPr/>
          <p:nvPr/>
        </p:nvSpPr>
        <p:spPr>
          <a:xfrm>
            <a:off x="3337560" y="3364992"/>
            <a:ext cx="5303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Species distribution models and agent-based models transformed spatial ecology.</a:t>
            </a:r>
            <a:endParaRPr b="0" i="0" sz="1200" u="none" cap="none" strike="noStrike">
              <a:solidFill>
                <a:schemeClr val="dk1"/>
              </a:solidFill>
              <a:latin typeface="Calibri"/>
              <a:ea typeface="Calibri"/>
              <a:cs typeface="Calibri"/>
              <a:sym typeface="Calibri"/>
            </a:endParaRPr>
          </a:p>
        </p:txBody>
      </p:sp>
      <p:sp>
        <p:nvSpPr>
          <p:cNvPr id="167" name="Google Shape;167;p6"/>
          <p:cNvSpPr/>
          <p:nvPr/>
        </p:nvSpPr>
        <p:spPr>
          <a:xfrm>
            <a:off x="320040" y="4014216"/>
            <a:ext cx="804672" cy="530352"/>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320040" y="4014216"/>
            <a:ext cx="8046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2010s+</a:t>
            </a:r>
            <a:endParaRPr b="0" i="0" sz="1200" u="none" cap="none" strike="noStrike">
              <a:solidFill>
                <a:schemeClr val="dk1"/>
              </a:solidFill>
              <a:latin typeface="Calibri"/>
              <a:ea typeface="Calibri"/>
              <a:cs typeface="Calibri"/>
              <a:sym typeface="Calibri"/>
            </a:endParaRPr>
          </a:p>
        </p:txBody>
      </p:sp>
      <p:sp>
        <p:nvSpPr>
          <p:cNvPr id="169" name="Google Shape;169;p6"/>
          <p:cNvSpPr/>
          <p:nvPr/>
        </p:nvSpPr>
        <p:spPr>
          <a:xfrm>
            <a:off x="1216152" y="4050792"/>
            <a:ext cx="7562088" cy="475488"/>
          </a:xfrm>
          <a:prstGeom prst="rect">
            <a:avLst/>
          </a:prstGeom>
          <a:solidFill>
            <a:srgbClr val="F8F9FA"/>
          </a:solidFill>
          <a:ln cap="flat" cmpd="sng" w="12700">
            <a:solidFill>
              <a:srgbClr val="C9A84C">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1216152" y="4050792"/>
            <a:ext cx="45720" cy="475488"/>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1353312" y="4078224"/>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250"/>
              <a:buFont typeface="Calibri"/>
              <a:buNone/>
            </a:pPr>
            <a:r>
              <a:rPr b="1" i="0" lang="en-US" sz="1250" u="none" cap="none" strike="noStrike">
                <a:solidFill>
                  <a:srgbClr val="C9A84C"/>
                </a:solidFill>
                <a:latin typeface="Calibri"/>
                <a:ea typeface="Calibri"/>
                <a:cs typeface="Calibri"/>
                <a:sym typeface="Calibri"/>
              </a:rPr>
              <a:t>ML &amp; Big Data</a:t>
            </a:r>
            <a:endParaRPr b="0" i="0" sz="1250" u="none" cap="none" strike="noStrike">
              <a:solidFill>
                <a:schemeClr val="dk1"/>
              </a:solidFill>
              <a:latin typeface="Calibri"/>
              <a:ea typeface="Calibri"/>
              <a:cs typeface="Calibri"/>
              <a:sym typeface="Calibri"/>
            </a:endParaRPr>
          </a:p>
        </p:txBody>
      </p:sp>
      <p:sp>
        <p:nvSpPr>
          <p:cNvPr id="172" name="Google Shape;172;p6"/>
          <p:cNvSpPr/>
          <p:nvPr/>
        </p:nvSpPr>
        <p:spPr>
          <a:xfrm>
            <a:off x="3337560" y="4078224"/>
            <a:ext cx="5303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AI, citizen science platforms (iNaturalist, GBIF), and satellites enable global-scale inference.</a:t>
            </a:r>
            <a:endParaRPr b="0" i="0" sz="1200" u="none" cap="none" strike="noStrike">
              <a:solidFill>
                <a:schemeClr val="dk1"/>
              </a:solidFill>
              <a:latin typeface="Calibri"/>
              <a:ea typeface="Calibri"/>
              <a:cs typeface="Calibri"/>
              <a:sym typeface="Calibri"/>
            </a:endParaRPr>
          </a:p>
        </p:txBody>
      </p:sp>
      <p:sp>
        <p:nvSpPr>
          <p:cNvPr id="173" name="Google Shape;173;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CAF8A"/>
        </a:solidFill>
      </p:bgPr>
    </p:bg>
    <p:spTree>
      <p:nvGrpSpPr>
        <p:cNvPr id="178" name="Shape 178"/>
        <p:cNvGrpSpPr/>
        <p:nvPr/>
      </p:nvGrpSpPr>
      <p:grpSpPr>
        <a:xfrm>
          <a:off x="0" y="0"/>
          <a:ext cx="0" cy="0"/>
          <a:chOff x="0" y="0"/>
          <a:chExt cx="0" cy="0"/>
        </a:xfrm>
      </p:grpSpPr>
      <p:sp>
        <p:nvSpPr>
          <p:cNvPr id="179" name="Google Shape;179;p7"/>
          <p:cNvSpPr/>
          <p:nvPr/>
        </p:nvSpPr>
        <p:spPr>
          <a:xfrm>
            <a:off x="6858000" y="-457200"/>
            <a:ext cx="3200400" cy="3200400"/>
          </a:xfrm>
          <a:prstGeom prst="ellipse">
            <a:avLst/>
          </a:prstGeom>
          <a:solidFill>
            <a:srgbClr val="FFFFFF">
              <a:alpha val="14901"/>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7772400" y="2743200"/>
            <a:ext cx="1828800" cy="182880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182880" y="3840480"/>
            <a:ext cx="1097280" cy="109728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457200" y="640080"/>
            <a:ext cx="12801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2</a:t>
            </a:r>
            <a:endParaRPr b="0" i="0" sz="6400" u="none" cap="none" strike="noStrike">
              <a:solidFill>
                <a:schemeClr val="dk1"/>
              </a:solidFill>
              <a:latin typeface="Calibri"/>
              <a:ea typeface="Calibri"/>
              <a:cs typeface="Calibri"/>
              <a:sym typeface="Calibri"/>
            </a:endParaRPr>
          </a:p>
        </p:txBody>
      </p:sp>
      <p:sp>
        <p:nvSpPr>
          <p:cNvPr id="183" name="Google Shape;183;p7"/>
          <p:cNvSpPr/>
          <p:nvPr/>
        </p:nvSpPr>
        <p:spPr>
          <a:xfrm>
            <a:off x="457200" y="1920240"/>
            <a:ext cx="68580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Core Ecological</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Concepts</a:t>
            </a:r>
            <a:endParaRPr b="0" i="0" sz="3600" u="none" cap="none" strike="noStrike">
              <a:solidFill>
                <a:schemeClr val="dk1"/>
              </a:solidFill>
              <a:latin typeface="Calibri"/>
              <a:ea typeface="Calibri"/>
              <a:cs typeface="Calibri"/>
              <a:sym typeface="Calibri"/>
            </a:endParaRPr>
          </a:p>
        </p:txBody>
      </p:sp>
      <p:sp>
        <p:nvSpPr>
          <p:cNvPr id="184" name="Google Shape;184;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8"/>
          <p:cNvSpPr/>
          <p:nvPr/>
        </p:nvSpPr>
        <p:spPr>
          <a:xfrm>
            <a:off x="0" y="0"/>
            <a:ext cx="164592" cy="51435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320040" y="137160"/>
            <a:ext cx="402336" cy="402336"/>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Ecological Organization</a:t>
            </a:r>
            <a:endParaRPr b="0" i="0" sz="2200" u="none" cap="none" strike="noStrike">
              <a:solidFill>
                <a:schemeClr val="dk1"/>
              </a:solidFill>
              <a:latin typeface="Calibri"/>
              <a:ea typeface="Calibri"/>
              <a:cs typeface="Calibri"/>
              <a:sym typeface="Calibri"/>
            </a:endParaRPr>
          </a:p>
        </p:txBody>
      </p:sp>
      <p:sp>
        <p:nvSpPr>
          <p:cNvPr id="194" name="Google Shape;194;p8"/>
          <p:cNvSpPr/>
          <p:nvPr/>
        </p:nvSpPr>
        <p:spPr>
          <a:xfrm>
            <a:off x="164592" y="685800"/>
            <a:ext cx="8979408" cy="36576"/>
          </a:xfrm>
          <a:prstGeom prst="rect">
            <a:avLst/>
          </a:prstGeom>
          <a:solidFill>
            <a:srgbClr val="4CAF8A">
              <a:alpha val="40000"/>
            </a:srgbClr>
          </a:solidFill>
          <a:ln cap="flat" cmpd="sng" w="12700">
            <a:solidFill>
              <a:srgbClr val="4CAF8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320040" y="777240"/>
            <a:ext cx="8503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300"/>
              <a:buFont typeface="Calibri"/>
              <a:buNone/>
            </a:pPr>
            <a:r>
              <a:rPr b="0" i="1" lang="en-US" sz="1300" u="none" cap="none" strike="noStrike">
                <a:solidFill>
                  <a:srgbClr val="8D99AE"/>
                </a:solidFill>
                <a:latin typeface="Calibri"/>
                <a:ea typeface="Calibri"/>
                <a:cs typeface="Calibri"/>
                <a:sym typeface="Calibri"/>
              </a:rPr>
              <a:t>Each level exhibits emergent properties — behaviours unpredictable from lower levels alone.</a:t>
            </a:r>
            <a:endParaRPr b="0" i="0" sz="1300" u="none" cap="none" strike="noStrike">
              <a:solidFill>
                <a:schemeClr val="dk1"/>
              </a:solidFill>
              <a:latin typeface="Calibri"/>
              <a:ea typeface="Calibri"/>
              <a:cs typeface="Calibri"/>
              <a:sym typeface="Calibri"/>
            </a:endParaRPr>
          </a:p>
        </p:txBody>
      </p:sp>
      <p:sp>
        <p:nvSpPr>
          <p:cNvPr id="196" name="Google Shape;196;p8"/>
          <p:cNvSpPr/>
          <p:nvPr/>
        </p:nvSpPr>
        <p:spPr>
          <a:xfrm>
            <a:off x="3794760" y="1170432"/>
            <a:ext cx="1554480" cy="54864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3904488" y="1188720"/>
            <a:ext cx="74615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Individual</a:t>
            </a:r>
            <a:endParaRPr b="0" i="0" sz="1300" u="none" cap="none" strike="noStrike">
              <a:solidFill>
                <a:schemeClr val="dk1"/>
              </a:solidFill>
              <a:latin typeface="Calibri"/>
              <a:ea typeface="Calibri"/>
              <a:cs typeface="Calibri"/>
              <a:sym typeface="Calibri"/>
            </a:endParaRPr>
          </a:p>
        </p:txBody>
      </p:sp>
      <p:sp>
        <p:nvSpPr>
          <p:cNvPr id="198" name="Google Shape;198;p8"/>
          <p:cNvSpPr/>
          <p:nvPr/>
        </p:nvSpPr>
        <p:spPr>
          <a:xfrm>
            <a:off x="4572000" y="1188720"/>
            <a:ext cx="70408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Single organism</a:t>
            </a:r>
            <a:endParaRPr b="0" i="0" sz="1150" u="none" cap="none" strike="noStrike">
              <a:solidFill>
                <a:schemeClr val="dk1"/>
              </a:solidFill>
              <a:latin typeface="Calibri"/>
              <a:ea typeface="Calibri"/>
              <a:cs typeface="Calibri"/>
              <a:sym typeface="Calibri"/>
            </a:endParaRPr>
          </a:p>
        </p:txBody>
      </p:sp>
      <p:sp>
        <p:nvSpPr>
          <p:cNvPr id="199" name="Google Shape;199;p8"/>
          <p:cNvSpPr/>
          <p:nvPr/>
        </p:nvSpPr>
        <p:spPr>
          <a:xfrm>
            <a:off x="3566160" y="1865376"/>
            <a:ext cx="2011680" cy="54864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3675888" y="1883664"/>
            <a:ext cx="96560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Population</a:t>
            </a:r>
            <a:endParaRPr b="0" i="0" sz="1300" u="none" cap="none" strike="noStrike">
              <a:solidFill>
                <a:schemeClr val="dk1"/>
              </a:solidFill>
              <a:latin typeface="Calibri"/>
              <a:ea typeface="Calibri"/>
              <a:cs typeface="Calibri"/>
              <a:sym typeface="Calibri"/>
            </a:endParaRPr>
          </a:p>
        </p:txBody>
      </p:sp>
      <p:sp>
        <p:nvSpPr>
          <p:cNvPr id="201" name="Google Shape;201;p8"/>
          <p:cNvSpPr/>
          <p:nvPr/>
        </p:nvSpPr>
        <p:spPr>
          <a:xfrm>
            <a:off x="4572000" y="1883664"/>
            <a:ext cx="93268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Same species group</a:t>
            </a:r>
            <a:endParaRPr b="0" i="0" sz="1150" u="none" cap="none" strike="noStrike">
              <a:solidFill>
                <a:schemeClr val="dk1"/>
              </a:solidFill>
              <a:latin typeface="Calibri"/>
              <a:ea typeface="Calibri"/>
              <a:cs typeface="Calibri"/>
              <a:sym typeface="Calibri"/>
            </a:endParaRPr>
          </a:p>
        </p:txBody>
      </p:sp>
      <p:sp>
        <p:nvSpPr>
          <p:cNvPr id="202" name="Google Shape;202;p8"/>
          <p:cNvSpPr/>
          <p:nvPr/>
        </p:nvSpPr>
        <p:spPr>
          <a:xfrm>
            <a:off x="3268980" y="2560320"/>
            <a:ext cx="2606040" cy="54864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3378708" y="2578608"/>
            <a:ext cx="1250899"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Community</a:t>
            </a:r>
            <a:endParaRPr b="0" i="0" sz="1300" u="none" cap="none" strike="noStrike">
              <a:solidFill>
                <a:schemeClr val="dk1"/>
              </a:solidFill>
              <a:latin typeface="Calibri"/>
              <a:ea typeface="Calibri"/>
              <a:cs typeface="Calibri"/>
              <a:sym typeface="Calibri"/>
            </a:endParaRPr>
          </a:p>
        </p:txBody>
      </p:sp>
      <p:sp>
        <p:nvSpPr>
          <p:cNvPr id="204" name="Google Shape;204;p8"/>
          <p:cNvSpPr/>
          <p:nvPr/>
        </p:nvSpPr>
        <p:spPr>
          <a:xfrm>
            <a:off x="4572000" y="2578608"/>
            <a:ext cx="122986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Multiple interacting species</a:t>
            </a:r>
            <a:endParaRPr b="0" i="0" sz="1150" u="none" cap="none" strike="noStrike">
              <a:solidFill>
                <a:schemeClr val="dk1"/>
              </a:solidFill>
              <a:latin typeface="Calibri"/>
              <a:ea typeface="Calibri"/>
              <a:cs typeface="Calibri"/>
              <a:sym typeface="Calibri"/>
            </a:endParaRPr>
          </a:p>
        </p:txBody>
      </p:sp>
      <p:sp>
        <p:nvSpPr>
          <p:cNvPr id="205" name="Google Shape;205;p8"/>
          <p:cNvSpPr/>
          <p:nvPr/>
        </p:nvSpPr>
        <p:spPr>
          <a:xfrm>
            <a:off x="2948940" y="3255264"/>
            <a:ext cx="3246120" cy="54864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3058668" y="3273552"/>
            <a:ext cx="155813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Ecosystem</a:t>
            </a:r>
            <a:endParaRPr b="0" i="0" sz="1300" u="none" cap="none" strike="noStrike">
              <a:solidFill>
                <a:schemeClr val="dk1"/>
              </a:solidFill>
              <a:latin typeface="Calibri"/>
              <a:ea typeface="Calibri"/>
              <a:cs typeface="Calibri"/>
              <a:sym typeface="Calibri"/>
            </a:endParaRPr>
          </a:p>
        </p:txBody>
      </p:sp>
      <p:sp>
        <p:nvSpPr>
          <p:cNvPr id="207" name="Google Shape;207;p8"/>
          <p:cNvSpPr/>
          <p:nvPr/>
        </p:nvSpPr>
        <p:spPr>
          <a:xfrm>
            <a:off x="4572000" y="3273552"/>
            <a:ext cx="154990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Community + environment</a:t>
            </a:r>
            <a:endParaRPr b="0" i="0" sz="1150" u="none" cap="none" strike="noStrike">
              <a:solidFill>
                <a:schemeClr val="dk1"/>
              </a:solidFill>
              <a:latin typeface="Calibri"/>
              <a:ea typeface="Calibri"/>
              <a:cs typeface="Calibri"/>
              <a:sym typeface="Calibri"/>
            </a:endParaRPr>
          </a:p>
        </p:txBody>
      </p:sp>
      <p:sp>
        <p:nvSpPr>
          <p:cNvPr id="208" name="Google Shape;208;p8"/>
          <p:cNvSpPr/>
          <p:nvPr/>
        </p:nvSpPr>
        <p:spPr>
          <a:xfrm>
            <a:off x="2560320" y="3950208"/>
            <a:ext cx="4023360" cy="548640"/>
          </a:xfrm>
          <a:prstGeom prst="rect">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2670048" y="3968496"/>
            <a:ext cx="1931213"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Biosphere</a:t>
            </a:r>
            <a:endParaRPr b="0" i="0" sz="1300" u="none" cap="none" strike="noStrike">
              <a:solidFill>
                <a:schemeClr val="dk1"/>
              </a:solidFill>
              <a:latin typeface="Calibri"/>
              <a:ea typeface="Calibri"/>
              <a:cs typeface="Calibri"/>
              <a:sym typeface="Calibri"/>
            </a:endParaRPr>
          </a:p>
        </p:txBody>
      </p:sp>
      <p:sp>
        <p:nvSpPr>
          <p:cNvPr id="210" name="Google Shape;210;p8"/>
          <p:cNvSpPr/>
          <p:nvPr/>
        </p:nvSpPr>
        <p:spPr>
          <a:xfrm>
            <a:off x="4572000" y="3968496"/>
            <a:ext cx="193852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All ecosystems on Earth</a:t>
            </a:r>
            <a:endParaRPr b="0" i="0" sz="1150" u="none" cap="none" strike="noStrike">
              <a:solidFill>
                <a:schemeClr val="dk1"/>
              </a:solidFill>
              <a:latin typeface="Calibri"/>
              <a:ea typeface="Calibri"/>
              <a:cs typeface="Calibri"/>
              <a:sym typeface="Calibri"/>
            </a:endParaRPr>
          </a:p>
        </p:txBody>
      </p:sp>
      <p:sp>
        <p:nvSpPr>
          <p:cNvPr id="211" name="Google Shape;211;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9"/>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320040" y="137160"/>
            <a:ext cx="402336" cy="402336"/>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Population Dynamics</a:t>
            </a:r>
            <a:endParaRPr b="0" i="0" sz="2200" u="none" cap="none" strike="noStrike">
              <a:solidFill>
                <a:schemeClr val="dk1"/>
              </a:solidFill>
              <a:latin typeface="Calibri"/>
              <a:ea typeface="Calibri"/>
              <a:cs typeface="Calibri"/>
              <a:sym typeface="Calibri"/>
            </a:endParaRPr>
          </a:p>
        </p:txBody>
      </p:sp>
      <p:sp>
        <p:nvSpPr>
          <p:cNvPr id="221" name="Google Shape;221;p9"/>
          <p:cNvSpPr/>
          <p:nvPr/>
        </p:nvSpPr>
        <p:spPr>
          <a:xfrm>
            <a:off x="164592" y="685800"/>
            <a:ext cx="8979408" cy="36576"/>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22" name="Google Shape;222;p9"/>
          <p:cNvGraphicFramePr/>
          <p:nvPr/>
        </p:nvGraphicFramePr>
        <p:xfrm>
          <a:off x="320040" y="804672"/>
          <a:ext cx="3000000" cy="3000000"/>
        </p:xfrm>
        <a:graphic>
          <a:graphicData uri="http://schemas.openxmlformats.org/drawingml/2006/table">
            <a:tbl>
              <a:tblPr>
                <a:noFill/>
                <a:tableStyleId>{2CFA1A3C-07E7-4F52-BFD8-076DE1D8FEE2}</a:tableStyleId>
              </a:tblPr>
              <a:tblGrid>
                <a:gridCol w="2834650"/>
                <a:gridCol w="2834650"/>
                <a:gridCol w="2834650"/>
              </a:tblGrid>
              <a:tr h="56692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Concept</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4A9DB5"/>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Formula / Details</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4A9DB5"/>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Ecological Significance</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4A9DB5"/>
                    </a:solidFill>
                  </a:tcPr>
                </a:tc>
              </a:tr>
              <a:tr h="566925">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Key parameters</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Birth rate (b), death rate (d), immigration (i), emigration (e)</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Foundation of all population models</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Exponential growth</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Nₜ = N₀eʳᵗ  (r = intrinsic rate of increase)</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Describes unlimited growth — rare in nature</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Logistic growth</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dN/dt = rN(1 − N/K)</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Incorporates resource limits via carrying capacity K</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Carrying capacity (K)</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Max sustainable population size for a given environment</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Balance between resources and population demand</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Applications</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Wildlife management, invasive species control, conservation</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300"/>
                        <a:buFont typeface="Calibri"/>
                        <a:buNone/>
                      </a:pPr>
                      <a:r>
                        <a:rPr lang="en-US" sz="1300" u="none" cap="none" strike="noStrike">
                          <a:solidFill>
                            <a:srgbClr val="000000"/>
                          </a:solidFill>
                          <a:latin typeface="Calibri"/>
                          <a:ea typeface="Calibri"/>
                          <a:cs typeface="Calibri"/>
                          <a:sym typeface="Calibri"/>
                        </a:rPr>
                        <a:t>Guides real-world management decisions</a:t>
                      </a:r>
                      <a:endParaRPr sz="1300" u="none" cap="none" strike="noStrike">
                        <a:latin typeface="Calibri"/>
                        <a:ea typeface="Calibri"/>
                        <a:cs typeface="Calibri"/>
                        <a:sym typeface="Calibri"/>
                      </a:endParaRPr>
                    </a:p>
                  </a:txBody>
                  <a:tcPr marT="45725" marB="45725" marR="91450" marL="91450">
                    <a:lnL cap="flat" cmpd="sng" w="12700">
                      <a:solidFill>
                        <a:srgbClr val="E0E0E0"/>
                      </a:solidFill>
                      <a:prstDash val="solid"/>
                      <a:round/>
                      <a:headEnd len="sm" w="sm" type="none"/>
                      <a:tailEnd len="sm" w="sm" type="none"/>
                    </a:lnL>
                    <a:lnR cap="flat" cmpd="sng" w="12700">
                      <a:solidFill>
                        <a:srgbClr val="E0E0E0"/>
                      </a:solidFill>
                      <a:prstDash val="solid"/>
                      <a:round/>
                      <a:headEnd len="sm" w="sm" type="none"/>
                      <a:tailEnd len="sm" w="sm" type="none"/>
                    </a:lnR>
                    <a:lnT cap="flat" cmpd="sng" w="12700">
                      <a:solidFill>
                        <a:srgbClr val="E0E0E0"/>
                      </a:solidFill>
                      <a:prstDash val="solid"/>
                      <a:round/>
                      <a:headEnd len="sm" w="sm" type="none"/>
                      <a:tailEnd len="sm" w="sm" type="none"/>
                    </a:lnT>
                    <a:lnB cap="flat" cmpd="sng" w="12700">
                      <a:solidFill>
                        <a:srgbClr val="E0E0E0"/>
                      </a:solidFill>
                      <a:prstDash val="solid"/>
                      <a:round/>
                      <a:headEnd len="sm" w="sm" type="none"/>
                      <a:tailEnd len="sm" w="sm" type="none"/>
                    </a:lnB>
                    <a:solidFill>
                      <a:srgbClr val="FFFFFF"/>
                    </a:solidFill>
                  </a:tcPr>
                </a:tc>
              </a:tr>
            </a:tbl>
          </a:graphicData>
        </a:graphic>
      </p:graphicFrame>
      <p:sp>
        <p:nvSpPr>
          <p:cNvPr id="223" name="Google Shape;223;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10"/>
          <p:cNvSpPr/>
          <p:nvPr/>
        </p:nvSpPr>
        <p:spPr>
          <a:xfrm>
            <a:off x="0" y="0"/>
            <a:ext cx="164592"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p:nvPr/>
        </p:nvSpPr>
        <p:spPr>
          <a:xfrm>
            <a:off x="320040" y="137160"/>
            <a:ext cx="402336" cy="402336"/>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Species Interactions</a:t>
            </a:r>
            <a:endParaRPr b="0" i="0" sz="2200" u="none" cap="none" strike="noStrike">
              <a:solidFill>
                <a:schemeClr val="dk1"/>
              </a:solidFill>
              <a:latin typeface="Calibri"/>
              <a:ea typeface="Calibri"/>
              <a:cs typeface="Calibri"/>
              <a:sym typeface="Calibri"/>
            </a:endParaRPr>
          </a:p>
        </p:txBody>
      </p:sp>
      <p:sp>
        <p:nvSpPr>
          <p:cNvPr id="233" name="Google Shape;233;p10"/>
          <p:cNvSpPr/>
          <p:nvPr/>
        </p:nvSpPr>
        <p:spPr>
          <a:xfrm>
            <a:off x="164592" y="685800"/>
            <a:ext cx="8979408" cy="36576"/>
          </a:xfrm>
          <a:prstGeom prst="rect">
            <a:avLst/>
          </a:prstGeom>
          <a:solidFill>
            <a:srgbClr val="D4756B">
              <a:alpha val="40000"/>
            </a:srgbClr>
          </a:solidFill>
          <a:ln cap="flat" cmpd="sng" w="12700">
            <a:solidFill>
              <a:srgbClr val="D4756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320040" y="777240"/>
            <a:ext cx="8503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300"/>
              <a:buFont typeface="Calibri"/>
              <a:buNone/>
            </a:pPr>
            <a:r>
              <a:rPr b="0" i="1" lang="en-US" sz="1300" u="none" cap="none" strike="noStrike">
                <a:solidFill>
                  <a:srgbClr val="8D99AE"/>
                </a:solidFill>
                <a:latin typeface="Calibri"/>
                <a:ea typeface="Calibri"/>
                <a:cs typeface="Calibri"/>
                <a:sym typeface="Calibri"/>
              </a:rPr>
              <a:t>Interactions shape population dynamics, drive evolution, and determine community structure.</a:t>
            </a:r>
            <a:endParaRPr b="0" i="0" sz="1300" u="none" cap="none" strike="noStrike">
              <a:solidFill>
                <a:schemeClr val="dk1"/>
              </a:solidFill>
              <a:latin typeface="Calibri"/>
              <a:ea typeface="Calibri"/>
              <a:cs typeface="Calibri"/>
              <a:sym typeface="Calibri"/>
            </a:endParaRPr>
          </a:p>
        </p:txBody>
      </p:sp>
      <p:sp>
        <p:nvSpPr>
          <p:cNvPr id="235" name="Google Shape;235;p10"/>
          <p:cNvSpPr/>
          <p:nvPr/>
        </p:nvSpPr>
        <p:spPr>
          <a:xfrm>
            <a:off x="256032" y="1143000"/>
            <a:ext cx="2816352" cy="1572768"/>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a:off x="256032" y="1143000"/>
            <a:ext cx="2816352"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365760" y="1170432"/>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Predation</a:t>
            </a:r>
            <a:endParaRPr b="0" i="0" sz="1300" u="none" cap="none" strike="noStrike">
              <a:solidFill>
                <a:schemeClr val="dk1"/>
              </a:solidFill>
              <a:latin typeface="Calibri"/>
              <a:ea typeface="Calibri"/>
              <a:cs typeface="Calibri"/>
              <a:sym typeface="Calibri"/>
            </a:endParaRPr>
          </a:p>
        </p:txBody>
      </p:sp>
      <p:sp>
        <p:nvSpPr>
          <p:cNvPr id="238" name="Google Shape;238;p10"/>
          <p:cNvSpPr/>
          <p:nvPr/>
        </p:nvSpPr>
        <p:spPr>
          <a:xfrm>
            <a:off x="365760" y="1563624"/>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Predator-prey cycles, functional responses, trophic cascades</a:t>
            </a:r>
            <a:endParaRPr b="0" i="0" sz="1200" u="none" cap="none" strike="noStrike">
              <a:solidFill>
                <a:schemeClr val="dk1"/>
              </a:solidFill>
              <a:latin typeface="Calibri"/>
              <a:ea typeface="Calibri"/>
              <a:cs typeface="Calibri"/>
              <a:sym typeface="Calibri"/>
            </a:endParaRPr>
          </a:p>
        </p:txBody>
      </p:sp>
      <p:sp>
        <p:nvSpPr>
          <p:cNvPr id="239" name="Google Shape;239;p10"/>
          <p:cNvSpPr/>
          <p:nvPr/>
        </p:nvSpPr>
        <p:spPr>
          <a:xfrm>
            <a:off x="3246120" y="1143000"/>
            <a:ext cx="2816352" cy="1572768"/>
          </a:xfrm>
          <a:prstGeom prst="rect">
            <a:avLst/>
          </a:prstGeom>
          <a:solidFill>
            <a:srgbClr val="FFF0EB"/>
          </a:solidFill>
          <a:ln cap="flat" cmpd="sng" w="12700">
            <a:solidFill>
              <a:srgbClr val="E76F51">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3246120" y="1143000"/>
            <a:ext cx="2816352" cy="347472"/>
          </a:xfrm>
          <a:prstGeom prst="rect">
            <a:avLst/>
          </a:prstGeom>
          <a:solidFill>
            <a:srgbClr val="E76F51"/>
          </a:solidFill>
          <a:ln cap="flat" cmpd="sng" w="1270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p:nvPr/>
        </p:nvSpPr>
        <p:spPr>
          <a:xfrm>
            <a:off x="3355848" y="1170432"/>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Competition</a:t>
            </a:r>
            <a:endParaRPr b="0" i="0" sz="1300" u="none" cap="none" strike="noStrike">
              <a:solidFill>
                <a:schemeClr val="dk1"/>
              </a:solidFill>
              <a:latin typeface="Calibri"/>
              <a:ea typeface="Calibri"/>
              <a:cs typeface="Calibri"/>
              <a:sym typeface="Calibri"/>
            </a:endParaRPr>
          </a:p>
        </p:txBody>
      </p:sp>
      <p:sp>
        <p:nvSpPr>
          <p:cNvPr id="242" name="Google Shape;242;p10"/>
          <p:cNvSpPr/>
          <p:nvPr/>
        </p:nvSpPr>
        <p:spPr>
          <a:xfrm>
            <a:off x="3355848" y="1563624"/>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Competitive exclusion principle, resource limitation, niche differentiation</a:t>
            </a:r>
            <a:endParaRPr b="0" i="0" sz="1200" u="none" cap="none" strike="noStrike">
              <a:solidFill>
                <a:schemeClr val="dk1"/>
              </a:solidFill>
              <a:latin typeface="Calibri"/>
              <a:ea typeface="Calibri"/>
              <a:cs typeface="Calibri"/>
              <a:sym typeface="Calibri"/>
            </a:endParaRPr>
          </a:p>
        </p:txBody>
      </p:sp>
      <p:sp>
        <p:nvSpPr>
          <p:cNvPr id="243" name="Google Shape;243;p10"/>
          <p:cNvSpPr/>
          <p:nvPr/>
        </p:nvSpPr>
        <p:spPr>
          <a:xfrm>
            <a:off x="6236208" y="1143000"/>
            <a:ext cx="2816352" cy="1572768"/>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p:nvPr/>
        </p:nvSpPr>
        <p:spPr>
          <a:xfrm>
            <a:off x="6236208" y="1143000"/>
            <a:ext cx="2816352"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6345936" y="1170432"/>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Mutualism</a:t>
            </a:r>
            <a:endParaRPr b="0" i="0" sz="1300" u="none" cap="none" strike="noStrike">
              <a:solidFill>
                <a:schemeClr val="dk1"/>
              </a:solidFill>
              <a:latin typeface="Calibri"/>
              <a:ea typeface="Calibri"/>
              <a:cs typeface="Calibri"/>
              <a:sym typeface="Calibri"/>
            </a:endParaRPr>
          </a:p>
        </p:txBody>
      </p:sp>
      <p:sp>
        <p:nvSpPr>
          <p:cNvPr id="246" name="Google Shape;246;p10"/>
          <p:cNvSpPr/>
          <p:nvPr/>
        </p:nvSpPr>
        <p:spPr>
          <a:xfrm>
            <a:off x="6345936" y="1563624"/>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Pollination, mycorrhizae, nitrogen-fixing bacteria in legumes</a:t>
            </a:r>
            <a:endParaRPr b="0" i="0" sz="1200" u="none" cap="none" strike="noStrike">
              <a:solidFill>
                <a:schemeClr val="dk1"/>
              </a:solidFill>
              <a:latin typeface="Calibri"/>
              <a:ea typeface="Calibri"/>
              <a:cs typeface="Calibri"/>
              <a:sym typeface="Calibri"/>
            </a:endParaRPr>
          </a:p>
        </p:txBody>
      </p:sp>
      <p:sp>
        <p:nvSpPr>
          <p:cNvPr id="247" name="Google Shape;247;p10"/>
          <p:cNvSpPr/>
          <p:nvPr/>
        </p:nvSpPr>
        <p:spPr>
          <a:xfrm>
            <a:off x="256032" y="2880360"/>
            <a:ext cx="2816352" cy="1572768"/>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256032" y="2880360"/>
            <a:ext cx="2816352"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0"/>
          <p:cNvSpPr/>
          <p:nvPr/>
        </p:nvSpPr>
        <p:spPr>
          <a:xfrm>
            <a:off x="365760" y="2907792"/>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  Commensalism</a:t>
            </a:r>
            <a:endParaRPr b="0" i="0" sz="1300" u="none" cap="none" strike="noStrike">
              <a:solidFill>
                <a:schemeClr val="dk1"/>
              </a:solidFill>
              <a:latin typeface="Calibri"/>
              <a:ea typeface="Calibri"/>
              <a:cs typeface="Calibri"/>
              <a:sym typeface="Calibri"/>
            </a:endParaRPr>
          </a:p>
        </p:txBody>
      </p:sp>
      <p:sp>
        <p:nvSpPr>
          <p:cNvPr id="250" name="Google Shape;250;p10"/>
          <p:cNvSpPr/>
          <p:nvPr/>
        </p:nvSpPr>
        <p:spPr>
          <a:xfrm>
            <a:off x="365760" y="3300984"/>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Epiphytes on trees, remoras on sharks, cattle egrets following cattle</a:t>
            </a:r>
            <a:endParaRPr b="0" i="0" sz="1200" u="none" cap="none" strike="noStrike">
              <a:solidFill>
                <a:schemeClr val="dk1"/>
              </a:solidFill>
              <a:latin typeface="Calibri"/>
              <a:ea typeface="Calibri"/>
              <a:cs typeface="Calibri"/>
              <a:sym typeface="Calibri"/>
            </a:endParaRPr>
          </a:p>
        </p:txBody>
      </p:sp>
      <p:sp>
        <p:nvSpPr>
          <p:cNvPr id="251" name="Google Shape;251;p10"/>
          <p:cNvSpPr/>
          <p:nvPr/>
        </p:nvSpPr>
        <p:spPr>
          <a:xfrm>
            <a:off x="3246120" y="2880360"/>
            <a:ext cx="2816352" cy="1572768"/>
          </a:xfrm>
          <a:prstGeom prst="rect">
            <a:avLst/>
          </a:prstGeom>
          <a:solidFill>
            <a:srgbClr val="F0F0F0"/>
          </a:solidFill>
          <a:ln cap="flat" cmpd="sng" w="12700">
            <a:solidFill>
              <a:srgbClr val="8D99AE">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3246120" y="2880360"/>
            <a:ext cx="2816352" cy="347472"/>
          </a:xfrm>
          <a:prstGeom prst="rect">
            <a:avLst/>
          </a:prstGeom>
          <a:solidFill>
            <a:srgbClr val="8D99AE"/>
          </a:solidFill>
          <a:ln cap="flat" cmpd="sng" w="12700">
            <a:solidFill>
              <a:srgbClr val="8D99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3355848" y="2907792"/>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  Amensalism</a:t>
            </a:r>
            <a:endParaRPr b="0" i="0" sz="1300" u="none" cap="none" strike="noStrike">
              <a:solidFill>
                <a:schemeClr val="dk1"/>
              </a:solidFill>
              <a:latin typeface="Calibri"/>
              <a:ea typeface="Calibri"/>
              <a:cs typeface="Calibri"/>
              <a:sym typeface="Calibri"/>
            </a:endParaRPr>
          </a:p>
        </p:txBody>
      </p:sp>
      <p:sp>
        <p:nvSpPr>
          <p:cNvPr id="254" name="Google Shape;254;p10"/>
          <p:cNvSpPr/>
          <p:nvPr/>
        </p:nvSpPr>
        <p:spPr>
          <a:xfrm>
            <a:off x="3355848" y="3300984"/>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Allelopathy in plants, physical shading, antibiotic production</a:t>
            </a:r>
            <a:endParaRPr b="0" i="0" sz="1200" u="none" cap="none" strike="noStrike">
              <a:solidFill>
                <a:schemeClr val="dk1"/>
              </a:solidFill>
              <a:latin typeface="Calibri"/>
              <a:ea typeface="Calibri"/>
              <a:cs typeface="Calibri"/>
              <a:sym typeface="Calibri"/>
            </a:endParaRPr>
          </a:p>
        </p:txBody>
      </p:sp>
      <p:sp>
        <p:nvSpPr>
          <p:cNvPr id="255" name="Google Shape;255;p10"/>
          <p:cNvSpPr/>
          <p:nvPr/>
        </p:nvSpPr>
        <p:spPr>
          <a:xfrm>
            <a:off x="6236208" y="2880360"/>
            <a:ext cx="2816352" cy="1572768"/>
          </a:xfrm>
          <a:prstGeom prst="rect">
            <a:avLst/>
          </a:prstGeom>
          <a:solidFill>
            <a:srgbClr val="F0ECFA"/>
          </a:solidFill>
          <a:ln cap="flat" cmpd="sng" w="12700">
            <a:solidFill>
              <a:srgbClr val="7B68C8">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6236208" y="2880360"/>
            <a:ext cx="2816352"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6345936" y="2907792"/>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Parasitism</a:t>
            </a:r>
            <a:endParaRPr b="0" i="0" sz="1300" u="none" cap="none" strike="noStrike">
              <a:solidFill>
                <a:schemeClr val="dk1"/>
              </a:solidFill>
              <a:latin typeface="Calibri"/>
              <a:ea typeface="Calibri"/>
              <a:cs typeface="Calibri"/>
              <a:sym typeface="Calibri"/>
            </a:endParaRPr>
          </a:p>
        </p:txBody>
      </p:sp>
      <p:sp>
        <p:nvSpPr>
          <p:cNvPr id="258" name="Google Shape;258;p10"/>
          <p:cNvSpPr/>
          <p:nvPr/>
        </p:nvSpPr>
        <p:spPr>
          <a:xfrm>
            <a:off x="6345936" y="3300984"/>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Internal and external parasites; often drives host evolution</a:t>
            </a:r>
            <a:endParaRPr b="0" i="0" sz="1200" u="none" cap="none" strike="noStrike">
              <a:solidFill>
                <a:schemeClr val="dk1"/>
              </a:solidFill>
              <a:latin typeface="Calibri"/>
              <a:ea typeface="Calibri"/>
              <a:cs typeface="Calibri"/>
              <a:sym typeface="Calibri"/>
            </a:endParaRPr>
          </a:p>
        </p:txBody>
      </p:sp>
      <p:sp>
        <p:nvSpPr>
          <p:cNvPr id="259" name="Google Shape;259;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11"/>
          <p:cNvSpPr/>
          <p:nvPr/>
        </p:nvSpPr>
        <p:spPr>
          <a:xfrm>
            <a:off x="0" y="0"/>
            <a:ext cx="164592"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a:off x="320040" y="137160"/>
            <a:ext cx="402336" cy="402336"/>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722380" y="54865"/>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Energy Flow &amp; Nutrient Cycling</a:t>
            </a:r>
            <a:endParaRPr b="0" i="0" sz="2200" u="none" cap="none" strike="noStrike">
              <a:solidFill>
                <a:schemeClr val="dk1"/>
              </a:solidFill>
              <a:latin typeface="Calibri"/>
              <a:ea typeface="Calibri"/>
              <a:cs typeface="Calibri"/>
              <a:sym typeface="Calibri"/>
            </a:endParaRPr>
          </a:p>
        </p:txBody>
      </p:sp>
      <p:sp>
        <p:nvSpPr>
          <p:cNvPr id="269" name="Google Shape;269;p11"/>
          <p:cNvSpPr/>
          <p:nvPr/>
        </p:nvSpPr>
        <p:spPr>
          <a:xfrm>
            <a:off x="164592" y="685800"/>
            <a:ext cx="8979408" cy="36576"/>
          </a:xfrm>
          <a:prstGeom prst="rect">
            <a:avLst/>
          </a:prstGeom>
          <a:solidFill>
            <a:srgbClr val="C9A84C">
              <a:alpha val="40000"/>
            </a:srgbClr>
          </a:solidFill>
          <a:ln cap="flat" cmpd="sng" w="12700">
            <a:solidFill>
              <a:srgbClr val="C9A84C">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a:off x="320047" y="777250"/>
            <a:ext cx="2933700" cy="3977700"/>
          </a:xfrm>
          <a:prstGeom prst="rect">
            <a:avLst/>
          </a:prstGeom>
          <a:solidFill>
            <a:srgbClr val="F7F3E8"/>
          </a:solidFill>
          <a:ln cap="flat" cmpd="sng" w="12700">
            <a:solidFill>
              <a:srgbClr val="C9A84C">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320047" y="777251"/>
            <a:ext cx="2823900" cy="4023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429773" y="804675"/>
            <a:ext cx="2823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Energy Flow  (one-way →)</a:t>
            </a:r>
            <a:endParaRPr b="0" i="0" sz="1300" u="none" cap="none" strike="noStrike">
              <a:solidFill>
                <a:schemeClr val="dk1"/>
              </a:solidFill>
              <a:latin typeface="Calibri"/>
              <a:ea typeface="Calibri"/>
              <a:cs typeface="Calibri"/>
              <a:sym typeface="Calibri"/>
            </a:endParaRPr>
          </a:p>
        </p:txBody>
      </p:sp>
      <p:sp>
        <p:nvSpPr>
          <p:cNvPr id="273" name="Google Shape;273;p11"/>
          <p:cNvSpPr/>
          <p:nvPr/>
        </p:nvSpPr>
        <p:spPr>
          <a:xfrm>
            <a:off x="502925" y="1234450"/>
            <a:ext cx="34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300"/>
              <a:buFont typeface="Calibri"/>
              <a:buNone/>
            </a:pPr>
            <a:r>
              <a:rPr b="1" i="0" lang="en-US" sz="1300" u="none" cap="none" strike="noStrike">
                <a:solidFill>
                  <a:srgbClr val="23293A"/>
                </a:solidFill>
                <a:latin typeface="Calibri"/>
                <a:ea typeface="Calibri"/>
                <a:cs typeface="Calibri"/>
                <a:sym typeface="Calibri"/>
              </a:rPr>
              <a:t>1. Producers</a:t>
            </a:r>
            <a:endParaRPr b="0" i="0" sz="1300" u="none" cap="none" strike="noStrike">
              <a:solidFill>
                <a:schemeClr val="dk1"/>
              </a:solidFill>
              <a:latin typeface="Calibri"/>
              <a:ea typeface="Calibri"/>
              <a:cs typeface="Calibri"/>
              <a:sym typeface="Calibri"/>
            </a:endParaRPr>
          </a:p>
        </p:txBody>
      </p:sp>
      <p:sp>
        <p:nvSpPr>
          <p:cNvPr id="274" name="Google Shape;274;p11"/>
          <p:cNvSpPr/>
          <p:nvPr/>
        </p:nvSpPr>
        <p:spPr>
          <a:xfrm>
            <a:off x="502920" y="1508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Convert solar energy via photosynthesis</a:t>
            </a:r>
            <a:endParaRPr b="0" i="0" sz="1200" u="none" cap="none" strike="noStrike">
              <a:solidFill>
                <a:schemeClr val="dk1"/>
              </a:solidFill>
              <a:latin typeface="Calibri"/>
              <a:ea typeface="Calibri"/>
              <a:cs typeface="Calibri"/>
              <a:sym typeface="Calibri"/>
            </a:endParaRPr>
          </a:p>
        </p:txBody>
      </p:sp>
      <p:sp>
        <p:nvSpPr>
          <p:cNvPr id="275" name="Google Shape;275;p11"/>
          <p:cNvSpPr/>
          <p:nvPr/>
        </p:nvSpPr>
        <p:spPr>
          <a:xfrm>
            <a:off x="502920" y="1984248"/>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300"/>
              <a:buFont typeface="Calibri"/>
              <a:buNone/>
            </a:pPr>
            <a:r>
              <a:rPr b="1" i="0" lang="en-US" sz="1300" u="none" cap="none" strike="noStrike">
                <a:solidFill>
                  <a:srgbClr val="23293A"/>
                </a:solidFill>
                <a:latin typeface="Calibri"/>
                <a:ea typeface="Calibri"/>
                <a:cs typeface="Calibri"/>
                <a:sym typeface="Calibri"/>
              </a:rPr>
              <a:t>2. Primary Consumers</a:t>
            </a:r>
            <a:endParaRPr b="0" i="0" sz="1300" u="none" cap="none" strike="noStrike">
              <a:solidFill>
                <a:schemeClr val="dk1"/>
              </a:solidFill>
              <a:latin typeface="Calibri"/>
              <a:ea typeface="Calibri"/>
              <a:cs typeface="Calibri"/>
              <a:sym typeface="Calibri"/>
            </a:endParaRPr>
          </a:p>
        </p:txBody>
      </p:sp>
      <p:sp>
        <p:nvSpPr>
          <p:cNvPr id="276" name="Google Shape;276;p11"/>
          <p:cNvSpPr/>
          <p:nvPr/>
        </p:nvSpPr>
        <p:spPr>
          <a:xfrm>
            <a:off x="502920" y="2258568"/>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Herbivores that eat producers</a:t>
            </a:r>
            <a:endParaRPr b="0" i="0" sz="1200" u="none" cap="none" strike="noStrike">
              <a:solidFill>
                <a:schemeClr val="dk1"/>
              </a:solidFill>
              <a:latin typeface="Calibri"/>
              <a:ea typeface="Calibri"/>
              <a:cs typeface="Calibri"/>
              <a:sym typeface="Calibri"/>
            </a:endParaRPr>
          </a:p>
        </p:txBody>
      </p:sp>
      <p:sp>
        <p:nvSpPr>
          <p:cNvPr id="277" name="Google Shape;277;p11"/>
          <p:cNvSpPr/>
          <p:nvPr/>
        </p:nvSpPr>
        <p:spPr>
          <a:xfrm>
            <a:off x="502920" y="2734056"/>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300"/>
              <a:buFont typeface="Calibri"/>
              <a:buNone/>
            </a:pPr>
            <a:r>
              <a:rPr b="1" i="0" lang="en-US" sz="1300" u="none" cap="none" strike="noStrike">
                <a:solidFill>
                  <a:srgbClr val="23293A"/>
                </a:solidFill>
                <a:latin typeface="Calibri"/>
                <a:ea typeface="Calibri"/>
                <a:cs typeface="Calibri"/>
                <a:sym typeface="Calibri"/>
              </a:rPr>
              <a:t>3. Secondary Consumers</a:t>
            </a:r>
            <a:endParaRPr b="0" i="0" sz="1300" u="none" cap="none" strike="noStrike">
              <a:solidFill>
                <a:schemeClr val="dk1"/>
              </a:solidFill>
              <a:latin typeface="Calibri"/>
              <a:ea typeface="Calibri"/>
              <a:cs typeface="Calibri"/>
              <a:sym typeface="Calibri"/>
            </a:endParaRPr>
          </a:p>
        </p:txBody>
      </p:sp>
      <p:sp>
        <p:nvSpPr>
          <p:cNvPr id="278" name="Google Shape;278;p11"/>
          <p:cNvSpPr/>
          <p:nvPr/>
        </p:nvSpPr>
        <p:spPr>
          <a:xfrm>
            <a:off x="502920" y="3008376"/>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Carnivores eating primary consumers</a:t>
            </a:r>
            <a:endParaRPr b="0" i="0" sz="1200" u="none" cap="none" strike="noStrike">
              <a:solidFill>
                <a:schemeClr val="dk1"/>
              </a:solidFill>
              <a:latin typeface="Calibri"/>
              <a:ea typeface="Calibri"/>
              <a:cs typeface="Calibri"/>
              <a:sym typeface="Calibri"/>
            </a:endParaRPr>
          </a:p>
        </p:txBody>
      </p:sp>
      <p:sp>
        <p:nvSpPr>
          <p:cNvPr id="279" name="Google Shape;279;p11"/>
          <p:cNvSpPr/>
          <p:nvPr/>
        </p:nvSpPr>
        <p:spPr>
          <a:xfrm>
            <a:off x="502920" y="3483864"/>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300"/>
              <a:buFont typeface="Calibri"/>
              <a:buNone/>
            </a:pPr>
            <a:r>
              <a:rPr b="1" i="0" lang="en-US" sz="1300" u="none" cap="none" strike="noStrike">
                <a:solidFill>
                  <a:srgbClr val="23293A"/>
                </a:solidFill>
                <a:latin typeface="Calibri"/>
                <a:ea typeface="Calibri"/>
                <a:cs typeface="Calibri"/>
                <a:sym typeface="Calibri"/>
              </a:rPr>
              <a:t>4. Decomposers</a:t>
            </a:r>
            <a:endParaRPr b="0" i="0" sz="1300" u="none" cap="none" strike="noStrike">
              <a:solidFill>
                <a:schemeClr val="dk1"/>
              </a:solidFill>
              <a:latin typeface="Calibri"/>
              <a:ea typeface="Calibri"/>
              <a:cs typeface="Calibri"/>
              <a:sym typeface="Calibri"/>
            </a:endParaRPr>
          </a:p>
        </p:txBody>
      </p:sp>
      <p:sp>
        <p:nvSpPr>
          <p:cNvPr id="280" name="Google Shape;280;p11"/>
          <p:cNvSpPr/>
          <p:nvPr/>
        </p:nvSpPr>
        <p:spPr>
          <a:xfrm>
            <a:off x="429770" y="3758184"/>
            <a:ext cx="34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Break down dead organisms and waste</a:t>
            </a:r>
            <a:endParaRPr b="0" i="0" sz="1200" u="none" cap="none" strike="noStrike">
              <a:solidFill>
                <a:schemeClr val="dk1"/>
              </a:solidFill>
              <a:latin typeface="Calibri"/>
              <a:ea typeface="Calibri"/>
              <a:cs typeface="Calibri"/>
              <a:sym typeface="Calibri"/>
            </a:endParaRPr>
          </a:p>
        </p:txBody>
      </p:sp>
      <p:sp>
        <p:nvSpPr>
          <p:cNvPr id="281" name="Google Shape;281;p11"/>
          <p:cNvSpPr/>
          <p:nvPr/>
        </p:nvSpPr>
        <p:spPr>
          <a:xfrm>
            <a:off x="438904" y="4206250"/>
            <a:ext cx="2538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100"/>
              <a:buFont typeface="Calibri"/>
              <a:buNone/>
            </a:pPr>
            <a:r>
              <a:rPr b="0" i="1" lang="en-US" sz="1100" u="none" cap="none" strike="noStrike">
                <a:solidFill>
                  <a:srgbClr val="8D99AE"/>
                </a:solidFill>
                <a:latin typeface="Calibri"/>
                <a:ea typeface="Calibri"/>
                <a:cs typeface="Calibri"/>
                <a:sym typeface="Calibri"/>
              </a:rPr>
              <a:t>~10% energy transfer efficiency → food chains rarely exceed 4–5 levels.</a:t>
            </a:r>
            <a:endParaRPr b="0" i="0" sz="1100" u="none" cap="none" strike="noStrike">
              <a:solidFill>
                <a:schemeClr val="dk1"/>
              </a:solidFill>
              <a:latin typeface="Calibri"/>
              <a:ea typeface="Calibri"/>
              <a:cs typeface="Calibri"/>
              <a:sym typeface="Calibri"/>
            </a:endParaRPr>
          </a:p>
        </p:txBody>
      </p:sp>
      <p:sp>
        <p:nvSpPr>
          <p:cNvPr id="282" name="Google Shape;282;p11"/>
          <p:cNvSpPr/>
          <p:nvPr/>
        </p:nvSpPr>
        <p:spPr>
          <a:xfrm>
            <a:off x="3469001" y="777250"/>
            <a:ext cx="2933700" cy="3977700"/>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3469001" y="777251"/>
            <a:ext cx="2933700" cy="3474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p:nvPr/>
        </p:nvSpPr>
        <p:spPr>
          <a:xfrm>
            <a:off x="3578727" y="804675"/>
            <a:ext cx="282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Biogeochemical Cycling  (cyclic ↻)</a:t>
            </a:r>
            <a:endParaRPr b="0" i="0" sz="1300" u="none" cap="none" strike="noStrike">
              <a:solidFill>
                <a:schemeClr val="dk1"/>
              </a:solidFill>
              <a:latin typeface="Calibri"/>
              <a:ea typeface="Calibri"/>
              <a:cs typeface="Calibri"/>
              <a:sym typeface="Calibri"/>
            </a:endParaRPr>
          </a:p>
        </p:txBody>
      </p:sp>
      <p:sp>
        <p:nvSpPr>
          <p:cNvPr id="285" name="Google Shape;285;p11"/>
          <p:cNvSpPr/>
          <p:nvPr/>
        </p:nvSpPr>
        <p:spPr>
          <a:xfrm>
            <a:off x="3633597" y="1234440"/>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300"/>
              <a:buFont typeface="Calibri"/>
              <a:buNone/>
            </a:pPr>
            <a:r>
              <a:rPr b="1" i="0" lang="en-US" sz="1300" u="none" cap="none" strike="noStrike">
                <a:solidFill>
                  <a:srgbClr val="23293A"/>
                </a:solidFill>
                <a:latin typeface="Calibri"/>
                <a:ea typeface="Calibri"/>
                <a:cs typeface="Calibri"/>
                <a:sym typeface="Calibri"/>
              </a:rPr>
              <a:t>Atmospheric Pool</a:t>
            </a:r>
            <a:endParaRPr b="0" i="0" sz="1300" u="none" cap="none" strike="noStrike">
              <a:solidFill>
                <a:schemeClr val="dk1"/>
              </a:solidFill>
              <a:latin typeface="Calibri"/>
              <a:ea typeface="Calibri"/>
              <a:cs typeface="Calibri"/>
              <a:sym typeface="Calibri"/>
            </a:endParaRPr>
          </a:p>
        </p:txBody>
      </p:sp>
      <p:sp>
        <p:nvSpPr>
          <p:cNvPr id="286" name="Google Shape;286;p11"/>
          <p:cNvSpPr/>
          <p:nvPr/>
        </p:nvSpPr>
        <p:spPr>
          <a:xfrm>
            <a:off x="3633597" y="1508760"/>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Gases and particles in atmosphere</a:t>
            </a:r>
            <a:endParaRPr b="0" i="0" sz="1200" u="none" cap="none" strike="noStrike">
              <a:solidFill>
                <a:schemeClr val="dk1"/>
              </a:solidFill>
              <a:latin typeface="Calibri"/>
              <a:ea typeface="Calibri"/>
              <a:cs typeface="Calibri"/>
              <a:sym typeface="Calibri"/>
            </a:endParaRPr>
          </a:p>
        </p:txBody>
      </p:sp>
      <p:sp>
        <p:nvSpPr>
          <p:cNvPr id="287" name="Google Shape;287;p11"/>
          <p:cNvSpPr/>
          <p:nvPr/>
        </p:nvSpPr>
        <p:spPr>
          <a:xfrm>
            <a:off x="3633597" y="1984248"/>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300"/>
              <a:buFont typeface="Calibri"/>
              <a:buNone/>
            </a:pPr>
            <a:r>
              <a:rPr b="1" i="0" lang="en-US" sz="1300" u="none" cap="none" strike="noStrike">
                <a:solidFill>
                  <a:srgbClr val="23293A"/>
                </a:solidFill>
                <a:latin typeface="Calibri"/>
                <a:ea typeface="Calibri"/>
                <a:cs typeface="Calibri"/>
                <a:sym typeface="Calibri"/>
              </a:rPr>
              <a:t>Biotic Pool</a:t>
            </a:r>
            <a:endParaRPr b="0" i="0" sz="1300" u="none" cap="none" strike="noStrike">
              <a:solidFill>
                <a:schemeClr val="dk1"/>
              </a:solidFill>
              <a:latin typeface="Calibri"/>
              <a:ea typeface="Calibri"/>
              <a:cs typeface="Calibri"/>
              <a:sym typeface="Calibri"/>
            </a:endParaRPr>
          </a:p>
        </p:txBody>
      </p:sp>
      <p:sp>
        <p:nvSpPr>
          <p:cNvPr id="288" name="Google Shape;288;p11"/>
          <p:cNvSpPr/>
          <p:nvPr/>
        </p:nvSpPr>
        <p:spPr>
          <a:xfrm>
            <a:off x="3633597" y="2258568"/>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Nutrients locked in living organisms</a:t>
            </a:r>
            <a:endParaRPr b="0" i="0" sz="1200" u="none" cap="none" strike="noStrike">
              <a:solidFill>
                <a:schemeClr val="dk1"/>
              </a:solidFill>
              <a:latin typeface="Calibri"/>
              <a:ea typeface="Calibri"/>
              <a:cs typeface="Calibri"/>
              <a:sym typeface="Calibri"/>
            </a:endParaRPr>
          </a:p>
        </p:txBody>
      </p:sp>
      <p:sp>
        <p:nvSpPr>
          <p:cNvPr id="289" name="Google Shape;289;p11"/>
          <p:cNvSpPr/>
          <p:nvPr/>
        </p:nvSpPr>
        <p:spPr>
          <a:xfrm>
            <a:off x="3633597" y="2734056"/>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300"/>
              <a:buFont typeface="Calibri"/>
              <a:buNone/>
            </a:pPr>
            <a:r>
              <a:rPr b="1" i="0" lang="en-US" sz="1300" u="none" cap="none" strike="noStrike">
                <a:solidFill>
                  <a:srgbClr val="23293A"/>
                </a:solidFill>
                <a:latin typeface="Calibri"/>
                <a:ea typeface="Calibri"/>
                <a:cs typeface="Calibri"/>
                <a:sym typeface="Calibri"/>
              </a:rPr>
              <a:t>Hydrologic Pool</a:t>
            </a:r>
            <a:endParaRPr b="0" i="0" sz="1300" u="none" cap="none" strike="noStrike">
              <a:solidFill>
                <a:schemeClr val="dk1"/>
              </a:solidFill>
              <a:latin typeface="Calibri"/>
              <a:ea typeface="Calibri"/>
              <a:cs typeface="Calibri"/>
              <a:sym typeface="Calibri"/>
            </a:endParaRPr>
          </a:p>
        </p:txBody>
      </p:sp>
      <p:sp>
        <p:nvSpPr>
          <p:cNvPr id="290" name="Google Shape;290;p11"/>
          <p:cNvSpPr/>
          <p:nvPr/>
        </p:nvSpPr>
        <p:spPr>
          <a:xfrm>
            <a:off x="3633597" y="3008376"/>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Dissolved nutrients in water bodies</a:t>
            </a:r>
            <a:endParaRPr b="0" i="0" sz="1200" u="none" cap="none" strike="noStrike">
              <a:solidFill>
                <a:schemeClr val="dk1"/>
              </a:solidFill>
              <a:latin typeface="Calibri"/>
              <a:ea typeface="Calibri"/>
              <a:cs typeface="Calibri"/>
              <a:sym typeface="Calibri"/>
            </a:endParaRPr>
          </a:p>
        </p:txBody>
      </p:sp>
      <p:sp>
        <p:nvSpPr>
          <p:cNvPr id="291" name="Google Shape;291;p11"/>
          <p:cNvSpPr/>
          <p:nvPr/>
        </p:nvSpPr>
        <p:spPr>
          <a:xfrm>
            <a:off x="3633597" y="3483864"/>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300"/>
              <a:buFont typeface="Calibri"/>
              <a:buNone/>
            </a:pPr>
            <a:r>
              <a:rPr b="1" i="0" lang="en-US" sz="1300" u="none" cap="none" strike="noStrike">
                <a:solidFill>
                  <a:srgbClr val="23293A"/>
                </a:solidFill>
                <a:latin typeface="Calibri"/>
                <a:ea typeface="Calibri"/>
                <a:cs typeface="Calibri"/>
                <a:sym typeface="Calibri"/>
              </a:rPr>
              <a:t>Geologic Pool</a:t>
            </a:r>
            <a:endParaRPr b="0" i="0" sz="1300" u="none" cap="none" strike="noStrike">
              <a:solidFill>
                <a:schemeClr val="dk1"/>
              </a:solidFill>
              <a:latin typeface="Calibri"/>
              <a:ea typeface="Calibri"/>
              <a:cs typeface="Calibri"/>
              <a:sym typeface="Calibri"/>
            </a:endParaRPr>
          </a:p>
        </p:txBody>
      </p:sp>
      <p:sp>
        <p:nvSpPr>
          <p:cNvPr id="292" name="Google Shape;292;p11"/>
          <p:cNvSpPr/>
          <p:nvPr/>
        </p:nvSpPr>
        <p:spPr>
          <a:xfrm>
            <a:off x="3633597" y="3758184"/>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Nutrients stored in soil and rock</a:t>
            </a:r>
            <a:endParaRPr b="0" i="0" sz="1200" u="none" cap="none" strike="noStrike">
              <a:solidFill>
                <a:schemeClr val="dk1"/>
              </a:solidFill>
              <a:latin typeface="Calibri"/>
              <a:ea typeface="Calibri"/>
              <a:cs typeface="Calibri"/>
              <a:sym typeface="Calibri"/>
            </a:endParaRPr>
          </a:p>
        </p:txBody>
      </p:sp>
      <p:sp>
        <p:nvSpPr>
          <p:cNvPr id="293" name="Google Shape;293;p11"/>
          <p:cNvSpPr/>
          <p:nvPr/>
        </p:nvSpPr>
        <p:spPr>
          <a:xfrm>
            <a:off x="3560449" y="4206250"/>
            <a:ext cx="2658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100"/>
              <a:buFont typeface="Calibri"/>
              <a:buNone/>
            </a:pPr>
            <a:r>
              <a:rPr b="0" i="1" lang="en-US" sz="1100" u="none" cap="none" strike="noStrike">
                <a:solidFill>
                  <a:srgbClr val="8D99AE"/>
                </a:solidFill>
                <a:latin typeface="Calibri"/>
                <a:ea typeface="Calibri"/>
                <a:cs typeface="Calibri"/>
                <a:sym typeface="Calibri"/>
              </a:rPr>
              <a:t>Key elements: C, N, P, H₂O. Human activity disrupts natural cycles.</a:t>
            </a:r>
            <a:endParaRPr b="0" i="0" sz="1100" u="none" cap="none" strike="noStrike">
              <a:solidFill>
                <a:schemeClr val="dk1"/>
              </a:solidFill>
              <a:latin typeface="Calibri"/>
              <a:ea typeface="Calibri"/>
              <a:cs typeface="Calibri"/>
              <a:sym typeface="Calibri"/>
            </a:endParaRPr>
          </a:p>
        </p:txBody>
      </p:sp>
      <p:pic>
        <p:nvPicPr>
          <p:cNvPr id="294" name="Google Shape;294;p11"/>
          <p:cNvPicPr preferRelativeResize="0"/>
          <p:nvPr/>
        </p:nvPicPr>
        <p:blipFill>
          <a:blip r:embed="rId3">
            <a:alphaModFix/>
          </a:blip>
          <a:stretch>
            <a:fillRect/>
          </a:stretch>
        </p:blipFill>
        <p:spPr>
          <a:xfrm>
            <a:off x="6348900" y="928550"/>
            <a:ext cx="2658301" cy="3987451"/>
          </a:xfrm>
          <a:prstGeom prst="rect">
            <a:avLst/>
          </a:prstGeom>
          <a:noFill/>
          <a:ln>
            <a:noFill/>
          </a:ln>
        </p:spPr>
      </p:pic>
      <p:sp>
        <p:nvSpPr>
          <p:cNvPr id="295" name="Google Shape;295;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12"/>
          <p:cNvSpPr/>
          <p:nvPr/>
        </p:nvSpPr>
        <p:spPr>
          <a:xfrm>
            <a:off x="0" y="0"/>
            <a:ext cx="164592" cy="514350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2"/>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2"/>
          <p:cNvSpPr/>
          <p:nvPr/>
        </p:nvSpPr>
        <p:spPr>
          <a:xfrm>
            <a:off x="320040" y="137160"/>
            <a:ext cx="402336" cy="402336"/>
          </a:xfrm>
          <a:prstGeom prst="ellipse">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Succession, Disturbance &amp; Spatial Ecology</a:t>
            </a:r>
            <a:endParaRPr b="0" i="0" sz="2200" u="none" cap="none" strike="noStrike">
              <a:solidFill>
                <a:schemeClr val="dk1"/>
              </a:solidFill>
              <a:latin typeface="Calibri"/>
              <a:ea typeface="Calibri"/>
              <a:cs typeface="Calibri"/>
              <a:sym typeface="Calibri"/>
            </a:endParaRPr>
          </a:p>
        </p:txBody>
      </p:sp>
      <p:sp>
        <p:nvSpPr>
          <p:cNvPr id="305" name="Google Shape;305;p12"/>
          <p:cNvSpPr/>
          <p:nvPr/>
        </p:nvSpPr>
        <p:spPr>
          <a:xfrm>
            <a:off x="164592" y="685800"/>
            <a:ext cx="8979408" cy="36576"/>
          </a:xfrm>
          <a:prstGeom prst="rect">
            <a:avLst/>
          </a:prstGeom>
          <a:solidFill>
            <a:srgbClr val="7B68C8">
              <a:alpha val="40000"/>
            </a:srgbClr>
          </a:solidFill>
          <a:ln cap="flat" cmpd="sng" w="12700">
            <a:solidFill>
              <a:srgbClr val="7B68C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2"/>
          <p:cNvSpPr/>
          <p:nvPr/>
        </p:nvSpPr>
        <p:spPr>
          <a:xfrm>
            <a:off x="320040" y="768096"/>
            <a:ext cx="8503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68C8"/>
              </a:buClr>
              <a:buSzPts val="1400"/>
              <a:buFont typeface="Calibri"/>
              <a:buNone/>
            </a:pPr>
            <a:r>
              <a:rPr b="1" i="0" lang="en-US" sz="1400" u="none" cap="none" strike="noStrike">
                <a:solidFill>
                  <a:srgbClr val="7B68C8"/>
                </a:solidFill>
                <a:latin typeface="Calibri"/>
                <a:ea typeface="Calibri"/>
                <a:cs typeface="Calibri"/>
                <a:sym typeface="Calibri"/>
              </a:rPr>
              <a:t>Ecological Succession</a:t>
            </a:r>
            <a:endParaRPr b="0" i="0" sz="1400" u="none" cap="none" strike="noStrike">
              <a:solidFill>
                <a:schemeClr val="dk1"/>
              </a:solidFill>
              <a:latin typeface="Calibri"/>
              <a:ea typeface="Calibri"/>
              <a:cs typeface="Calibri"/>
              <a:sym typeface="Calibri"/>
            </a:endParaRPr>
          </a:p>
        </p:txBody>
      </p:sp>
      <p:sp>
        <p:nvSpPr>
          <p:cNvPr id="307" name="Google Shape;307;p12"/>
          <p:cNvSpPr/>
          <p:nvPr/>
        </p:nvSpPr>
        <p:spPr>
          <a:xfrm>
            <a:off x="256032" y="1078992"/>
            <a:ext cx="2029968" cy="1298448"/>
          </a:xfrm>
          <a:prstGeom prst="rect">
            <a:avLst/>
          </a:prstGeom>
          <a:solidFill>
            <a:srgbClr val="EAF4F7"/>
          </a:solidFill>
          <a:ln cap="flat" cmpd="sng" w="12700">
            <a:solidFill>
              <a:srgbClr val="4A9DB5">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256032" y="1078992"/>
            <a:ext cx="2029968" cy="310896"/>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2"/>
          <p:cNvSpPr/>
          <p:nvPr/>
        </p:nvSpPr>
        <p:spPr>
          <a:xfrm>
            <a:off x="329184" y="1078992"/>
            <a:ext cx="18836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Pioneer</a:t>
            </a:r>
            <a:endParaRPr b="0" i="0" sz="1200" u="none" cap="none" strike="noStrike">
              <a:solidFill>
                <a:schemeClr val="dk1"/>
              </a:solidFill>
              <a:latin typeface="Calibri"/>
              <a:ea typeface="Calibri"/>
              <a:cs typeface="Calibri"/>
              <a:sym typeface="Calibri"/>
            </a:endParaRPr>
          </a:p>
        </p:txBody>
      </p:sp>
      <p:sp>
        <p:nvSpPr>
          <p:cNvPr id="310" name="Google Shape;310;p12"/>
          <p:cNvSpPr/>
          <p:nvPr/>
        </p:nvSpPr>
        <p:spPr>
          <a:xfrm>
            <a:off x="347472" y="1426464"/>
            <a:ext cx="184708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First colonizers; extreme-tolerant.</a:t>
            </a:r>
            <a:endParaRPr b="0" i="0" sz="1150" u="none" cap="none" strike="noStrike">
              <a:solidFill>
                <a:schemeClr val="dk1"/>
              </a:solidFill>
              <a:latin typeface="Calibri"/>
              <a:ea typeface="Calibri"/>
              <a:cs typeface="Calibri"/>
              <a:sym typeface="Calibri"/>
            </a:endParaRPr>
          </a:p>
        </p:txBody>
      </p:sp>
      <p:sp>
        <p:nvSpPr>
          <p:cNvPr id="311" name="Google Shape;311;p12"/>
          <p:cNvSpPr/>
          <p:nvPr/>
        </p:nvSpPr>
        <p:spPr>
          <a:xfrm>
            <a:off x="2286000" y="1417320"/>
            <a:ext cx="14630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D99AE"/>
              </a:buClr>
              <a:buSzPts val="1600"/>
              <a:buFont typeface="Calibri"/>
              <a:buNone/>
            </a:pPr>
            <a:r>
              <a:rPr b="0" i="0" lang="en-US" sz="1600" u="none" cap="none" strike="noStrike">
                <a:solidFill>
                  <a:srgbClr val="8D99AE"/>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312" name="Google Shape;312;p12"/>
          <p:cNvSpPr/>
          <p:nvPr/>
        </p:nvSpPr>
        <p:spPr>
          <a:xfrm>
            <a:off x="2432304" y="1078992"/>
            <a:ext cx="2029968" cy="1298448"/>
          </a:xfrm>
          <a:prstGeom prst="rect">
            <a:avLst/>
          </a:prstGeom>
          <a:solidFill>
            <a:srgbClr val="F7ECEA"/>
          </a:solidFill>
          <a:ln cap="flat" cmpd="sng" w="12700">
            <a:solidFill>
              <a:srgbClr val="4CAF8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2"/>
          <p:cNvSpPr/>
          <p:nvPr/>
        </p:nvSpPr>
        <p:spPr>
          <a:xfrm>
            <a:off x="2432304" y="1078992"/>
            <a:ext cx="2029968" cy="310896"/>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2505456" y="1078992"/>
            <a:ext cx="18836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Early</a:t>
            </a:r>
            <a:endParaRPr b="0" i="0" sz="1200" u="none" cap="none" strike="noStrike">
              <a:solidFill>
                <a:schemeClr val="dk1"/>
              </a:solidFill>
              <a:latin typeface="Calibri"/>
              <a:ea typeface="Calibri"/>
              <a:cs typeface="Calibri"/>
              <a:sym typeface="Calibri"/>
            </a:endParaRPr>
          </a:p>
        </p:txBody>
      </p:sp>
      <p:sp>
        <p:nvSpPr>
          <p:cNvPr id="315" name="Google Shape;315;p12"/>
          <p:cNvSpPr/>
          <p:nvPr/>
        </p:nvSpPr>
        <p:spPr>
          <a:xfrm>
            <a:off x="2523744" y="1426464"/>
            <a:ext cx="184708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Fast-growing, light-demanding.</a:t>
            </a:r>
            <a:endParaRPr b="0" i="0" sz="1150" u="none" cap="none" strike="noStrike">
              <a:solidFill>
                <a:schemeClr val="dk1"/>
              </a:solidFill>
              <a:latin typeface="Calibri"/>
              <a:ea typeface="Calibri"/>
              <a:cs typeface="Calibri"/>
              <a:sym typeface="Calibri"/>
            </a:endParaRPr>
          </a:p>
        </p:txBody>
      </p:sp>
      <p:sp>
        <p:nvSpPr>
          <p:cNvPr id="316" name="Google Shape;316;p12"/>
          <p:cNvSpPr/>
          <p:nvPr/>
        </p:nvSpPr>
        <p:spPr>
          <a:xfrm>
            <a:off x="4462272" y="1417320"/>
            <a:ext cx="14630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D99AE"/>
              </a:buClr>
              <a:buSzPts val="1600"/>
              <a:buFont typeface="Calibri"/>
              <a:buNone/>
            </a:pPr>
            <a:r>
              <a:rPr b="0" i="0" lang="en-US" sz="1600" u="none" cap="none" strike="noStrike">
                <a:solidFill>
                  <a:srgbClr val="8D99AE"/>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317" name="Google Shape;317;p12"/>
          <p:cNvSpPr/>
          <p:nvPr/>
        </p:nvSpPr>
        <p:spPr>
          <a:xfrm>
            <a:off x="4608576" y="1078992"/>
            <a:ext cx="2029968" cy="1298448"/>
          </a:xfrm>
          <a:prstGeom prst="rect">
            <a:avLst/>
          </a:prstGeom>
          <a:solidFill>
            <a:srgbClr val="F7F3E8"/>
          </a:solidFill>
          <a:ln cap="flat" cmpd="sng" w="12700">
            <a:solidFill>
              <a:srgbClr val="D4756B">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4608576" y="1078992"/>
            <a:ext cx="2029968" cy="310896"/>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p:nvPr/>
        </p:nvSpPr>
        <p:spPr>
          <a:xfrm>
            <a:off x="4681728" y="1078992"/>
            <a:ext cx="18836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Mid</a:t>
            </a:r>
            <a:endParaRPr b="0" i="0" sz="1200" u="none" cap="none" strike="noStrike">
              <a:solidFill>
                <a:schemeClr val="dk1"/>
              </a:solidFill>
              <a:latin typeface="Calibri"/>
              <a:ea typeface="Calibri"/>
              <a:cs typeface="Calibri"/>
              <a:sym typeface="Calibri"/>
            </a:endParaRPr>
          </a:p>
        </p:txBody>
      </p:sp>
      <p:sp>
        <p:nvSpPr>
          <p:cNvPr id="320" name="Google Shape;320;p12"/>
          <p:cNvSpPr/>
          <p:nvPr/>
        </p:nvSpPr>
        <p:spPr>
          <a:xfrm>
            <a:off x="4700016" y="1426464"/>
            <a:ext cx="184708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Mix of early and late species.</a:t>
            </a:r>
            <a:endParaRPr b="0" i="0" sz="1150" u="none" cap="none" strike="noStrike">
              <a:solidFill>
                <a:schemeClr val="dk1"/>
              </a:solidFill>
              <a:latin typeface="Calibri"/>
              <a:ea typeface="Calibri"/>
              <a:cs typeface="Calibri"/>
              <a:sym typeface="Calibri"/>
            </a:endParaRPr>
          </a:p>
        </p:txBody>
      </p:sp>
      <p:sp>
        <p:nvSpPr>
          <p:cNvPr id="321" name="Google Shape;321;p12"/>
          <p:cNvSpPr/>
          <p:nvPr/>
        </p:nvSpPr>
        <p:spPr>
          <a:xfrm>
            <a:off x="6638544" y="1417320"/>
            <a:ext cx="14630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D99AE"/>
              </a:buClr>
              <a:buSzPts val="1600"/>
              <a:buFont typeface="Calibri"/>
              <a:buNone/>
            </a:pPr>
            <a:r>
              <a:rPr b="0" i="0" lang="en-US" sz="1600" u="none" cap="none" strike="noStrike">
                <a:solidFill>
                  <a:srgbClr val="8D99AE"/>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322" name="Google Shape;322;p12"/>
          <p:cNvSpPr/>
          <p:nvPr/>
        </p:nvSpPr>
        <p:spPr>
          <a:xfrm>
            <a:off x="6784848" y="1078992"/>
            <a:ext cx="2029968" cy="1298448"/>
          </a:xfrm>
          <a:prstGeom prst="rect">
            <a:avLst/>
          </a:prstGeom>
          <a:solidFill>
            <a:srgbClr val="EAF5EF"/>
          </a:solidFill>
          <a:ln cap="flat" cmpd="sng" w="12700">
            <a:solidFill>
              <a:srgbClr val="7B68C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6784848" y="1078992"/>
            <a:ext cx="2029968" cy="310896"/>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6858000" y="1078992"/>
            <a:ext cx="18836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Climax</a:t>
            </a:r>
            <a:endParaRPr b="0" i="0" sz="1200" u="none" cap="none" strike="noStrike">
              <a:solidFill>
                <a:schemeClr val="dk1"/>
              </a:solidFill>
              <a:latin typeface="Calibri"/>
              <a:ea typeface="Calibri"/>
              <a:cs typeface="Calibri"/>
              <a:sym typeface="Calibri"/>
            </a:endParaRPr>
          </a:p>
        </p:txBody>
      </p:sp>
      <p:sp>
        <p:nvSpPr>
          <p:cNvPr id="325" name="Google Shape;325;p12"/>
          <p:cNvSpPr/>
          <p:nvPr/>
        </p:nvSpPr>
        <p:spPr>
          <a:xfrm>
            <a:off x="6876288" y="1426464"/>
            <a:ext cx="184708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Stable, self-perpetuating community.</a:t>
            </a:r>
            <a:endParaRPr b="0" i="0" sz="1150" u="none" cap="none" strike="noStrike">
              <a:solidFill>
                <a:schemeClr val="dk1"/>
              </a:solidFill>
              <a:latin typeface="Calibri"/>
              <a:ea typeface="Calibri"/>
              <a:cs typeface="Calibri"/>
              <a:sym typeface="Calibri"/>
            </a:endParaRPr>
          </a:p>
        </p:txBody>
      </p:sp>
      <p:sp>
        <p:nvSpPr>
          <p:cNvPr id="326" name="Google Shape;326;p12"/>
          <p:cNvSpPr/>
          <p:nvPr/>
        </p:nvSpPr>
        <p:spPr>
          <a:xfrm>
            <a:off x="320040" y="2450592"/>
            <a:ext cx="8503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150"/>
              <a:buFont typeface="Calibri"/>
              <a:buNone/>
            </a:pPr>
            <a:r>
              <a:rPr b="0" i="1" lang="en-US" sz="1150" u="none" cap="none" strike="noStrike">
                <a:solidFill>
                  <a:srgbClr val="8D99AE"/>
                </a:solidFill>
                <a:latin typeface="Calibri"/>
                <a:ea typeface="Calibri"/>
                <a:cs typeface="Calibri"/>
                <a:sym typeface="Calibri"/>
              </a:rPr>
              <a:t>Intermediate Disturbance Hypothesis: moderate disturbance maximises biodiversity.</a:t>
            </a:r>
            <a:endParaRPr b="0" i="0" sz="1150" u="none" cap="none" strike="noStrike">
              <a:solidFill>
                <a:schemeClr val="dk1"/>
              </a:solidFill>
              <a:latin typeface="Calibri"/>
              <a:ea typeface="Calibri"/>
              <a:cs typeface="Calibri"/>
              <a:sym typeface="Calibri"/>
            </a:endParaRPr>
          </a:p>
        </p:txBody>
      </p:sp>
      <p:sp>
        <p:nvSpPr>
          <p:cNvPr id="327" name="Google Shape;327;p12"/>
          <p:cNvSpPr/>
          <p:nvPr/>
        </p:nvSpPr>
        <p:spPr>
          <a:xfrm>
            <a:off x="320040" y="2816352"/>
            <a:ext cx="8503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68C8"/>
              </a:buClr>
              <a:buSzPts val="1400"/>
              <a:buFont typeface="Calibri"/>
              <a:buNone/>
            </a:pPr>
            <a:r>
              <a:rPr b="1" i="0" lang="en-US" sz="1400" u="none" cap="none" strike="noStrike">
                <a:solidFill>
                  <a:srgbClr val="7B68C8"/>
                </a:solidFill>
                <a:latin typeface="Calibri"/>
                <a:ea typeface="Calibri"/>
                <a:cs typeface="Calibri"/>
                <a:sym typeface="Calibri"/>
              </a:rPr>
              <a:t>Spatial Ecology</a:t>
            </a:r>
            <a:endParaRPr b="0" i="0" sz="1400" u="none" cap="none" strike="noStrike">
              <a:solidFill>
                <a:schemeClr val="dk1"/>
              </a:solidFill>
              <a:latin typeface="Calibri"/>
              <a:ea typeface="Calibri"/>
              <a:cs typeface="Calibri"/>
              <a:sym typeface="Calibri"/>
            </a:endParaRPr>
          </a:p>
        </p:txBody>
      </p:sp>
      <p:sp>
        <p:nvSpPr>
          <p:cNvPr id="328" name="Google Shape;328;p12"/>
          <p:cNvSpPr/>
          <p:nvPr/>
        </p:nvSpPr>
        <p:spPr>
          <a:xfrm>
            <a:off x="320040" y="3145536"/>
            <a:ext cx="4160520" cy="1600200"/>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320040" y="3145536"/>
            <a:ext cx="41605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429768" y="3172968"/>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Landscape Structure</a:t>
            </a:r>
            <a:endParaRPr b="0" i="0" sz="1300" u="none" cap="none" strike="noStrike">
              <a:solidFill>
                <a:schemeClr val="dk1"/>
              </a:solidFill>
              <a:latin typeface="Calibri"/>
              <a:ea typeface="Calibri"/>
              <a:cs typeface="Calibri"/>
              <a:sym typeface="Calibri"/>
            </a:endParaRPr>
          </a:p>
        </p:txBody>
      </p:sp>
      <p:sp>
        <p:nvSpPr>
          <p:cNvPr id="331" name="Google Shape;331;p12"/>
          <p:cNvSpPr/>
          <p:nvPr/>
        </p:nvSpPr>
        <p:spPr>
          <a:xfrm>
            <a:off x="429768" y="3566160"/>
            <a:ext cx="3941064" cy="10698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Patches (habitat areas), corridors (connecting features), and matrices (surrounding environment) influence species movement and population dynamics.</a:t>
            </a:r>
            <a:endParaRPr b="0" i="0" sz="1200" u="none" cap="none" strike="noStrike">
              <a:solidFill>
                <a:schemeClr val="dk1"/>
              </a:solidFill>
              <a:latin typeface="Calibri"/>
              <a:ea typeface="Calibri"/>
              <a:cs typeface="Calibri"/>
              <a:sym typeface="Calibri"/>
            </a:endParaRPr>
          </a:p>
        </p:txBody>
      </p:sp>
      <p:sp>
        <p:nvSpPr>
          <p:cNvPr id="332" name="Google Shape;332;p12"/>
          <p:cNvSpPr/>
          <p:nvPr/>
        </p:nvSpPr>
        <p:spPr>
          <a:xfrm>
            <a:off x="4663440" y="3145536"/>
            <a:ext cx="4160520" cy="1600200"/>
          </a:xfrm>
          <a:prstGeom prst="rect">
            <a:avLst/>
          </a:prstGeom>
          <a:solidFill>
            <a:srgbClr val="F0ECFA"/>
          </a:solidFill>
          <a:ln cap="flat" cmpd="sng" w="12700">
            <a:solidFill>
              <a:srgbClr val="7B68C8">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
          <p:cNvSpPr/>
          <p:nvPr/>
        </p:nvSpPr>
        <p:spPr>
          <a:xfrm>
            <a:off x="4663440" y="3145536"/>
            <a:ext cx="41605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4773168" y="3172968"/>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Metapopulation Dynamics</a:t>
            </a:r>
            <a:endParaRPr b="0" i="0" sz="1300" u="none" cap="none" strike="noStrike">
              <a:solidFill>
                <a:schemeClr val="dk1"/>
              </a:solidFill>
              <a:latin typeface="Calibri"/>
              <a:ea typeface="Calibri"/>
              <a:cs typeface="Calibri"/>
              <a:sym typeface="Calibri"/>
            </a:endParaRPr>
          </a:p>
        </p:txBody>
      </p:sp>
      <p:sp>
        <p:nvSpPr>
          <p:cNvPr id="335" name="Google Shape;335;p12"/>
          <p:cNvSpPr/>
          <p:nvPr/>
        </p:nvSpPr>
        <p:spPr>
          <a:xfrm>
            <a:off x="4773168" y="3566160"/>
            <a:ext cx="3941064" cy="10698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Networks of subpopulations connected by dispersal. Local extinctions offset by recolonisation — provides landscape-scale resilience.</a:t>
            </a:r>
            <a:endParaRPr b="0" i="0" sz="1200" u="none" cap="none" strike="noStrike">
              <a:solidFill>
                <a:schemeClr val="dk1"/>
              </a:solidFill>
              <a:latin typeface="Calibri"/>
              <a:ea typeface="Calibri"/>
              <a:cs typeface="Calibri"/>
              <a:sym typeface="Calibri"/>
            </a:endParaRPr>
          </a:p>
        </p:txBody>
      </p:sp>
      <p:sp>
        <p:nvSpPr>
          <p:cNvPr id="336" name="Google Shape;336;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756B"/>
        </a:solidFill>
      </p:bgPr>
    </p:bg>
    <p:spTree>
      <p:nvGrpSpPr>
        <p:cNvPr id="341" name="Shape 341"/>
        <p:cNvGrpSpPr/>
        <p:nvPr/>
      </p:nvGrpSpPr>
      <p:grpSpPr>
        <a:xfrm>
          <a:off x="0" y="0"/>
          <a:ext cx="0" cy="0"/>
          <a:chOff x="0" y="0"/>
          <a:chExt cx="0" cy="0"/>
        </a:xfrm>
      </p:grpSpPr>
      <p:sp>
        <p:nvSpPr>
          <p:cNvPr id="342" name="Google Shape;342;p13"/>
          <p:cNvSpPr/>
          <p:nvPr/>
        </p:nvSpPr>
        <p:spPr>
          <a:xfrm>
            <a:off x="6858000" y="-457200"/>
            <a:ext cx="3200400" cy="3200400"/>
          </a:xfrm>
          <a:prstGeom prst="ellipse">
            <a:avLst/>
          </a:prstGeom>
          <a:solidFill>
            <a:srgbClr val="FFFFFF">
              <a:alpha val="14901"/>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7772400" y="2743200"/>
            <a:ext cx="1828800" cy="182880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182880" y="3840480"/>
            <a:ext cx="1097280" cy="109728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457200" y="640080"/>
            <a:ext cx="12801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3</a:t>
            </a:r>
            <a:endParaRPr b="0" i="0" sz="6400" u="none" cap="none" strike="noStrike">
              <a:solidFill>
                <a:schemeClr val="dk1"/>
              </a:solidFill>
              <a:latin typeface="Calibri"/>
              <a:ea typeface="Calibri"/>
              <a:cs typeface="Calibri"/>
              <a:sym typeface="Calibri"/>
            </a:endParaRPr>
          </a:p>
        </p:txBody>
      </p:sp>
      <p:sp>
        <p:nvSpPr>
          <p:cNvPr id="346" name="Google Shape;346;p13"/>
          <p:cNvSpPr/>
          <p:nvPr/>
        </p:nvSpPr>
        <p:spPr>
          <a:xfrm>
            <a:off x="457200" y="1920240"/>
            <a:ext cx="68580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Model Types, Principles</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&amp; Development</a:t>
            </a:r>
            <a:endParaRPr b="0" i="0" sz="3600" u="none" cap="none" strike="noStrike">
              <a:solidFill>
                <a:schemeClr val="dk1"/>
              </a:solidFill>
              <a:latin typeface="Calibri"/>
              <a:ea typeface="Calibri"/>
              <a:cs typeface="Calibri"/>
              <a:sym typeface="Calibri"/>
            </a:endParaRPr>
          </a:p>
        </p:txBody>
      </p:sp>
      <p:sp>
        <p:nvSpPr>
          <p:cNvPr id="347" name="Google Shape;347;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14"/>
          <p:cNvSpPr/>
          <p:nvPr/>
        </p:nvSpPr>
        <p:spPr>
          <a:xfrm>
            <a:off x="0" y="0"/>
            <a:ext cx="164592"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4"/>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4"/>
          <p:cNvSpPr/>
          <p:nvPr/>
        </p:nvSpPr>
        <p:spPr>
          <a:xfrm>
            <a:off x="320040" y="137160"/>
            <a:ext cx="402336" cy="402336"/>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Core Principles of Ecological Models</a:t>
            </a:r>
            <a:endParaRPr b="0" i="0" sz="2200" u="none" cap="none" strike="noStrike">
              <a:solidFill>
                <a:schemeClr val="dk1"/>
              </a:solidFill>
              <a:latin typeface="Calibri"/>
              <a:ea typeface="Calibri"/>
              <a:cs typeface="Calibri"/>
              <a:sym typeface="Calibri"/>
            </a:endParaRPr>
          </a:p>
        </p:txBody>
      </p:sp>
      <p:sp>
        <p:nvSpPr>
          <p:cNvPr id="357" name="Google Shape;357;p14"/>
          <p:cNvSpPr/>
          <p:nvPr/>
        </p:nvSpPr>
        <p:spPr>
          <a:xfrm>
            <a:off x="164592" y="685800"/>
            <a:ext cx="8979408" cy="36576"/>
          </a:xfrm>
          <a:prstGeom prst="rect">
            <a:avLst/>
          </a:prstGeom>
          <a:solidFill>
            <a:srgbClr val="D4756B">
              <a:alpha val="40000"/>
            </a:srgbClr>
          </a:solidFill>
          <a:ln cap="flat" cmpd="sng" w="12700">
            <a:solidFill>
              <a:srgbClr val="D4756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4"/>
          <p:cNvSpPr/>
          <p:nvPr/>
        </p:nvSpPr>
        <p:spPr>
          <a:xfrm>
            <a:off x="320040" y="832104"/>
            <a:ext cx="502920" cy="50292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4"/>
          <p:cNvSpPr/>
          <p:nvPr/>
        </p:nvSpPr>
        <p:spPr>
          <a:xfrm>
            <a:off x="320040" y="83210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360" name="Google Shape;360;p14"/>
          <p:cNvSpPr/>
          <p:nvPr/>
        </p:nvSpPr>
        <p:spPr>
          <a:xfrm>
            <a:off x="960120" y="841248"/>
            <a:ext cx="7818120" cy="502920"/>
          </a:xfrm>
          <a:prstGeom prst="rect">
            <a:avLst/>
          </a:prstGeom>
          <a:solidFill>
            <a:srgbClr val="F8F9FA"/>
          </a:solidFill>
          <a:ln cap="flat" cmpd="sng" w="12700">
            <a:solidFill>
              <a:srgbClr val="4A9DB5">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4"/>
          <p:cNvSpPr/>
          <p:nvPr/>
        </p:nvSpPr>
        <p:spPr>
          <a:xfrm>
            <a:off x="960120" y="841248"/>
            <a:ext cx="54864" cy="50292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4"/>
          <p:cNvSpPr/>
          <p:nvPr/>
        </p:nvSpPr>
        <p:spPr>
          <a:xfrm>
            <a:off x="1115568" y="868680"/>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DB5"/>
              </a:buClr>
              <a:buSzPts val="1300"/>
              <a:buFont typeface="Calibri"/>
              <a:buNone/>
            </a:pPr>
            <a:r>
              <a:rPr b="1" i="0" lang="en-US" sz="1300" u="none" cap="none" strike="noStrike">
                <a:solidFill>
                  <a:srgbClr val="4A9DB5"/>
                </a:solidFill>
                <a:latin typeface="Calibri"/>
                <a:ea typeface="Calibri"/>
                <a:cs typeface="Calibri"/>
                <a:sym typeface="Calibri"/>
              </a:rPr>
              <a:t>Abstraction</a:t>
            </a:r>
            <a:endParaRPr b="0" i="0" sz="1300" u="none" cap="none" strike="noStrike">
              <a:solidFill>
                <a:schemeClr val="dk1"/>
              </a:solidFill>
              <a:latin typeface="Calibri"/>
              <a:ea typeface="Calibri"/>
              <a:cs typeface="Calibri"/>
              <a:sym typeface="Calibri"/>
            </a:endParaRPr>
          </a:p>
        </p:txBody>
      </p:sp>
      <p:sp>
        <p:nvSpPr>
          <p:cNvPr id="363" name="Google Shape;363;p14"/>
          <p:cNvSpPr/>
          <p:nvPr/>
        </p:nvSpPr>
        <p:spPr>
          <a:xfrm>
            <a:off x="3063240" y="868680"/>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All models simplify reality — focusing on essential elements while deliberately omitting unnecessary detail. The art is choosing what to include.</a:t>
            </a:r>
            <a:endParaRPr b="0" i="0" sz="1250" u="none" cap="none" strike="noStrike">
              <a:solidFill>
                <a:schemeClr val="dk1"/>
              </a:solidFill>
              <a:latin typeface="Calibri"/>
              <a:ea typeface="Calibri"/>
              <a:cs typeface="Calibri"/>
              <a:sym typeface="Calibri"/>
            </a:endParaRPr>
          </a:p>
        </p:txBody>
      </p:sp>
      <p:sp>
        <p:nvSpPr>
          <p:cNvPr id="364" name="Google Shape;364;p14"/>
          <p:cNvSpPr/>
          <p:nvPr/>
        </p:nvSpPr>
        <p:spPr>
          <a:xfrm>
            <a:off x="320040" y="1627632"/>
            <a:ext cx="502920" cy="502920"/>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4"/>
          <p:cNvSpPr/>
          <p:nvPr/>
        </p:nvSpPr>
        <p:spPr>
          <a:xfrm>
            <a:off x="320040" y="162763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366" name="Google Shape;366;p14"/>
          <p:cNvSpPr/>
          <p:nvPr/>
        </p:nvSpPr>
        <p:spPr>
          <a:xfrm>
            <a:off x="960120" y="1636776"/>
            <a:ext cx="7818120" cy="502920"/>
          </a:xfrm>
          <a:prstGeom prst="rect">
            <a:avLst/>
          </a:prstGeom>
          <a:solidFill>
            <a:srgbClr val="F8F9FA"/>
          </a:solidFill>
          <a:ln cap="flat" cmpd="sng" w="12700">
            <a:solidFill>
              <a:srgbClr val="4CAF8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4"/>
          <p:cNvSpPr/>
          <p:nvPr/>
        </p:nvSpPr>
        <p:spPr>
          <a:xfrm>
            <a:off x="960120" y="1636776"/>
            <a:ext cx="54864" cy="50292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p:nvPr/>
        </p:nvSpPr>
        <p:spPr>
          <a:xfrm>
            <a:off x="1115568" y="1664208"/>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8A"/>
              </a:buClr>
              <a:buSzPts val="1300"/>
              <a:buFont typeface="Calibri"/>
              <a:buNone/>
            </a:pPr>
            <a:r>
              <a:rPr b="1" i="0" lang="en-US" sz="1300" u="none" cap="none" strike="noStrike">
                <a:solidFill>
                  <a:srgbClr val="4CAF8A"/>
                </a:solidFill>
                <a:latin typeface="Calibri"/>
                <a:ea typeface="Calibri"/>
                <a:cs typeface="Calibri"/>
                <a:sym typeface="Calibri"/>
              </a:rPr>
              <a:t>Balance</a:t>
            </a:r>
            <a:endParaRPr b="0" i="0" sz="1300" u="none" cap="none" strike="noStrike">
              <a:solidFill>
                <a:schemeClr val="dk1"/>
              </a:solidFill>
              <a:latin typeface="Calibri"/>
              <a:ea typeface="Calibri"/>
              <a:cs typeface="Calibri"/>
              <a:sym typeface="Calibri"/>
            </a:endParaRPr>
          </a:p>
        </p:txBody>
      </p:sp>
      <p:sp>
        <p:nvSpPr>
          <p:cNvPr id="369" name="Google Shape;369;p14"/>
          <p:cNvSpPr/>
          <p:nvPr/>
        </p:nvSpPr>
        <p:spPr>
          <a:xfrm>
            <a:off x="3063240" y="1664208"/>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Navigate trade-offs between realism, precision, and generality (Levins' trilemma). No model can maximise all three simultaneously.</a:t>
            </a:r>
            <a:endParaRPr b="0" i="0" sz="1250" u="none" cap="none" strike="noStrike">
              <a:solidFill>
                <a:schemeClr val="dk1"/>
              </a:solidFill>
              <a:latin typeface="Calibri"/>
              <a:ea typeface="Calibri"/>
              <a:cs typeface="Calibri"/>
              <a:sym typeface="Calibri"/>
            </a:endParaRPr>
          </a:p>
        </p:txBody>
      </p:sp>
      <p:sp>
        <p:nvSpPr>
          <p:cNvPr id="370" name="Google Shape;370;p14"/>
          <p:cNvSpPr/>
          <p:nvPr/>
        </p:nvSpPr>
        <p:spPr>
          <a:xfrm>
            <a:off x="320040" y="2423160"/>
            <a:ext cx="502920" cy="502920"/>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
          <p:cNvSpPr/>
          <p:nvPr/>
        </p:nvSpPr>
        <p:spPr>
          <a:xfrm>
            <a:off x="320040" y="24231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372" name="Google Shape;372;p14"/>
          <p:cNvSpPr/>
          <p:nvPr/>
        </p:nvSpPr>
        <p:spPr>
          <a:xfrm>
            <a:off x="960120" y="2432304"/>
            <a:ext cx="7818120" cy="502920"/>
          </a:xfrm>
          <a:prstGeom prst="rect">
            <a:avLst/>
          </a:prstGeom>
          <a:solidFill>
            <a:srgbClr val="F8F9FA"/>
          </a:solidFill>
          <a:ln cap="flat" cmpd="sng" w="12700">
            <a:solidFill>
              <a:srgbClr val="D4756B">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960120" y="2432304"/>
            <a:ext cx="54864" cy="50292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4"/>
          <p:cNvSpPr/>
          <p:nvPr/>
        </p:nvSpPr>
        <p:spPr>
          <a:xfrm>
            <a:off x="1115568" y="2459736"/>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756B"/>
              </a:buClr>
              <a:buSzPts val="1300"/>
              <a:buFont typeface="Calibri"/>
              <a:buNone/>
            </a:pPr>
            <a:r>
              <a:rPr b="1" i="0" lang="en-US" sz="1300" u="none" cap="none" strike="noStrike">
                <a:solidFill>
                  <a:srgbClr val="D4756B"/>
                </a:solidFill>
                <a:latin typeface="Calibri"/>
                <a:ea typeface="Calibri"/>
                <a:cs typeface="Calibri"/>
                <a:sym typeface="Calibri"/>
              </a:rPr>
              <a:t>Purpose-Driven</a:t>
            </a:r>
            <a:endParaRPr b="0" i="0" sz="1300" u="none" cap="none" strike="noStrike">
              <a:solidFill>
                <a:schemeClr val="dk1"/>
              </a:solidFill>
              <a:latin typeface="Calibri"/>
              <a:ea typeface="Calibri"/>
              <a:cs typeface="Calibri"/>
              <a:sym typeface="Calibri"/>
            </a:endParaRPr>
          </a:p>
        </p:txBody>
      </p:sp>
      <p:sp>
        <p:nvSpPr>
          <p:cNvPr id="375" name="Google Shape;375;p14"/>
          <p:cNvSpPr/>
          <p:nvPr/>
        </p:nvSpPr>
        <p:spPr>
          <a:xfrm>
            <a:off x="3063240" y="2459736"/>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Model structure must match the specific research </a:t>
            </a:r>
            <a:r>
              <a:rPr b="0" i="0" lang="en-US" sz="1250" u="none" cap="none" strike="noStrike">
                <a:solidFill>
                  <a:srgbClr val="2B2D42"/>
                </a:solidFill>
                <a:latin typeface="Calibri"/>
                <a:ea typeface="Calibri"/>
                <a:cs typeface="Calibri"/>
                <a:sym typeface="Calibri"/>
              </a:rPr>
              <a:t>question</a:t>
            </a:r>
            <a:r>
              <a:rPr b="0" i="0" lang="en-US" sz="1250" u="none" cap="none" strike="noStrike">
                <a:solidFill>
                  <a:srgbClr val="2B2D42"/>
                </a:solidFill>
                <a:latin typeface="Calibri"/>
                <a:ea typeface="Calibri"/>
                <a:cs typeface="Calibri"/>
                <a:sym typeface="Calibri"/>
              </a:rPr>
              <a:t>. A nutrient-cycling question demands a different model than a range-shift question.</a:t>
            </a:r>
            <a:endParaRPr b="0" i="0" sz="1250" u="none" cap="none" strike="noStrike">
              <a:solidFill>
                <a:schemeClr val="dk1"/>
              </a:solidFill>
              <a:latin typeface="Calibri"/>
              <a:ea typeface="Calibri"/>
              <a:cs typeface="Calibri"/>
              <a:sym typeface="Calibri"/>
            </a:endParaRPr>
          </a:p>
        </p:txBody>
      </p:sp>
      <p:sp>
        <p:nvSpPr>
          <p:cNvPr id="376" name="Google Shape;376;p14"/>
          <p:cNvSpPr/>
          <p:nvPr/>
        </p:nvSpPr>
        <p:spPr>
          <a:xfrm>
            <a:off x="320040" y="3218688"/>
            <a:ext cx="502920" cy="502920"/>
          </a:xfrm>
          <a:prstGeom prst="ellipse">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320040" y="321868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378" name="Google Shape;378;p14"/>
          <p:cNvSpPr/>
          <p:nvPr/>
        </p:nvSpPr>
        <p:spPr>
          <a:xfrm>
            <a:off x="960120" y="3227832"/>
            <a:ext cx="7818120" cy="502920"/>
          </a:xfrm>
          <a:prstGeom prst="rect">
            <a:avLst/>
          </a:prstGeom>
          <a:solidFill>
            <a:srgbClr val="F8F9FA"/>
          </a:solidFill>
          <a:ln cap="flat" cmpd="sng" w="12700">
            <a:solidFill>
              <a:srgbClr val="7B68C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960120" y="3227832"/>
            <a:ext cx="54864" cy="50292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a:off x="1115568" y="3255264"/>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68C8"/>
              </a:buClr>
              <a:buSzPts val="1300"/>
              <a:buFont typeface="Calibri"/>
              <a:buNone/>
            </a:pPr>
            <a:r>
              <a:rPr b="1" i="0" lang="en-US" sz="1300" u="none" cap="none" strike="noStrike">
                <a:solidFill>
                  <a:srgbClr val="7B68C8"/>
                </a:solidFill>
                <a:latin typeface="Calibri"/>
                <a:ea typeface="Calibri"/>
                <a:cs typeface="Calibri"/>
                <a:sym typeface="Calibri"/>
              </a:rPr>
              <a:t>Uncertainty</a:t>
            </a:r>
            <a:endParaRPr b="0" i="0" sz="1300" u="none" cap="none" strike="noStrike">
              <a:solidFill>
                <a:schemeClr val="dk1"/>
              </a:solidFill>
              <a:latin typeface="Calibri"/>
              <a:ea typeface="Calibri"/>
              <a:cs typeface="Calibri"/>
              <a:sym typeface="Calibri"/>
            </a:endParaRPr>
          </a:p>
        </p:txBody>
      </p:sp>
      <p:sp>
        <p:nvSpPr>
          <p:cNvPr id="381" name="Google Shape;381;p14"/>
          <p:cNvSpPr/>
          <p:nvPr/>
        </p:nvSpPr>
        <p:spPr>
          <a:xfrm>
            <a:off x="3063240" y="3255264"/>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All models contain uncertainty from parameter estimation, structural choices, and initial conditions. Acknowledging this is crucial.</a:t>
            </a:r>
            <a:endParaRPr b="0" i="0" sz="1250" u="none" cap="none" strike="noStrike">
              <a:solidFill>
                <a:schemeClr val="dk1"/>
              </a:solidFill>
              <a:latin typeface="Calibri"/>
              <a:ea typeface="Calibri"/>
              <a:cs typeface="Calibri"/>
              <a:sym typeface="Calibri"/>
            </a:endParaRPr>
          </a:p>
        </p:txBody>
      </p:sp>
      <p:sp>
        <p:nvSpPr>
          <p:cNvPr id="382" name="Google Shape;382;p14"/>
          <p:cNvSpPr/>
          <p:nvPr/>
        </p:nvSpPr>
        <p:spPr>
          <a:xfrm>
            <a:off x="320040" y="4014216"/>
            <a:ext cx="502920" cy="502920"/>
          </a:xfrm>
          <a:prstGeom prst="ellipse">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320040" y="401421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384" name="Google Shape;384;p14"/>
          <p:cNvSpPr/>
          <p:nvPr/>
        </p:nvSpPr>
        <p:spPr>
          <a:xfrm>
            <a:off x="960120" y="4023360"/>
            <a:ext cx="7818120" cy="502920"/>
          </a:xfrm>
          <a:prstGeom prst="rect">
            <a:avLst/>
          </a:prstGeom>
          <a:solidFill>
            <a:srgbClr val="F8F9FA"/>
          </a:solidFill>
          <a:ln cap="flat" cmpd="sng" w="12700">
            <a:solidFill>
              <a:srgbClr val="C07A3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a:off x="960120" y="4023360"/>
            <a:ext cx="54864" cy="502920"/>
          </a:xfrm>
          <a:prstGeom prst="rect">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1115568" y="4050792"/>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7A3A"/>
              </a:buClr>
              <a:buSzPts val="1300"/>
              <a:buFont typeface="Calibri"/>
              <a:buNone/>
            </a:pPr>
            <a:r>
              <a:rPr b="1" i="0" lang="en-US" sz="1300" u="none" cap="none" strike="noStrike">
                <a:solidFill>
                  <a:srgbClr val="C07A3A"/>
                </a:solidFill>
                <a:latin typeface="Calibri"/>
                <a:ea typeface="Calibri"/>
                <a:cs typeface="Calibri"/>
                <a:sym typeface="Calibri"/>
              </a:rPr>
              <a:t>Validation</a:t>
            </a:r>
            <a:endParaRPr b="0" i="0" sz="1300" u="none" cap="none" strike="noStrike">
              <a:solidFill>
                <a:schemeClr val="dk1"/>
              </a:solidFill>
              <a:latin typeface="Calibri"/>
              <a:ea typeface="Calibri"/>
              <a:cs typeface="Calibri"/>
              <a:sym typeface="Calibri"/>
            </a:endParaRPr>
          </a:p>
        </p:txBody>
      </p:sp>
      <p:sp>
        <p:nvSpPr>
          <p:cNvPr id="387" name="Google Shape;387;p14"/>
          <p:cNvSpPr/>
          <p:nvPr/>
        </p:nvSpPr>
        <p:spPr>
          <a:xfrm>
            <a:off x="3063240" y="4050792"/>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Models must be tested against independent data. A model is assumed correct until proven wrong — and it is our job to try to prove it wrong.</a:t>
            </a:r>
            <a:endParaRPr b="0" i="0" sz="1250" u="none" cap="none" strike="noStrike">
              <a:solidFill>
                <a:schemeClr val="dk1"/>
              </a:solidFill>
              <a:latin typeface="Calibri"/>
              <a:ea typeface="Calibri"/>
              <a:cs typeface="Calibri"/>
              <a:sym typeface="Calibri"/>
            </a:endParaRPr>
          </a:p>
        </p:txBody>
      </p:sp>
      <p:sp>
        <p:nvSpPr>
          <p:cNvPr id="388" name="Google Shape;388;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15"/>
          <p:cNvSpPr/>
          <p:nvPr/>
        </p:nvSpPr>
        <p:spPr>
          <a:xfrm>
            <a:off x="0" y="0"/>
            <a:ext cx="164592" cy="514350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5"/>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5"/>
          <p:cNvSpPr/>
          <p:nvPr/>
        </p:nvSpPr>
        <p:spPr>
          <a:xfrm>
            <a:off x="320040" y="137160"/>
            <a:ext cx="402336" cy="402336"/>
          </a:xfrm>
          <a:prstGeom prst="ellipse">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5"/>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Types of Ecological Models</a:t>
            </a:r>
            <a:endParaRPr b="0" i="0" sz="2200" u="none" cap="none" strike="noStrike">
              <a:solidFill>
                <a:schemeClr val="dk1"/>
              </a:solidFill>
              <a:latin typeface="Calibri"/>
              <a:ea typeface="Calibri"/>
              <a:cs typeface="Calibri"/>
              <a:sym typeface="Calibri"/>
            </a:endParaRPr>
          </a:p>
        </p:txBody>
      </p:sp>
      <p:sp>
        <p:nvSpPr>
          <p:cNvPr id="398" name="Google Shape;398;p15"/>
          <p:cNvSpPr/>
          <p:nvPr/>
        </p:nvSpPr>
        <p:spPr>
          <a:xfrm>
            <a:off x="164592" y="685800"/>
            <a:ext cx="8979408" cy="36576"/>
          </a:xfrm>
          <a:prstGeom prst="rect">
            <a:avLst/>
          </a:prstGeom>
          <a:solidFill>
            <a:srgbClr val="7B68C8">
              <a:alpha val="40000"/>
            </a:srgbClr>
          </a:solidFill>
          <a:ln cap="flat" cmpd="sng" w="12700">
            <a:solidFill>
              <a:srgbClr val="7B68C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5"/>
          <p:cNvSpPr/>
          <p:nvPr/>
        </p:nvSpPr>
        <p:spPr>
          <a:xfrm>
            <a:off x="256032" y="804672"/>
            <a:ext cx="2816352" cy="1828800"/>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5"/>
          <p:cNvSpPr/>
          <p:nvPr/>
        </p:nvSpPr>
        <p:spPr>
          <a:xfrm>
            <a:off x="256032" y="804672"/>
            <a:ext cx="2816352"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5"/>
          <p:cNvSpPr/>
          <p:nvPr/>
        </p:nvSpPr>
        <p:spPr>
          <a:xfrm>
            <a:off x="365760" y="83210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Analytical</a:t>
            </a:r>
            <a:endParaRPr b="0" i="0" sz="1300" u="none" cap="none" strike="noStrike">
              <a:solidFill>
                <a:schemeClr val="dk1"/>
              </a:solidFill>
              <a:latin typeface="Calibri"/>
              <a:ea typeface="Calibri"/>
              <a:cs typeface="Calibri"/>
              <a:sym typeface="Calibri"/>
            </a:endParaRPr>
          </a:p>
        </p:txBody>
      </p:sp>
      <p:sp>
        <p:nvSpPr>
          <p:cNvPr id="402" name="Google Shape;402;p15"/>
          <p:cNvSpPr/>
          <p:nvPr/>
        </p:nvSpPr>
        <p:spPr>
          <a:xfrm>
            <a:off x="365760" y="1225296"/>
            <a:ext cx="2596896"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Equations solved directly (closed-form). Fast and elegant, limited to simple systems.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Example: Lotka-Volterra, logistic growth.</a:t>
            </a:r>
            <a:endParaRPr b="0" i="0" sz="1150" u="none" cap="none" strike="noStrike">
              <a:solidFill>
                <a:schemeClr val="dk1"/>
              </a:solidFill>
              <a:latin typeface="Calibri"/>
              <a:ea typeface="Calibri"/>
              <a:cs typeface="Calibri"/>
              <a:sym typeface="Calibri"/>
            </a:endParaRPr>
          </a:p>
        </p:txBody>
      </p:sp>
      <p:sp>
        <p:nvSpPr>
          <p:cNvPr id="403" name="Google Shape;403;p15"/>
          <p:cNvSpPr/>
          <p:nvPr/>
        </p:nvSpPr>
        <p:spPr>
          <a:xfrm>
            <a:off x="3246120" y="804672"/>
            <a:ext cx="2816352" cy="1828800"/>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5"/>
          <p:cNvSpPr/>
          <p:nvPr/>
        </p:nvSpPr>
        <p:spPr>
          <a:xfrm>
            <a:off x="3246120" y="804672"/>
            <a:ext cx="2816352"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p:nvPr/>
        </p:nvSpPr>
        <p:spPr>
          <a:xfrm>
            <a:off x="3355848" y="83210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Simulation</a:t>
            </a:r>
            <a:endParaRPr b="0" i="0" sz="1300" u="none" cap="none" strike="noStrike">
              <a:solidFill>
                <a:schemeClr val="dk1"/>
              </a:solidFill>
              <a:latin typeface="Calibri"/>
              <a:ea typeface="Calibri"/>
              <a:cs typeface="Calibri"/>
              <a:sym typeface="Calibri"/>
            </a:endParaRPr>
          </a:p>
        </p:txBody>
      </p:sp>
      <p:sp>
        <p:nvSpPr>
          <p:cNvPr id="406" name="Google Shape;406;p15"/>
          <p:cNvSpPr/>
          <p:nvPr/>
        </p:nvSpPr>
        <p:spPr>
          <a:xfrm>
            <a:off x="3355848" y="1225296"/>
            <a:ext cx="2596896"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Computer implementations that mimic system behaviour over time.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Example: dynamic systems models, compartment models.</a:t>
            </a:r>
            <a:endParaRPr b="0" i="0" sz="1150" u="none" cap="none" strike="noStrike">
              <a:solidFill>
                <a:schemeClr val="dk1"/>
              </a:solidFill>
              <a:latin typeface="Calibri"/>
              <a:ea typeface="Calibri"/>
              <a:cs typeface="Calibri"/>
              <a:sym typeface="Calibri"/>
            </a:endParaRPr>
          </a:p>
        </p:txBody>
      </p:sp>
      <p:sp>
        <p:nvSpPr>
          <p:cNvPr id="407" name="Google Shape;407;p15"/>
          <p:cNvSpPr/>
          <p:nvPr/>
        </p:nvSpPr>
        <p:spPr>
          <a:xfrm>
            <a:off x="6236208" y="804672"/>
            <a:ext cx="2816352" cy="1828800"/>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6236208" y="804672"/>
            <a:ext cx="2816352"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6345936" y="83210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Agent-based</a:t>
            </a:r>
            <a:endParaRPr b="0" i="0" sz="1300" u="none" cap="none" strike="noStrike">
              <a:solidFill>
                <a:schemeClr val="dk1"/>
              </a:solidFill>
              <a:latin typeface="Calibri"/>
              <a:ea typeface="Calibri"/>
              <a:cs typeface="Calibri"/>
              <a:sym typeface="Calibri"/>
            </a:endParaRPr>
          </a:p>
        </p:txBody>
      </p:sp>
      <p:sp>
        <p:nvSpPr>
          <p:cNvPr id="410" name="Google Shape;410;p15"/>
          <p:cNvSpPr/>
          <p:nvPr/>
        </p:nvSpPr>
        <p:spPr>
          <a:xfrm>
            <a:off x="6345936" y="1225296"/>
            <a:ext cx="2596896"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Individual organisms as autonomous agents following local rules; emergent community behaviour arises.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Example: NetLogo predator-prey simulations.</a:t>
            </a:r>
            <a:endParaRPr b="0" i="0" sz="1150" u="none" cap="none" strike="noStrike">
              <a:solidFill>
                <a:schemeClr val="dk1"/>
              </a:solidFill>
              <a:latin typeface="Calibri"/>
              <a:ea typeface="Calibri"/>
              <a:cs typeface="Calibri"/>
              <a:sym typeface="Calibri"/>
            </a:endParaRPr>
          </a:p>
        </p:txBody>
      </p:sp>
      <p:sp>
        <p:nvSpPr>
          <p:cNvPr id="411" name="Google Shape;411;p15"/>
          <p:cNvSpPr/>
          <p:nvPr/>
        </p:nvSpPr>
        <p:spPr>
          <a:xfrm>
            <a:off x="256032" y="2816352"/>
            <a:ext cx="2816352" cy="1828800"/>
          </a:xfrm>
          <a:prstGeom prst="rect">
            <a:avLst/>
          </a:prstGeom>
          <a:solidFill>
            <a:srgbClr val="F0ECFA"/>
          </a:solidFill>
          <a:ln cap="flat" cmpd="sng" w="12700">
            <a:solidFill>
              <a:srgbClr val="7B68C8">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a:off x="256032" y="2816352"/>
            <a:ext cx="2816352"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a:off x="365760" y="284378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Statistical / Empirical</a:t>
            </a:r>
            <a:endParaRPr b="0" i="0" sz="1300" u="none" cap="none" strike="noStrike">
              <a:solidFill>
                <a:schemeClr val="dk1"/>
              </a:solidFill>
              <a:latin typeface="Calibri"/>
              <a:ea typeface="Calibri"/>
              <a:cs typeface="Calibri"/>
              <a:sym typeface="Calibri"/>
            </a:endParaRPr>
          </a:p>
        </p:txBody>
      </p:sp>
      <p:sp>
        <p:nvSpPr>
          <p:cNvPr id="414" name="Google Shape;414;p15"/>
          <p:cNvSpPr/>
          <p:nvPr/>
        </p:nvSpPr>
        <p:spPr>
          <a:xfrm>
            <a:off x="365760" y="3236976"/>
            <a:ext cx="2596896"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Fit patterns to observed data using regression, GLMs, or ML.</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Example: Species Distribution Models (MaxEnt, BRT).</a:t>
            </a:r>
            <a:endParaRPr b="0" i="0" sz="1150" u="none" cap="none" strike="noStrike">
              <a:solidFill>
                <a:schemeClr val="dk1"/>
              </a:solidFill>
              <a:latin typeface="Calibri"/>
              <a:ea typeface="Calibri"/>
              <a:cs typeface="Calibri"/>
              <a:sym typeface="Calibri"/>
            </a:endParaRPr>
          </a:p>
        </p:txBody>
      </p:sp>
      <p:sp>
        <p:nvSpPr>
          <p:cNvPr id="415" name="Google Shape;415;p15"/>
          <p:cNvSpPr/>
          <p:nvPr/>
        </p:nvSpPr>
        <p:spPr>
          <a:xfrm>
            <a:off x="3246120" y="2816352"/>
            <a:ext cx="2816352" cy="1828800"/>
          </a:xfrm>
          <a:prstGeom prst="rect">
            <a:avLst/>
          </a:prstGeom>
          <a:solidFill>
            <a:srgbClr val="F7F3E8"/>
          </a:solidFill>
          <a:ln cap="flat" cmpd="sng" w="12700">
            <a:solidFill>
              <a:srgbClr val="C07A3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p:nvPr/>
        </p:nvSpPr>
        <p:spPr>
          <a:xfrm>
            <a:off x="3246120" y="2816352"/>
            <a:ext cx="2816352" cy="347472"/>
          </a:xfrm>
          <a:prstGeom prst="rect">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p:nvPr/>
        </p:nvSpPr>
        <p:spPr>
          <a:xfrm>
            <a:off x="3355848" y="284378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Stochastic</a:t>
            </a:r>
            <a:endParaRPr b="0" i="0" sz="1300" u="none" cap="none" strike="noStrike">
              <a:solidFill>
                <a:schemeClr val="dk1"/>
              </a:solidFill>
              <a:latin typeface="Calibri"/>
              <a:ea typeface="Calibri"/>
              <a:cs typeface="Calibri"/>
              <a:sym typeface="Calibri"/>
            </a:endParaRPr>
          </a:p>
        </p:txBody>
      </p:sp>
      <p:sp>
        <p:nvSpPr>
          <p:cNvPr id="418" name="Google Shape;418;p15"/>
          <p:cNvSpPr/>
          <p:nvPr/>
        </p:nvSpPr>
        <p:spPr>
          <a:xfrm>
            <a:off x="3355848" y="3236976"/>
            <a:ext cx="2596896"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Include random processes to capture natural variability. Contrasted with deterministic models.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Example: demographic stochasticity in small populations.</a:t>
            </a:r>
            <a:endParaRPr b="0" i="0" sz="1150" u="none" cap="none" strike="noStrike">
              <a:solidFill>
                <a:schemeClr val="dk1"/>
              </a:solidFill>
              <a:latin typeface="Calibri"/>
              <a:ea typeface="Calibri"/>
              <a:cs typeface="Calibri"/>
              <a:sym typeface="Calibri"/>
            </a:endParaRPr>
          </a:p>
        </p:txBody>
      </p:sp>
      <p:sp>
        <p:nvSpPr>
          <p:cNvPr id="419" name="Google Shape;419;p15"/>
          <p:cNvSpPr/>
          <p:nvPr/>
        </p:nvSpPr>
        <p:spPr>
          <a:xfrm>
            <a:off x="6236208" y="2816352"/>
            <a:ext cx="2816352" cy="1828800"/>
          </a:xfrm>
          <a:prstGeom prst="rect">
            <a:avLst/>
          </a:prstGeom>
          <a:solidFill>
            <a:srgbClr val="EAF5EF"/>
          </a:solidFill>
          <a:ln cap="flat" cmpd="sng" w="12700">
            <a:solidFill>
              <a:srgbClr val="2D6A4F">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a:off x="6236208" y="2816352"/>
            <a:ext cx="2816352" cy="347472"/>
          </a:xfrm>
          <a:prstGeom prst="rect">
            <a:avLst/>
          </a:prstGeom>
          <a:solidFill>
            <a:srgbClr val="2D6A4F"/>
          </a:solidFill>
          <a:ln cap="flat" cmpd="sng" w="12700">
            <a:solidFill>
              <a:srgbClr val="2D6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a:off x="6345936" y="284378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Mechanistic</a:t>
            </a:r>
            <a:endParaRPr b="0" i="0" sz="1300" u="none" cap="none" strike="noStrike">
              <a:solidFill>
                <a:schemeClr val="dk1"/>
              </a:solidFill>
              <a:latin typeface="Calibri"/>
              <a:ea typeface="Calibri"/>
              <a:cs typeface="Calibri"/>
              <a:sym typeface="Calibri"/>
            </a:endParaRPr>
          </a:p>
        </p:txBody>
      </p:sp>
      <p:sp>
        <p:nvSpPr>
          <p:cNvPr id="422" name="Google Shape;422;p15"/>
          <p:cNvSpPr/>
          <p:nvPr/>
        </p:nvSpPr>
        <p:spPr>
          <a:xfrm>
            <a:off x="6345936" y="3236976"/>
            <a:ext cx="2596896"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Explicitly represent underlying biological, chemical, and physical processes. Interpretable and extrapolatable.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D42"/>
              </a:buClr>
              <a:buSzPts val="1150"/>
              <a:buFont typeface="Calibri"/>
              <a:buNone/>
            </a:pPr>
            <a:r>
              <a:rPr b="0" i="0" lang="en-US" sz="1150" u="none" cap="none" strike="noStrike">
                <a:solidFill>
                  <a:srgbClr val="2B2D42"/>
                </a:solidFill>
                <a:latin typeface="Calibri"/>
                <a:ea typeface="Calibri"/>
                <a:cs typeface="Calibri"/>
                <a:sym typeface="Calibri"/>
              </a:rPr>
              <a:t>Example: biogeochemical cycling models.</a:t>
            </a:r>
            <a:endParaRPr b="0" i="0" sz="1150" u="none" cap="none" strike="noStrike">
              <a:solidFill>
                <a:schemeClr val="dk1"/>
              </a:solidFill>
              <a:latin typeface="Calibri"/>
              <a:ea typeface="Calibri"/>
              <a:cs typeface="Calibri"/>
              <a:sym typeface="Calibri"/>
            </a:endParaRPr>
          </a:p>
        </p:txBody>
      </p:sp>
      <p:sp>
        <p:nvSpPr>
          <p:cNvPr id="423" name="Google Shape;423;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16"/>
          <p:cNvSpPr/>
          <p:nvPr/>
        </p:nvSpPr>
        <p:spPr>
          <a:xfrm>
            <a:off x="0" y="0"/>
            <a:ext cx="164592"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320040" y="137160"/>
            <a:ext cx="402336" cy="402336"/>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Why Not Just Use Statistics?</a:t>
            </a:r>
            <a:endParaRPr b="0" i="0" sz="2200" u="none" cap="none" strike="noStrike">
              <a:solidFill>
                <a:schemeClr val="dk1"/>
              </a:solidFill>
              <a:latin typeface="Calibri"/>
              <a:ea typeface="Calibri"/>
              <a:cs typeface="Calibri"/>
              <a:sym typeface="Calibri"/>
            </a:endParaRPr>
          </a:p>
        </p:txBody>
      </p:sp>
      <p:sp>
        <p:nvSpPr>
          <p:cNvPr id="433" name="Google Shape;433;p16"/>
          <p:cNvSpPr/>
          <p:nvPr/>
        </p:nvSpPr>
        <p:spPr>
          <a:xfrm>
            <a:off x="164592" y="685800"/>
            <a:ext cx="8979408" cy="36576"/>
          </a:xfrm>
          <a:prstGeom prst="rect">
            <a:avLst/>
          </a:prstGeom>
          <a:solidFill>
            <a:srgbClr val="C9A84C">
              <a:alpha val="40000"/>
            </a:srgbClr>
          </a:solidFill>
          <a:ln cap="flat" cmpd="sng" w="12700">
            <a:solidFill>
              <a:srgbClr val="C9A84C">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a:off x="320040" y="777240"/>
            <a:ext cx="8503920" cy="594360"/>
          </a:xfrm>
          <a:prstGeom prst="rect">
            <a:avLst/>
          </a:prstGeom>
          <a:solidFill>
            <a:srgbClr val="F7F3E8"/>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a:off x="502920" y="804672"/>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400"/>
              <a:buFont typeface="Calibri"/>
              <a:buNone/>
            </a:pPr>
            <a:r>
              <a:rPr b="1" i="1" lang="en-US" sz="1400" u="none" cap="none" strike="noStrike">
                <a:solidFill>
                  <a:srgbClr val="23293A"/>
                </a:solidFill>
                <a:latin typeface="Calibri"/>
                <a:ea typeface="Calibri"/>
                <a:cs typeface="Calibri"/>
                <a:sym typeface="Calibri"/>
              </a:rPr>
              <a:t>"Black-box routines consider ecosystems as something to be measured, not to be understood."</a:t>
            </a:r>
            <a:endParaRPr b="0" i="0" sz="1400" u="none" cap="none" strike="noStrike">
              <a:solidFill>
                <a:schemeClr val="dk1"/>
              </a:solidFill>
              <a:latin typeface="Calibri"/>
              <a:ea typeface="Calibri"/>
              <a:cs typeface="Calibri"/>
              <a:sym typeface="Calibri"/>
            </a:endParaRPr>
          </a:p>
        </p:txBody>
      </p:sp>
      <p:sp>
        <p:nvSpPr>
          <p:cNvPr id="436" name="Google Shape;436;p16"/>
          <p:cNvSpPr/>
          <p:nvPr/>
        </p:nvSpPr>
        <p:spPr>
          <a:xfrm>
            <a:off x="320040" y="1463040"/>
            <a:ext cx="4160520" cy="3337560"/>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6"/>
          <p:cNvSpPr/>
          <p:nvPr/>
        </p:nvSpPr>
        <p:spPr>
          <a:xfrm>
            <a:off x="320040" y="1463040"/>
            <a:ext cx="41605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a:off x="429768" y="1490472"/>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Statistical (Black-Box) Models</a:t>
            </a:r>
            <a:endParaRPr b="0" i="0" sz="1300" u="none" cap="none" strike="noStrike">
              <a:solidFill>
                <a:schemeClr val="dk1"/>
              </a:solidFill>
              <a:latin typeface="Calibri"/>
              <a:ea typeface="Calibri"/>
              <a:cs typeface="Calibri"/>
              <a:sym typeface="Calibri"/>
            </a:endParaRPr>
          </a:p>
        </p:txBody>
      </p:sp>
      <p:sp>
        <p:nvSpPr>
          <p:cNvPr id="439" name="Google Shape;439;p16"/>
          <p:cNvSpPr/>
          <p:nvPr/>
        </p:nvSpPr>
        <p:spPr>
          <a:xfrm>
            <a:off x="438912" y="1874520"/>
            <a:ext cx="3931920" cy="2788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Assume similar areas behave identically</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Discrepancies corrected with adjustment factors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High R² possible without mechanistic understanding</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Cannot safely extrapolate outside data range</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Limited transferability across sites and conditions</a:t>
            </a:r>
            <a:endParaRPr b="0" i="0" sz="12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100"/>
              <a:buFont typeface="Calibri"/>
              <a:buChar char="•"/>
            </a:pPr>
            <a:r>
              <a:rPr b="0" i="0" lang="en-US" sz="1100" u="none" cap="none" strike="noStrike">
                <a:solidFill>
                  <a:srgbClr val="8D99AE"/>
                </a:solidFill>
                <a:latin typeface="Calibri"/>
                <a:ea typeface="Calibri"/>
                <a:cs typeface="Calibri"/>
                <a:sym typeface="Calibri"/>
              </a:rPr>
              <a:t>Examples: regression, GLMs, MaxEnt, Random Forest</a:t>
            </a:r>
            <a:endParaRPr b="0" i="0" sz="1250" u="none" cap="none" strike="noStrike">
              <a:solidFill>
                <a:schemeClr val="dk1"/>
              </a:solidFill>
              <a:latin typeface="Calibri"/>
              <a:ea typeface="Calibri"/>
              <a:cs typeface="Calibri"/>
              <a:sym typeface="Calibri"/>
            </a:endParaRPr>
          </a:p>
        </p:txBody>
      </p:sp>
      <p:sp>
        <p:nvSpPr>
          <p:cNvPr id="440" name="Google Shape;440;p16"/>
          <p:cNvSpPr/>
          <p:nvPr/>
        </p:nvSpPr>
        <p:spPr>
          <a:xfrm>
            <a:off x="4663440" y="1463040"/>
            <a:ext cx="4160520" cy="3337560"/>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a:off x="4663440" y="1463040"/>
            <a:ext cx="4160520"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4773168" y="1490472"/>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Mechanistic Models</a:t>
            </a:r>
            <a:endParaRPr b="0" i="0" sz="1300" u="none" cap="none" strike="noStrike">
              <a:solidFill>
                <a:schemeClr val="dk1"/>
              </a:solidFill>
              <a:latin typeface="Calibri"/>
              <a:ea typeface="Calibri"/>
              <a:cs typeface="Calibri"/>
              <a:sym typeface="Calibri"/>
            </a:endParaRPr>
          </a:p>
        </p:txBody>
      </p:sp>
      <p:sp>
        <p:nvSpPr>
          <p:cNvPr id="443" name="Google Shape;443;p16"/>
          <p:cNvSpPr/>
          <p:nvPr/>
        </p:nvSpPr>
        <p:spPr>
          <a:xfrm>
            <a:off x="4773168" y="1874520"/>
            <a:ext cx="3931920" cy="2788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Explicitly model biological, chemical, physical interactions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Parameters are measurable quantities (rates, concentrations)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Can extrapolate to novel conditions and scenarios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Increased knowledge as a byproduct of model building</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More robust for climate change and scenario analysis</a:t>
            </a:r>
            <a:endParaRPr b="0" i="0" sz="12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100"/>
              <a:buFont typeface="Calibri"/>
              <a:buChar char="•"/>
            </a:pPr>
            <a:r>
              <a:rPr b="0" i="0" lang="en-US" sz="1100" u="none" cap="none" strike="noStrike">
                <a:solidFill>
                  <a:srgbClr val="8D99AE"/>
                </a:solidFill>
                <a:latin typeface="Calibri"/>
                <a:ea typeface="Calibri"/>
                <a:cs typeface="Calibri"/>
                <a:sym typeface="Calibri"/>
              </a:rPr>
              <a:t>Examples: Lotka-Volterra, biogeochemical models, IBMs</a:t>
            </a:r>
            <a:endParaRPr b="0" i="0" sz="1250" u="none" cap="none" strike="noStrike">
              <a:solidFill>
                <a:schemeClr val="dk1"/>
              </a:solidFill>
              <a:latin typeface="Calibri"/>
              <a:ea typeface="Calibri"/>
              <a:cs typeface="Calibri"/>
              <a:sym typeface="Calibri"/>
            </a:endParaRPr>
          </a:p>
        </p:txBody>
      </p:sp>
      <p:sp>
        <p:nvSpPr>
          <p:cNvPr id="444" name="Google Shape;444;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17"/>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7"/>
          <p:cNvSpPr/>
          <p:nvPr/>
        </p:nvSpPr>
        <p:spPr>
          <a:xfrm>
            <a:off x="320040" y="137160"/>
            <a:ext cx="402336" cy="402336"/>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7"/>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lang="en-US" sz="2200">
                <a:solidFill>
                  <a:srgbClr val="23293A"/>
                </a:solidFill>
                <a:latin typeface="Calibri"/>
                <a:ea typeface="Calibri"/>
                <a:cs typeface="Calibri"/>
                <a:sym typeface="Calibri"/>
              </a:rPr>
              <a:t>Scales in ecological moeling</a:t>
            </a:r>
            <a:endParaRPr b="0" i="0" sz="2200" u="none" cap="none" strike="noStrike">
              <a:solidFill>
                <a:schemeClr val="dk1"/>
              </a:solidFill>
              <a:latin typeface="Calibri"/>
              <a:ea typeface="Calibri"/>
              <a:cs typeface="Calibri"/>
              <a:sym typeface="Calibri"/>
            </a:endParaRPr>
          </a:p>
        </p:txBody>
      </p:sp>
      <p:sp>
        <p:nvSpPr>
          <p:cNvPr id="454" name="Google Shape;454;p17"/>
          <p:cNvSpPr/>
          <p:nvPr/>
        </p:nvSpPr>
        <p:spPr>
          <a:xfrm>
            <a:off x="164592" y="685800"/>
            <a:ext cx="8979408" cy="36576"/>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7"/>
          <p:cNvSpPr/>
          <p:nvPr/>
        </p:nvSpPr>
        <p:spPr>
          <a:xfrm>
            <a:off x="320040" y="777240"/>
            <a:ext cx="8503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350"/>
              <a:buFont typeface="Calibri"/>
              <a:buNone/>
            </a:pPr>
            <a:r>
              <a:rPr b="0" i="1" lang="en-US" sz="1350" u="none" cap="none" strike="noStrike">
                <a:solidFill>
                  <a:srgbClr val="8D99AE"/>
                </a:solidFill>
                <a:latin typeface="Calibri"/>
                <a:ea typeface="Calibri"/>
                <a:cs typeface="Calibri"/>
                <a:sym typeface="Calibri"/>
              </a:rPr>
              <a:t>It is not possible to describe everything in a single model. Modellers must deliberately choose temporal and spatial scales.</a:t>
            </a:r>
            <a:endParaRPr b="0" i="0" sz="1350" u="none" cap="none" strike="noStrike">
              <a:solidFill>
                <a:schemeClr val="dk1"/>
              </a:solidFill>
              <a:latin typeface="Calibri"/>
              <a:ea typeface="Calibri"/>
              <a:cs typeface="Calibri"/>
              <a:sym typeface="Calibri"/>
            </a:endParaRPr>
          </a:p>
        </p:txBody>
      </p:sp>
      <p:sp>
        <p:nvSpPr>
          <p:cNvPr id="456" name="Google Shape;456;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457" name="Google Shape;457;p17"/>
          <p:cNvPicPr preferRelativeResize="0"/>
          <p:nvPr/>
        </p:nvPicPr>
        <p:blipFill>
          <a:blip r:embed="rId3">
            <a:alphaModFix/>
          </a:blip>
          <a:stretch>
            <a:fillRect/>
          </a:stretch>
        </p:blipFill>
        <p:spPr>
          <a:xfrm>
            <a:off x="4332292" y="1179587"/>
            <a:ext cx="4773187" cy="3713988"/>
          </a:xfrm>
          <a:prstGeom prst="rect">
            <a:avLst/>
          </a:prstGeom>
          <a:noFill/>
          <a:ln>
            <a:noFill/>
          </a:ln>
        </p:spPr>
      </p:pic>
      <p:sp>
        <p:nvSpPr>
          <p:cNvPr id="458" name="Google Shape;458;p17"/>
          <p:cNvSpPr txBox="1"/>
          <p:nvPr/>
        </p:nvSpPr>
        <p:spPr>
          <a:xfrm>
            <a:off x="164600" y="1124700"/>
            <a:ext cx="3704100" cy="307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200">
                <a:solidFill>
                  <a:schemeClr val="dk1"/>
                </a:solidFill>
                <a:latin typeface="Calibri"/>
                <a:ea typeface="Calibri"/>
                <a:cs typeface="Calibri"/>
                <a:sym typeface="Calibri"/>
              </a:rPr>
              <a:t>Every ecological model operates within two dimensions simultaneously: </a:t>
            </a:r>
            <a:r>
              <a:rPr b="1" lang="en-US" sz="1200">
                <a:solidFill>
                  <a:schemeClr val="dk1"/>
                </a:solidFill>
                <a:latin typeface="Calibri"/>
                <a:ea typeface="Calibri"/>
                <a:cs typeface="Calibri"/>
                <a:sym typeface="Calibri"/>
              </a:rPr>
              <a:t>time</a:t>
            </a:r>
            <a:r>
              <a:rPr lang="en-US" sz="1200">
                <a:solidFill>
                  <a:schemeClr val="dk1"/>
                </a:solidFill>
                <a:latin typeface="Calibri"/>
                <a:ea typeface="Calibri"/>
                <a:cs typeface="Calibri"/>
                <a:sym typeface="Calibri"/>
              </a:rPr>
              <a:t> and </a:t>
            </a:r>
            <a:r>
              <a:rPr b="1" lang="en-US" sz="1200">
                <a:solidFill>
                  <a:schemeClr val="dk1"/>
                </a:solidFill>
                <a:latin typeface="Calibri"/>
                <a:ea typeface="Calibri"/>
                <a:cs typeface="Calibri"/>
                <a:sym typeface="Calibri"/>
              </a:rPr>
              <a:t>space</a:t>
            </a:r>
            <a:r>
              <a:rPr lang="en-US" sz="1200">
                <a:solidFill>
                  <a:schemeClr val="dk1"/>
                </a:solidFill>
                <a:latin typeface="Calibri"/>
                <a:ea typeface="Calibri"/>
                <a:cs typeface="Calibri"/>
                <a:sym typeface="Calibri"/>
              </a:rPr>
              <a:t>. The </a:t>
            </a:r>
            <a:r>
              <a:rPr b="1" lang="en-US" sz="1200">
                <a:solidFill>
                  <a:schemeClr val="dk1"/>
                </a:solidFill>
                <a:latin typeface="Calibri"/>
                <a:ea typeface="Calibri"/>
                <a:cs typeface="Calibri"/>
                <a:sym typeface="Calibri"/>
              </a:rPr>
              <a:t>temporal scale</a:t>
            </a:r>
            <a:r>
              <a:rPr lang="en-US" sz="1200">
                <a:solidFill>
                  <a:schemeClr val="dk1"/>
                </a:solidFill>
                <a:latin typeface="Calibri"/>
                <a:ea typeface="Calibri"/>
                <a:cs typeface="Calibri"/>
                <a:sym typeface="Calibri"/>
              </a:rPr>
              <a:t> defines how long the modeled process unfolds and at what resolution — from hourly wildfire spread to decadal climate-driven range shifts. The </a:t>
            </a:r>
            <a:r>
              <a:rPr b="1" lang="en-US" sz="1200">
                <a:solidFill>
                  <a:schemeClr val="dk1"/>
                </a:solidFill>
                <a:latin typeface="Calibri"/>
                <a:ea typeface="Calibri"/>
                <a:cs typeface="Calibri"/>
                <a:sym typeface="Calibri"/>
              </a:rPr>
              <a:t>spatial scale</a:t>
            </a:r>
            <a:r>
              <a:rPr lang="en-US" sz="1200">
                <a:solidFill>
                  <a:schemeClr val="dk1"/>
                </a:solidFill>
                <a:latin typeface="Calibri"/>
                <a:ea typeface="Calibri"/>
                <a:cs typeface="Calibri"/>
                <a:sym typeface="Calibri"/>
              </a:rPr>
              <a:t> defines the study extent and the minimum resolvable unit, from a single field plot to an entire continent.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US" sz="1200">
                <a:solidFill>
                  <a:schemeClr val="dk1"/>
                </a:solidFill>
                <a:latin typeface="Calibri"/>
                <a:ea typeface="Calibri"/>
                <a:cs typeface="Calibri"/>
                <a:sym typeface="Calibri"/>
              </a:rPr>
              <a:t>The two are linked: large-scale processes tend to be slow, so choosing a scale in one dimension often constrains the other. The persistent practical challenge is </a:t>
            </a:r>
            <a:r>
              <a:rPr b="1" lang="en-US" sz="1200">
                <a:solidFill>
                  <a:schemeClr val="dk1"/>
                </a:solidFill>
                <a:latin typeface="Calibri"/>
                <a:ea typeface="Calibri"/>
                <a:cs typeface="Calibri"/>
                <a:sym typeface="Calibri"/>
              </a:rPr>
              <a:t>scale mismatch</a:t>
            </a:r>
            <a:r>
              <a:rPr lang="en-US" sz="1200">
                <a:solidFill>
                  <a:schemeClr val="dk1"/>
                </a:solidFill>
                <a:latin typeface="Calibri"/>
                <a:ea typeface="Calibri"/>
                <a:cs typeface="Calibri"/>
                <a:sym typeface="Calibri"/>
              </a:rPr>
              <a:t> — field data collected at one resolution must inform a model running at another, while managers need answers at a third.</a:t>
            </a:r>
            <a:endParaRPr sz="1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3" name="Shape 463"/>
        <p:cNvGrpSpPr/>
        <p:nvPr/>
      </p:nvGrpSpPr>
      <p:grpSpPr>
        <a:xfrm>
          <a:off x="0" y="0"/>
          <a:ext cx="0" cy="0"/>
          <a:chOff x="0" y="0"/>
          <a:chExt cx="0" cy="0"/>
        </a:xfrm>
      </p:grpSpPr>
      <p:sp>
        <p:nvSpPr>
          <p:cNvPr id="464" name="Google Shape;464;g3d0b63cec61_0_76"/>
          <p:cNvSpPr/>
          <p:nvPr/>
        </p:nvSpPr>
        <p:spPr>
          <a:xfrm>
            <a:off x="0" y="0"/>
            <a:ext cx="164700"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3d0b63cec61_0_76"/>
          <p:cNvSpPr/>
          <p:nvPr/>
        </p:nvSpPr>
        <p:spPr>
          <a:xfrm>
            <a:off x="164592" y="0"/>
            <a:ext cx="8979300"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g3d0b63cec61_0_76"/>
          <p:cNvSpPr/>
          <p:nvPr/>
        </p:nvSpPr>
        <p:spPr>
          <a:xfrm>
            <a:off x="320040" y="137160"/>
            <a:ext cx="402300" cy="40230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d0b63cec61_0_76"/>
          <p:cNvSpPr/>
          <p:nvPr/>
        </p:nvSpPr>
        <p:spPr>
          <a:xfrm>
            <a:off x="868680" y="91440"/>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What to Model? — Choosing Scale</a:t>
            </a:r>
            <a:endParaRPr b="0" i="0" sz="2200" u="none" cap="none" strike="noStrike">
              <a:solidFill>
                <a:schemeClr val="dk1"/>
              </a:solidFill>
              <a:latin typeface="Calibri"/>
              <a:ea typeface="Calibri"/>
              <a:cs typeface="Calibri"/>
              <a:sym typeface="Calibri"/>
            </a:endParaRPr>
          </a:p>
        </p:txBody>
      </p:sp>
      <p:sp>
        <p:nvSpPr>
          <p:cNvPr id="468" name="Google Shape;468;g3d0b63cec61_0_76"/>
          <p:cNvSpPr/>
          <p:nvPr/>
        </p:nvSpPr>
        <p:spPr>
          <a:xfrm>
            <a:off x="164592" y="685800"/>
            <a:ext cx="8979300" cy="36600"/>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3d0b63cec61_0_76"/>
          <p:cNvSpPr/>
          <p:nvPr/>
        </p:nvSpPr>
        <p:spPr>
          <a:xfrm>
            <a:off x="320040" y="777240"/>
            <a:ext cx="8503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350"/>
              <a:buFont typeface="Calibri"/>
              <a:buNone/>
            </a:pPr>
            <a:r>
              <a:rPr b="0" i="1" lang="en-US" sz="1350" u="none" cap="none" strike="noStrike">
                <a:solidFill>
                  <a:srgbClr val="8D99AE"/>
                </a:solidFill>
                <a:latin typeface="Calibri"/>
                <a:ea typeface="Calibri"/>
                <a:cs typeface="Calibri"/>
                <a:sym typeface="Calibri"/>
              </a:rPr>
              <a:t>It is not possible to describe everything in a single model. Modellers must deliberately choose temporal and spatial scales.</a:t>
            </a:r>
            <a:endParaRPr b="0" i="0" sz="1350" u="none" cap="none" strike="noStrike">
              <a:solidFill>
                <a:schemeClr val="dk1"/>
              </a:solidFill>
              <a:latin typeface="Calibri"/>
              <a:ea typeface="Calibri"/>
              <a:cs typeface="Calibri"/>
              <a:sym typeface="Calibri"/>
            </a:endParaRPr>
          </a:p>
        </p:txBody>
      </p:sp>
      <p:sp>
        <p:nvSpPr>
          <p:cNvPr id="470" name="Google Shape;470;g3d0b63cec61_0_76"/>
          <p:cNvSpPr/>
          <p:nvPr/>
        </p:nvSpPr>
        <p:spPr>
          <a:xfrm>
            <a:off x="320040" y="1188720"/>
            <a:ext cx="8503800" cy="35661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350"/>
              <a:buFont typeface="Calibri"/>
              <a:buChar char="•"/>
            </a:pPr>
            <a:r>
              <a:rPr b="0" i="0" lang="en-US" sz="1350" u="none" cap="none" strike="noStrike">
                <a:solidFill>
                  <a:srgbClr val="2B2D42"/>
                </a:solidFill>
                <a:latin typeface="Calibri"/>
                <a:ea typeface="Calibri"/>
                <a:cs typeface="Calibri"/>
                <a:sym typeface="Calibri"/>
              </a:rPr>
              <a:t>Modellers select temporal and spatial scales (seconds to centuries; millimetres to kilometres) based on the phenomenon.</a:t>
            </a:r>
            <a:endParaRPr b="0" i="0" sz="13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350"/>
              <a:buFont typeface="Calibri"/>
              <a:buChar char="•"/>
            </a:pPr>
            <a:r>
              <a:rPr b="0" i="0" lang="en-US" sz="1350" u="none" cap="none" strike="noStrike">
                <a:solidFill>
                  <a:srgbClr val="2B2D42"/>
                </a:solidFill>
                <a:latin typeface="Calibri"/>
                <a:ea typeface="Calibri"/>
                <a:cs typeface="Calibri"/>
                <a:sym typeface="Calibri"/>
              </a:rPr>
              <a:t>Sub-scale processes (much smaller than the chosen scale) are simplified — not explicitly modelled.</a:t>
            </a:r>
            <a:endParaRPr b="0" i="0" sz="13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350"/>
              <a:buFont typeface="Calibri"/>
              <a:buChar char="•"/>
            </a:pPr>
            <a:r>
              <a:rPr b="0" i="0" lang="en-US" sz="1350" u="none" cap="none" strike="noStrike">
                <a:solidFill>
                  <a:srgbClr val="2B2D42"/>
                </a:solidFill>
                <a:latin typeface="Calibri"/>
                <a:ea typeface="Calibri"/>
                <a:cs typeface="Calibri"/>
                <a:sym typeface="Calibri"/>
              </a:rPr>
              <a:t>Supra-scale processes (much larger) are imposed on the model as boundary conditions.</a:t>
            </a:r>
            <a:endParaRPr b="0" i="0" sz="13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350"/>
              <a:buFont typeface="Calibri"/>
              <a:buChar char="•"/>
            </a:pPr>
            <a:r>
              <a:rPr b="0" i="0" lang="en-US" sz="1350" u="none" cap="none" strike="noStrike">
                <a:solidFill>
                  <a:srgbClr val="2B2D42"/>
                </a:solidFill>
                <a:latin typeface="Calibri"/>
                <a:ea typeface="Calibri"/>
                <a:cs typeface="Calibri"/>
                <a:sym typeface="Calibri"/>
              </a:rPr>
              <a:t>Example — Lake eutrophication model: temporal scale = one year; spatial scale = whole lake. Resolves processes between daily and annual rates. Faster processes are simplified; multi-year fluctuations are imposed as external forcing.</a:t>
            </a:r>
            <a:endParaRPr b="0" i="0" sz="13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350"/>
              <a:buFont typeface="Calibri"/>
              <a:buChar char="•"/>
            </a:pPr>
            <a:r>
              <a:rPr b="0" i="0" lang="en-US" sz="1350" u="none" cap="none" strike="noStrike">
                <a:solidFill>
                  <a:srgbClr val="2B2D42"/>
                </a:solidFill>
                <a:latin typeface="Calibri"/>
                <a:ea typeface="Calibri"/>
                <a:cs typeface="Calibri"/>
                <a:sym typeface="Calibri"/>
              </a:rPr>
              <a:t>The model focuses specifically on nutrients and processes that consume or produce them, aligned with its purpose.</a:t>
            </a:r>
            <a:endParaRPr b="0" i="0" sz="13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200"/>
              <a:buFont typeface="Calibri"/>
              <a:buChar char="•"/>
            </a:pPr>
            <a:r>
              <a:rPr b="0" i="0" lang="en-US" sz="1200" u="none" cap="none" strike="noStrike">
                <a:solidFill>
                  <a:srgbClr val="8D99AE"/>
                </a:solidFill>
                <a:latin typeface="Calibri"/>
                <a:ea typeface="Calibri"/>
                <a:cs typeface="Calibri"/>
                <a:sym typeface="Calibri"/>
              </a:rPr>
              <a:t>Rule of thumb: model complexity should match the complexity of your question — not the system.</a:t>
            </a:r>
            <a:endParaRPr b="0" i="0" sz="1350" u="none" cap="none" strike="noStrike">
              <a:solidFill>
                <a:schemeClr val="dk1"/>
              </a:solidFill>
              <a:latin typeface="Calibri"/>
              <a:ea typeface="Calibri"/>
              <a:cs typeface="Calibri"/>
              <a:sym typeface="Calibri"/>
            </a:endParaRPr>
          </a:p>
        </p:txBody>
      </p:sp>
      <p:sp>
        <p:nvSpPr>
          <p:cNvPr id="471" name="Google Shape;471;g3d0b63cec61_0_7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18"/>
          <p:cNvSpPr/>
          <p:nvPr/>
        </p:nvSpPr>
        <p:spPr>
          <a:xfrm>
            <a:off x="0" y="0"/>
            <a:ext cx="164592" cy="51435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8"/>
          <p:cNvSpPr/>
          <p:nvPr/>
        </p:nvSpPr>
        <p:spPr>
          <a:xfrm>
            <a:off x="320040" y="137160"/>
            <a:ext cx="402336" cy="402336"/>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8"/>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Model Development Process</a:t>
            </a:r>
            <a:endParaRPr b="0" i="0" sz="2200" u="none" cap="none" strike="noStrike">
              <a:solidFill>
                <a:schemeClr val="dk1"/>
              </a:solidFill>
              <a:latin typeface="Calibri"/>
              <a:ea typeface="Calibri"/>
              <a:cs typeface="Calibri"/>
              <a:sym typeface="Calibri"/>
            </a:endParaRPr>
          </a:p>
        </p:txBody>
      </p:sp>
      <p:sp>
        <p:nvSpPr>
          <p:cNvPr id="481" name="Google Shape;481;p18"/>
          <p:cNvSpPr/>
          <p:nvPr/>
        </p:nvSpPr>
        <p:spPr>
          <a:xfrm>
            <a:off x="164592" y="685800"/>
            <a:ext cx="8979408" cy="36576"/>
          </a:xfrm>
          <a:prstGeom prst="rect">
            <a:avLst/>
          </a:prstGeom>
          <a:solidFill>
            <a:srgbClr val="4CAF8A">
              <a:alpha val="40000"/>
            </a:srgbClr>
          </a:solidFill>
          <a:ln cap="flat" cmpd="sng" w="12700">
            <a:solidFill>
              <a:srgbClr val="4CAF8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p:nvPr/>
        </p:nvSpPr>
        <p:spPr>
          <a:xfrm>
            <a:off x="320040" y="768096"/>
            <a:ext cx="8503920" cy="384048"/>
          </a:xfrm>
          <a:prstGeom prst="rect">
            <a:avLst/>
          </a:prstGeom>
          <a:solidFill>
            <a:srgbClr val="EAF5EF"/>
          </a:solidFill>
          <a:ln cap="flat" cmpd="sng" w="12700">
            <a:solidFill>
              <a:srgbClr val="4CAF8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8"/>
          <p:cNvSpPr/>
          <p:nvPr/>
        </p:nvSpPr>
        <p:spPr>
          <a:xfrm>
            <a:off x="502920" y="786384"/>
            <a:ext cx="8229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400"/>
              <a:buFont typeface="Calibri"/>
              <a:buNone/>
            </a:pPr>
            <a:r>
              <a:rPr b="1" i="1" lang="en-US" sz="1400" u="none" cap="none" strike="noStrike">
                <a:solidFill>
                  <a:srgbClr val="23293A"/>
                </a:solidFill>
                <a:latin typeface="Calibri"/>
                <a:ea typeface="Calibri"/>
                <a:cs typeface="Calibri"/>
                <a:sym typeface="Calibri"/>
              </a:rPr>
              <a:t>"A model is assumed to be right until proven wrong."</a:t>
            </a:r>
            <a:endParaRPr b="0" i="0" sz="1400" u="none" cap="none" strike="noStrike">
              <a:solidFill>
                <a:schemeClr val="dk1"/>
              </a:solidFill>
              <a:latin typeface="Calibri"/>
              <a:ea typeface="Calibri"/>
              <a:cs typeface="Calibri"/>
              <a:sym typeface="Calibri"/>
            </a:endParaRPr>
          </a:p>
        </p:txBody>
      </p:sp>
      <p:sp>
        <p:nvSpPr>
          <p:cNvPr id="484" name="Google Shape;484;p18"/>
          <p:cNvSpPr/>
          <p:nvPr/>
        </p:nvSpPr>
        <p:spPr>
          <a:xfrm>
            <a:off x="256032" y="1261872"/>
            <a:ext cx="2816352" cy="1572768"/>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p:nvPr/>
        </p:nvSpPr>
        <p:spPr>
          <a:xfrm>
            <a:off x="256032" y="1261872"/>
            <a:ext cx="2816352"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8"/>
          <p:cNvSpPr/>
          <p:nvPr/>
        </p:nvSpPr>
        <p:spPr>
          <a:xfrm>
            <a:off x="365760" y="128930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 Conceptualization</a:t>
            </a:r>
            <a:endParaRPr b="0" i="0" sz="1300" u="none" cap="none" strike="noStrike">
              <a:solidFill>
                <a:schemeClr val="dk1"/>
              </a:solidFill>
              <a:latin typeface="Calibri"/>
              <a:ea typeface="Calibri"/>
              <a:cs typeface="Calibri"/>
              <a:sym typeface="Calibri"/>
            </a:endParaRPr>
          </a:p>
        </p:txBody>
      </p:sp>
      <p:sp>
        <p:nvSpPr>
          <p:cNvPr id="487" name="Google Shape;487;p18"/>
          <p:cNvSpPr/>
          <p:nvPr/>
        </p:nvSpPr>
        <p:spPr>
          <a:xfrm>
            <a:off x="365760" y="1682496"/>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Define purpose; identify key variables, relationships, and assumptions. Draw flow diagrams.</a:t>
            </a:r>
            <a:endParaRPr b="0" i="0" sz="1200" u="none" cap="none" strike="noStrike">
              <a:solidFill>
                <a:schemeClr val="dk1"/>
              </a:solidFill>
              <a:latin typeface="Calibri"/>
              <a:ea typeface="Calibri"/>
              <a:cs typeface="Calibri"/>
              <a:sym typeface="Calibri"/>
            </a:endParaRPr>
          </a:p>
        </p:txBody>
      </p:sp>
      <p:sp>
        <p:nvSpPr>
          <p:cNvPr id="488" name="Google Shape;488;p18"/>
          <p:cNvSpPr/>
          <p:nvPr/>
        </p:nvSpPr>
        <p:spPr>
          <a:xfrm>
            <a:off x="3246120" y="1261872"/>
            <a:ext cx="2816352" cy="1572768"/>
          </a:xfrm>
          <a:prstGeom prst="rect">
            <a:avLst/>
          </a:prstGeom>
          <a:solidFill>
            <a:srgbClr val="F7ECEA"/>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8"/>
          <p:cNvSpPr/>
          <p:nvPr/>
        </p:nvSpPr>
        <p:spPr>
          <a:xfrm>
            <a:off x="3246120" y="1261872"/>
            <a:ext cx="2816352"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8"/>
          <p:cNvSpPr/>
          <p:nvPr/>
        </p:nvSpPr>
        <p:spPr>
          <a:xfrm>
            <a:off x="3355848" y="128930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 Formalization</a:t>
            </a:r>
            <a:endParaRPr b="0" i="0" sz="1300" u="none" cap="none" strike="noStrike">
              <a:solidFill>
                <a:schemeClr val="dk1"/>
              </a:solidFill>
              <a:latin typeface="Calibri"/>
              <a:ea typeface="Calibri"/>
              <a:cs typeface="Calibri"/>
              <a:sym typeface="Calibri"/>
            </a:endParaRPr>
          </a:p>
        </p:txBody>
      </p:sp>
      <p:sp>
        <p:nvSpPr>
          <p:cNvPr id="491" name="Google Shape;491;p18"/>
          <p:cNvSpPr/>
          <p:nvPr/>
        </p:nvSpPr>
        <p:spPr>
          <a:xfrm>
            <a:off x="3355848" y="1682496"/>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Express relationships mathematically — typically as differential or difference equations.</a:t>
            </a:r>
            <a:endParaRPr b="0" i="0" sz="1200" u="none" cap="none" strike="noStrike">
              <a:solidFill>
                <a:schemeClr val="dk1"/>
              </a:solidFill>
              <a:latin typeface="Calibri"/>
              <a:ea typeface="Calibri"/>
              <a:cs typeface="Calibri"/>
              <a:sym typeface="Calibri"/>
            </a:endParaRPr>
          </a:p>
        </p:txBody>
      </p:sp>
      <p:sp>
        <p:nvSpPr>
          <p:cNvPr id="492" name="Google Shape;492;p18"/>
          <p:cNvSpPr/>
          <p:nvPr/>
        </p:nvSpPr>
        <p:spPr>
          <a:xfrm>
            <a:off x="6236208" y="1261872"/>
            <a:ext cx="2816352" cy="1572768"/>
          </a:xfrm>
          <a:prstGeom prst="rect">
            <a:avLst/>
          </a:prstGeom>
          <a:solidFill>
            <a:srgbClr val="F7F3E8"/>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8"/>
          <p:cNvSpPr/>
          <p:nvPr/>
        </p:nvSpPr>
        <p:spPr>
          <a:xfrm>
            <a:off x="6236208" y="1261872"/>
            <a:ext cx="2816352"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8"/>
          <p:cNvSpPr/>
          <p:nvPr/>
        </p:nvSpPr>
        <p:spPr>
          <a:xfrm>
            <a:off x="6345936" y="1289304"/>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 Implementation</a:t>
            </a:r>
            <a:endParaRPr b="0" i="0" sz="1300" u="none" cap="none" strike="noStrike">
              <a:solidFill>
                <a:schemeClr val="dk1"/>
              </a:solidFill>
              <a:latin typeface="Calibri"/>
              <a:ea typeface="Calibri"/>
              <a:cs typeface="Calibri"/>
              <a:sym typeface="Calibri"/>
            </a:endParaRPr>
          </a:p>
        </p:txBody>
      </p:sp>
      <p:sp>
        <p:nvSpPr>
          <p:cNvPr id="495" name="Google Shape;495;p18"/>
          <p:cNvSpPr/>
          <p:nvPr/>
        </p:nvSpPr>
        <p:spPr>
          <a:xfrm>
            <a:off x="6345936" y="1682496"/>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Convert mathematical formulation into code (R, Python, MATLAB, NetLogo).</a:t>
            </a:r>
            <a:endParaRPr b="0" i="0" sz="1200" u="none" cap="none" strike="noStrike">
              <a:solidFill>
                <a:schemeClr val="dk1"/>
              </a:solidFill>
              <a:latin typeface="Calibri"/>
              <a:ea typeface="Calibri"/>
              <a:cs typeface="Calibri"/>
              <a:sym typeface="Calibri"/>
            </a:endParaRPr>
          </a:p>
        </p:txBody>
      </p:sp>
      <p:sp>
        <p:nvSpPr>
          <p:cNvPr id="496" name="Google Shape;496;p18"/>
          <p:cNvSpPr/>
          <p:nvPr/>
        </p:nvSpPr>
        <p:spPr>
          <a:xfrm>
            <a:off x="256032" y="2980944"/>
            <a:ext cx="2816352" cy="1572768"/>
          </a:xfrm>
          <a:prstGeom prst="rect">
            <a:avLst/>
          </a:prstGeom>
          <a:solidFill>
            <a:srgbClr val="EAF5EF"/>
          </a:solidFill>
          <a:ln cap="flat" cmpd="sng" w="12700">
            <a:solidFill>
              <a:srgbClr val="C9A84C">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8"/>
          <p:cNvSpPr/>
          <p:nvPr/>
        </p:nvSpPr>
        <p:spPr>
          <a:xfrm>
            <a:off x="256032" y="2980944"/>
            <a:ext cx="2816352"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8"/>
          <p:cNvSpPr/>
          <p:nvPr/>
        </p:nvSpPr>
        <p:spPr>
          <a:xfrm>
            <a:off x="365760" y="3008376"/>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 Parameterization</a:t>
            </a:r>
            <a:endParaRPr b="0" i="0" sz="1300" u="none" cap="none" strike="noStrike">
              <a:solidFill>
                <a:schemeClr val="dk1"/>
              </a:solidFill>
              <a:latin typeface="Calibri"/>
              <a:ea typeface="Calibri"/>
              <a:cs typeface="Calibri"/>
              <a:sym typeface="Calibri"/>
            </a:endParaRPr>
          </a:p>
        </p:txBody>
      </p:sp>
      <p:sp>
        <p:nvSpPr>
          <p:cNvPr id="499" name="Google Shape;499;p18"/>
          <p:cNvSpPr/>
          <p:nvPr/>
        </p:nvSpPr>
        <p:spPr>
          <a:xfrm>
            <a:off x="365760" y="3401568"/>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Estimate parameters from empirical data, literature, or expert knowledge. Run sensitivity analysis.</a:t>
            </a:r>
            <a:endParaRPr b="0" i="0" sz="1200" u="none" cap="none" strike="noStrike">
              <a:solidFill>
                <a:schemeClr val="dk1"/>
              </a:solidFill>
              <a:latin typeface="Calibri"/>
              <a:ea typeface="Calibri"/>
              <a:cs typeface="Calibri"/>
              <a:sym typeface="Calibri"/>
            </a:endParaRPr>
          </a:p>
        </p:txBody>
      </p:sp>
      <p:sp>
        <p:nvSpPr>
          <p:cNvPr id="500" name="Google Shape;500;p18"/>
          <p:cNvSpPr/>
          <p:nvPr/>
        </p:nvSpPr>
        <p:spPr>
          <a:xfrm>
            <a:off x="3246120" y="2980944"/>
            <a:ext cx="2816352" cy="1572768"/>
          </a:xfrm>
          <a:prstGeom prst="rect">
            <a:avLst/>
          </a:prstGeom>
          <a:solidFill>
            <a:srgbClr val="F0ECFA"/>
          </a:solidFill>
          <a:ln cap="flat" cmpd="sng" w="12700">
            <a:solidFill>
              <a:srgbClr val="7B68C8">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8"/>
          <p:cNvSpPr/>
          <p:nvPr/>
        </p:nvSpPr>
        <p:spPr>
          <a:xfrm>
            <a:off x="3246120" y="2980944"/>
            <a:ext cx="2816352"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8"/>
          <p:cNvSpPr/>
          <p:nvPr/>
        </p:nvSpPr>
        <p:spPr>
          <a:xfrm>
            <a:off x="3355848" y="3008376"/>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 Verification</a:t>
            </a:r>
            <a:endParaRPr b="0" i="0" sz="1300" u="none" cap="none" strike="noStrike">
              <a:solidFill>
                <a:schemeClr val="dk1"/>
              </a:solidFill>
              <a:latin typeface="Calibri"/>
              <a:ea typeface="Calibri"/>
              <a:cs typeface="Calibri"/>
              <a:sym typeface="Calibri"/>
            </a:endParaRPr>
          </a:p>
        </p:txBody>
      </p:sp>
      <p:sp>
        <p:nvSpPr>
          <p:cNvPr id="503" name="Google Shape;503;p18"/>
          <p:cNvSpPr/>
          <p:nvPr/>
        </p:nvSpPr>
        <p:spPr>
          <a:xfrm>
            <a:off x="3355848" y="3401568"/>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Ensure code correctly implements the mathematical model — debugging and unit testing.</a:t>
            </a:r>
            <a:endParaRPr b="0" i="0" sz="1200" u="none" cap="none" strike="noStrike">
              <a:solidFill>
                <a:schemeClr val="dk1"/>
              </a:solidFill>
              <a:latin typeface="Calibri"/>
              <a:ea typeface="Calibri"/>
              <a:cs typeface="Calibri"/>
              <a:sym typeface="Calibri"/>
            </a:endParaRPr>
          </a:p>
        </p:txBody>
      </p:sp>
      <p:sp>
        <p:nvSpPr>
          <p:cNvPr id="504" name="Google Shape;504;p18"/>
          <p:cNvSpPr/>
          <p:nvPr/>
        </p:nvSpPr>
        <p:spPr>
          <a:xfrm>
            <a:off x="6236208" y="2980944"/>
            <a:ext cx="2816352" cy="1572768"/>
          </a:xfrm>
          <a:prstGeom prst="rect">
            <a:avLst/>
          </a:prstGeom>
          <a:solidFill>
            <a:srgbClr val="EAF4F7"/>
          </a:solidFill>
          <a:ln cap="flat" cmpd="sng" w="12700">
            <a:solidFill>
              <a:srgbClr val="C07A3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8"/>
          <p:cNvSpPr/>
          <p:nvPr/>
        </p:nvSpPr>
        <p:spPr>
          <a:xfrm>
            <a:off x="6236208" y="2980944"/>
            <a:ext cx="2816352" cy="347472"/>
          </a:xfrm>
          <a:prstGeom prst="rect">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8"/>
          <p:cNvSpPr/>
          <p:nvPr/>
        </p:nvSpPr>
        <p:spPr>
          <a:xfrm>
            <a:off x="6345936" y="3008376"/>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 Validation &amp; Application</a:t>
            </a:r>
            <a:endParaRPr b="0" i="0" sz="1300" u="none" cap="none" strike="noStrike">
              <a:solidFill>
                <a:schemeClr val="dk1"/>
              </a:solidFill>
              <a:latin typeface="Calibri"/>
              <a:ea typeface="Calibri"/>
              <a:cs typeface="Calibri"/>
              <a:sym typeface="Calibri"/>
            </a:endParaRPr>
          </a:p>
        </p:txBody>
      </p:sp>
      <p:sp>
        <p:nvSpPr>
          <p:cNvPr id="507" name="Google Shape;507;p18"/>
          <p:cNvSpPr/>
          <p:nvPr/>
        </p:nvSpPr>
        <p:spPr>
          <a:xfrm>
            <a:off x="6345936" y="3401568"/>
            <a:ext cx="2596896" cy="10424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Compare outputs with independent data. Apply to answer the original question. Iterate.</a:t>
            </a:r>
            <a:endParaRPr b="0" i="0" sz="1200" u="none" cap="none" strike="noStrike">
              <a:solidFill>
                <a:schemeClr val="dk1"/>
              </a:solidFill>
              <a:latin typeface="Calibri"/>
              <a:ea typeface="Calibri"/>
              <a:cs typeface="Calibri"/>
              <a:sym typeface="Calibri"/>
            </a:endParaRPr>
          </a:p>
        </p:txBody>
      </p:sp>
      <p:sp>
        <p:nvSpPr>
          <p:cNvPr id="508" name="Google Shape;508;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19"/>
          <p:cNvSpPr/>
          <p:nvPr/>
        </p:nvSpPr>
        <p:spPr>
          <a:xfrm>
            <a:off x="0" y="0"/>
            <a:ext cx="164592"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9"/>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9"/>
          <p:cNvSpPr/>
          <p:nvPr/>
        </p:nvSpPr>
        <p:spPr>
          <a:xfrm>
            <a:off x="320040" y="137160"/>
            <a:ext cx="402336" cy="402336"/>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9"/>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Seven Steps to Modeling a Biological Problem</a:t>
            </a:r>
            <a:endParaRPr b="0" i="0" sz="2200" u="none" cap="none" strike="noStrike">
              <a:solidFill>
                <a:schemeClr val="dk1"/>
              </a:solidFill>
              <a:latin typeface="Calibri"/>
              <a:ea typeface="Calibri"/>
              <a:cs typeface="Calibri"/>
              <a:sym typeface="Calibri"/>
            </a:endParaRPr>
          </a:p>
        </p:txBody>
      </p:sp>
      <p:sp>
        <p:nvSpPr>
          <p:cNvPr id="518" name="Google Shape;518;p19"/>
          <p:cNvSpPr/>
          <p:nvPr/>
        </p:nvSpPr>
        <p:spPr>
          <a:xfrm>
            <a:off x="164592" y="685800"/>
            <a:ext cx="8979408" cy="36576"/>
          </a:xfrm>
          <a:prstGeom prst="rect">
            <a:avLst/>
          </a:prstGeom>
          <a:solidFill>
            <a:srgbClr val="D4756B">
              <a:alpha val="40000"/>
            </a:srgbClr>
          </a:solidFill>
          <a:ln cap="flat" cmpd="sng" w="12700">
            <a:solidFill>
              <a:srgbClr val="D4756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9"/>
          <p:cNvSpPr/>
          <p:nvPr/>
        </p:nvSpPr>
        <p:spPr>
          <a:xfrm>
            <a:off x="320040" y="804672"/>
            <a:ext cx="502920" cy="50292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9"/>
          <p:cNvSpPr/>
          <p:nvPr/>
        </p:nvSpPr>
        <p:spPr>
          <a:xfrm>
            <a:off x="320040" y="80467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521" name="Google Shape;521;p19"/>
          <p:cNvSpPr/>
          <p:nvPr/>
        </p:nvSpPr>
        <p:spPr>
          <a:xfrm>
            <a:off x="960120" y="813816"/>
            <a:ext cx="7818120" cy="502920"/>
          </a:xfrm>
          <a:prstGeom prst="rect">
            <a:avLst/>
          </a:prstGeom>
          <a:solidFill>
            <a:srgbClr val="F8F9FA"/>
          </a:solidFill>
          <a:ln cap="flat" cmpd="sng" w="12700">
            <a:solidFill>
              <a:srgbClr val="4A9DB5">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9"/>
          <p:cNvSpPr/>
          <p:nvPr/>
        </p:nvSpPr>
        <p:spPr>
          <a:xfrm>
            <a:off x="960120" y="813816"/>
            <a:ext cx="54864" cy="50292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9"/>
          <p:cNvSpPr/>
          <p:nvPr/>
        </p:nvSpPr>
        <p:spPr>
          <a:xfrm>
            <a:off x="1115568" y="841248"/>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DB5"/>
              </a:buClr>
              <a:buSzPts val="1300"/>
              <a:buFont typeface="Calibri"/>
              <a:buNone/>
            </a:pPr>
            <a:r>
              <a:rPr b="1" i="0" lang="en-US" sz="1300" u="none" cap="none" strike="noStrike">
                <a:solidFill>
                  <a:srgbClr val="4A9DB5"/>
                </a:solidFill>
                <a:latin typeface="Calibri"/>
                <a:ea typeface="Calibri"/>
                <a:cs typeface="Calibri"/>
                <a:sym typeface="Calibri"/>
              </a:rPr>
              <a:t>1. Formulate the question</a:t>
            </a:r>
            <a:endParaRPr b="0" i="0" sz="1300" u="none" cap="none" strike="noStrike">
              <a:solidFill>
                <a:schemeClr val="dk1"/>
              </a:solidFill>
              <a:latin typeface="Calibri"/>
              <a:ea typeface="Calibri"/>
              <a:cs typeface="Calibri"/>
              <a:sym typeface="Calibri"/>
            </a:endParaRPr>
          </a:p>
        </p:txBody>
      </p:sp>
      <p:sp>
        <p:nvSpPr>
          <p:cNvPr id="524" name="Google Shape;524;p19"/>
          <p:cNvSpPr/>
          <p:nvPr/>
        </p:nvSpPr>
        <p:spPr>
          <a:xfrm>
            <a:off x="3063240" y="841248"/>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State clearly what you want to know. Boil it down to the simplest biologically reasonable description.</a:t>
            </a:r>
            <a:endParaRPr b="0" i="0" sz="1250" u="none" cap="none" strike="noStrike">
              <a:solidFill>
                <a:schemeClr val="dk1"/>
              </a:solidFill>
              <a:latin typeface="Calibri"/>
              <a:ea typeface="Calibri"/>
              <a:cs typeface="Calibri"/>
              <a:sym typeface="Calibri"/>
            </a:endParaRPr>
          </a:p>
        </p:txBody>
      </p:sp>
      <p:sp>
        <p:nvSpPr>
          <p:cNvPr id="525" name="Google Shape;525;p19"/>
          <p:cNvSpPr/>
          <p:nvPr/>
        </p:nvSpPr>
        <p:spPr>
          <a:xfrm>
            <a:off x="320040" y="1408176"/>
            <a:ext cx="502920" cy="502920"/>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9"/>
          <p:cNvSpPr/>
          <p:nvPr/>
        </p:nvSpPr>
        <p:spPr>
          <a:xfrm>
            <a:off x="320040" y="140817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527" name="Google Shape;527;p19"/>
          <p:cNvSpPr/>
          <p:nvPr/>
        </p:nvSpPr>
        <p:spPr>
          <a:xfrm>
            <a:off x="960120" y="1417320"/>
            <a:ext cx="7818120" cy="502920"/>
          </a:xfrm>
          <a:prstGeom prst="rect">
            <a:avLst/>
          </a:prstGeom>
          <a:solidFill>
            <a:srgbClr val="F8F9FA"/>
          </a:solidFill>
          <a:ln cap="flat" cmpd="sng" w="12700">
            <a:solidFill>
              <a:srgbClr val="4CAF8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9"/>
          <p:cNvSpPr/>
          <p:nvPr/>
        </p:nvSpPr>
        <p:spPr>
          <a:xfrm>
            <a:off x="960120" y="1417320"/>
            <a:ext cx="54864" cy="50292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9"/>
          <p:cNvSpPr/>
          <p:nvPr/>
        </p:nvSpPr>
        <p:spPr>
          <a:xfrm>
            <a:off x="1115568" y="1444752"/>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8A"/>
              </a:buClr>
              <a:buSzPts val="1300"/>
              <a:buFont typeface="Calibri"/>
              <a:buNone/>
            </a:pPr>
            <a:r>
              <a:rPr b="1" i="0" lang="en-US" sz="1300" u="none" cap="none" strike="noStrike">
                <a:solidFill>
                  <a:srgbClr val="4CAF8A"/>
                </a:solidFill>
                <a:latin typeface="Calibri"/>
                <a:ea typeface="Calibri"/>
                <a:cs typeface="Calibri"/>
                <a:sym typeface="Calibri"/>
              </a:rPr>
              <a:t>2. Determine basic ingredients</a:t>
            </a:r>
            <a:endParaRPr b="0" i="0" sz="1300" u="none" cap="none" strike="noStrike">
              <a:solidFill>
                <a:schemeClr val="dk1"/>
              </a:solidFill>
              <a:latin typeface="Calibri"/>
              <a:ea typeface="Calibri"/>
              <a:cs typeface="Calibri"/>
              <a:sym typeface="Calibri"/>
            </a:endParaRPr>
          </a:p>
        </p:txBody>
      </p:sp>
      <p:sp>
        <p:nvSpPr>
          <p:cNvPr id="530" name="Google Shape;530;p19"/>
          <p:cNvSpPr/>
          <p:nvPr/>
        </p:nvSpPr>
        <p:spPr>
          <a:xfrm>
            <a:off x="3063240" y="1444752"/>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Define variables, constraints, interactions. Choose discrete vs. continuous time and appropriate time scale.</a:t>
            </a:r>
            <a:endParaRPr b="0" i="0" sz="1250" u="none" cap="none" strike="noStrike">
              <a:solidFill>
                <a:schemeClr val="dk1"/>
              </a:solidFill>
              <a:latin typeface="Calibri"/>
              <a:ea typeface="Calibri"/>
              <a:cs typeface="Calibri"/>
              <a:sym typeface="Calibri"/>
            </a:endParaRPr>
          </a:p>
        </p:txBody>
      </p:sp>
      <p:sp>
        <p:nvSpPr>
          <p:cNvPr id="531" name="Google Shape;531;p19"/>
          <p:cNvSpPr/>
          <p:nvPr/>
        </p:nvSpPr>
        <p:spPr>
          <a:xfrm>
            <a:off x="320040" y="2011680"/>
            <a:ext cx="502920" cy="502920"/>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9"/>
          <p:cNvSpPr/>
          <p:nvPr/>
        </p:nvSpPr>
        <p:spPr>
          <a:xfrm>
            <a:off x="320040" y="20116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533" name="Google Shape;533;p19"/>
          <p:cNvSpPr/>
          <p:nvPr/>
        </p:nvSpPr>
        <p:spPr>
          <a:xfrm>
            <a:off x="960120" y="2020824"/>
            <a:ext cx="7818120" cy="502920"/>
          </a:xfrm>
          <a:prstGeom prst="rect">
            <a:avLst/>
          </a:prstGeom>
          <a:solidFill>
            <a:srgbClr val="F8F9FA"/>
          </a:solidFill>
          <a:ln cap="flat" cmpd="sng" w="12700">
            <a:solidFill>
              <a:srgbClr val="D4756B">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9"/>
          <p:cNvSpPr/>
          <p:nvPr/>
        </p:nvSpPr>
        <p:spPr>
          <a:xfrm>
            <a:off x="960120" y="2020824"/>
            <a:ext cx="54864" cy="50292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9"/>
          <p:cNvSpPr/>
          <p:nvPr/>
        </p:nvSpPr>
        <p:spPr>
          <a:xfrm>
            <a:off x="1115568" y="2048256"/>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756B"/>
              </a:buClr>
              <a:buSzPts val="1300"/>
              <a:buFont typeface="Calibri"/>
              <a:buNone/>
            </a:pPr>
            <a:r>
              <a:rPr b="1" i="0" lang="en-US" sz="1300" u="none" cap="none" strike="noStrike">
                <a:solidFill>
                  <a:srgbClr val="D4756B"/>
                </a:solidFill>
                <a:latin typeface="Calibri"/>
                <a:ea typeface="Calibri"/>
                <a:cs typeface="Calibri"/>
                <a:sym typeface="Calibri"/>
              </a:rPr>
              <a:t>3. Qualitative description</a:t>
            </a:r>
            <a:endParaRPr b="0" i="0" sz="1300" u="none" cap="none" strike="noStrike">
              <a:solidFill>
                <a:schemeClr val="dk1"/>
              </a:solidFill>
              <a:latin typeface="Calibri"/>
              <a:ea typeface="Calibri"/>
              <a:cs typeface="Calibri"/>
              <a:sym typeface="Calibri"/>
            </a:endParaRPr>
          </a:p>
        </p:txBody>
      </p:sp>
      <p:sp>
        <p:nvSpPr>
          <p:cNvPr id="536" name="Google Shape;536;p19"/>
          <p:cNvSpPr/>
          <p:nvPr/>
        </p:nvSpPr>
        <p:spPr>
          <a:xfrm>
            <a:off x="3063240" y="2048256"/>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Draw life-cycle or flow diagrams. For complex systems, construct an event table.</a:t>
            </a:r>
            <a:endParaRPr b="0" i="0" sz="1250" u="none" cap="none" strike="noStrike">
              <a:solidFill>
                <a:schemeClr val="dk1"/>
              </a:solidFill>
              <a:latin typeface="Calibri"/>
              <a:ea typeface="Calibri"/>
              <a:cs typeface="Calibri"/>
              <a:sym typeface="Calibri"/>
            </a:endParaRPr>
          </a:p>
        </p:txBody>
      </p:sp>
      <p:sp>
        <p:nvSpPr>
          <p:cNvPr id="537" name="Google Shape;537;p19"/>
          <p:cNvSpPr/>
          <p:nvPr/>
        </p:nvSpPr>
        <p:spPr>
          <a:xfrm>
            <a:off x="320040" y="2615184"/>
            <a:ext cx="502920" cy="502920"/>
          </a:xfrm>
          <a:prstGeom prst="ellipse">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9"/>
          <p:cNvSpPr/>
          <p:nvPr/>
        </p:nvSpPr>
        <p:spPr>
          <a:xfrm>
            <a:off x="320040" y="261518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539" name="Google Shape;539;p19"/>
          <p:cNvSpPr/>
          <p:nvPr/>
        </p:nvSpPr>
        <p:spPr>
          <a:xfrm>
            <a:off x="960120" y="2624328"/>
            <a:ext cx="7818120" cy="502920"/>
          </a:xfrm>
          <a:prstGeom prst="rect">
            <a:avLst/>
          </a:prstGeom>
          <a:solidFill>
            <a:srgbClr val="F8F9FA"/>
          </a:solidFill>
          <a:ln cap="flat" cmpd="sng" w="12700">
            <a:solidFill>
              <a:srgbClr val="7B68C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9"/>
          <p:cNvSpPr/>
          <p:nvPr/>
        </p:nvSpPr>
        <p:spPr>
          <a:xfrm>
            <a:off x="960120" y="2624328"/>
            <a:ext cx="54864" cy="50292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9"/>
          <p:cNvSpPr/>
          <p:nvPr/>
        </p:nvSpPr>
        <p:spPr>
          <a:xfrm>
            <a:off x="1115568" y="2651760"/>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68C8"/>
              </a:buClr>
              <a:buSzPts val="1300"/>
              <a:buFont typeface="Calibri"/>
              <a:buNone/>
            </a:pPr>
            <a:r>
              <a:rPr b="1" i="0" lang="en-US" sz="1300" u="none" cap="none" strike="noStrike">
                <a:solidFill>
                  <a:srgbClr val="7B68C8"/>
                </a:solidFill>
                <a:latin typeface="Calibri"/>
                <a:ea typeface="Calibri"/>
                <a:cs typeface="Calibri"/>
                <a:sym typeface="Calibri"/>
              </a:rPr>
              <a:t>4. Quantitative description</a:t>
            </a:r>
            <a:endParaRPr b="0" i="0" sz="1300" u="none" cap="none" strike="noStrike">
              <a:solidFill>
                <a:schemeClr val="dk1"/>
              </a:solidFill>
              <a:latin typeface="Calibri"/>
              <a:ea typeface="Calibri"/>
              <a:cs typeface="Calibri"/>
              <a:sym typeface="Calibri"/>
            </a:endParaRPr>
          </a:p>
        </p:txBody>
      </p:sp>
      <p:sp>
        <p:nvSpPr>
          <p:cNvPr id="542" name="Google Shape;542;p19"/>
          <p:cNvSpPr/>
          <p:nvPr/>
        </p:nvSpPr>
        <p:spPr>
          <a:xfrm>
            <a:off x="3063240" y="2651760"/>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Write equations from diagrams. Check units and constraints on both sides of every equation.</a:t>
            </a:r>
            <a:endParaRPr b="0" i="0" sz="1250" u="none" cap="none" strike="noStrike">
              <a:solidFill>
                <a:schemeClr val="dk1"/>
              </a:solidFill>
              <a:latin typeface="Calibri"/>
              <a:ea typeface="Calibri"/>
              <a:cs typeface="Calibri"/>
              <a:sym typeface="Calibri"/>
            </a:endParaRPr>
          </a:p>
        </p:txBody>
      </p:sp>
      <p:sp>
        <p:nvSpPr>
          <p:cNvPr id="543" name="Google Shape;543;p19"/>
          <p:cNvSpPr/>
          <p:nvPr/>
        </p:nvSpPr>
        <p:spPr>
          <a:xfrm>
            <a:off x="320040" y="3218688"/>
            <a:ext cx="502920" cy="502920"/>
          </a:xfrm>
          <a:prstGeom prst="ellipse">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9"/>
          <p:cNvSpPr/>
          <p:nvPr/>
        </p:nvSpPr>
        <p:spPr>
          <a:xfrm>
            <a:off x="320040" y="321868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545" name="Google Shape;545;p19"/>
          <p:cNvSpPr/>
          <p:nvPr/>
        </p:nvSpPr>
        <p:spPr>
          <a:xfrm>
            <a:off x="960120" y="3227832"/>
            <a:ext cx="7818120" cy="502920"/>
          </a:xfrm>
          <a:prstGeom prst="rect">
            <a:avLst/>
          </a:prstGeom>
          <a:solidFill>
            <a:srgbClr val="F8F9FA"/>
          </a:solidFill>
          <a:ln cap="flat" cmpd="sng" w="12700">
            <a:solidFill>
              <a:srgbClr val="C07A3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9"/>
          <p:cNvSpPr/>
          <p:nvPr/>
        </p:nvSpPr>
        <p:spPr>
          <a:xfrm>
            <a:off x="960120" y="3227832"/>
            <a:ext cx="54864" cy="502920"/>
          </a:xfrm>
          <a:prstGeom prst="rect">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9"/>
          <p:cNvSpPr/>
          <p:nvPr/>
        </p:nvSpPr>
        <p:spPr>
          <a:xfrm>
            <a:off x="1115568" y="3255264"/>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7A3A"/>
              </a:buClr>
              <a:buSzPts val="1300"/>
              <a:buFont typeface="Calibri"/>
              <a:buNone/>
            </a:pPr>
            <a:r>
              <a:rPr b="1" i="0" lang="en-US" sz="1300" u="none" cap="none" strike="noStrike">
                <a:solidFill>
                  <a:srgbClr val="C07A3A"/>
                </a:solidFill>
                <a:latin typeface="Calibri"/>
                <a:ea typeface="Calibri"/>
                <a:cs typeface="Calibri"/>
                <a:sym typeface="Calibri"/>
              </a:rPr>
              <a:t>5. Analyze the equations</a:t>
            </a:r>
            <a:endParaRPr b="0" i="0" sz="1300" u="none" cap="none" strike="noStrike">
              <a:solidFill>
                <a:schemeClr val="dk1"/>
              </a:solidFill>
              <a:latin typeface="Calibri"/>
              <a:ea typeface="Calibri"/>
              <a:cs typeface="Calibri"/>
              <a:sym typeface="Calibri"/>
            </a:endParaRPr>
          </a:p>
        </p:txBody>
      </p:sp>
      <p:sp>
        <p:nvSpPr>
          <p:cNvPr id="548" name="Google Shape;548;p19"/>
          <p:cNvSpPr/>
          <p:nvPr/>
        </p:nvSpPr>
        <p:spPr>
          <a:xfrm>
            <a:off x="3063240" y="3255264"/>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Simulate and graph changes over time. Choose and perform appropriate analyses to address the question.</a:t>
            </a:r>
            <a:endParaRPr b="0" i="0" sz="1250" u="none" cap="none" strike="noStrike">
              <a:solidFill>
                <a:schemeClr val="dk1"/>
              </a:solidFill>
              <a:latin typeface="Calibri"/>
              <a:ea typeface="Calibri"/>
              <a:cs typeface="Calibri"/>
              <a:sym typeface="Calibri"/>
            </a:endParaRPr>
          </a:p>
        </p:txBody>
      </p:sp>
      <p:sp>
        <p:nvSpPr>
          <p:cNvPr id="549" name="Google Shape;549;p19"/>
          <p:cNvSpPr/>
          <p:nvPr/>
        </p:nvSpPr>
        <p:spPr>
          <a:xfrm>
            <a:off x="320040" y="3822192"/>
            <a:ext cx="502920" cy="502920"/>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9"/>
          <p:cNvSpPr/>
          <p:nvPr/>
        </p:nvSpPr>
        <p:spPr>
          <a:xfrm>
            <a:off x="320040" y="382219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6</a:t>
            </a:r>
            <a:endParaRPr b="0" i="0" sz="1800" u="none" cap="none" strike="noStrike">
              <a:solidFill>
                <a:schemeClr val="dk1"/>
              </a:solidFill>
              <a:latin typeface="Calibri"/>
              <a:ea typeface="Calibri"/>
              <a:cs typeface="Calibri"/>
              <a:sym typeface="Calibri"/>
            </a:endParaRPr>
          </a:p>
        </p:txBody>
      </p:sp>
      <p:sp>
        <p:nvSpPr>
          <p:cNvPr id="551" name="Google Shape;551;p19"/>
          <p:cNvSpPr/>
          <p:nvPr/>
        </p:nvSpPr>
        <p:spPr>
          <a:xfrm>
            <a:off x="960120" y="3831336"/>
            <a:ext cx="7818120" cy="502920"/>
          </a:xfrm>
          <a:prstGeom prst="rect">
            <a:avLst/>
          </a:prstGeom>
          <a:solidFill>
            <a:srgbClr val="F8F9FA"/>
          </a:solidFill>
          <a:ln cap="flat" cmpd="sng" w="12700">
            <a:solidFill>
              <a:srgbClr val="C9A84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9"/>
          <p:cNvSpPr/>
          <p:nvPr/>
        </p:nvSpPr>
        <p:spPr>
          <a:xfrm>
            <a:off x="960120" y="3831336"/>
            <a:ext cx="54864" cy="50292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9"/>
          <p:cNvSpPr/>
          <p:nvPr/>
        </p:nvSpPr>
        <p:spPr>
          <a:xfrm>
            <a:off x="1115568" y="3858768"/>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300"/>
              <a:buFont typeface="Calibri"/>
              <a:buNone/>
            </a:pPr>
            <a:r>
              <a:rPr b="1" i="0" lang="en-US" sz="1300" u="none" cap="none" strike="noStrike">
                <a:solidFill>
                  <a:srgbClr val="C9A84C"/>
                </a:solidFill>
                <a:latin typeface="Calibri"/>
                <a:ea typeface="Calibri"/>
                <a:cs typeface="Calibri"/>
                <a:sym typeface="Calibri"/>
              </a:rPr>
              <a:t>6. Checks and balances</a:t>
            </a:r>
            <a:endParaRPr b="0" i="0" sz="1300" u="none" cap="none" strike="noStrike">
              <a:solidFill>
                <a:schemeClr val="dk1"/>
              </a:solidFill>
              <a:latin typeface="Calibri"/>
              <a:ea typeface="Calibri"/>
              <a:cs typeface="Calibri"/>
              <a:sym typeface="Calibri"/>
            </a:endParaRPr>
          </a:p>
        </p:txBody>
      </p:sp>
      <p:sp>
        <p:nvSpPr>
          <p:cNvPr id="554" name="Google Shape;554;p19"/>
          <p:cNvSpPr/>
          <p:nvPr/>
        </p:nvSpPr>
        <p:spPr>
          <a:xfrm>
            <a:off x="3063240" y="3858768"/>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Check results against data. Extend or simplify and repeat steps 2–5.</a:t>
            </a:r>
            <a:endParaRPr b="0" i="0" sz="1250" u="none" cap="none" strike="noStrike">
              <a:solidFill>
                <a:schemeClr val="dk1"/>
              </a:solidFill>
              <a:latin typeface="Calibri"/>
              <a:ea typeface="Calibri"/>
              <a:cs typeface="Calibri"/>
              <a:sym typeface="Calibri"/>
            </a:endParaRPr>
          </a:p>
        </p:txBody>
      </p:sp>
      <p:sp>
        <p:nvSpPr>
          <p:cNvPr id="555" name="Google Shape;555;p19"/>
          <p:cNvSpPr/>
          <p:nvPr/>
        </p:nvSpPr>
        <p:spPr>
          <a:xfrm>
            <a:off x="320040" y="4425696"/>
            <a:ext cx="502920" cy="502920"/>
          </a:xfrm>
          <a:prstGeom prst="ellipse">
            <a:avLst/>
          </a:prstGeom>
          <a:solidFill>
            <a:srgbClr val="2D6A4F"/>
          </a:solidFill>
          <a:ln cap="flat" cmpd="sng" w="12700">
            <a:solidFill>
              <a:srgbClr val="2D6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9"/>
          <p:cNvSpPr/>
          <p:nvPr/>
        </p:nvSpPr>
        <p:spPr>
          <a:xfrm>
            <a:off x="320040" y="442569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7</a:t>
            </a:r>
            <a:endParaRPr b="0" i="0" sz="1800" u="none" cap="none" strike="noStrike">
              <a:solidFill>
                <a:schemeClr val="dk1"/>
              </a:solidFill>
              <a:latin typeface="Calibri"/>
              <a:ea typeface="Calibri"/>
              <a:cs typeface="Calibri"/>
              <a:sym typeface="Calibri"/>
            </a:endParaRPr>
          </a:p>
        </p:txBody>
      </p:sp>
      <p:sp>
        <p:nvSpPr>
          <p:cNvPr id="557" name="Google Shape;557;p19"/>
          <p:cNvSpPr/>
          <p:nvPr/>
        </p:nvSpPr>
        <p:spPr>
          <a:xfrm>
            <a:off x="960120" y="4434840"/>
            <a:ext cx="7818120" cy="502920"/>
          </a:xfrm>
          <a:prstGeom prst="rect">
            <a:avLst/>
          </a:prstGeom>
          <a:solidFill>
            <a:srgbClr val="F8F9FA"/>
          </a:solidFill>
          <a:ln cap="flat" cmpd="sng" w="12700">
            <a:solidFill>
              <a:srgbClr val="2D6A4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9"/>
          <p:cNvSpPr/>
          <p:nvPr/>
        </p:nvSpPr>
        <p:spPr>
          <a:xfrm>
            <a:off x="960120" y="4434840"/>
            <a:ext cx="54864" cy="502920"/>
          </a:xfrm>
          <a:prstGeom prst="rect">
            <a:avLst/>
          </a:prstGeom>
          <a:solidFill>
            <a:srgbClr val="2D6A4F"/>
          </a:solidFill>
          <a:ln cap="flat" cmpd="sng" w="12700">
            <a:solidFill>
              <a:srgbClr val="2D6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9"/>
          <p:cNvSpPr/>
          <p:nvPr/>
        </p:nvSpPr>
        <p:spPr>
          <a:xfrm>
            <a:off x="1115568" y="4462272"/>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A4F"/>
              </a:buClr>
              <a:buSzPts val="1300"/>
              <a:buFont typeface="Calibri"/>
              <a:buNone/>
            </a:pPr>
            <a:r>
              <a:rPr b="1" i="0" lang="en-US" sz="1300" u="none" cap="none" strike="noStrike">
                <a:solidFill>
                  <a:srgbClr val="2D6A4F"/>
                </a:solidFill>
                <a:latin typeface="Calibri"/>
                <a:ea typeface="Calibri"/>
                <a:cs typeface="Calibri"/>
                <a:sym typeface="Calibri"/>
              </a:rPr>
              <a:t>7. Relate back to the question</a:t>
            </a:r>
            <a:endParaRPr b="0" i="0" sz="1300" u="none" cap="none" strike="noStrike">
              <a:solidFill>
                <a:schemeClr val="dk1"/>
              </a:solidFill>
              <a:latin typeface="Calibri"/>
              <a:ea typeface="Calibri"/>
              <a:cs typeface="Calibri"/>
              <a:sym typeface="Calibri"/>
            </a:endParaRPr>
          </a:p>
        </p:txBody>
      </p:sp>
      <p:sp>
        <p:nvSpPr>
          <p:cNvPr id="560" name="Google Shape;560;p19"/>
          <p:cNvSpPr/>
          <p:nvPr/>
        </p:nvSpPr>
        <p:spPr>
          <a:xfrm>
            <a:off x="3063240" y="4462272"/>
            <a:ext cx="5577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Do results answer the question? Are they counterintuitive? Describe new insights and potential experiments.</a:t>
            </a:r>
            <a:endParaRPr b="0" i="0" sz="1250" u="none" cap="none" strike="noStrike">
              <a:solidFill>
                <a:schemeClr val="dk1"/>
              </a:solidFill>
              <a:latin typeface="Calibri"/>
              <a:ea typeface="Calibri"/>
              <a:cs typeface="Calibri"/>
              <a:sym typeface="Calibri"/>
            </a:endParaRPr>
          </a:p>
        </p:txBody>
      </p:sp>
      <p:sp>
        <p:nvSpPr>
          <p:cNvPr id="561" name="Google Shape;561;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sp>
        <p:nvSpPr>
          <p:cNvPr id="567" name="Google Shape;567;p20"/>
          <p:cNvSpPr/>
          <p:nvPr/>
        </p:nvSpPr>
        <p:spPr>
          <a:xfrm>
            <a:off x="0" y="0"/>
            <a:ext cx="164592" cy="51435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0"/>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0"/>
          <p:cNvSpPr/>
          <p:nvPr/>
        </p:nvSpPr>
        <p:spPr>
          <a:xfrm>
            <a:off x="320040" y="137160"/>
            <a:ext cx="402336" cy="402336"/>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0"/>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Discrete vs. Continuous Time Models</a:t>
            </a:r>
            <a:endParaRPr b="0" i="0" sz="2200" u="none" cap="none" strike="noStrike">
              <a:solidFill>
                <a:schemeClr val="dk1"/>
              </a:solidFill>
              <a:latin typeface="Calibri"/>
              <a:ea typeface="Calibri"/>
              <a:cs typeface="Calibri"/>
              <a:sym typeface="Calibri"/>
            </a:endParaRPr>
          </a:p>
        </p:txBody>
      </p:sp>
      <p:sp>
        <p:nvSpPr>
          <p:cNvPr id="571" name="Google Shape;571;p20"/>
          <p:cNvSpPr/>
          <p:nvPr/>
        </p:nvSpPr>
        <p:spPr>
          <a:xfrm>
            <a:off x="164592" y="685800"/>
            <a:ext cx="8979408" cy="36576"/>
          </a:xfrm>
          <a:prstGeom prst="rect">
            <a:avLst/>
          </a:prstGeom>
          <a:solidFill>
            <a:srgbClr val="4CAF8A">
              <a:alpha val="40000"/>
            </a:srgbClr>
          </a:solidFill>
          <a:ln cap="flat" cmpd="sng" w="12700">
            <a:solidFill>
              <a:srgbClr val="4CAF8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0"/>
          <p:cNvSpPr/>
          <p:nvPr/>
        </p:nvSpPr>
        <p:spPr>
          <a:xfrm>
            <a:off x="320040" y="777240"/>
            <a:ext cx="8503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350"/>
              <a:buFont typeface="Calibri"/>
              <a:buNone/>
            </a:pPr>
            <a:r>
              <a:rPr b="0" i="1" lang="en-US" sz="1350" u="none" cap="none" strike="noStrike">
                <a:solidFill>
                  <a:srgbClr val="8D99AE"/>
                </a:solidFill>
                <a:latin typeface="Calibri"/>
                <a:ea typeface="Calibri"/>
                <a:cs typeface="Calibri"/>
                <a:sym typeface="Calibri"/>
              </a:rPr>
              <a:t>Choosing the right time framework is a fundamental modelling decision.</a:t>
            </a:r>
            <a:endParaRPr b="0" i="0" sz="1350" u="none" cap="none" strike="noStrike">
              <a:solidFill>
                <a:schemeClr val="dk1"/>
              </a:solidFill>
              <a:latin typeface="Calibri"/>
              <a:ea typeface="Calibri"/>
              <a:cs typeface="Calibri"/>
              <a:sym typeface="Calibri"/>
            </a:endParaRPr>
          </a:p>
        </p:txBody>
      </p:sp>
      <p:sp>
        <p:nvSpPr>
          <p:cNvPr id="573" name="Google Shape;573;p20"/>
          <p:cNvSpPr/>
          <p:nvPr/>
        </p:nvSpPr>
        <p:spPr>
          <a:xfrm>
            <a:off x="320040" y="1170432"/>
            <a:ext cx="4160520" cy="3383280"/>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0"/>
          <p:cNvSpPr/>
          <p:nvPr/>
        </p:nvSpPr>
        <p:spPr>
          <a:xfrm>
            <a:off x="320040" y="1170432"/>
            <a:ext cx="41605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0"/>
          <p:cNvSpPr/>
          <p:nvPr/>
        </p:nvSpPr>
        <p:spPr>
          <a:xfrm>
            <a:off x="429768" y="119786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Discrete-Time Models</a:t>
            </a:r>
            <a:endParaRPr b="0" i="0" sz="1300" u="none" cap="none" strike="noStrike">
              <a:solidFill>
                <a:schemeClr val="dk1"/>
              </a:solidFill>
              <a:latin typeface="Calibri"/>
              <a:ea typeface="Calibri"/>
              <a:cs typeface="Calibri"/>
              <a:sym typeface="Calibri"/>
            </a:endParaRPr>
          </a:p>
        </p:txBody>
      </p:sp>
      <p:sp>
        <p:nvSpPr>
          <p:cNvPr id="576" name="Google Shape;576;p20"/>
          <p:cNvSpPr/>
          <p:nvPr/>
        </p:nvSpPr>
        <p:spPr>
          <a:xfrm>
            <a:off x="457200" y="1572768"/>
            <a:ext cx="3931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200"/>
              <a:buFont typeface="Calibri"/>
              <a:buNone/>
            </a:pPr>
            <a:r>
              <a:rPr b="0" i="1" lang="en-US" sz="1200" u="none" cap="none" strike="noStrike">
                <a:solidFill>
                  <a:srgbClr val="8D99AE"/>
                </a:solidFill>
                <a:latin typeface="Calibri"/>
                <a:ea typeface="Calibri"/>
                <a:cs typeface="Calibri"/>
                <a:sym typeface="Calibri"/>
              </a:rPr>
              <a:t>Variables change at fixed time steps</a:t>
            </a:r>
            <a:endParaRPr b="0" i="0" sz="1200" u="none" cap="none" strike="noStrike">
              <a:solidFill>
                <a:schemeClr val="dk1"/>
              </a:solidFill>
              <a:latin typeface="Calibri"/>
              <a:ea typeface="Calibri"/>
              <a:cs typeface="Calibri"/>
              <a:sym typeface="Calibri"/>
            </a:endParaRPr>
          </a:p>
        </p:txBody>
      </p:sp>
      <p:sp>
        <p:nvSpPr>
          <p:cNvPr id="577" name="Google Shape;577;p20"/>
          <p:cNvSpPr/>
          <p:nvPr/>
        </p:nvSpPr>
        <p:spPr>
          <a:xfrm>
            <a:off x="438912" y="1847088"/>
            <a:ext cx="3931920" cy="257860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Changes tracked at distinct intervals (e.g. annually)</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Described by difference equations: Nₜ₊₁ = f(Nₜ)</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Natural for organisms with synchronised life cycles (annual plants, insects)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Easier to parameterise from census data</a:t>
            </a:r>
            <a:endParaRPr b="0" i="0" sz="12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100"/>
              <a:buFont typeface="Calibri"/>
              <a:buChar char="•"/>
            </a:pPr>
            <a:r>
              <a:rPr b="0" i="0" lang="en-US" sz="1100" u="none" cap="none" strike="noStrike">
                <a:solidFill>
                  <a:srgbClr val="8D99AE"/>
                </a:solidFill>
                <a:latin typeface="Calibri"/>
                <a:ea typeface="Calibri"/>
                <a:cs typeface="Calibri"/>
                <a:sym typeface="Calibri"/>
              </a:rPr>
              <a:t>Example: Leslie matrix, Beverton-Holt model</a:t>
            </a:r>
            <a:endParaRPr b="0" i="0" sz="1250" u="none" cap="none" strike="noStrike">
              <a:solidFill>
                <a:schemeClr val="dk1"/>
              </a:solidFill>
              <a:latin typeface="Calibri"/>
              <a:ea typeface="Calibri"/>
              <a:cs typeface="Calibri"/>
              <a:sym typeface="Calibri"/>
            </a:endParaRPr>
          </a:p>
        </p:txBody>
      </p:sp>
      <p:sp>
        <p:nvSpPr>
          <p:cNvPr id="578" name="Google Shape;578;p20"/>
          <p:cNvSpPr/>
          <p:nvPr/>
        </p:nvSpPr>
        <p:spPr>
          <a:xfrm>
            <a:off x="4663440" y="1170432"/>
            <a:ext cx="4160520" cy="3383280"/>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0"/>
          <p:cNvSpPr/>
          <p:nvPr/>
        </p:nvSpPr>
        <p:spPr>
          <a:xfrm>
            <a:off x="4663440" y="1170432"/>
            <a:ext cx="41605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0"/>
          <p:cNvSpPr/>
          <p:nvPr/>
        </p:nvSpPr>
        <p:spPr>
          <a:xfrm>
            <a:off x="4773168" y="119786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Continuous-Time Models</a:t>
            </a:r>
            <a:endParaRPr b="0" i="0" sz="1300" u="none" cap="none" strike="noStrike">
              <a:solidFill>
                <a:schemeClr val="dk1"/>
              </a:solidFill>
              <a:latin typeface="Calibri"/>
              <a:ea typeface="Calibri"/>
              <a:cs typeface="Calibri"/>
              <a:sym typeface="Calibri"/>
            </a:endParaRPr>
          </a:p>
        </p:txBody>
      </p:sp>
      <p:sp>
        <p:nvSpPr>
          <p:cNvPr id="581" name="Google Shape;581;p20"/>
          <p:cNvSpPr/>
          <p:nvPr/>
        </p:nvSpPr>
        <p:spPr>
          <a:xfrm>
            <a:off x="4800600" y="1572768"/>
            <a:ext cx="3931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200"/>
              <a:buFont typeface="Calibri"/>
              <a:buNone/>
            </a:pPr>
            <a:r>
              <a:rPr b="0" i="1" lang="en-US" sz="1200" u="none" cap="none" strike="noStrike">
                <a:solidFill>
                  <a:srgbClr val="8D99AE"/>
                </a:solidFill>
                <a:latin typeface="Calibri"/>
                <a:ea typeface="Calibri"/>
                <a:cs typeface="Calibri"/>
                <a:sym typeface="Calibri"/>
              </a:rPr>
              <a:t>Variables change at any point in time</a:t>
            </a:r>
            <a:endParaRPr b="0" i="0" sz="1200" u="none" cap="none" strike="noStrike">
              <a:solidFill>
                <a:schemeClr val="dk1"/>
              </a:solidFill>
              <a:latin typeface="Calibri"/>
              <a:ea typeface="Calibri"/>
              <a:cs typeface="Calibri"/>
              <a:sym typeface="Calibri"/>
            </a:endParaRPr>
          </a:p>
        </p:txBody>
      </p:sp>
      <p:sp>
        <p:nvSpPr>
          <p:cNvPr id="582" name="Google Shape;582;p20"/>
          <p:cNvSpPr/>
          <p:nvPr/>
        </p:nvSpPr>
        <p:spPr>
          <a:xfrm>
            <a:off x="4773168" y="1847088"/>
            <a:ext cx="3931920" cy="257860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Changes described by differential equations: dN/dt = f(N)</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Natural for organisms with overlapping generations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Analytically tractable for simple systems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More realistic for physiological processes</a:t>
            </a:r>
            <a:endParaRPr b="0" i="0" sz="12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100"/>
              <a:buFont typeface="Calibri"/>
              <a:buChar char="•"/>
            </a:pPr>
            <a:r>
              <a:rPr b="0" i="0" lang="en-US" sz="1100" u="none" cap="none" strike="noStrike">
                <a:solidFill>
                  <a:srgbClr val="8D99AE"/>
                </a:solidFill>
                <a:latin typeface="Calibri"/>
                <a:ea typeface="Calibri"/>
                <a:cs typeface="Calibri"/>
                <a:sym typeface="Calibri"/>
              </a:rPr>
              <a:t>Example: Logistic growth, Lotka-Volterra, compartment models</a:t>
            </a:r>
            <a:endParaRPr b="0" i="0" sz="1250" u="none" cap="none" strike="noStrike">
              <a:solidFill>
                <a:schemeClr val="dk1"/>
              </a:solidFill>
              <a:latin typeface="Calibri"/>
              <a:ea typeface="Calibri"/>
              <a:cs typeface="Calibri"/>
              <a:sym typeface="Calibri"/>
            </a:endParaRPr>
          </a:p>
        </p:txBody>
      </p:sp>
      <p:sp>
        <p:nvSpPr>
          <p:cNvPr id="583" name="Google Shape;583;p20"/>
          <p:cNvSpPr/>
          <p:nvPr/>
        </p:nvSpPr>
        <p:spPr>
          <a:xfrm>
            <a:off x="320040" y="4645152"/>
            <a:ext cx="8503920" cy="274320"/>
          </a:xfrm>
          <a:prstGeom prst="rect">
            <a:avLst/>
          </a:prstGeom>
          <a:solidFill>
            <a:srgbClr val="F7F3E8"/>
          </a:solidFill>
          <a:ln cap="flat" cmpd="sng" w="12700">
            <a:solidFill>
              <a:srgbClr val="C9A84C">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0"/>
          <p:cNvSpPr/>
          <p:nvPr/>
        </p:nvSpPr>
        <p:spPr>
          <a:xfrm>
            <a:off x="438912" y="4654296"/>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250"/>
              <a:buFont typeface="Calibri"/>
              <a:buNone/>
            </a:pPr>
            <a:r>
              <a:rPr b="1" i="0" lang="en-US" sz="1250" u="none" cap="none" strike="noStrike">
                <a:solidFill>
                  <a:srgbClr val="23293A"/>
                </a:solidFill>
                <a:latin typeface="Calibri"/>
                <a:ea typeface="Calibri"/>
                <a:cs typeface="Calibri"/>
                <a:sym typeface="Calibri"/>
              </a:rPr>
              <a:t>Key question: Does the biology suggest distinct pulses (discrete) or constant flow (continuous)?</a:t>
            </a:r>
            <a:endParaRPr b="0" i="0" sz="1250" u="none" cap="none" strike="noStrike">
              <a:solidFill>
                <a:schemeClr val="dk1"/>
              </a:solidFill>
              <a:latin typeface="Calibri"/>
              <a:ea typeface="Calibri"/>
              <a:cs typeface="Calibri"/>
              <a:sym typeface="Calibri"/>
            </a:endParaRPr>
          </a:p>
        </p:txBody>
      </p:sp>
      <p:sp>
        <p:nvSpPr>
          <p:cNvPr id="585" name="Google Shape;585;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68C8"/>
        </a:solidFill>
      </p:bgPr>
    </p:bg>
    <p:spTree>
      <p:nvGrpSpPr>
        <p:cNvPr id="590" name="Shape 590"/>
        <p:cNvGrpSpPr/>
        <p:nvPr/>
      </p:nvGrpSpPr>
      <p:grpSpPr>
        <a:xfrm>
          <a:off x="0" y="0"/>
          <a:ext cx="0" cy="0"/>
          <a:chOff x="0" y="0"/>
          <a:chExt cx="0" cy="0"/>
        </a:xfrm>
      </p:grpSpPr>
      <p:sp>
        <p:nvSpPr>
          <p:cNvPr id="591" name="Google Shape;591;p21"/>
          <p:cNvSpPr/>
          <p:nvPr/>
        </p:nvSpPr>
        <p:spPr>
          <a:xfrm>
            <a:off x="6858000" y="-457200"/>
            <a:ext cx="3200400" cy="3200400"/>
          </a:xfrm>
          <a:prstGeom prst="ellipse">
            <a:avLst/>
          </a:prstGeom>
          <a:solidFill>
            <a:srgbClr val="FFFFFF">
              <a:alpha val="14901"/>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1"/>
          <p:cNvSpPr/>
          <p:nvPr/>
        </p:nvSpPr>
        <p:spPr>
          <a:xfrm>
            <a:off x="7772400" y="2743200"/>
            <a:ext cx="1828800" cy="182880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1"/>
          <p:cNvSpPr/>
          <p:nvPr/>
        </p:nvSpPr>
        <p:spPr>
          <a:xfrm>
            <a:off x="182880" y="3840480"/>
            <a:ext cx="1097280" cy="109728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1"/>
          <p:cNvSpPr/>
          <p:nvPr/>
        </p:nvSpPr>
        <p:spPr>
          <a:xfrm>
            <a:off x="457200" y="640080"/>
            <a:ext cx="12801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4</a:t>
            </a:r>
            <a:endParaRPr b="0" i="0" sz="6400" u="none" cap="none" strike="noStrike">
              <a:solidFill>
                <a:schemeClr val="dk1"/>
              </a:solidFill>
              <a:latin typeface="Calibri"/>
              <a:ea typeface="Calibri"/>
              <a:cs typeface="Calibri"/>
              <a:sym typeface="Calibri"/>
            </a:endParaRPr>
          </a:p>
        </p:txBody>
      </p:sp>
      <p:sp>
        <p:nvSpPr>
          <p:cNvPr id="595" name="Google Shape;595;p21"/>
          <p:cNvSpPr/>
          <p:nvPr/>
        </p:nvSpPr>
        <p:spPr>
          <a:xfrm>
            <a:off x="457200" y="1920240"/>
            <a:ext cx="68580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Key Concepts</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for Modellers</a:t>
            </a:r>
            <a:endParaRPr b="0" i="0" sz="3600" u="none" cap="none" strike="noStrike">
              <a:solidFill>
                <a:schemeClr val="dk1"/>
              </a:solidFill>
              <a:latin typeface="Calibri"/>
              <a:ea typeface="Calibri"/>
              <a:cs typeface="Calibri"/>
              <a:sym typeface="Calibri"/>
            </a:endParaRPr>
          </a:p>
        </p:txBody>
      </p:sp>
      <p:sp>
        <p:nvSpPr>
          <p:cNvPr id="596" name="Google Shape;596;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22"/>
          <p:cNvSpPr/>
          <p:nvPr/>
        </p:nvSpPr>
        <p:spPr>
          <a:xfrm>
            <a:off x="0" y="0"/>
            <a:ext cx="164592" cy="51435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2"/>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2"/>
          <p:cNvSpPr/>
          <p:nvPr/>
        </p:nvSpPr>
        <p:spPr>
          <a:xfrm>
            <a:off x="320040" y="137160"/>
            <a:ext cx="402336" cy="402336"/>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2"/>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Carrying Capacity </a:t>
            </a:r>
            <a:endParaRPr b="0" i="0" sz="2200" u="none" cap="none" strike="noStrike">
              <a:solidFill>
                <a:schemeClr val="dk1"/>
              </a:solidFill>
              <a:latin typeface="Calibri"/>
              <a:ea typeface="Calibri"/>
              <a:cs typeface="Calibri"/>
              <a:sym typeface="Calibri"/>
            </a:endParaRPr>
          </a:p>
        </p:txBody>
      </p:sp>
      <p:sp>
        <p:nvSpPr>
          <p:cNvPr id="606" name="Google Shape;606;p22"/>
          <p:cNvSpPr/>
          <p:nvPr/>
        </p:nvSpPr>
        <p:spPr>
          <a:xfrm>
            <a:off x="164592" y="685800"/>
            <a:ext cx="8979408" cy="36576"/>
          </a:xfrm>
          <a:prstGeom prst="rect">
            <a:avLst/>
          </a:prstGeom>
          <a:solidFill>
            <a:srgbClr val="4CAF8A">
              <a:alpha val="40000"/>
            </a:srgbClr>
          </a:solidFill>
          <a:ln cap="flat" cmpd="sng" w="12700">
            <a:solidFill>
              <a:srgbClr val="4CAF8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2"/>
          <p:cNvSpPr/>
          <p:nvPr/>
        </p:nvSpPr>
        <p:spPr>
          <a:xfrm>
            <a:off x="320040" y="777240"/>
            <a:ext cx="4160520" cy="3977640"/>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2"/>
          <p:cNvSpPr/>
          <p:nvPr/>
        </p:nvSpPr>
        <p:spPr>
          <a:xfrm>
            <a:off x="320040" y="777240"/>
            <a:ext cx="4160520"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2"/>
          <p:cNvSpPr/>
          <p:nvPr/>
        </p:nvSpPr>
        <p:spPr>
          <a:xfrm>
            <a:off x="429768" y="804672"/>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Carrying Capacity (K)</a:t>
            </a:r>
            <a:endParaRPr b="0" i="0" sz="1300" u="none" cap="none" strike="noStrike">
              <a:solidFill>
                <a:schemeClr val="dk1"/>
              </a:solidFill>
              <a:latin typeface="Calibri"/>
              <a:ea typeface="Calibri"/>
              <a:cs typeface="Calibri"/>
              <a:sym typeface="Calibri"/>
            </a:endParaRPr>
          </a:p>
        </p:txBody>
      </p:sp>
      <p:sp>
        <p:nvSpPr>
          <p:cNvPr id="610" name="Google Shape;610;p22"/>
          <p:cNvSpPr/>
          <p:nvPr/>
        </p:nvSpPr>
        <p:spPr>
          <a:xfrm>
            <a:off x="457200" y="1188720"/>
            <a:ext cx="3931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250"/>
              <a:buFont typeface="Calibri"/>
              <a:buNone/>
            </a:pPr>
            <a:r>
              <a:rPr b="1" i="0" lang="en-US" sz="1250" u="none" cap="none" strike="noStrike">
                <a:solidFill>
                  <a:srgbClr val="23293A"/>
                </a:solidFill>
                <a:latin typeface="Calibri"/>
                <a:ea typeface="Calibri"/>
                <a:cs typeface="Calibri"/>
                <a:sym typeface="Calibri"/>
              </a:rPr>
              <a:t>The maximum population an environment can sustain indefinitely.</a:t>
            </a:r>
            <a:endParaRPr b="0" i="0" sz="1250" u="none" cap="none" strike="noStrike">
              <a:solidFill>
                <a:schemeClr val="dk1"/>
              </a:solidFill>
              <a:latin typeface="Calibri"/>
              <a:ea typeface="Calibri"/>
              <a:cs typeface="Calibri"/>
              <a:sym typeface="Calibri"/>
            </a:endParaRPr>
          </a:p>
        </p:txBody>
      </p:sp>
      <p:sp>
        <p:nvSpPr>
          <p:cNvPr id="611" name="Google Shape;611;p22"/>
          <p:cNvSpPr/>
          <p:nvPr/>
        </p:nvSpPr>
        <p:spPr>
          <a:xfrm>
            <a:off x="457200" y="1508760"/>
            <a:ext cx="3931920" cy="3063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Resource Availability: food, water, shelter, nutrients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Habitat Area: physical space for living, breeding, foraging</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Environmental Conditions: temperature, precipitation, seasonality</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Interspecies Interactions: competition, predation, mutualism</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Waste Accumulation: environment's capacity to process waste</a:t>
            </a:r>
            <a:endParaRPr b="0" i="0" sz="12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100"/>
              <a:buFont typeface="Calibri"/>
              <a:buChar char="•"/>
            </a:pPr>
            <a:r>
              <a:rPr b="0" i="0" lang="en-US" sz="1100" u="none" cap="none" strike="noStrike">
                <a:solidFill>
                  <a:srgbClr val="8D99AE"/>
                </a:solidFill>
                <a:latin typeface="Calibri"/>
                <a:ea typeface="Calibri"/>
                <a:cs typeface="Calibri"/>
                <a:sym typeface="Calibri"/>
              </a:rPr>
              <a:t>When N &gt; K: competition, stress, population decline, ecosystem damage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g3d0b63cec61_0_114"/>
          <p:cNvSpPr/>
          <p:nvPr/>
        </p:nvSpPr>
        <p:spPr>
          <a:xfrm>
            <a:off x="0" y="0"/>
            <a:ext cx="164700" cy="5143500"/>
          </a:xfrm>
          <a:prstGeom prst="rect">
            <a:avLst/>
          </a:prstGeom>
          <a:solidFill>
            <a:srgbClr val="DD7E6B"/>
          </a:solidFill>
          <a:ln cap="flat" cmpd="sng" w="12700">
            <a:solidFill>
              <a:srgbClr val="DD7E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g3d0b63cec61_0_114"/>
          <p:cNvSpPr/>
          <p:nvPr/>
        </p:nvSpPr>
        <p:spPr>
          <a:xfrm>
            <a:off x="164592" y="0"/>
            <a:ext cx="8979300"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d0b63cec61_0_114"/>
          <p:cNvSpPr/>
          <p:nvPr/>
        </p:nvSpPr>
        <p:spPr>
          <a:xfrm>
            <a:off x="320040" y="137160"/>
            <a:ext cx="402300" cy="402300"/>
          </a:xfrm>
          <a:prstGeom prst="ellipse">
            <a:avLst/>
          </a:prstGeom>
          <a:solidFill>
            <a:srgbClr val="DD7E6B"/>
          </a:solidFill>
          <a:ln cap="flat" cmpd="sng" w="12700">
            <a:solidFill>
              <a:srgbClr val="DD7E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g3d0b63cec61_0_114"/>
          <p:cNvSpPr/>
          <p:nvPr/>
        </p:nvSpPr>
        <p:spPr>
          <a:xfrm>
            <a:off x="868680" y="91440"/>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Critical Population Size</a:t>
            </a:r>
            <a:endParaRPr b="0" i="0" sz="2200" u="none" cap="none" strike="noStrike">
              <a:solidFill>
                <a:schemeClr val="dk1"/>
              </a:solidFill>
              <a:latin typeface="Calibri"/>
              <a:ea typeface="Calibri"/>
              <a:cs typeface="Calibri"/>
              <a:sym typeface="Calibri"/>
            </a:endParaRPr>
          </a:p>
        </p:txBody>
      </p:sp>
      <p:sp>
        <p:nvSpPr>
          <p:cNvPr id="621" name="Google Shape;621;g3d0b63cec61_0_114"/>
          <p:cNvSpPr/>
          <p:nvPr/>
        </p:nvSpPr>
        <p:spPr>
          <a:xfrm>
            <a:off x="164592" y="685800"/>
            <a:ext cx="8979300" cy="36600"/>
          </a:xfrm>
          <a:prstGeom prst="rect">
            <a:avLst/>
          </a:prstGeom>
          <a:solidFill>
            <a:srgbClr val="E6B8AF"/>
          </a:solidFill>
          <a:ln cap="flat" cmpd="sng" w="12700">
            <a:solidFill>
              <a:srgbClr val="4CAF8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g3d0b63cec61_0_114"/>
          <p:cNvSpPr/>
          <p:nvPr/>
        </p:nvSpPr>
        <p:spPr>
          <a:xfrm>
            <a:off x="306408" y="777240"/>
            <a:ext cx="4160400" cy="3977700"/>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g3d0b63cec61_0_114"/>
          <p:cNvSpPr/>
          <p:nvPr/>
        </p:nvSpPr>
        <p:spPr>
          <a:xfrm>
            <a:off x="306408" y="777240"/>
            <a:ext cx="4160400" cy="3474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g3d0b63cec61_0_114"/>
          <p:cNvSpPr/>
          <p:nvPr/>
        </p:nvSpPr>
        <p:spPr>
          <a:xfrm>
            <a:off x="416136" y="804672"/>
            <a:ext cx="3941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Critical Population Size (MVP)</a:t>
            </a:r>
            <a:endParaRPr b="0" i="0" sz="1300" u="none" cap="none" strike="noStrike">
              <a:solidFill>
                <a:schemeClr val="dk1"/>
              </a:solidFill>
              <a:latin typeface="Calibri"/>
              <a:ea typeface="Calibri"/>
              <a:cs typeface="Calibri"/>
              <a:sym typeface="Calibri"/>
            </a:endParaRPr>
          </a:p>
        </p:txBody>
      </p:sp>
      <p:sp>
        <p:nvSpPr>
          <p:cNvPr id="625" name="Google Shape;625;g3d0b63cec61_0_114"/>
          <p:cNvSpPr/>
          <p:nvPr/>
        </p:nvSpPr>
        <p:spPr>
          <a:xfrm>
            <a:off x="443568" y="1188720"/>
            <a:ext cx="3931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250"/>
              <a:buFont typeface="Calibri"/>
              <a:buNone/>
            </a:pPr>
            <a:r>
              <a:rPr b="1" i="0" lang="en-US" sz="1250" u="none" cap="none" strike="noStrike">
                <a:solidFill>
                  <a:srgbClr val="23293A"/>
                </a:solidFill>
                <a:latin typeface="Calibri"/>
                <a:ea typeface="Calibri"/>
                <a:cs typeface="Calibri"/>
                <a:sym typeface="Calibri"/>
              </a:rPr>
              <a:t>The minimum population needed for a species to persist.</a:t>
            </a:r>
            <a:endParaRPr b="0" i="0" sz="1250" u="none" cap="none" strike="noStrike">
              <a:solidFill>
                <a:schemeClr val="dk1"/>
              </a:solidFill>
              <a:latin typeface="Calibri"/>
              <a:ea typeface="Calibri"/>
              <a:cs typeface="Calibri"/>
              <a:sym typeface="Calibri"/>
            </a:endParaRPr>
          </a:p>
        </p:txBody>
      </p:sp>
      <p:sp>
        <p:nvSpPr>
          <p:cNvPr id="626" name="Google Shape;626;g3d0b63cec61_0_114"/>
          <p:cNvSpPr/>
          <p:nvPr/>
        </p:nvSpPr>
        <p:spPr>
          <a:xfrm>
            <a:off x="443568" y="1508760"/>
            <a:ext cx="3931800" cy="3063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Below MVP: population may be unable to recover</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Genetic effects: inbreeding depression, loss of adaptive variation</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Demographic stochasticity: chance fluctuations can cause extinction</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Allee effects: reduced reproduction at low density</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Environmental stochasticity: random events can wipe small populations</a:t>
            </a:r>
            <a:endParaRPr b="0" i="0" sz="12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100"/>
              <a:buFont typeface="Calibri"/>
              <a:buChar char="•"/>
            </a:pPr>
            <a:r>
              <a:rPr b="0" i="0" lang="en-US" sz="1100" u="none" cap="none" strike="noStrike">
                <a:solidFill>
                  <a:srgbClr val="8D99AE"/>
                </a:solidFill>
                <a:latin typeface="Calibri"/>
                <a:ea typeface="Calibri"/>
                <a:cs typeface="Calibri"/>
                <a:sym typeface="Calibri"/>
              </a:rPr>
              <a:t>Conservation implication: reserves must maintain populations above MVP</a:t>
            </a:r>
            <a:endParaRPr b="0" i="0" sz="1250" u="none" cap="none" strike="noStrike">
              <a:solidFill>
                <a:schemeClr val="dk1"/>
              </a:solidFill>
              <a:latin typeface="Calibri"/>
              <a:ea typeface="Calibri"/>
              <a:cs typeface="Calibri"/>
              <a:sym typeface="Calibri"/>
            </a:endParaRPr>
          </a:p>
        </p:txBody>
      </p:sp>
      <p:sp>
        <p:nvSpPr>
          <p:cNvPr id="627" name="Google Shape;627;g3d0b63cec61_0_114"/>
          <p:cNvSpPr txBox="1"/>
          <p:nvPr>
            <p:ph idx="12" type="sldNum"/>
          </p:nvPr>
        </p:nvSpPr>
        <p:spPr>
          <a:xfrm>
            <a:off x="4199752"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2" name="Shape 632"/>
        <p:cNvGrpSpPr/>
        <p:nvPr/>
      </p:nvGrpSpPr>
      <p:grpSpPr>
        <a:xfrm>
          <a:off x="0" y="0"/>
          <a:ext cx="0" cy="0"/>
          <a:chOff x="0" y="0"/>
          <a:chExt cx="0" cy="0"/>
        </a:xfrm>
      </p:grpSpPr>
      <p:sp>
        <p:nvSpPr>
          <p:cNvPr id="633" name="Google Shape;633;g3d0b63cec61_0_89"/>
          <p:cNvSpPr/>
          <p:nvPr/>
        </p:nvSpPr>
        <p:spPr>
          <a:xfrm>
            <a:off x="0" y="0"/>
            <a:ext cx="164700" cy="51435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g3d0b63cec61_0_89"/>
          <p:cNvSpPr/>
          <p:nvPr/>
        </p:nvSpPr>
        <p:spPr>
          <a:xfrm>
            <a:off x="164592" y="0"/>
            <a:ext cx="8979300"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g3d0b63cec61_0_89"/>
          <p:cNvSpPr/>
          <p:nvPr/>
        </p:nvSpPr>
        <p:spPr>
          <a:xfrm>
            <a:off x="320040" y="137160"/>
            <a:ext cx="402300" cy="402300"/>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g3d0b63cec61_0_89"/>
          <p:cNvSpPr/>
          <p:nvPr/>
        </p:nvSpPr>
        <p:spPr>
          <a:xfrm>
            <a:off x="868680" y="91440"/>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lang="en-US" sz="2200">
                <a:solidFill>
                  <a:srgbClr val="23293A"/>
                </a:solidFill>
                <a:latin typeface="Calibri"/>
                <a:ea typeface="Calibri"/>
                <a:cs typeface="Calibri"/>
                <a:sym typeface="Calibri"/>
              </a:rPr>
              <a:t>Ecological Succession</a:t>
            </a:r>
            <a:endParaRPr b="0" i="0" sz="2200" u="none" cap="none" strike="noStrike">
              <a:solidFill>
                <a:schemeClr val="dk1"/>
              </a:solidFill>
              <a:latin typeface="Calibri"/>
              <a:ea typeface="Calibri"/>
              <a:cs typeface="Calibri"/>
              <a:sym typeface="Calibri"/>
            </a:endParaRPr>
          </a:p>
        </p:txBody>
      </p:sp>
      <p:sp>
        <p:nvSpPr>
          <p:cNvPr id="637" name="Google Shape;637;g3d0b63cec61_0_89"/>
          <p:cNvSpPr/>
          <p:nvPr/>
        </p:nvSpPr>
        <p:spPr>
          <a:xfrm>
            <a:off x="164592" y="685800"/>
            <a:ext cx="8979300" cy="36600"/>
          </a:xfrm>
          <a:prstGeom prst="rect">
            <a:avLst/>
          </a:prstGeom>
          <a:solidFill>
            <a:srgbClr val="4CAF8A">
              <a:alpha val="40000"/>
            </a:srgbClr>
          </a:solidFill>
          <a:ln cap="flat" cmpd="sng" w="12700">
            <a:solidFill>
              <a:srgbClr val="4CAF8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g3d0b63cec61_0_8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639" name="Google Shape;639;g3d0b63cec61_0_89"/>
          <p:cNvPicPr preferRelativeResize="0"/>
          <p:nvPr/>
        </p:nvPicPr>
        <p:blipFill>
          <a:blip r:embed="rId3">
            <a:alphaModFix/>
          </a:blip>
          <a:stretch>
            <a:fillRect/>
          </a:stretch>
        </p:blipFill>
        <p:spPr>
          <a:xfrm>
            <a:off x="82250" y="1948750"/>
            <a:ext cx="9144000" cy="2801099"/>
          </a:xfrm>
          <a:prstGeom prst="rect">
            <a:avLst/>
          </a:prstGeom>
          <a:noFill/>
          <a:ln>
            <a:noFill/>
          </a:ln>
        </p:spPr>
      </p:pic>
      <p:sp>
        <p:nvSpPr>
          <p:cNvPr id="640" name="Google Shape;640;g3d0b63cec61_0_89"/>
          <p:cNvSpPr/>
          <p:nvPr/>
        </p:nvSpPr>
        <p:spPr>
          <a:xfrm>
            <a:off x="457200" y="1188725"/>
            <a:ext cx="7019400" cy="292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latin typeface="Calibri"/>
                <a:ea typeface="Calibri"/>
                <a:cs typeface="Calibri"/>
                <a:sym typeface="Calibri"/>
              </a:rPr>
              <a:t>Ecological succession is the process by which natural communities replace (or “succeed”) one another over time. </a:t>
            </a:r>
            <a:endParaRPr b="1" sz="1800">
              <a:solidFill>
                <a:schemeClr val="dk1"/>
              </a:solidFill>
              <a:latin typeface="Calibri"/>
              <a:ea typeface="Calibri"/>
              <a:cs typeface="Calibri"/>
              <a:sym typeface="Calibri"/>
            </a:endParaRPr>
          </a:p>
          <a:p>
            <a:pPr indent="0" lvl="0" marL="0" marR="0" rtl="0" algn="l">
              <a:spcBef>
                <a:spcPts val="0"/>
              </a:spcBef>
              <a:spcAft>
                <a:spcPts val="0"/>
              </a:spcAft>
              <a:buClr>
                <a:srgbClr val="23293A"/>
              </a:buClr>
              <a:buSzPts val="1250"/>
              <a:buFont typeface="Calibri"/>
              <a:buNone/>
            </a:pPr>
            <a:r>
              <a:t/>
            </a:r>
            <a:endParaRPr b="1" sz="10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5" name="Shape 645"/>
        <p:cNvGrpSpPr/>
        <p:nvPr/>
      </p:nvGrpSpPr>
      <p:grpSpPr>
        <a:xfrm>
          <a:off x="0" y="0"/>
          <a:ext cx="0" cy="0"/>
          <a:chOff x="0" y="0"/>
          <a:chExt cx="0" cy="0"/>
        </a:xfrm>
      </p:grpSpPr>
      <p:sp>
        <p:nvSpPr>
          <p:cNvPr id="646" name="Google Shape;646;p23"/>
          <p:cNvSpPr/>
          <p:nvPr/>
        </p:nvSpPr>
        <p:spPr>
          <a:xfrm>
            <a:off x="0" y="0"/>
            <a:ext cx="164592"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3"/>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3"/>
          <p:cNvSpPr/>
          <p:nvPr/>
        </p:nvSpPr>
        <p:spPr>
          <a:xfrm>
            <a:off x="320040" y="137160"/>
            <a:ext cx="402336" cy="402336"/>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3"/>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Feedback Loops &amp; Equilibrium States</a:t>
            </a:r>
            <a:endParaRPr b="0" i="0" sz="2200" u="none" cap="none" strike="noStrike">
              <a:solidFill>
                <a:schemeClr val="dk1"/>
              </a:solidFill>
              <a:latin typeface="Calibri"/>
              <a:ea typeface="Calibri"/>
              <a:cs typeface="Calibri"/>
              <a:sym typeface="Calibri"/>
            </a:endParaRPr>
          </a:p>
        </p:txBody>
      </p:sp>
      <p:sp>
        <p:nvSpPr>
          <p:cNvPr id="650" name="Google Shape;650;p23"/>
          <p:cNvSpPr/>
          <p:nvPr/>
        </p:nvSpPr>
        <p:spPr>
          <a:xfrm>
            <a:off x="164592" y="685800"/>
            <a:ext cx="8979408" cy="36576"/>
          </a:xfrm>
          <a:prstGeom prst="rect">
            <a:avLst/>
          </a:prstGeom>
          <a:solidFill>
            <a:srgbClr val="D4756B">
              <a:alpha val="40000"/>
            </a:srgbClr>
          </a:solidFill>
          <a:ln cap="flat" cmpd="sng" w="12700">
            <a:solidFill>
              <a:srgbClr val="D4756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3"/>
          <p:cNvSpPr/>
          <p:nvPr/>
        </p:nvSpPr>
        <p:spPr>
          <a:xfrm>
            <a:off x="320040" y="777240"/>
            <a:ext cx="8503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300"/>
              <a:buFont typeface="Calibri"/>
              <a:buNone/>
            </a:pPr>
            <a:r>
              <a:rPr b="0" i="1" lang="en-US" sz="1300" u="none" cap="none" strike="noStrike">
                <a:solidFill>
                  <a:srgbClr val="8D99AE"/>
                </a:solidFill>
                <a:latin typeface="Calibri"/>
                <a:ea typeface="Calibri"/>
                <a:cs typeface="Calibri"/>
                <a:sym typeface="Calibri"/>
              </a:rPr>
              <a:t>Feedback loops — where a change in one part of a system loops back — are fundamental to ecological dynamics.</a:t>
            </a:r>
            <a:endParaRPr b="0" i="0" sz="1300" u="none" cap="none" strike="noStrike">
              <a:solidFill>
                <a:schemeClr val="dk1"/>
              </a:solidFill>
              <a:latin typeface="Calibri"/>
              <a:ea typeface="Calibri"/>
              <a:cs typeface="Calibri"/>
              <a:sym typeface="Calibri"/>
            </a:endParaRPr>
          </a:p>
        </p:txBody>
      </p:sp>
      <p:sp>
        <p:nvSpPr>
          <p:cNvPr id="652" name="Google Shape;652;p23"/>
          <p:cNvSpPr/>
          <p:nvPr/>
        </p:nvSpPr>
        <p:spPr>
          <a:xfrm>
            <a:off x="256032" y="1188720"/>
            <a:ext cx="2816352" cy="1828800"/>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3"/>
          <p:cNvSpPr/>
          <p:nvPr/>
        </p:nvSpPr>
        <p:spPr>
          <a:xfrm>
            <a:off x="256032" y="1188720"/>
            <a:ext cx="2816352"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3"/>
          <p:cNvSpPr/>
          <p:nvPr/>
        </p:nvSpPr>
        <p:spPr>
          <a:xfrm>
            <a:off x="365760" y="1216152"/>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Negative Feedback</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(stabilizing)</a:t>
            </a:r>
            <a:endParaRPr b="0" i="0" sz="1300" u="none" cap="none" strike="noStrike">
              <a:solidFill>
                <a:schemeClr val="dk1"/>
              </a:solidFill>
              <a:latin typeface="Calibri"/>
              <a:ea typeface="Calibri"/>
              <a:cs typeface="Calibri"/>
              <a:sym typeface="Calibri"/>
            </a:endParaRPr>
          </a:p>
        </p:txBody>
      </p:sp>
      <p:sp>
        <p:nvSpPr>
          <p:cNvPr id="655" name="Google Shape;655;p23"/>
          <p:cNvSpPr/>
          <p:nvPr/>
        </p:nvSpPr>
        <p:spPr>
          <a:xfrm>
            <a:off x="365760" y="1609344"/>
            <a:ext cx="2596896"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Counteracts change — pushes system back toward equilibrium.</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Example: more herbivores → less plant biomass → fewer herbivores.</a:t>
            </a:r>
            <a:endParaRPr b="0" i="0" sz="1200" u="none" cap="none" strike="noStrike">
              <a:solidFill>
                <a:schemeClr val="dk1"/>
              </a:solidFill>
              <a:latin typeface="Calibri"/>
              <a:ea typeface="Calibri"/>
              <a:cs typeface="Calibri"/>
              <a:sym typeface="Calibri"/>
            </a:endParaRPr>
          </a:p>
        </p:txBody>
      </p:sp>
      <p:sp>
        <p:nvSpPr>
          <p:cNvPr id="656" name="Google Shape;656;p23"/>
          <p:cNvSpPr/>
          <p:nvPr/>
        </p:nvSpPr>
        <p:spPr>
          <a:xfrm>
            <a:off x="3246120" y="1188720"/>
            <a:ext cx="2816352" cy="1828800"/>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3"/>
          <p:cNvSpPr/>
          <p:nvPr/>
        </p:nvSpPr>
        <p:spPr>
          <a:xfrm>
            <a:off x="3246120" y="1188720"/>
            <a:ext cx="2816352"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3"/>
          <p:cNvSpPr/>
          <p:nvPr/>
        </p:nvSpPr>
        <p:spPr>
          <a:xfrm>
            <a:off x="3355848" y="1216152"/>
            <a:ext cx="259689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Positive Feedback</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(amplifying)</a:t>
            </a:r>
            <a:endParaRPr b="0" i="0" sz="1300" u="none" cap="none" strike="noStrike">
              <a:solidFill>
                <a:schemeClr val="dk1"/>
              </a:solidFill>
              <a:latin typeface="Calibri"/>
              <a:ea typeface="Calibri"/>
              <a:cs typeface="Calibri"/>
              <a:sym typeface="Calibri"/>
            </a:endParaRPr>
          </a:p>
        </p:txBody>
      </p:sp>
      <p:sp>
        <p:nvSpPr>
          <p:cNvPr id="659" name="Google Shape;659;p23"/>
          <p:cNvSpPr/>
          <p:nvPr/>
        </p:nvSpPr>
        <p:spPr>
          <a:xfrm>
            <a:off x="3355848" y="1609344"/>
            <a:ext cx="2596896" cy="1298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Amplifies change — system moves further from original state.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Example: permafrost melts → CO₂ released → warming → more melt.</a:t>
            </a:r>
            <a:endParaRPr b="0" i="0" sz="1200" u="none" cap="none" strike="noStrike">
              <a:solidFill>
                <a:schemeClr val="dk1"/>
              </a:solidFill>
              <a:latin typeface="Calibri"/>
              <a:ea typeface="Calibri"/>
              <a:cs typeface="Calibri"/>
              <a:sym typeface="Calibri"/>
            </a:endParaRPr>
          </a:p>
        </p:txBody>
      </p:sp>
      <p:sp>
        <p:nvSpPr>
          <p:cNvPr id="660" name="Google Shape;660;p23"/>
          <p:cNvSpPr/>
          <p:nvPr/>
        </p:nvSpPr>
        <p:spPr>
          <a:xfrm>
            <a:off x="320040" y="3127248"/>
            <a:ext cx="8503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756B"/>
              </a:buClr>
              <a:buSzPts val="1400"/>
              <a:buFont typeface="Calibri"/>
              <a:buNone/>
            </a:pPr>
            <a:r>
              <a:rPr b="1" i="0" lang="en-US" sz="1400" u="none" cap="none" strike="noStrike">
                <a:solidFill>
                  <a:srgbClr val="D4756B"/>
                </a:solidFill>
                <a:latin typeface="Calibri"/>
                <a:ea typeface="Calibri"/>
                <a:cs typeface="Calibri"/>
                <a:sym typeface="Calibri"/>
              </a:rPr>
              <a:t>Disturbance &amp; Recovery</a:t>
            </a:r>
            <a:endParaRPr b="0" i="0" sz="1400" u="none" cap="none" strike="noStrike">
              <a:solidFill>
                <a:schemeClr val="dk1"/>
              </a:solidFill>
              <a:latin typeface="Calibri"/>
              <a:ea typeface="Calibri"/>
              <a:cs typeface="Calibri"/>
              <a:sym typeface="Calibri"/>
            </a:endParaRPr>
          </a:p>
        </p:txBody>
      </p:sp>
      <p:sp>
        <p:nvSpPr>
          <p:cNvPr id="661" name="Google Shape;661;p23"/>
          <p:cNvSpPr/>
          <p:nvPr/>
        </p:nvSpPr>
        <p:spPr>
          <a:xfrm>
            <a:off x="320040" y="3456432"/>
            <a:ext cx="85039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Natural disturbances (fires, floods, storms) maintain biodiversity and reset succession</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Resilience: ability to absorb disturbance and reorganise — determined by diversity, connectivity, redundancy</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Adaptive capacity: species and ecosystems can shift traits and ranges in response to sustained change</a:t>
            </a:r>
            <a:endParaRPr b="0" i="0" sz="12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100"/>
              <a:buFont typeface="Calibri"/>
              <a:buChar char="•"/>
            </a:pPr>
            <a:r>
              <a:rPr b="0" i="0" lang="en-US" sz="1100" u="none" cap="none" strike="noStrike">
                <a:solidFill>
                  <a:srgbClr val="8D99AE"/>
                </a:solidFill>
                <a:latin typeface="Calibri"/>
                <a:ea typeface="Calibri"/>
                <a:cs typeface="Calibri"/>
                <a:sym typeface="Calibri"/>
              </a:rPr>
              <a:t>Regime shifts: disturbance + feedback can push the system past a tipping point (e.g. clear lake → turbid)</a:t>
            </a:r>
            <a:endParaRPr b="0" i="0" sz="1250" u="none" cap="none" strike="noStrike">
              <a:solidFill>
                <a:schemeClr val="dk1"/>
              </a:solidFill>
              <a:latin typeface="Calibri"/>
              <a:ea typeface="Calibri"/>
              <a:cs typeface="Calibri"/>
              <a:sym typeface="Calibri"/>
            </a:endParaRPr>
          </a:p>
        </p:txBody>
      </p:sp>
      <p:sp>
        <p:nvSpPr>
          <p:cNvPr id="662" name="Google Shape;662;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7" name="Shape 667"/>
        <p:cNvGrpSpPr/>
        <p:nvPr/>
      </p:nvGrpSpPr>
      <p:grpSpPr>
        <a:xfrm>
          <a:off x="0" y="0"/>
          <a:ext cx="0" cy="0"/>
          <a:chOff x="0" y="0"/>
          <a:chExt cx="0" cy="0"/>
        </a:xfrm>
      </p:grpSpPr>
      <p:sp>
        <p:nvSpPr>
          <p:cNvPr id="668" name="Google Shape;668;g3d0b63cec61_0_134"/>
          <p:cNvSpPr/>
          <p:nvPr/>
        </p:nvSpPr>
        <p:spPr>
          <a:xfrm>
            <a:off x="0" y="0"/>
            <a:ext cx="164700" cy="5143500"/>
          </a:xfrm>
          <a:prstGeom prst="rect">
            <a:avLst/>
          </a:prstGeom>
          <a:solidFill>
            <a:srgbClr val="B4A7D6"/>
          </a:solidFill>
          <a:ln cap="flat" cmpd="sng" w="12700">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g3d0b63cec61_0_134"/>
          <p:cNvSpPr/>
          <p:nvPr/>
        </p:nvSpPr>
        <p:spPr>
          <a:xfrm>
            <a:off x="164592" y="0"/>
            <a:ext cx="8979300"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g3d0b63cec61_0_134"/>
          <p:cNvSpPr/>
          <p:nvPr/>
        </p:nvSpPr>
        <p:spPr>
          <a:xfrm>
            <a:off x="320040" y="137160"/>
            <a:ext cx="402300" cy="402300"/>
          </a:xfrm>
          <a:prstGeom prst="ellipse">
            <a:avLst/>
          </a:prstGeom>
          <a:solidFill>
            <a:srgbClr val="B4A7D6"/>
          </a:solidFill>
          <a:ln cap="flat" cmpd="sng" w="12700">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g3d0b63cec61_0_134"/>
          <p:cNvSpPr/>
          <p:nvPr/>
        </p:nvSpPr>
        <p:spPr>
          <a:xfrm>
            <a:off x="868680" y="91440"/>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Equilibrium States</a:t>
            </a:r>
            <a:endParaRPr b="0" i="0" sz="2200" u="none" cap="none" strike="noStrike">
              <a:solidFill>
                <a:schemeClr val="dk1"/>
              </a:solidFill>
              <a:latin typeface="Calibri"/>
              <a:ea typeface="Calibri"/>
              <a:cs typeface="Calibri"/>
              <a:sym typeface="Calibri"/>
            </a:endParaRPr>
          </a:p>
        </p:txBody>
      </p:sp>
      <p:sp>
        <p:nvSpPr>
          <p:cNvPr id="672" name="Google Shape;672;g3d0b63cec61_0_134"/>
          <p:cNvSpPr/>
          <p:nvPr/>
        </p:nvSpPr>
        <p:spPr>
          <a:xfrm>
            <a:off x="164592" y="685800"/>
            <a:ext cx="8979300" cy="36600"/>
          </a:xfrm>
          <a:prstGeom prst="rect">
            <a:avLst/>
          </a:prstGeom>
          <a:solidFill>
            <a:srgbClr val="B4A7D6"/>
          </a:solidFill>
          <a:ln cap="flat" cmpd="sng" w="12700">
            <a:solidFill>
              <a:srgbClr val="D9D2E9">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g3d0b63cec61_0_134"/>
          <p:cNvSpPr/>
          <p:nvPr/>
        </p:nvSpPr>
        <p:spPr>
          <a:xfrm>
            <a:off x="3279083" y="1047145"/>
            <a:ext cx="2816400" cy="1828800"/>
          </a:xfrm>
          <a:prstGeom prst="rect">
            <a:avLst/>
          </a:prstGeom>
          <a:solidFill>
            <a:srgbClr val="F0ECFA"/>
          </a:solidFill>
          <a:ln cap="flat" cmpd="sng" w="12700">
            <a:solidFill>
              <a:srgbClr val="7B68C8">
                <a:alpha val="40000"/>
              </a:srgbClr>
            </a:solidFill>
            <a:prstDash val="solid"/>
            <a:round/>
            <a:headEnd len="sm" w="sm" type="none"/>
            <a:tailEnd len="sm" w="sm" type="none"/>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g3d0b63cec61_0_134"/>
          <p:cNvSpPr/>
          <p:nvPr/>
        </p:nvSpPr>
        <p:spPr>
          <a:xfrm>
            <a:off x="3279083" y="1047145"/>
            <a:ext cx="2816400" cy="34740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g3d0b63cec61_0_134"/>
          <p:cNvSpPr/>
          <p:nvPr/>
        </p:nvSpPr>
        <p:spPr>
          <a:xfrm>
            <a:off x="3388811" y="1074577"/>
            <a:ext cx="2596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Equilibrium States</a:t>
            </a:r>
            <a:endParaRPr b="0" i="0" sz="1300" u="none" cap="none" strike="noStrike">
              <a:solidFill>
                <a:schemeClr val="dk1"/>
              </a:solidFill>
              <a:latin typeface="Calibri"/>
              <a:ea typeface="Calibri"/>
              <a:cs typeface="Calibri"/>
              <a:sym typeface="Calibri"/>
            </a:endParaRPr>
          </a:p>
        </p:txBody>
      </p:sp>
      <p:sp>
        <p:nvSpPr>
          <p:cNvPr id="676" name="Google Shape;676;g3d0b63cec61_0_134"/>
          <p:cNvSpPr/>
          <p:nvPr/>
        </p:nvSpPr>
        <p:spPr>
          <a:xfrm>
            <a:off x="3388811" y="1467769"/>
            <a:ext cx="2596800" cy="129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Ecosystems fluctuate around stable points. Multiple stable states are possible — tipping points lead to regime shifts.</a:t>
            </a:r>
            <a:endParaRPr b="0" i="0" sz="1200" u="none" cap="none" strike="noStrike">
              <a:solidFill>
                <a:schemeClr val="dk1"/>
              </a:solidFill>
              <a:latin typeface="Calibri"/>
              <a:ea typeface="Calibri"/>
              <a:cs typeface="Calibri"/>
              <a:sym typeface="Calibri"/>
            </a:endParaRPr>
          </a:p>
        </p:txBody>
      </p:sp>
      <p:sp>
        <p:nvSpPr>
          <p:cNvPr id="677" name="Google Shape;677;g3d0b63cec61_0_134"/>
          <p:cNvSpPr/>
          <p:nvPr/>
        </p:nvSpPr>
        <p:spPr>
          <a:xfrm>
            <a:off x="-2637085" y="2985673"/>
            <a:ext cx="8503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756B"/>
              </a:buClr>
              <a:buSzPts val="1400"/>
              <a:buFont typeface="Calibri"/>
              <a:buNone/>
            </a:pPr>
            <a:r>
              <a:rPr b="1" i="0" lang="en-US" sz="1400" u="none" cap="none" strike="noStrike">
                <a:solidFill>
                  <a:srgbClr val="D4756B"/>
                </a:solidFill>
                <a:latin typeface="Calibri"/>
                <a:ea typeface="Calibri"/>
                <a:cs typeface="Calibri"/>
                <a:sym typeface="Calibri"/>
              </a:rPr>
              <a:t>Disturbance &amp; Recovery</a:t>
            </a:r>
            <a:endParaRPr b="0" i="0" sz="1400" u="none" cap="none" strike="noStrike">
              <a:solidFill>
                <a:schemeClr val="dk1"/>
              </a:solidFill>
              <a:latin typeface="Calibri"/>
              <a:ea typeface="Calibri"/>
              <a:cs typeface="Calibri"/>
              <a:sym typeface="Calibri"/>
            </a:endParaRPr>
          </a:p>
        </p:txBody>
      </p:sp>
      <p:sp>
        <p:nvSpPr>
          <p:cNvPr id="678" name="Google Shape;678;g3d0b63cec61_0_134"/>
          <p:cNvSpPr/>
          <p:nvPr/>
        </p:nvSpPr>
        <p:spPr>
          <a:xfrm>
            <a:off x="320040" y="3456432"/>
            <a:ext cx="8503800" cy="12801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Natural disturbances (fires, floods, storms) maintain biodiversity and reset succession</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Resilience: ability to absorb disturbance and reorganise — determined by diversity, connectivity, redundancy</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Adaptive capacity: species and ecosystems can shift traits and ranges in response to sustained change</a:t>
            </a:r>
            <a:endParaRPr b="0" i="0" sz="1250" u="none" cap="none" strike="noStrike">
              <a:solidFill>
                <a:schemeClr val="dk1"/>
              </a:solidFill>
              <a:latin typeface="Calibri"/>
              <a:ea typeface="Calibri"/>
              <a:cs typeface="Calibri"/>
              <a:sym typeface="Calibri"/>
            </a:endParaRPr>
          </a:p>
          <a:p>
            <a:pPr indent="-342900" lvl="1" marL="685800" marR="0" rtl="0" algn="l">
              <a:spcBef>
                <a:spcPts val="0"/>
              </a:spcBef>
              <a:spcAft>
                <a:spcPts val="0"/>
              </a:spcAft>
              <a:buClr>
                <a:srgbClr val="8D99AE"/>
              </a:buClr>
              <a:buSzPts val="1100"/>
              <a:buFont typeface="Calibri"/>
              <a:buChar char="•"/>
            </a:pPr>
            <a:r>
              <a:rPr b="0" i="0" lang="en-US" sz="1100" u="none" cap="none" strike="noStrike">
                <a:solidFill>
                  <a:srgbClr val="8D99AE"/>
                </a:solidFill>
                <a:latin typeface="Calibri"/>
                <a:ea typeface="Calibri"/>
                <a:cs typeface="Calibri"/>
                <a:sym typeface="Calibri"/>
              </a:rPr>
              <a:t>Regime shifts: disturbance + feedback can push the system past a tipping point (e.g. clear lake → turbid)</a:t>
            </a:r>
            <a:endParaRPr b="0" i="0" sz="1250" u="none" cap="none" strike="noStrike">
              <a:solidFill>
                <a:schemeClr val="dk1"/>
              </a:solidFill>
              <a:latin typeface="Calibri"/>
              <a:ea typeface="Calibri"/>
              <a:cs typeface="Calibri"/>
              <a:sym typeface="Calibri"/>
            </a:endParaRPr>
          </a:p>
        </p:txBody>
      </p:sp>
      <p:sp>
        <p:nvSpPr>
          <p:cNvPr id="679" name="Google Shape;679;g3d0b63cec61_0_1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A84C"/>
        </a:solidFill>
      </p:bgPr>
    </p:bg>
    <p:spTree>
      <p:nvGrpSpPr>
        <p:cNvPr id="684" name="Shape 684"/>
        <p:cNvGrpSpPr/>
        <p:nvPr/>
      </p:nvGrpSpPr>
      <p:grpSpPr>
        <a:xfrm>
          <a:off x="0" y="0"/>
          <a:ext cx="0" cy="0"/>
          <a:chOff x="0" y="0"/>
          <a:chExt cx="0" cy="0"/>
        </a:xfrm>
      </p:grpSpPr>
      <p:sp>
        <p:nvSpPr>
          <p:cNvPr id="685" name="Google Shape;685;p24"/>
          <p:cNvSpPr/>
          <p:nvPr/>
        </p:nvSpPr>
        <p:spPr>
          <a:xfrm>
            <a:off x="6858000" y="-457200"/>
            <a:ext cx="3200400" cy="3200400"/>
          </a:xfrm>
          <a:prstGeom prst="ellipse">
            <a:avLst/>
          </a:prstGeom>
          <a:solidFill>
            <a:srgbClr val="FFFFFF">
              <a:alpha val="14901"/>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4"/>
          <p:cNvSpPr/>
          <p:nvPr/>
        </p:nvSpPr>
        <p:spPr>
          <a:xfrm>
            <a:off x="7772400" y="2743200"/>
            <a:ext cx="1828800" cy="182880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4"/>
          <p:cNvSpPr/>
          <p:nvPr/>
        </p:nvSpPr>
        <p:spPr>
          <a:xfrm>
            <a:off x="182880" y="3840480"/>
            <a:ext cx="1097280" cy="1097280"/>
          </a:xfrm>
          <a:prstGeom prst="ellipse">
            <a:avLst/>
          </a:prstGeom>
          <a:solidFill>
            <a:srgbClr val="FFFFFF">
              <a:alpha val="20000"/>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4"/>
          <p:cNvSpPr/>
          <p:nvPr/>
        </p:nvSpPr>
        <p:spPr>
          <a:xfrm>
            <a:off x="457200" y="640080"/>
            <a:ext cx="12801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5</a:t>
            </a:r>
            <a:endParaRPr b="0" i="0" sz="6400" u="none" cap="none" strike="noStrike">
              <a:solidFill>
                <a:schemeClr val="dk1"/>
              </a:solidFill>
              <a:latin typeface="Calibri"/>
              <a:ea typeface="Calibri"/>
              <a:cs typeface="Calibri"/>
              <a:sym typeface="Calibri"/>
            </a:endParaRPr>
          </a:p>
        </p:txBody>
      </p:sp>
      <p:sp>
        <p:nvSpPr>
          <p:cNvPr id="689" name="Google Shape;689;p24"/>
          <p:cNvSpPr/>
          <p:nvPr/>
        </p:nvSpPr>
        <p:spPr>
          <a:xfrm>
            <a:off x="457200" y="1920240"/>
            <a:ext cx="68580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Applications</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&amp; Challenges</a:t>
            </a:r>
            <a:endParaRPr b="0" i="0" sz="3600" u="none" cap="none" strike="noStrike">
              <a:solidFill>
                <a:schemeClr val="dk1"/>
              </a:solidFill>
              <a:latin typeface="Calibri"/>
              <a:ea typeface="Calibri"/>
              <a:cs typeface="Calibri"/>
              <a:sym typeface="Calibri"/>
            </a:endParaRPr>
          </a:p>
        </p:txBody>
      </p:sp>
      <p:sp>
        <p:nvSpPr>
          <p:cNvPr id="690" name="Google Shape;690;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5" name="Shape 695"/>
        <p:cNvGrpSpPr/>
        <p:nvPr/>
      </p:nvGrpSpPr>
      <p:grpSpPr>
        <a:xfrm>
          <a:off x="0" y="0"/>
          <a:ext cx="0" cy="0"/>
          <a:chOff x="0" y="0"/>
          <a:chExt cx="0" cy="0"/>
        </a:xfrm>
      </p:grpSpPr>
      <p:sp>
        <p:nvSpPr>
          <p:cNvPr id="696" name="Google Shape;696;p25"/>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5"/>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5"/>
          <p:cNvSpPr/>
          <p:nvPr/>
        </p:nvSpPr>
        <p:spPr>
          <a:xfrm>
            <a:off x="320040" y="137160"/>
            <a:ext cx="402336" cy="402336"/>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5"/>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Application to Real Ecosystems</a:t>
            </a:r>
            <a:endParaRPr b="0" i="0" sz="2200" u="none" cap="none" strike="noStrike">
              <a:solidFill>
                <a:schemeClr val="dk1"/>
              </a:solidFill>
              <a:latin typeface="Calibri"/>
              <a:ea typeface="Calibri"/>
              <a:cs typeface="Calibri"/>
              <a:sym typeface="Calibri"/>
            </a:endParaRPr>
          </a:p>
        </p:txBody>
      </p:sp>
      <p:sp>
        <p:nvSpPr>
          <p:cNvPr id="700" name="Google Shape;700;p25"/>
          <p:cNvSpPr/>
          <p:nvPr/>
        </p:nvSpPr>
        <p:spPr>
          <a:xfrm>
            <a:off x="164592" y="685800"/>
            <a:ext cx="8979408" cy="36576"/>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5"/>
          <p:cNvSpPr/>
          <p:nvPr/>
        </p:nvSpPr>
        <p:spPr>
          <a:xfrm>
            <a:off x="320040" y="804672"/>
            <a:ext cx="4160520" cy="1874520"/>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5"/>
          <p:cNvSpPr/>
          <p:nvPr/>
        </p:nvSpPr>
        <p:spPr>
          <a:xfrm>
            <a:off x="320040" y="804672"/>
            <a:ext cx="41605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5"/>
          <p:cNvSpPr/>
          <p:nvPr/>
        </p:nvSpPr>
        <p:spPr>
          <a:xfrm>
            <a:off x="42976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Marine / Coral Reefs</a:t>
            </a:r>
            <a:endParaRPr b="0" i="0" sz="1300" u="none" cap="none" strike="noStrike">
              <a:solidFill>
                <a:schemeClr val="dk1"/>
              </a:solidFill>
              <a:latin typeface="Calibri"/>
              <a:ea typeface="Calibri"/>
              <a:cs typeface="Calibri"/>
              <a:sym typeface="Calibri"/>
            </a:endParaRPr>
          </a:p>
        </p:txBody>
      </p:sp>
      <p:sp>
        <p:nvSpPr>
          <p:cNvPr id="704" name="Google Shape;704;p25"/>
          <p:cNvSpPr/>
          <p:nvPr/>
        </p:nvSpPr>
        <p:spPr>
          <a:xfrm>
            <a:off x="429768" y="1225296"/>
            <a:ext cx="3941064" cy="1344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Runoff raises nutrients → algal growth exceeds fish grazing capacity → algal dominance smothers coral. Great Barrier Reef is a documented case.</a:t>
            </a:r>
            <a:endParaRPr b="0" i="0" sz="1200" u="none" cap="none" strike="noStrike">
              <a:solidFill>
                <a:srgbClr val="2B2D42"/>
              </a:solidFill>
              <a:latin typeface="Calibri"/>
              <a:ea typeface="Calibri"/>
              <a:cs typeface="Calibri"/>
              <a:sym typeface="Calibri"/>
            </a:endParaRPr>
          </a:p>
          <a:p>
            <a:pPr indent="0" lvl="0" marL="0" marR="0" rtl="0" algn="l">
              <a:spcBef>
                <a:spcPts val="0"/>
              </a:spcBef>
              <a:spcAft>
                <a:spcPts val="0"/>
              </a:spcAft>
              <a:buClr>
                <a:srgbClr val="2B2D42"/>
              </a:buClr>
              <a:buSzPts val="1200"/>
              <a:buFont typeface="Calibri"/>
              <a:buNone/>
            </a:pPr>
            <a:r>
              <a:t/>
            </a:r>
            <a:endParaRPr sz="1200">
              <a:solidFill>
                <a:srgbClr val="2B2D42"/>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rgbClr val="212121"/>
                </a:solidFill>
                <a:latin typeface="Calibri"/>
                <a:ea typeface="Calibri"/>
                <a:cs typeface="Calibri"/>
                <a:sym typeface="Calibri"/>
              </a:rPr>
              <a:t>In coral reef ecosystems, carrying capacity manifests through complex relationships between coral species, fish populations, and nutrient levels. When nutrient levels increase due to agricultural runoff or sewage discharge, algae growth can exceed the grazing capacity of herbivorous fish, leading to algal dominance that smothers coral.</a:t>
            </a:r>
            <a:endParaRPr sz="1200">
              <a:solidFill>
                <a:srgbClr val="21212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rgbClr val="212121"/>
                </a:solidFill>
                <a:latin typeface="Calibri"/>
                <a:ea typeface="Calibri"/>
                <a:cs typeface="Calibri"/>
                <a:sym typeface="Calibri"/>
              </a:rPr>
              <a:t>The Great Barrier Reef demonstrates this dynamic, where areas affected by runoff from the Queensland coast show reduced biodiversity and ecosystem function compared to more pristine areas.</a:t>
            </a:r>
            <a:endParaRPr sz="1200">
              <a:solidFill>
                <a:srgbClr val="212121"/>
              </a:solidFill>
              <a:latin typeface="Calibri"/>
              <a:ea typeface="Calibri"/>
              <a:cs typeface="Calibri"/>
              <a:sym typeface="Calibri"/>
            </a:endParaRPr>
          </a:p>
          <a:p>
            <a:pPr indent="0" lvl="0" marL="0" marR="0" rtl="0" algn="l">
              <a:spcBef>
                <a:spcPts val="0"/>
              </a:spcBef>
              <a:spcAft>
                <a:spcPts val="0"/>
              </a:spcAft>
              <a:buClr>
                <a:srgbClr val="2B2D42"/>
              </a:buClr>
              <a:buSzPts val="1200"/>
              <a:buFont typeface="Calibri"/>
              <a:buNone/>
            </a:pPr>
            <a:r>
              <a:t/>
            </a:r>
            <a:endParaRPr sz="1200">
              <a:solidFill>
                <a:srgbClr val="2B2D42"/>
              </a:solidFill>
              <a:latin typeface="Calibri"/>
              <a:ea typeface="Calibri"/>
              <a:cs typeface="Calibri"/>
              <a:sym typeface="Calibri"/>
            </a:endParaRPr>
          </a:p>
        </p:txBody>
      </p:sp>
      <p:pic>
        <p:nvPicPr>
          <p:cNvPr id="705" name="Google Shape;705;p25"/>
          <p:cNvPicPr preferRelativeResize="0"/>
          <p:nvPr/>
        </p:nvPicPr>
        <p:blipFill>
          <a:blip r:embed="rId3">
            <a:alphaModFix/>
          </a:blip>
          <a:stretch>
            <a:fillRect/>
          </a:stretch>
        </p:blipFill>
        <p:spPr>
          <a:xfrm>
            <a:off x="210325" y="1975705"/>
            <a:ext cx="4160501" cy="3300169"/>
          </a:xfrm>
          <a:prstGeom prst="rect">
            <a:avLst/>
          </a:prstGeom>
          <a:noFill/>
          <a:ln>
            <a:noFill/>
          </a:ln>
        </p:spPr>
      </p:pic>
      <p:sp>
        <p:nvSpPr>
          <p:cNvPr id="706" name="Google Shape;706;p25"/>
          <p:cNvSpPr txBox="1"/>
          <p:nvPr/>
        </p:nvSpPr>
        <p:spPr>
          <a:xfrm>
            <a:off x="5709750" y="470915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solidFill>
                  <a:srgbClr val="222222"/>
                </a:solidFill>
                <a:highlight>
                  <a:srgbClr val="FFFFFF"/>
                </a:highlight>
              </a:rPr>
              <a:t>Lesser, M. P. (2004). Experimental biology of coral reef ecosystems. </a:t>
            </a:r>
            <a:r>
              <a:rPr i="1" lang="en-US" sz="1000">
                <a:solidFill>
                  <a:srgbClr val="222222"/>
                </a:solidFill>
                <a:highlight>
                  <a:srgbClr val="FFFFFF"/>
                </a:highlight>
              </a:rPr>
              <a:t>Journal of Experimental Marine Biology and Ecology</a:t>
            </a:r>
            <a:r>
              <a:rPr lang="en-US" sz="1000">
                <a:solidFill>
                  <a:srgbClr val="222222"/>
                </a:solidFill>
                <a:highlight>
                  <a:srgbClr val="FFFFFF"/>
                </a:highlight>
              </a:rPr>
              <a:t>, </a:t>
            </a:r>
            <a:r>
              <a:rPr i="1" lang="en-US" sz="1000">
                <a:solidFill>
                  <a:srgbClr val="222222"/>
                </a:solidFill>
                <a:highlight>
                  <a:srgbClr val="FFFFFF"/>
                </a:highlight>
              </a:rPr>
              <a:t>300</a:t>
            </a:r>
            <a:r>
              <a:rPr lang="en-US" sz="1000">
                <a:solidFill>
                  <a:srgbClr val="222222"/>
                </a:solidFill>
                <a:highlight>
                  <a:srgbClr val="FFFFFF"/>
                </a:highlight>
              </a:rPr>
              <a:t>(1-2), 217-252.</a:t>
            </a:r>
            <a:endParaRPr/>
          </a:p>
        </p:txBody>
      </p:sp>
      <p:pic>
        <p:nvPicPr>
          <p:cNvPr id="707" name="Google Shape;707;p25"/>
          <p:cNvPicPr preferRelativeResize="0"/>
          <p:nvPr/>
        </p:nvPicPr>
        <p:blipFill>
          <a:blip r:embed="rId4">
            <a:alphaModFix/>
          </a:blip>
          <a:stretch>
            <a:fillRect/>
          </a:stretch>
        </p:blipFill>
        <p:spPr>
          <a:xfrm>
            <a:off x="5709750" y="137150"/>
            <a:ext cx="2705100" cy="4572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2" name="Shape 712"/>
        <p:cNvGrpSpPr/>
        <p:nvPr/>
      </p:nvGrpSpPr>
      <p:grpSpPr>
        <a:xfrm>
          <a:off x="0" y="0"/>
          <a:ext cx="0" cy="0"/>
          <a:chOff x="0" y="0"/>
          <a:chExt cx="0" cy="0"/>
        </a:xfrm>
      </p:grpSpPr>
      <p:sp>
        <p:nvSpPr>
          <p:cNvPr id="713" name="Google Shape;713;g3d0b63cec61_0_159"/>
          <p:cNvSpPr/>
          <p:nvPr/>
        </p:nvSpPr>
        <p:spPr>
          <a:xfrm>
            <a:off x="0" y="0"/>
            <a:ext cx="164700"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g3d0b63cec61_0_159"/>
          <p:cNvSpPr/>
          <p:nvPr/>
        </p:nvSpPr>
        <p:spPr>
          <a:xfrm>
            <a:off x="164592" y="0"/>
            <a:ext cx="8979300"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g3d0b63cec61_0_159"/>
          <p:cNvSpPr/>
          <p:nvPr/>
        </p:nvSpPr>
        <p:spPr>
          <a:xfrm>
            <a:off x="320040" y="137160"/>
            <a:ext cx="402300" cy="40230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g3d0b63cec61_0_159"/>
          <p:cNvSpPr/>
          <p:nvPr/>
        </p:nvSpPr>
        <p:spPr>
          <a:xfrm>
            <a:off x="868680" y="91440"/>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Application to Real Ecosystems</a:t>
            </a:r>
            <a:endParaRPr b="0" i="0" sz="2200" u="none" cap="none" strike="noStrike">
              <a:solidFill>
                <a:schemeClr val="dk1"/>
              </a:solidFill>
              <a:latin typeface="Calibri"/>
              <a:ea typeface="Calibri"/>
              <a:cs typeface="Calibri"/>
              <a:sym typeface="Calibri"/>
            </a:endParaRPr>
          </a:p>
        </p:txBody>
      </p:sp>
      <p:sp>
        <p:nvSpPr>
          <p:cNvPr id="717" name="Google Shape;717;g3d0b63cec61_0_159"/>
          <p:cNvSpPr/>
          <p:nvPr/>
        </p:nvSpPr>
        <p:spPr>
          <a:xfrm>
            <a:off x="164592" y="685800"/>
            <a:ext cx="8979300" cy="36600"/>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g3d0b63cec61_0_159"/>
          <p:cNvSpPr/>
          <p:nvPr/>
        </p:nvSpPr>
        <p:spPr>
          <a:xfrm>
            <a:off x="320040" y="2816352"/>
            <a:ext cx="4160400" cy="1874400"/>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g3d0b63cec61_0_159"/>
          <p:cNvSpPr/>
          <p:nvPr/>
        </p:nvSpPr>
        <p:spPr>
          <a:xfrm>
            <a:off x="320040" y="2816352"/>
            <a:ext cx="4160400" cy="3474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g3d0b63cec61_0_159"/>
          <p:cNvSpPr/>
          <p:nvPr/>
        </p:nvSpPr>
        <p:spPr>
          <a:xfrm>
            <a:off x="429768" y="2843784"/>
            <a:ext cx="3941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Island Ecosystems</a:t>
            </a:r>
            <a:endParaRPr b="0" i="0" sz="1300" u="none" cap="none" strike="noStrike">
              <a:solidFill>
                <a:schemeClr val="dk1"/>
              </a:solidFill>
              <a:latin typeface="Calibri"/>
              <a:ea typeface="Calibri"/>
              <a:cs typeface="Calibri"/>
              <a:sym typeface="Calibri"/>
            </a:endParaRPr>
          </a:p>
        </p:txBody>
      </p:sp>
      <p:sp>
        <p:nvSpPr>
          <p:cNvPr id="721" name="Google Shape;721;g3d0b63cec61_0_159"/>
          <p:cNvSpPr/>
          <p:nvPr/>
        </p:nvSpPr>
        <p:spPr>
          <a:xfrm>
            <a:off x="429768" y="3236976"/>
            <a:ext cx="3941100" cy="134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Galápagos: introduced </a:t>
            </a:r>
            <a:r>
              <a:rPr b="0" i="0" lang="en-US" sz="1200" u="none" cap="none" strike="noStrike">
                <a:solidFill>
                  <a:srgbClr val="2B2D42"/>
                </a:solidFill>
                <a:latin typeface="Calibri"/>
                <a:ea typeface="Calibri"/>
                <a:cs typeface="Calibri"/>
                <a:sym typeface="Calibri"/>
              </a:rPr>
              <a:t>pigs, goats, and deer</a:t>
            </a:r>
            <a:r>
              <a:rPr b="0" i="0" lang="en-US" sz="1200" u="none" cap="none" strike="noStrike">
                <a:solidFill>
                  <a:srgbClr val="2B2D42"/>
                </a:solidFill>
                <a:latin typeface="Calibri"/>
                <a:ea typeface="Calibri"/>
                <a:cs typeface="Calibri"/>
                <a:sym typeface="Calibri"/>
              </a:rPr>
              <a:t> exceeded carrying capacity → erosion and native plant destruction. Active management required to restore balance.</a:t>
            </a:r>
            <a:endParaRPr b="0" i="0" sz="1200" u="none" cap="none" strike="noStrike">
              <a:solidFill>
                <a:schemeClr val="dk1"/>
              </a:solidFill>
              <a:latin typeface="Calibri"/>
              <a:ea typeface="Calibri"/>
              <a:cs typeface="Calibri"/>
              <a:sym typeface="Calibri"/>
            </a:endParaRPr>
          </a:p>
        </p:txBody>
      </p:sp>
      <p:sp>
        <p:nvSpPr>
          <p:cNvPr id="722" name="Google Shape;722;g3d0b63cec61_0_1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723" name="Google Shape;723;g3d0b63cec61_0_159"/>
          <p:cNvSpPr txBox="1"/>
          <p:nvPr/>
        </p:nvSpPr>
        <p:spPr>
          <a:xfrm>
            <a:off x="5363725" y="4158400"/>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solidFill>
                  <a:srgbClr val="222222"/>
                </a:solidFill>
                <a:highlight>
                  <a:srgbClr val="FFFFFF"/>
                </a:highlight>
              </a:rPr>
              <a:t>Snell, H. M., Stone, P. A., &amp; Snell, H. L. (1996). A summary of geographical characteristics of the Galapagos Islands. </a:t>
            </a:r>
            <a:r>
              <a:rPr i="1" lang="en-US" sz="1000">
                <a:solidFill>
                  <a:srgbClr val="222222"/>
                </a:solidFill>
                <a:highlight>
                  <a:srgbClr val="FFFFFF"/>
                </a:highlight>
              </a:rPr>
              <a:t>Journal of Biogeography</a:t>
            </a:r>
            <a:r>
              <a:rPr lang="en-US" sz="1000">
                <a:solidFill>
                  <a:srgbClr val="222222"/>
                </a:solidFill>
                <a:highlight>
                  <a:srgbClr val="FFFFFF"/>
                </a:highlight>
              </a:rPr>
              <a:t>, </a:t>
            </a:r>
            <a:r>
              <a:rPr i="1" lang="en-US" sz="1000">
                <a:solidFill>
                  <a:srgbClr val="222222"/>
                </a:solidFill>
                <a:highlight>
                  <a:srgbClr val="FFFFFF"/>
                </a:highlight>
              </a:rPr>
              <a:t>23</a:t>
            </a:r>
            <a:r>
              <a:rPr lang="en-US" sz="1000">
                <a:solidFill>
                  <a:srgbClr val="222222"/>
                </a:solidFill>
                <a:highlight>
                  <a:srgbClr val="FFFFFF"/>
                </a:highlight>
              </a:rPr>
              <a:t>(5), 619-624.</a:t>
            </a:r>
            <a:endParaRPr/>
          </a:p>
        </p:txBody>
      </p:sp>
      <p:pic>
        <p:nvPicPr>
          <p:cNvPr id="724" name="Google Shape;724;g3d0b63cec61_0_159"/>
          <p:cNvPicPr preferRelativeResize="0"/>
          <p:nvPr/>
        </p:nvPicPr>
        <p:blipFill>
          <a:blip r:embed="rId3">
            <a:alphaModFix/>
          </a:blip>
          <a:stretch>
            <a:fillRect/>
          </a:stretch>
        </p:blipFill>
        <p:spPr>
          <a:xfrm>
            <a:off x="317100" y="874800"/>
            <a:ext cx="2857500" cy="1600200"/>
          </a:xfrm>
          <a:prstGeom prst="rect">
            <a:avLst/>
          </a:prstGeom>
          <a:noFill/>
          <a:ln>
            <a:noFill/>
          </a:ln>
        </p:spPr>
      </p:pic>
      <p:pic>
        <p:nvPicPr>
          <p:cNvPr id="725" name="Google Shape;725;g3d0b63cec61_0_159"/>
          <p:cNvPicPr preferRelativeResize="0"/>
          <p:nvPr/>
        </p:nvPicPr>
        <p:blipFill>
          <a:blip r:embed="rId4">
            <a:alphaModFix/>
          </a:blip>
          <a:stretch>
            <a:fillRect/>
          </a:stretch>
        </p:blipFill>
        <p:spPr>
          <a:xfrm>
            <a:off x="3405947" y="737700"/>
            <a:ext cx="1405795" cy="1874400"/>
          </a:xfrm>
          <a:prstGeom prst="rect">
            <a:avLst/>
          </a:prstGeom>
          <a:noFill/>
          <a:ln>
            <a:noFill/>
          </a:ln>
        </p:spPr>
      </p:pic>
      <p:pic>
        <p:nvPicPr>
          <p:cNvPr id="726" name="Google Shape;726;g3d0b63cec61_0_159"/>
          <p:cNvPicPr preferRelativeResize="0"/>
          <p:nvPr/>
        </p:nvPicPr>
        <p:blipFill>
          <a:blip r:embed="rId5">
            <a:alphaModFix/>
          </a:blip>
          <a:stretch>
            <a:fillRect/>
          </a:stretch>
        </p:blipFill>
        <p:spPr>
          <a:xfrm>
            <a:off x="5797792" y="722400"/>
            <a:ext cx="2306663" cy="3131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1" name="Shape 731"/>
        <p:cNvGrpSpPr/>
        <p:nvPr/>
      </p:nvGrpSpPr>
      <p:grpSpPr>
        <a:xfrm>
          <a:off x="0" y="0"/>
          <a:ext cx="0" cy="0"/>
          <a:chOff x="0" y="0"/>
          <a:chExt cx="0" cy="0"/>
        </a:xfrm>
      </p:grpSpPr>
      <p:sp>
        <p:nvSpPr>
          <p:cNvPr id="732" name="Google Shape;732;g3d0b63cec61_0_211"/>
          <p:cNvSpPr/>
          <p:nvPr/>
        </p:nvSpPr>
        <p:spPr>
          <a:xfrm>
            <a:off x="0" y="0"/>
            <a:ext cx="164700"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g3d0b63cec61_0_211"/>
          <p:cNvSpPr/>
          <p:nvPr/>
        </p:nvSpPr>
        <p:spPr>
          <a:xfrm>
            <a:off x="164592" y="0"/>
            <a:ext cx="8979300"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g3d0b63cec61_0_211"/>
          <p:cNvSpPr/>
          <p:nvPr/>
        </p:nvSpPr>
        <p:spPr>
          <a:xfrm>
            <a:off x="320040" y="137160"/>
            <a:ext cx="402300" cy="40230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g3d0b63cec61_0_211"/>
          <p:cNvSpPr/>
          <p:nvPr/>
        </p:nvSpPr>
        <p:spPr>
          <a:xfrm>
            <a:off x="868680" y="91440"/>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Application to Real Ecosystems</a:t>
            </a:r>
            <a:endParaRPr b="0" i="0" sz="2200" u="none" cap="none" strike="noStrike">
              <a:solidFill>
                <a:schemeClr val="dk1"/>
              </a:solidFill>
              <a:latin typeface="Calibri"/>
              <a:ea typeface="Calibri"/>
              <a:cs typeface="Calibri"/>
              <a:sym typeface="Calibri"/>
            </a:endParaRPr>
          </a:p>
        </p:txBody>
      </p:sp>
      <p:sp>
        <p:nvSpPr>
          <p:cNvPr id="736" name="Google Shape;736;g3d0b63cec61_0_211"/>
          <p:cNvSpPr/>
          <p:nvPr/>
        </p:nvSpPr>
        <p:spPr>
          <a:xfrm>
            <a:off x="164592" y="685800"/>
            <a:ext cx="8979300" cy="36600"/>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g3d0b63cec61_0_211"/>
          <p:cNvSpPr/>
          <p:nvPr/>
        </p:nvSpPr>
        <p:spPr>
          <a:xfrm>
            <a:off x="4754880" y="804672"/>
            <a:ext cx="4160400" cy="1874400"/>
          </a:xfrm>
          <a:prstGeom prst="rect">
            <a:avLst/>
          </a:prstGeom>
          <a:solidFill>
            <a:srgbClr val="F7F3E8"/>
          </a:solidFill>
          <a:ln cap="flat" cmpd="sng" w="12700">
            <a:solidFill>
              <a:srgbClr val="C07A3A">
                <a:alpha val="40000"/>
              </a:srgbClr>
            </a:solidFill>
            <a:prstDash val="solid"/>
            <a:round/>
            <a:headEnd len="sm" w="sm" type="none"/>
            <a:tailEnd len="sm" w="sm" type="none"/>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g3d0b63cec61_0_211"/>
          <p:cNvSpPr/>
          <p:nvPr/>
        </p:nvSpPr>
        <p:spPr>
          <a:xfrm>
            <a:off x="4754880" y="804672"/>
            <a:ext cx="4160400" cy="347400"/>
          </a:xfrm>
          <a:prstGeom prst="rect">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g3d0b63cec61_0_211"/>
          <p:cNvSpPr/>
          <p:nvPr/>
        </p:nvSpPr>
        <p:spPr>
          <a:xfrm>
            <a:off x="4864608" y="832104"/>
            <a:ext cx="3941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African Savanna</a:t>
            </a:r>
            <a:endParaRPr b="0" i="0" sz="1300" u="none" cap="none" strike="noStrike">
              <a:solidFill>
                <a:schemeClr val="dk1"/>
              </a:solidFill>
              <a:latin typeface="Calibri"/>
              <a:ea typeface="Calibri"/>
              <a:cs typeface="Calibri"/>
              <a:sym typeface="Calibri"/>
            </a:endParaRPr>
          </a:p>
        </p:txBody>
      </p:sp>
      <p:sp>
        <p:nvSpPr>
          <p:cNvPr id="740" name="Google Shape;740;g3d0b63cec61_0_211"/>
          <p:cNvSpPr/>
          <p:nvPr/>
        </p:nvSpPr>
        <p:spPr>
          <a:xfrm>
            <a:off x="4864608" y="1225296"/>
            <a:ext cx="3941100" cy="134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Rainy season raises carrying capacity; dry season forces migration. Serengeti wildebeest follow rainfall — preventing overgrazing in any single location.</a:t>
            </a:r>
            <a:endParaRPr b="0" i="0" sz="1200" u="none" cap="none" strike="noStrike">
              <a:solidFill>
                <a:schemeClr val="dk1"/>
              </a:solidFill>
              <a:latin typeface="Calibri"/>
              <a:ea typeface="Calibri"/>
              <a:cs typeface="Calibri"/>
              <a:sym typeface="Calibri"/>
            </a:endParaRPr>
          </a:p>
        </p:txBody>
      </p:sp>
      <p:pic>
        <p:nvPicPr>
          <p:cNvPr id="741" name="Google Shape;741;g3d0b63cec61_0_211"/>
          <p:cNvPicPr preferRelativeResize="0"/>
          <p:nvPr/>
        </p:nvPicPr>
        <p:blipFill>
          <a:blip r:embed="rId3">
            <a:alphaModFix/>
          </a:blip>
          <a:stretch>
            <a:fillRect/>
          </a:stretch>
        </p:blipFill>
        <p:spPr>
          <a:xfrm>
            <a:off x="4692462" y="2761350"/>
            <a:ext cx="4285381" cy="2412199"/>
          </a:xfrm>
          <a:prstGeom prst="rect">
            <a:avLst/>
          </a:prstGeom>
          <a:noFill/>
          <a:ln>
            <a:noFill/>
          </a:ln>
        </p:spPr>
      </p:pic>
      <p:sp>
        <p:nvSpPr>
          <p:cNvPr id="742" name="Google Shape;742;g3d0b63cec61_0_211"/>
          <p:cNvSpPr txBox="1"/>
          <p:nvPr/>
        </p:nvSpPr>
        <p:spPr>
          <a:xfrm>
            <a:off x="519050" y="1022425"/>
            <a:ext cx="3000000" cy="291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200">
                <a:solidFill>
                  <a:srgbClr val="212121"/>
                </a:solidFill>
                <a:latin typeface="Calibri"/>
                <a:ea typeface="Calibri"/>
                <a:cs typeface="Calibri"/>
                <a:sym typeface="Calibri"/>
              </a:rPr>
              <a:t>Grassland Ecosystems</a:t>
            </a:r>
            <a:endParaRPr b="1" sz="1200">
              <a:solidFill>
                <a:srgbClr val="212121"/>
              </a:solidFill>
              <a:latin typeface="Calibri"/>
              <a:ea typeface="Calibri"/>
              <a:cs typeface="Calibri"/>
              <a:sym typeface="Calibri"/>
            </a:endParaRPr>
          </a:p>
          <a:p>
            <a:pPr indent="0" lvl="0" marL="0" rtl="0" algn="l">
              <a:lnSpc>
                <a:spcPct val="115000"/>
              </a:lnSpc>
              <a:spcBef>
                <a:spcPts val="0"/>
              </a:spcBef>
              <a:spcAft>
                <a:spcPts val="0"/>
              </a:spcAft>
              <a:buNone/>
            </a:pPr>
            <a:r>
              <a:rPr lang="en-US" sz="1200">
                <a:solidFill>
                  <a:srgbClr val="212121"/>
                </a:solidFill>
                <a:latin typeface="Calibri"/>
                <a:ea typeface="Calibri"/>
                <a:cs typeface="Calibri"/>
                <a:sym typeface="Calibri"/>
              </a:rPr>
              <a:t>The African savanna illustrates carrying capacity through the relationship between grazing animals and vegetation. During the rainy season, plant growth increases carrying capacity, supporting larger herbivore populations. In the dry season, reduced vegetation forces migration or population reduction.</a:t>
            </a:r>
            <a:endParaRPr sz="1200">
              <a:solidFill>
                <a:srgbClr val="212121"/>
              </a:solidFill>
              <a:latin typeface="Calibri"/>
              <a:ea typeface="Calibri"/>
              <a:cs typeface="Calibri"/>
              <a:sym typeface="Calibri"/>
            </a:endParaRPr>
          </a:p>
          <a:p>
            <a:pPr indent="0" lvl="0" marL="0" rtl="0" algn="l">
              <a:lnSpc>
                <a:spcPct val="115000"/>
              </a:lnSpc>
              <a:spcBef>
                <a:spcPts val="0"/>
              </a:spcBef>
              <a:spcAft>
                <a:spcPts val="0"/>
              </a:spcAft>
              <a:buNone/>
            </a:pPr>
            <a:r>
              <a:rPr lang="en-US" sz="1200">
                <a:solidFill>
                  <a:srgbClr val="212121"/>
                </a:solidFill>
                <a:latin typeface="Calibri"/>
                <a:ea typeface="Calibri"/>
                <a:cs typeface="Calibri"/>
                <a:sym typeface="Calibri"/>
              </a:rPr>
              <a:t>The Serengeti ecosystem maintains balance through seasonal migrations of wildebeest and zebra that follow rainfall patterns, preventing overgrazing in any single location.</a:t>
            </a:r>
            <a:endParaRPr sz="1200">
              <a:solidFill>
                <a:srgbClr val="21212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7" name="Shape 747"/>
        <p:cNvGrpSpPr/>
        <p:nvPr/>
      </p:nvGrpSpPr>
      <p:grpSpPr>
        <a:xfrm>
          <a:off x="0" y="0"/>
          <a:ext cx="0" cy="0"/>
          <a:chOff x="0" y="0"/>
          <a:chExt cx="0" cy="0"/>
        </a:xfrm>
      </p:grpSpPr>
      <p:sp>
        <p:nvSpPr>
          <p:cNvPr id="748" name="Google Shape;748;g3d0b63cec61_0_185"/>
          <p:cNvSpPr/>
          <p:nvPr/>
        </p:nvSpPr>
        <p:spPr>
          <a:xfrm>
            <a:off x="0" y="0"/>
            <a:ext cx="164700"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g3d0b63cec61_0_185"/>
          <p:cNvSpPr/>
          <p:nvPr/>
        </p:nvSpPr>
        <p:spPr>
          <a:xfrm>
            <a:off x="164592" y="0"/>
            <a:ext cx="8979300"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g3d0b63cec61_0_185"/>
          <p:cNvSpPr/>
          <p:nvPr/>
        </p:nvSpPr>
        <p:spPr>
          <a:xfrm>
            <a:off x="320040" y="137160"/>
            <a:ext cx="402300" cy="40230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g3d0b63cec61_0_185"/>
          <p:cNvSpPr/>
          <p:nvPr/>
        </p:nvSpPr>
        <p:spPr>
          <a:xfrm>
            <a:off x="868680" y="91440"/>
            <a:ext cx="8046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Application to Real Ecosystems</a:t>
            </a:r>
            <a:endParaRPr b="0" i="0" sz="2200" u="none" cap="none" strike="noStrike">
              <a:solidFill>
                <a:schemeClr val="dk1"/>
              </a:solidFill>
              <a:latin typeface="Calibri"/>
              <a:ea typeface="Calibri"/>
              <a:cs typeface="Calibri"/>
              <a:sym typeface="Calibri"/>
            </a:endParaRPr>
          </a:p>
        </p:txBody>
      </p:sp>
      <p:sp>
        <p:nvSpPr>
          <p:cNvPr id="752" name="Google Shape;752;g3d0b63cec61_0_185"/>
          <p:cNvSpPr/>
          <p:nvPr/>
        </p:nvSpPr>
        <p:spPr>
          <a:xfrm>
            <a:off x="164592" y="685800"/>
            <a:ext cx="8979300" cy="36600"/>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g3d0b63cec61_0_185"/>
          <p:cNvSpPr/>
          <p:nvPr/>
        </p:nvSpPr>
        <p:spPr>
          <a:xfrm>
            <a:off x="4754880" y="2816352"/>
            <a:ext cx="4160400" cy="1874400"/>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g3d0b63cec61_0_185"/>
          <p:cNvSpPr/>
          <p:nvPr/>
        </p:nvSpPr>
        <p:spPr>
          <a:xfrm>
            <a:off x="4754880" y="2816352"/>
            <a:ext cx="4160400" cy="3474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g3d0b63cec61_0_185"/>
          <p:cNvSpPr/>
          <p:nvPr/>
        </p:nvSpPr>
        <p:spPr>
          <a:xfrm>
            <a:off x="4864608" y="2843784"/>
            <a:ext cx="3941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Temperate Forests</a:t>
            </a:r>
            <a:endParaRPr b="0" i="0" sz="1300" u="none" cap="none" strike="noStrike">
              <a:solidFill>
                <a:schemeClr val="dk1"/>
              </a:solidFill>
              <a:latin typeface="Calibri"/>
              <a:ea typeface="Calibri"/>
              <a:cs typeface="Calibri"/>
              <a:sym typeface="Calibri"/>
            </a:endParaRPr>
          </a:p>
        </p:txBody>
      </p:sp>
      <p:sp>
        <p:nvSpPr>
          <p:cNvPr id="756" name="Google Shape;756;g3d0b63cec61_0_185"/>
          <p:cNvSpPr/>
          <p:nvPr/>
        </p:nvSpPr>
        <p:spPr>
          <a:xfrm>
            <a:off x="4864608" y="3236976"/>
            <a:ext cx="3941100" cy="134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Germany's Black Forest: deer exceed K without predators → seedling overgrazing prevents regeneration. Hunting quotas set using carrying-capacity models.</a:t>
            </a:r>
            <a:endParaRPr b="0" i="0" sz="1200" u="none" cap="none" strike="noStrike">
              <a:solidFill>
                <a:schemeClr val="dk1"/>
              </a:solidFill>
              <a:latin typeface="Calibri"/>
              <a:ea typeface="Calibri"/>
              <a:cs typeface="Calibri"/>
              <a:sym typeface="Calibri"/>
            </a:endParaRPr>
          </a:p>
        </p:txBody>
      </p:sp>
      <p:sp>
        <p:nvSpPr>
          <p:cNvPr id="757" name="Google Shape;757;g3d0b63cec61_0_18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758" name="Google Shape;758;g3d0b63cec61_0_185"/>
          <p:cNvPicPr preferRelativeResize="0"/>
          <p:nvPr/>
        </p:nvPicPr>
        <p:blipFill>
          <a:blip r:embed="rId3">
            <a:alphaModFix/>
          </a:blip>
          <a:stretch>
            <a:fillRect/>
          </a:stretch>
        </p:blipFill>
        <p:spPr>
          <a:xfrm>
            <a:off x="317100" y="874800"/>
            <a:ext cx="3090975" cy="4116298"/>
          </a:xfrm>
          <a:prstGeom prst="rect">
            <a:avLst/>
          </a:prstGeom>
          <a:noFill/>
          <a:ln>
            <a:noFill/>
          </a:ln>
        </p:spPr>
      </p:pic>
      <p:sp>
        <p:nvSpPr>
          <p:cNvPr id="759" name="Google Shape;759;g3d0b63cec61_0_185"/>
          <p:cNvSpPr txBox="1"/>
          <p:nvPr/>
        </p:nvSpPr>
        <p:spPr>
          <a:xfrm>
            <a:off x="6144000" y="594250"/>
            <a:ext cx="3000000" cy="237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300">
                <a:solidFill>
                  <a:srgbClr val="FFFFFF"/>
                </a:solidFill>
                <a:latin typeface="Calibri"/>
                <a:ea typeface="Calibri"/>
                <a:cs typeface="Calibri"/>
                <a:sym typeface="Calibri"/>
              </a:rPr>
              <a:t>I</a:t>
            </a:r>
            <a:r>
              <a:rPr lang="en-US" sz="1250">
                <a:solidFill>
                  <a:srgbClr val="383838"/>
                </a:solidFill>
                <a:latin typeface="Calibri"/>
                <a:ea typeface="Calibri"/>
                <a:cs typeface="Calibri"/>
                <a:sym typeface="Calibri"/>
              </a:rPr>
              <a:t>In temperate forests like Germany's Black Forest, carrying capacity for deer is actively managed through hunting quotas.</a:t>
            </a:r>
            <a:endParaRPr sz="1250">
              <a:solidFill>
                <a:srgbClr val="383838"/>
              </a:solidFill>
              <a:latin typeface="Calibri"/>
              <a:ea typeface="Calibri"/>
              <a:cs typeface="Calibri"/>
              <a:sym typeface="Calibri"/>
            </a:endParaRPr>
          </a:p>
          <a:p>
            <a:pPr indent="0" lvl="0" marL="0" rtl="0" algn="l">
              <a:lnSpc>
                <a:spcPct val="115000"/>
              </a:lnSpc>
              <a:spcBef>
                <a:spcPts val="0"/>
              </a:spcBef>
              <a:spcAft>
                <a:spcPts val="0"/>
              </a:spcAft>
              <a:buNone/>
            </a:pPr>
            <a:r>
              <a:rPr lang="en-US" sz="1250">
                <a:solidFill>
                  <a:srgbClr val="383838"/>
                </a:solidFill>
                <a:latin typeface="Calibri"/>
                <a:ea typeface="Calibri"/>
                <a:cs typeface="Calibri"/>
                <a:sym typeface="Calibri"/>
              </a:rPr>
              <a:t>Without natural predators, deer populations can exceed carrying capacity, resulting in overgrazing of seedlings that prevents forest regeneration. Forestry management considers both timber production and wildlife populations to maintain ecosystem health.</a:t>
            </a:r>
            <a:endParaRPr sz="1250">
              <a:solidFill>
                <a:srgbClr val="383838"/>
              </a:solidFill>
              <a:latin typeface="Calibri"/>
              <a:ea typeface="Calibri"/>
              <a:cs typeface="Calibri"/>
              <a:sym typeface="Calibri"/>
            </a:endParaRPr>
          </a:p>
        </p:txBody>
      </p:sp>
      <p:pic>
        <p:nvPicPr>
          <p:cNvPr id="760" name="Google Shape;760;g3d0b63cec61_0_185"/>
          <p:cNvPicPr preferRelativeResize="0"/>
          <p:nvPr/>
        </p:nvPicPr>
        <p:blipFill>
          <a:blip r:embed="rId4">
            <a:alphaModFix/>
          </a:blip>
          <a:stretch>
            <a:fillRect/>
          </a:stretch>
        </p:blipFill>
        <p:spPr>
          <a:xfrm>
            <a:off x="3370080" y="886825"/>
            <a:ext cx="2568330" cy="172848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5" name="Shape 765"/>
        <p:cNvGrpSpPr/>
        <p:nvPr/>
      </p:nvGrpSpPr>
      <p:grpSpPr>
        <a:xfrm>
          <a:off x="0" y="0"/>
          <a:ext cx="0" cy="0"/>
          <a:chOff x="0" y="0"/>
          <a:chExt cx="0" cy="0"/>
        </a:xfrm>
      </p:grpSpPr>
      <p:sp>
        <p:nvSpPr>
          <p:cNvPr id="766" name="Google Shape;766;p26"/>
          <p:cNvSpPr/>
          <p:nvPr/>
        </p:nvSpPr>
        <p:spPr>
          <a:xfrm>
            <a:off x="0" y="0"/>
            <a:ext cx="122100"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6"/>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6"/>
          <p:cNvSpPr/>
          <p:nvPr/>
        </p:nvSpPr>
        <p:spPr>
          <a:xfrm>
            <a:off x="320040" y="137160"/>
            <a:ext cx="402336" cy="402336"/>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6"/>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Challenges in Ecological Modeling</a:t>
            </a:r>
            <a:endParaRPr b="0" i="0" sz="2200" u="none" cap="none" strike="noStrike">
              <a:solidFill>
                <a:schemeClr val="dk1"/>
              </a:solidFill>
              <a:latin typeface="Calibri"/>
              <a:ea typeface="Calibri"/>
              <a:cs typeface="Calibri"/>
              <a:sym typeface="Calibri"/>
            </a:endParaRPr>
          </a:p>
        </p:txBody>
      </p:sp>
      <p:sp>
        <p:nvSpPr>
          <p:cNvPr id="770" name="Google Shape;770;p26"/>
          <p:cNvSpPr/>
          <p:nvPr/>
        </p:nvSpPr>
        <p:spPr>
          <a:xfrm>
            <a:off x="164592" y="685800"/>
            <a:ext cx="8979408" cy="36576"/>
          </a:xfrm>
          <a:prstGeom prst="rect">
            <a:avLst/>
          </a:prstGeom>
          <a:solidFill>
            <a:srgbClr val="D4756B">
              <a:alpha val="40000"/>
            </a:srgbClr>
          </a:solidFill>
          <a:ln cap="flat" cmpd="sng" w="12700">
            <a:solidFill>
              <a:srgbClr val="D4756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6"/>
          <p:cNvSpPr/>
          <p:nvPr/>
        </p:nvSpPr>
        <p:spPr>
          <a:xfrm>
            <a:off x="237625" y="832104"/>
            <a:ext cx="373500" cy="502800"/>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6"/>
          <p:cNvSpPr/>
          <p:nvPr/>
        </p:nvSpPr>
        <p:spPr>
          <a:xfrm>
            <a:off x="237625" y="832104"/>
            <a:ext cx="3735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773" name="Google Shape;773;p26"/>
          <p:cNvSpPr/>
          <p:nvPr/>
        </p:nvSpPr>
        <p:spPr>
          <a:xfrm>
            <a:off x="712874" y="841248"/>
            <a:ext cx="5804700" cy="502800"/>
          </a:xfrm>
          <a:prstGeom prst="rect">
            <a:avLst/>
          </a:prstGeom>
          <a:solidFill>
            <a:srgbClr val="F8F9FA"/>
          </a:solidFill>
          <a:ln cap="flat" cmpd="sng" w="12700">
            <a:solidFill>
              <a:srgbClr val="D4756B">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6"/>
          <p:cNvSpPr/>
          <p:nvPr/>
        </p:nvSpPr>
        <p:spPr>
          <a:xfrm>
            <a:off x="712874" y="841248"/>
            <a:ext cx="40800" cy="5028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6"/>
          <p:cNvSpPr/>
          <p:nvPr/>
        </p:nvSpPr>
        <p:spPr>
          <a:xfrm>
            <a:off x="828291" y="868680"/>
            <a:ext cx="1357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756B"/>
              </a:buClr>
              <a:buSzPts val="1300"/>
              <a:buFont typeface="Calibri"/>
              <a:buNone/>
            </a:pPr>
            <a:r>
              <a:rPr b="1" i="0" lang="en-US" sz="1300" u="none" cap="none" strike="noStrike">
                <a:solidFill>
                  <a:srgbClr val="D4756B"/>
                </a:solidFill>
                <a:latin typeface="Calibri"/>
                <a:ea typeface="Calibri"/>
                <a:cs typeface="Calibri"/>
                <a:sym typeface="Calibri"/>
              </a:rPr>
              <a:t>Data Limitations</a:t>
            </a:r>
            <a:endParaRPr b="0" i="0" sz="1300" u="none" cap="none" strike="noStrike">
              <a:solidFill>
                <a:schemeClr val="dk1"/>
              </a:solidFill>
              <a:latin typeface="Calibri"/>
              <a:ea typeface="Calibri"/>
              <a:cs typeface="Calibri"/>
              <a:sym typeface="Calibri"/>
            </a:endParaRPr>
          </a:p>
        </p:txBody>
      </p:sp>
      <p:sp>
        <p:nvSpPr>
          <p:cNvPr id="776" name="Google Shape;776;p26"/>
          <p:cNvSpPr/>
          <p:nvPr/>
        </p:nvSpPr>
        <p:spPr>
          <a:xfrm>
            <a:off x="2274406" y="868680"/>
            <a:ext cx="4141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Field data are often sparse, incomplete, or biased. Long time series are rare. Missing data must be handled carefully.</a:t>
            </a:r>
            <a:endParaRPr b="0" i="0" sz="1250" u="none" cap="none" strike="noStrike">
              <a:solidFill>
                <a:schemeClr val="dk1"/>
              </a:solidFill>
              <a:latin typeface="Calibri"/>
              <a:ea typeface="Calibri"/>
              <a:cs typeface="Calibri"/>
              <a:sym typeface="Calibri"/>
            </a:endParaRPr>
          </a:p>
        </p:txBody>
      </p:sp>
      <p:sp>
        <p:nvSpPr>
          <p:cNvPr id="777" name="Google Shape;777;p26"/>
          <p:cNvSpPr/>
          <p:nvPr/>
        </p:nvSpPr>
        <p:spPr>
          <a:xfrm>
            <a:off x="237625" y="1609344"/>
            <a:ext cx="373500" cy="50280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6"/>
          <p:cNvSpPr/>
          <p:nvPr/>
        </p:nvSpPr>
        <p:spPr>
          <a:xfrm>
            <a:off x="237625" y="1609344"/>
            <a:ext cx="3735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779" name="Google Shape;779;p26"/>
          <p:cNvSpPr/>
          <p:nvPr/>
        </p:nvSpPr>
        <p:spPr>
          <a:xfrm>
            <a:off x="712874" y="1618488"/>
            <a:ext cx="5804700" cy="502800"/>
          </a:xfrm>
          <a:prstGeom prst="rect">
            <a:avLst/>
          </a:prstGeom>
          <a:solidFill>
            <a:srgbClr val="F8F9FA"/>
          </a:solidFill>
          <a:ln cap="flat" cmpd="sng" w="12700">
            <a:solidFill>
              <a:srgbClr val="4A9DB5">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6"/>
          <p:cNvSpPr/>
          <p:nvPr/>
        </p:nvSpPr>
        <p:spPr>
          <a:xfrm>
            <a:off x="712874" y="1618488"/>
            <a:ext cx="40800" cy="5028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6"/>
          <p:cNvSpPr/>
          <p:nvPr/>
        </p:nvSpPr>
        <p:spPr>
          <a:xfrm>
            <a:off x="828291" y="1645920"/>
            <a:ext cx="1357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DB5"/>
              </a:buClr>
              <a:buSzPts val="1300"/>
              <a:buFont typeface="Calibri"/>
              <a:buNone/>
            </a:pPr>
            <a:r>
              <a:rPr b="1" i="0" lang="en-US" sz="1300" u="none" cap="none" strike="noStrike">
                <a:solidFill>
                  <a:srgbClr val="4A9DB5"/>
                </a:solidFill>
                <a:latin typeface="Calibri"/>
                <a:ea typeface="Calibri"/>
                <a:cs typeface="Calibri"/>
                <a:sym typeface="Calibri"/>
              </a:rPr>
              <a:t>Scale Mismatches</a:t>
            </a:r>
            <a:endParaRPr b="0" i="0" sz="1300" u="none" cap="none" strike="noStrike">
              <a:solidFill>
                <a:schemeClr val="dk1"/>
              </a:solidFill>
              <a:latin typeface="Calibri"/>
              <a:ea typeface="Calibri"/>
              <a:cs typeface="Calibri"/>
              <a:sym typeface="Calibri"/>
            </a:endParaRPr>
          </a:p>
        </p:txBody>
      </p:sp>
      <p:sp>
        <p:nvSpPr>
          <p:cNvPr id="782" name="Google Shape;782;p26"/>
          <p:cNvSpPr/>
          <p:nvPr/>
        </p:nvSpPr>
        <p:spPr>
          <a:xfrm>
            <a:off x="2274406" y="1645920"/>
            <a:ext cx="4141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Data collected at one scale must inform models at another. Mismatch between data resolution, model resolution, and management needs is pervasive.</a:t>
            </a:r>
            <a:endParaRPr b="0" i="0" sz="1250" u="none" cap="none" strike="noStrike">
              <a:solidFill>
                <a:schemeClr val="dk1"/>
              </a:solidFill>
              <a:latin typeface="Calibri"/>
              <a:ea typeface="Calibri"/>
              <a:cs typeface="Calibri"/>
              <a:sym typeface="Calibri"/>
            </a:endParaRPr>
          </a:p>
        </p:txBody>
      </p:sp>
      <p:sp>
        <p:nvSpPr>
          <p:cNvPr id="783" name="Google Shape;783;p26"/>
          <p:cNvSpPr/>
          <p:nvPr/>
        </p:nvSpPr>
        <p:spPr>
          <a:xfrm>
            <a:off x="237625" y="2386584"/>
            <a:ext cx="373500" cy="502800"/>
          </a:xfrm>
          <a:prstGeom prst="ellipse">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6"/>
          <p:cNvSpPr/>
          <p:nvPr/>
        </p:nvSpPr>
        <p:spPr>
          <a:xfrm>
            <a:off x="237625" y="2386584"/>
            <a:ext cx="3735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785" name="Google Shape;785;p26"/>
          <p:cNvSpPr/>
          <p:nvPr/>
        </p:nvSpPr>
        <p:spPr>
          <a:xfrm>
            <a:off x="712874" y="2395728"/>
            <a:ext cx="5804700" cy="502800"/>
          </a:xfrm>
          <a:prstGeom prst="rect">
            <a:avLst/>
          </a:prstGeom>
          <a:solidFill>
            <a:srgbClr val="F8F9FA"/>
          </a:solidFill>
          <a:ln cap="flat" cmpd="sng" w="12700">
            <a:solidFill>
              <a:srgbClr val="7B68C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6"/>
          <p:cNvSpPr/>
          <p:nvPr/>
        </p:nvSpPr>
        <p:spPr>
          <a:xfrm>
            <a:off x="712874" y="2395728"/>
            <a:ext cx="40800" cy="50280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6"/>
          <p:cNvSpPr/>
          <p:nvPr/>
        </p:nvSpPr>
        <p:spPr>
          <a:xfrm>
            <a:off x="828291" y="2423160"/>
            <a:ext cx="1357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68C8"/>
              </a:buClr>
              <a:buSzPts val="1300"/>
              <a:buFont typeface="Calibri"/>
              <a:buNone/>
            </a:pPr>
            <a:r>
              <a:rPr b="1" i="0" lang="en-US" sz="1300" u="none" cap="none" strike="noStrike">
                <a:solidFill>
                  <a:srgbClr val="7B68C8"/>
                </a:solidFill>
                <a:latin typeface="Calibri"/>
                <a:ea typeface="Calibri"/>
                <a:cs typeface="Calibri"/>
                <a:sym typeface="Calibri"/>
              </a:rPr>
              <a:t>Emergent Properties</a:t>
            </a:r>
            <a:endParaRPr b="0" i="0" sz="1300" u="none" cap="none" strike="noStrike">
              <a:solidFill>
                <a:schemeClr val="dk1"/>
              </a:solidFill>
              <a:latin typeface="Calibri"/>
              <a:ea typeface="Calibri"/>
              <a:cs typeface="Calibri"/>
              <a:sym typeface="Calibri"/>
            </a:endParaRPr>
          </a:p>
        </p:txBody>
      </p:sp>
      <p:sp>
        <p:nvSpPr>
          <p:cNvPr id="788" name="Google Shape;788;p26"/>
          <p:cNvSpPr/>
          <p:nvPr/>
        </p:nvSpPr>
        <p:spPr>
          <a:xfrm>
            <a:off x="2274406" y="2423160"/>
            <a:ext cx="4141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Complex behaviours arise from simple rules in ways that are difficult to anticipate. Agent-based models can capture emergence at high computational cost.</a:t>
            </a:r>
            <a:endParaRPr b="0" i="0" sz="1250" u="none" cap="none" strike="noStrike">
              <a:solidFill>
                <a:schemeClr val="dk1"/>
              </a:solidFill>
              <a:latin typeface="Calibri"/>
              <a:ea typeface="Calibri"/>
              <a:cs typeface="Calibri"/>
              <a:sym typeface="Calibri"/>
            </a:endParaRPr>
          </a:p>
        </p:txBody>
      </p:sp>
      <p:sp>
        <p:nvSpPr>
          <p:cNvPr id="789" name="Google Shape;789;p26"/>
          <p:cNvSpPr/>
          <p:nvPr/>
        </p:nvSpPr>
        <p:spPr>
          <a:xfrm>
            <a:off x="237625" y="3163824"/>
            <a:ext cx="373500" cy="502800"/>
          </a:xfrm>
          <a:prstGeom prst="ellipse">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6"/>
          <p:cNvSpPr/>
          <p:nvPr/>
        </p:nvSpPr>
        <p:spPr>
          <a:xfrm>
            <a:off x="237625" y="3163824"/>
            <a:ext cx="3735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791" name="Google Shape;791;p26"/>
          <p:cNvSpPr/>
          <p:nvPr/>
        </p:nvSpPr>
        <p:spPr>
          <a:xfrm>
            <a:off x="712874" y="3172968"/>
            <a:ext cx="5804700" cy="502800"/>
          </a:xfrm>
          <a:prstGeom prst="rect">
            <a:avLst/>
          </a:prstGeom>
          <a:solidFill>
            <a:srgbClr val="F8F9FA"/>
          </a:solidFill>
          <a:ln cap="flat" cmpd="sng" w="12700">
            <a:solidFill>
              <a:srgbClr val="4CAF8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6"/>
          <p:cNvSpPr/>
          <p:nvPr/>
        </p:nvSpPr>
        <p:spPr>
          <a:xfrm>
            <a:off x="712874" y="3172968"/>
            <a:ext cx="40800" cy="5028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6"/>
          <p:cNvSpPr/>
          <p:nvPr/>
        </p:nvSpPr>
        <p:spPr>
          <a:xfrm>
            <a:off x="828291" y="3200400"/>
            <a:ext cx="1357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8A"/>
              </a:buClr>
              <a:buSzPts val="1300"/>
              <a:buFont typeface="Calibri"/>
              <a:buNone/>
            </a:pPr>
            <a:r>
              <a:rPr b="1" i="0" lang="en-US" sz="1300" u="none" cap="none" strike="noStrike">
                <a:solidFill>
                  <a:srgbClr val="4CAF8A"/>
                </a:solidFill>
                <a:latin typeface="Calibri"/>
                <a:ea typeface="Calibri"/>
                <a:cs typeface="Calibri"/>
                <a:sym typeface="Calibri"/>
              </a:rPr>
              <a:t>Computational Constraints</a:t>
            </a:r>
            <a:endParaRPr b="0" i="0" sz="1300" u="none" cap="none" strike="noStrike">
              <a:solidFill>
                <a:schemeClr val="dk1"/>
              </a:solidFill>
              <a:latin typeface="Calibri"/>
              <a:ea typeface="Calibri"/>
              <a:cs typeface="Calibri"/>
              <a:sym typeface="Calibri"/>
            </a:endParaRPr>
          </a:p>
        </p:txBody>
      </p:sp>
      <p:sp>
        <p:nvSpPr>
          <p:cNvPr id="794" name="Google Shape;794;p26"/>
          <p:cNvSpPr/>
          <p:nvPr/>
        </p:nvSpPr>
        <p:spPr>
          <a:xfrm>
            <a:off x="2274406" y="3200400"/>
            <a:ext cx="4141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High-dimensional parameter spaces, long simulation times, and stochastic models requiring many replicates create practical limits on model complexity.</a:t>
            </a:r>
            <a:endParaRPr b="0" i="0" sz="1250" u="none" cap="none" strike="noStrike">
              <a:solidFill>
                <a:schemeClr val="dk1"/>
              </a:solidFill>
              <a:latin typeface="Calibri"/>
              <a:ea typeface="Calibri"/>
              <a:cs typeface="Calibri"/>
              <a:sym typeface="Calibri"/>
            </a:endParaRPr>
          </a:p>
        </p:txBody>
      </p:sp>
      <p:sp>
        <p:nvSpPr>
          <p:cNvPr id="795" name="Google Shape;795;p26"/>
          <p:cNvSpPr/>
          <p:nvPr/>
        </p:nvSpPr>
        <p:spPr>
          <a:xfrm>
            <a:off x="237625" y="3941064"/>
            <a:ext cx="373500" cy="502800"/>
          </a:xfrm>
          <a:prstGeom prst="ellipse">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6"/>
          <p:cNvSpPr/>
          <p:nvPr/>
        </p:nvSpPr>
        <p:spPr>
          <a:xfrm>
            <a:off x="237625" y="3941064"/>
            <a:ext cx="3735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797" name="Google Shape;797;p26"/>
          <p:cNvSpPr/>
          <p:nvPr/>
        </p:nvSpPr>
        <p:spPr>
          <a:xfrm>
            <a:off x="712874" y="3950208"/>
            <a:ext cx="5804700" cy="502800"/>
          </a:xfrm>
          <a:prstGeom prst="rect">
            <a:avLst/>
          </a:prstGeom>
          <a:solidFill>
            <a:srgbClr val="F8F9FA"/>
          </a:solidFill>
          <a:ln cap="flat" cmpd="sng" w="12700">
            <a:solidFill>
              <a:srgbClr val="C07A3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6"/>
          <p:cNvSpPr/>
          <p:nvPr/>
        </p:nvSpPr>
        <p:spPr>
          <a:xfrm>
            <a:off x="712874" y="3950208"/>
            <a:ext cx="40800" cy="502800"/>
          </a:xfrm>
          <a:prstGeom prst="rect">
            <a:avLst/>
          </a:prstGeom>
          <a:solidFill>
            <a:srgbClr val="C07A3A"/>
          </a:solidFill>
          <a:ln cap="flat" cmpd="sng" w="12700">
            <a:solidFill>
              <a:srgbClr val="C07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6"/>
          <p:cNvSpPr/>
          <p:nvPr/>
        </p:nvSpPr>
        <p:spPr>
          <a:xfrm>
            <a:off x="828291" y="3977640"/>
            <a:ext cx="1357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7A3A"/>
              </a:buClr>
              <a:buSzPts val="1300"/>
              <a:buFont typeface="Calibri"/>
              <a:buNone/>
            </a:pPr>
            <a:r>
              <a:rPr b="1" i="0" lang="en-US" sz="1300" u="none" cap="none" strike="noStrike">
                <a:solidFill>
                  <a:srgbClr val="C07A3A"/>
                </a:solidFill>
                <a:latin typeface="Calibri"/>
                <a:ea typeface="Calibri"/>
                <a:cs typeface="Calibri"/>
                <a:sym typeface="Calibri"/>
              </a:rPr>
              <a:t>Parameter Uncertainty</a:t>
            </a:r>
            <a:endParaRPr b="0" i="0" sz="1300" u="none" cap="none" strike="noStrike">
              <a:solidFill>
                <a:schemeClr val="dk1"/>
              </a:solidFill>
              <a:latin typeface="Calibri"/>
              <a:ea typeface="Calibri"/>
              <a:cs typeface="Calibri"/>
              <a:sym typeface="Calibri"/>
            </a:endParaRPr>
          </a:p>
        </p:txBody>
      </p:sp>
      <p:sp>
        <p:nvSpPr>
          <p:cNvPr id="800" name="Google Shape;800;p26"/>
          <p:cNvSpPr/>
          <p:nvPr/>
        </p:nvSpPr>
        <p:spPr>
          <a:xfrm>
            <a:off x="2274406" y="3977640"/>
            <a:ext cx="4141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Ecological parameters vary in space, time, and across individuals. Sensitivity analysis and Bayesian approaches can quantify and propagate uncertainty.</a:t>
            </a:r>
            <a:endParaRPr b="0" i="0" sz="1250" u="none" cap="none" strike="noStrike">
              <a:solidFill>
                <a:schemeClr val="dk1"/>
              </a:solidFill>
              <a:latin typeface="Calibri"/>
              <a:ea typeface="Calibri"/>
              <a:cs typeface="Calibri"/>
              <a:sym typeface="Calibri"/>
            </a:endParaRPr>
          </a:p>
        </p:txBody>
      </p:sp>
      <p:sp>
        <p:nvSpPr>
          <p:cNvPr id="801" name="Google Shape;801;p26"/>
          <p:cNvSpPr txBox="1"/>
          <p:nvPr>
            <p:ph idx="12" type="sldNum"/>
          </p:nvPr>
        </p:nvSpPr>
        <p:spPr>
          <a:xfrm>
            <a:off x="8736599" y="4749901"/>
            <a:ext cx="4074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6" name="Shape 806"/>
        <p:cNvGrpSpPr/>
        <p:nvPr/>
      </p:nvGrpSpPr>
      <p:grpSpPr>
        <a:xfrm>
          <a:off x="0" y="0"/>
          <a:ext cx="0" cy="0"/>
          <a:chOff x="0" y="0"/>
          <a:chExt cx="0" cy="0"/>
        </a:xfrm>
      </p:grpSpPr>
      <p:sp>
        <p:nvSpPr>
          <p:cNvPr id="807" name="Google Shape;807;p27"/>
          <p:cNvSpPr/>
          <p:nvPr/>
        </p:nvSpPr>
        <p:spPr>
          <a:xfrm>
            <a:off x="0" y="0"/>
            <a:ext cx="164592" cy="514350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7"/>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7"/>
          <p:cNvSpPr/>
          <p:nvPr/>
        </p:nvSpPr>
        <p:spPr>
          <a:xfrm>
            <a:off x="320040" y="137160"/>
            <a:ext cx="402336" cy="402336"/>
          </a:xfrm>
          <a:prstGeom prst="ellipse">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7"/>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Future Directions in Ecological Modeling</a:t>
            </a:r>
            <a:endParaRPr b="0" i="0" sz="2200" u="none" cap="none" strike="noStrike">
              <a:solidFill>
                <a:schemeClr val="dk1"/>
              </a:solidFill>
              <a:latin typeface="Calibri"/>
              <a:ea typeface="Calibri"/>
              <a:cs typeface="Calibri"/>
              <a:sym typeface="Calibri"/>
            </a:endParaRPr>
          </a:p>
        </p:txBody>
      </p:sp>
      <p:sp>
        <p:nvSpPr>
          <p:cNvPr id="811" name="Google Shape;811;p27"/>
          <p:cNvSpPr/>
          <p:nvPr/>
        </p:nvSpPr>
        <p:spPr>
          <a:xfrm>
            <a:off x="164592" y="685800"/>
            <a:ext cx="8979408" cy="36576"/>
          </a:xfrm>
          <a:prstGeom prst="rect">
            <a:avLst/>
          </a:prstGeom>
          <a:solidFill>
            <a:srgbClr val="7B68C8">
              <a:alpha val="40000"/>
            </a:srgbClr>
          </a:solidFill>
          <a:ln cap="flat" cmpd="sng" w="12700">
            <a:solidFill>
              <a:srgbClr val="7B68C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7"/>
          <p:cNvSpPr/>
          <p:nvPr/>
        </p:nvSpPr>
        <p:spPr>
          <a:xfrm>
            <a:off x="320040" y="804672"/>
            <a:ext cx="4160520" cy="1874520"/>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7"/>
          <p:cNvSpPr/>
          <p:nvPr/>
        </p:nvSpPr>
        <p:spPr>
          <a:xfrm>
            <a:off x="320040" y="804672"/>
            <a:ext cx="41605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7"/>
          <p:cNvSpPr/>
          <p:nvPr/>
        </p:nvSpPr>
        <p:spPr>
          <a:xfrm>
            <a:off x="42976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Data Science &amp; ML</a:t>
            </a:r>
            <a:endParaRPr b="0" i="0" sz="1300" u="none" cap="none" strike="noStrike">
              <a:solidFill>
                <a:schemeClr val="dk1"/>
              </a:solidFill>
              <a:latin typeface="Calibri"/>
              <a:ea typeface="Calibri"/>
              <a:cs typeface="Calibri"/>
              <a:sym typeface="Calibri"/>
            </a:endParaRPr>
          </a:p>
        </p:txBody>
      </p:sp>
      <p:sp>
        <p:nvSpPr>
          <p:cNvPr id="815" name="Google Shape;815;p27"/>
          <p:cNvSpPr/>
          <p:nvPr/>
        </p:nvSpPr>
        <p:spPr>
          <a:xfrm>
            <a:off x="489206" y="1362471"/>
            <a:ext cx="3941100" cy="134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Big data and ML identify patterns traditional approaches miss. Deep learning for species ID. Hybrid mechanistic–ML models emerging.</a:t>
            </a:r>
            <a:endParaRPr b="0" i="0" sz="1200" u="none" cap="none" strike="noStrike">
              <a:solidFill>
                <a:schemeClr val="dk1"/>
              </a:solidFill>
              <a:latin typeface="Calibri"/>
              <a:ea typeface="Calibri"/>
              <a:cs typeface="Calibri"/>
              <a:sym typeface="Calibri"/>
            </a:endParaRPr>
          </a:p>
        </p:txBody>
      </p:sp>
      <p:sp>
        <p:nvSpPr>
          <p:cNvPr id="816" name="Google Shape;816;p27"/>
          <p:cNvSpPr/>
          <p:nvPr/>
        </p:nvSpPr>
        <p:spPr>
          <a:xfrm>
            <a:off x="4754880" y="804672"/>
            <a:ext cx="4160520" cy="1874520"/>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7"/>
          <p:cNvSpPr/>
          <p:nvPr/>
        </p:nvSpPr>
        <p:spPr>
          <a:xfrm>
            <a:off x="4754880" y="804672"/>
            <a:ext cx="4160520"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7"/>
          <p:cNvSpPr/>
          <p:nvPr/>
        </p:nvSpPr>
        <p:spPr>
          <a:xfrm>
            <a:off x="486460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Citizen Science</a:t>
            </a:r>
            <a:endParaRPr b="0" i="0" sz="1300" u="none" cap="none" strike="noStrike">
              <a:solidFill>
                <a:schemeClr val="dk1"/>
              </a:solidFill>
              <a:latin typeface="Calibri"/>
              <a:ea typeface="Calibri"/>
              <a:cs typeface="Calibri"/>
              <a:sym typeface="Calibri"/>
            </a:endParaRPr>
          </a:p>
        </p:txBody>
      </p:sp>
      <p:sp>
        <p:nvSpPr>
          <p:cNvPr id="819" name="Google Shape;819;p27"/>
          <p:cNvSpPr/>
          <p:nvPr/>
        </p:nvSpPr>
        <p:spPr>
          <a:xfrm>
            <a:off x="4864608" y="1225296"/>
            <a:ext cx="3941064" cy="1344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iNaturalist, eBird, GBIF — crowdsourced observations expand data globally. Real-time biodiversity monitoring at unprecedented scale.</a:t>
            </a:r>
            <a:endParaRPr b="0" i="0" sz="1200" u="none" cap="none" strike="noStrike">
              <a:solidFill>
                <a:schemeClr val="dk1"/>
              </a:solidFill>
              <a:latin typeface="Calibri"/>
              <a:ea typeface="Calibri"/>
              <a:cs typeface="Calibri"/>
              <a:sym typeface="Calibri"/>
            </a:endParaRPr>
          </a:p>
        </p:txBody>
      </p:sp>
      <p:sp>
        <p:nvSpPr>
          <p:cNvPr id="820" name="Google Shape;820;p27"/>
          <p:cNvSpPr/>
          <p:nvPr/>
        </p:nvSpPr>
        <p:spPr>
          <a:xfrm>
            <a:off x="320040" y="2816352"/>
            <a:ext cx="4160520" cy="1874520"/>
          </a:xfrm>
          <a:prstGeom prst="rect">
            <a:avLst/>
          </a:prstGeom>
          <a:solidFill>
            <a:srgbClr val="F7ECEA"/>
          </a:solidFill>
          <a:ln cap="flat" cmpd="sng" w="12700">
            <a:solidFill>
              <a:srgbClr val="D4756B">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7"/>
          <p:cNvSpPr/>
          <p:nvPr/>
        </p:nvSpPr>
        <p:spPr>
          <a:xfrm>
            <a:off x="320040" y="2816352"/>
            <a:ext cx="41605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7"/>
          <p:cNvSpPr/>
          <p:nvPr/>
        </p:nvSpPr>
        <p:spPr>
          <a:xfrm>
            <a:off x="429768" y="284378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Integration</a:t>
            </a:r>
            <a:endParaRPr b="0" i="0" sz="1300" u="none" cap="none" strike="noStrike">
              <a:solidFill>
                <a:schemeClr val="dk1"/>
              </a:solidFill>
              <a:latin typeface="Calibri"/>
              <a:ea typeface="Calibri"/>
              <a:cs typeface="Calibri"/>
              <a:sym typeface="Calibri"/>
            </a:endParaRPr>
          </a:p>
        </p:txBody>
      </p:sp>
      <p:sp>
        <p:nvSpPr>
          <p:cNvPr id="823" name="Google Shape;823;p27"/>
          <p:cNvSpPr/>
          <p:nvPr/>
        </p:nvSpPr>
        <p:spPr>
          <a:xfrm>
            <a:off x="429768" y="3236976"/>
            <a:ext cx="3941064" cy="1344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Combining population, community, and ecosystem processes into unified frameworks. Coupled social-ecological models for the Anthropocene.</a:t>
            </a:r>
            <a:endParaRPr b="0" i="0" sz="1200" u="none" cap="none" strike="noStrike">
              <a:solidFill>
                <a:schemeClr val="dk1"/>
              </a:solidFill>
              <a:latin typeface="Calibri"/>
              <a:ea typeface="Calibri"/>
              <a:cs typeface="Calibri"/>
              <a:sym typeface="Calibri"/>
            </a:endParaRPr>
          </a:p>
        </p:txBody>
      </p:sp>
      <p:sp>
        <p:nvSpPr>
          <p:cNvPr id="824" name="Google Shape;824;p27"/>
          <p:cNvSpPr/>
          <p:nvPr/>
        </p:nvSpPr>
        <p:spPr>
          <a:xfrm>
            <a:off x="4754880" y="2816352"/>
            <a:ext cx="4160520" cy="1874520"/>
          </a:xfrm>
          <a:prstGeom prst="rect">
            <a:avLst/>
          </a:prstGeom>
          <a:solidFill>
            <a:srgbClr val="F0ECFA"/>
          </a:solidFill>
          <a:ln cap="flat" cmpd="sng" w="12700">
            <a:solidFill>
              <a:srgbClr val="7B68C8">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7"/>
          <p:cNvSpPr/>
          <p:nvPr/>
        </p:nvSpPr>
        <p:spPr>
          <a:xfrm>
            <a:off x="4754880" y="2816352"/>
            <a:ext cx="41605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7"/>
          <p:cNvSpPr/>
          <p:nvPr/>
        </p:nvSpPr>
        <p:spPr>
          <a:xfrm>
            <a:off x="4864608" y="284378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Visualisation &amp; Tools</a:t>
            </a:r>
            <a:endParaRPr b="0" i="0" sz="1300" u="none" cap="none" strike="noStrike">
              <a:solidFill>
                <a:schemeClr val="dk1"/>
              </a:solidFill>
              <a:latin typeface="Calibri"/>
              <a:ea typeface="Calibri"/>
              <a:cs typeface="Calibri"/>
              <a:sym typeface="Calibri"/>
            </a:endParaRPr>
          </a:p>
        </p:txBody>
      </p:sp>
      <p:sp>
        <p:nvSpPr>
          <p:cNvPr id="827" name="Google Shape;827;p27"/>
          <p:cNvSpPr/>
          <p:nvPr/>
        </p:nvSpPr>
        <p:spPr>
          <a:xfrm>
            <a:off x="4864608" y="3236976"/>
            <a:ext cx="3941064" cy="1344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D42"/>
              </a:buClr>
              <a:buSzPts val="1200"/>
              <a:buFont typeface="Calibri"/>
              <a:buNone/>
            </a:pPr>
            <a:r>
              <a:rPr b="0" i="0" lang="en-US" sz="1200" u="none" cap="none" strike="noStrike">
                <a:solidFill>
                  <a:srgbClr val="2B2D42"/>
                </a:solidFill>
                <a:latin typeface="Calibri"/>
                <a:ea typeface="Calibri"/>
                <a:cs typeface="Calibri"/>
                <a:sym typeface="Calibri"/>
              </a:rPr>
              <a:t>Interactive tools for stakeholders to explore model behaviour. Open-source platforms, real-time dashboards for conservation decision support.</a:t>
            </a:r>
            <a:endParaRPr b="0" i="0" sz="1200" u="none" cap="none" strike="noStrike">
              <a:solidFill>
                <a:schemeClr val="dk1"/>
              </a:solidFill>
              <a:latin typeface="Calibri"/>
              <a:ea typeface="Calibri"/>
              <a:cs typeface="Calibri"/>
              <a:sym typeface="Calibri"/>
            </a:endParaRPr>
          </a:p>
        </p:txBody>
      </p:sp>
      <p:sp>
        <p:nvSpPr>
          <p:cNvPr id="828" name="Google Shape;828;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3" name="Shape 833"/>
        <p:cNvGrpSpPr/>
        <p:nvPr/>
      </p:nvGrpSpPr>
      <p:grpSpPr>
        <a:xfrm>
          <a:off x="0" y="0"/>
          <a:ext cx="0" cy="0"/>
          <a:chOff x="0" y="0"/>
          <a:chExt cx="0" cy="0"/>
        </a:xfrm>
      </p:grpSpPr>
      <p:sp>
        <p:nvSpPr>
          <p:cNvPr id="834" name="Google Shape;834;p28"/>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8"/>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8"/>
          <p:cNvSpPr/>
          <p:nvPr/>
        </p:nvSpPr>
        <p:spPr>
          <a:xfrm>
            <a:off x="320040" y="137160"/>
            <a:ext cx="402336" cy="402336"/>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8"/>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Resources &amp; Career Paths</a:t>
            </a:r>
            <a:endParaRPr b="0" i="0" sz="2200" u="none" cap="none" strike="noStrike">
              <a:solidFill>
                <a:schemeClr val="dk1"/>
              </a:solidFill>
              <a:latin typeface="Calibri"/>
              <a:ea typeface="Calibri"/>
              <a:cs typeface="Calibri"/>
              <a:sym typeface="Calibri"/>
            </a:endParaRPr>
          </a:p>
        </p:txBody>
      </p:sp>
      <p:sp>
        <p:nvSpPr>
          <p:cNvPr id="838" name="Google Shape;838;p28"/>
          <p:cNvSpPr/>
          <p:nvPr/>
        </p:nvSpPr>
        <p:spPr>
          <a:xfrm>
            <a:off x="164592" y="685800"/>
            <a:ext cx="8979408" cy="36576"/>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8"/>
          <p:cNvSpPr/>
          <p:nvPr/>
        </p:nvSpPr>
        <p:spPr>
          <a:xfrm>
            <a:off x="256032" y="804672"/>
            <a:ext cx="2816352" cy="3977640"/>
          </a:xfrm>
          <a:prstGeom prst="rect">
            <a:avLst/>
          </a:prstGeom>
          <a:solidFill>
            <a:srgbClr val="EAF4F7"/>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8"/>
          <p:cNvSpPr/>
          <p:nvPr/>
        </p:nvSpPr>
        <p:spPr>
          <a:xfrm>
            <a:off x="256032" y="804672"/>
            <a:ext cx="2816352" cy="36576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8"/>
          <p:cNvSpPr/>
          <p:nvPr/>
        </p:nvSpPr>
        <p:spPr>
          <a:xfrm>
            <a:off x="347472" y="804672"/>
            <a:ext cx="26334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Software Tools</a:t>
            </a:r>
            <a:endParaRPr b="0" i="0" sz="1300" u="none" cap="none" strike="noStrike">
              <a:solidFill>
                <a:schemeClr val="dk1"/>
              </a:solidFill>
              <a:latin typeface="Calibri"/>
              <a:ea typeface="Calibri"/>
              <a:cs typeface="Calibri"/>
              <a:sym typeface="Calibri"/>
            </a:endParaRPr>
          </a:p>
        </p:txBody>
      </p:sp>
      <p:sp>
        <p:nvSpPr>
          <p:cNvPr id="842" name="Google Shape;842;p28"/>
          <p:cNvSpPr/>
          <p:nvPr/>
        </p:nvSpPr>
        <p:spPr>
          <a:xfrm>
            <a:off x="347472" y="1225296"/>
            <a:ext cx="2633472" cy="343814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R: vegan, unmarked, raster, lme4, MuMIn</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Python: scipy, statsmodels, scikit-bio</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NetLogo: agent-based modelling (free)</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MATLAB / Simulink: system dynamics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QGIS + R: spatial ecological analysis</a:t>
            </a:r>
            <a:endParaRPr b="0" i="0" sz="1250" u="none" cap="none" strike="noStrike">
              <a:solidFill>
                <a:schemeClr val="dk1"/>
              </a:solidFill>
              <a:latin typeface="Calibri"/>
              <a:ea typeface="Calibri"/>
              <a:cs typeface="Calibri"/>
              <a:sym typeface="Calibri"/>
            </a:endParaRPr>
          </a:p>
        </p:txBody>
      </p:sp>
      <p:sp>
        <p:nvSpPr>
          <p:cNvPr id="843" name="Google Shape;843;p28"/>
          <p:cNvSpPr/>
          <p:nvPr/>
        </p:nvSpPr>
        <p:spPr>
          <a:xfrm>
            <a:off x="3246120" y="804672"/>
            <a:ext cx="2816352" cy="3977640"/>
          </a:xfrm>
          <a:prstGeom prst="rect">
            <a:avLst/>
          </a:prstGeom>
          <a:solidFill>
            <a:srgbClr val="EAF5EF"/>
          </a:solidFill>
          <a:ln cap="flat" cmpd="sng" w="12700">
            <a:solidFill>
              <a:srgbClr val="4CAF8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8"/>
          <p:cNvSpPr/>
          <p:nvPr/>
        </p:nvSpPr>
        <p:spPr>
          <a:xfrm>
            <a:off x="3246120" y="804672"/>
            <a:ext cx="2816352" cy="36576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8"/>
          <p:cNvSpPr/>
          <p:nvPr/>
        </p:nvSpPr>
        <p:spPr>
          <a:xfrm>
            <a:off x="3337560" y="804672"/>
            <a:ext cx="26334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Learning Resources</a:t>
            </a:r>
            <a:endParaRPr b="0" i="0" sz="1300" u="none" cap="none" strike="noStrike">
              <a:solidFill>
                <a:schemeClr val="dk1"/>
              </a:solidFill>
              <a:latin typeface="Calibri"/>
              <a:ea typeface="Calibri"/>
              <a:cs typeface="Calibri"/>
              <a:sym typeface="Calibri"/>
            </a:endParaRPr>
          </a:p>
        </p:txBody>
      </p:sp>
      <p:sp>
        <p:nvSpPr>
          <p:cNvPr id="846" name="Google Shape;846;p28"/>
          <p:cNvSpPr/>
          <p:nvPr/>
        </p:nvSpPr>
        <p:spPr>
          <a:xfrm>
            <a:off x="3337560" y="1225296"/>
            <a:ext cx="2633472" cy="343814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ESA (Ecological Society of America)</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Software Carpentry workshops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edX / Coursera ecology courses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GitHub: open-source model repositories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A Practical Guide to Ecological Modeling</a:t>
            </a:r>
            <a:endParaRPr b="0" i="0" sz="1250" u="none" cap="none" strike="noStrike">
              <a:solidFill>
                <a:schemeClr val="dk1"/>
              </a:solidFill>
              <a:latin typeface="Calibri"/>
              <a:ea typeface="Calibri"/>
              <a:cs typeface="Calibri"/>
              <a:sym typeface="Calibri"/>
            </a:endParaRPr>
          </a:p>
        </p:txBody>
      </p:sp>
      <p:sp>
        <p:nvSpPr>
          <p:cNvPr id="847" name="Google Shape;847;p28"/>
          <p:cNvSpPr/>
          <p:nvPr/>
        </p:nvSpPr>
        <p:spPr>
          <a:xfrm>
            <a:off x="6236208" y="804672"/>
            <a:ext cx="2816352" cy="3977640"/>
          </a:xfrm>
          <a:prstGeom prst="rect">
            <a:avLst/>
          </a:prstGeom>
          <a:solidFill>
            <a:srgbClr val="F0ECFA"/>
          </a:solidFill>
          <a:ln cap="flat" cmpd="sng" w="12700">
            <a:solidFill>
              <a:srgbClr val="7B68C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8"/>
          <p:cNvSpPr/>
          <p:nvPr/>
        </p:nvSpPr>
        <p:spPr>
          <a:xfrm>
            <a:off x="6236208" y="804672"/>
            <a:ext cx="2816352" cy="36576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8"/>
          <p:cNvSpPr/>
          <p:nvPr/>
        </p:nvSpPr>
        <p:spPr>
          <a:xfrm>
            <a:off x="6327648" y="804672"/>
            <a:ext cx="26334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Career Paths</a:t>
            </a:r>
            <a:endParaRPr b="0" i="0" sz="1300" u="none" cap="none" strike="noStrike">
              <a:solidFill>
                <a:schemeClr val="dk1"/>
              </a:solidFill>
              <a:latin typeface="Calibri"/>
              <a:ea typeface="Calibri"/>
              <a:cs typeface="Calibri"/>
              <a:sym typeface="Calibri"/>
            </a:endParaRPr>
          </a:p>
        </p:txBody>
      </p:sp>
      <p:sp>
        <p:nvSpPr>
          <p:cNvPr id="850" name="Google Shape;850;p28"/>
          <p:cNvSpPr/>
          <p:nvPr/>
        </p:nvSpPr>
        <p:spPr>
          <a:xfrm>
            <a:off x="6327648" y="1225296"/>
            <a:ext cx="2633472" cy="343814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Academic research — universities, institutes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Conservation organisations (WWF, TNC, WCS)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Environmental consulting firms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Government agencies (EPA, national parks)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Conservation technology start-ups</a:t>
            </a:r>
            <a:endParaRPr b="0" i="0" sz="1250" u="none" cap="none" strike="noStrike">
              <a:solidFill>
                <a:schemeClr val="dk1"/>
              </a:solidFill>
              <a:latin typeface="Calibri"/>
              <a:ea typeface="Calibri"/>
              <a:cs typeface="Calibri"/>
              <a:sym typeface="Calibri"/>
            </a:endParaRPr>
          </a:p>
        </p:txBody>
      </p:sp>
      <p:sp>
        <p:nvSpPr>
          <p:cNvPr id="851" name="Google Shape;851;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6" name="Shape 856"/>
        <p:cNvGrpSpPr/>
        <p:nvPr/>
      </p:nvGrpSpPr>
      <p:grpSpPr>
        <a:xfrm>
          <a:off x="0" y="0"/>
          <a:ext cx="0" cy="0"/>
          <a:chOff x="0" y="0"/>
          <a:chExt cx="0" cy="0"/>
        </a:xfrm>
      </p:grpSpPr>
      <p:sp>
        <p:nvSpPr>
          <p:cNvPr id="857" name="Google Shape;857;p29"/>
          <p:cNvSpPr/>
          <p:nvPr/>
        </p:nvSpPr>
        <p:spPr>
          <a:xfrm>
            <a:off x="0" y="0"/>
            <a:ext cx="164592"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9"/>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9"/>
          <p:cNvSpPr/>
          <p:nvPr/>
        </p:nvSpPr>
        <p:spPr>
          <a:xfrm>
            <a:off x="320040" y="137160"/>
            <a:ext cx="402336" cy="402336"/>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9"/>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lang="en-US" sz="2200">
                <a:solidFill>
                  <a:srgbClr val="23293A"/>
                </a:solidFill>
                <a:latin typeface="Calibri"/>
                <a:ea typeface="Calibri"/>
                <a:cs typeface="Calibri"/>
                <a:sym typeface="Calibri"/>
              </a:rPr>
              <a:t>Exercise - Ecological research</a:t>
            </a:r>
            <a:endParaRPr b="0" i="0" sz="2200" u="none" cap="none" strike="noStrike">
              <a:solidFill>
                <a:schemeClr val="dk1"/>
              </a:solidFill>
              <a:latin typeface="Calibri"/>
              <a:ea typeface="Calibri"/>
              <a:cs typeface="Calibri"/>
              <a:sym typeface="Calibri"/>
            </a:endParaRPr>
          </a:p>
        </p:txBody>
      </p:sp>
      <p:sp>
        <p:nvSpPr>
          <p:cNvPr id="861" name="Google Shape;861;p29"/>
          <p:cNvSpPr/>
          <p:nvPr/>
        </p:nvSpPr>
        <p:spPr>
          <a:xfrm>
            <a:off x="164592" y="685800"/>
            <a:ext cx="8979408" cy="36576"/>
          </a:xfrm>
          <a:prstGeom prst="rect">
            <a:avLst/>
          </a:prstGeom>
          <a:solidFill>
            <a:srgbClr val="C9A84C">
              <a:alpha val="40000"/>
            </a:srgbClr>
          </a:solidFill>
          <a:ln cap="flat" cmpd="sng" w="12700">
            <a:solidFill>
              <a:srgbClr val="C9A84C">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9"/>
          <p:cNvSpPr/>
          <p:nvPr/>
        </p:nvSpPr>
        <p:spPr>
          <a:xfrm>
            <a:off x="320040" y="777240"/>
            <a:ext cx="8503920" cy="713232"/>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9"/>
          <p:cNvSpPr/>
          <p:nvPr/>
        </p:nvSpPr>
        <p:spPr>
          <a:xfrm>
            <a:off x="502920" y="804672"/>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1550"/>
              <a:buFont typeface="Calibri"/>
              <a:buNone/>
            </a:pPr>
            <a:r>
              <a:rPr b="1" i="0" lang="en-US" sz="1550" u="none" cap="none" strike="noStrike">
                <a:solidFill>
                  <a:srgbClr val="23293A"/>
                </a:solidFill>
                <a:latin typeface="Calibri"/>
                <a:ea typeface="Calibri"/>
                <a:cs typeface="Calibri"/>
                <a:sym typeface="Calibri"/>
              </a:rPr>
              <a:t>Work in teams of 2–3 students  ·  Select an ecological environment that interests you.</a:t>
            </a:r>
            <a:endParaRPr b="0" i="0" sz="1550" u="none" cap="none" strike="noStrike">
              <a:solidFill>
                <a:schemeClr val="dk1"/>
              </a:solidFill>
              <a:latin typeface="Calibri"/>
              <a:ea typeface="Calibri"/>
              <a:cs typeface="Calibri"/>
              <a:sym typeface="Calibri"/>
            </a:endParaRPr>
          </a:p>
        </p:txBody>
      </p:sp>
      <p:sp>
        <p:nvSpPr>
          <p:cNvPr id="864" name="Google Shape;864;p29"/>
          <p:cNvSpPr/>
          <p:nvPr/>
        </p:nvSpPr>
        <p:spPr>
          <a:xfrm>
            <a:off x="320040" y="1600200"/>
            <a:ext cx="8503920" cy="841248"/>
          </a:xfrm>
          <a:prstGeom prst="rect">
            <a:avLst/>
          </a:prstGeom>
          <a:solidFill>
            <a:srgbClr val="EAF4F7"/>
          </a:solidFill>
          <a:ln cap="flat" cmpd="sng" w="12700">
            <a:solidFill>
              <a:srgbClr val="4A9DB5">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9"/>
          <p:cNvSpPr/>
          <p:nvPr/>
        </p:nvSpPr>
        <p:spPr>
          <a:xfrm>
            <a:off x="320040" y="1600200"/>
            <a:ext cx="73152" cy="841248"/>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9"/>
          <p:cNvSpPr/>
          <p:nvPr/>
        </p:nvSpPr>
        <p:spPr>
          <a:xfrm>
            <a:off x="530352" y="1655064"/>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DB5"/>
              </a:buClr>
              <a:buSzPts val="1300"/>
              <a:buFont typeface="Calibri"/>
              <a:buNone/>
            </a:pPr>
            <a:r>
              <a:rPr b="1" i="0" lang="en-US" sz="1300" u="none" cap="none" strike="noStrike">
                <a:solidFill>
                  <a:srgbClr val="4A9DB5"/>
                </a:solidFill>
                <a:latin typeface="Calibri"/>
                <a:ea typeface="Calibri"/>
                <a:cs typeface="Calibri"/>
                <a:sym typeface="Calibri"/>
              </a:rPr>
              <a:t>GBIF</a:t>
            </a:r>
            <a:endParaRPr b="0" i="0" sz="1300" u="none" cap="none" strike="noStrike">
              <a:solidFill>
                <a:schemeClr val="dk1"/>
              </a:solidFill>
              <a:latin typeface="Calibri"/>
              <a:ea typeface="Calibri"/>
              <a:cs typeface="Calibri"/>
              <a:sym typeface="Calibri"/>
            </a:endParaRPr>
          </a:p>
        </p:txBody>
      </p:sp>
      <p:sp>
        <p:nvSpPr>
          <p:cNvPr id="867" name="Google Shape;867;p29"/>
          <p:cNvSpPr/>
          <p:nvPr/>
        </p:nvSpPr>
        <p:spPr>
          <a:xfrm>
            <a:off x="530352" y="1929384"/>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100"/>
              <a:buFont typeface="Calibri"/>
              <a:buNone/>
            </a:pPr>
            <a:r>
              <a:rPr b="0" i="1" lang="en-US" sz="1100" u="none" cap="none" strike="noStrike">
                <a:solidFill>
                  <a:srgbClr val="8D99AE"/>
                </a:solidFill>
                <a:latin typeface="Calibri"/>
                <a:ea typeface="Calibri"/>
                <a:cs typeface="Calibri"/>
                <a:sym typeface="Calibri"/>
              </a:rPr>
              <a:t>gbif.org</a:t>
            </a:r>
            <a:endParaRPr b="0" i="0" sz="1100" u="none" cap="none" strike="noStrike">
              <a:solidFill>
                <a:schemeClr val="dk1"/>
              </a:solidFill>
              <a:latin typeface="Calibri"/>
              <a:ea typeface="Calibri"/>
              <a:cs typeface="Calibri"/>
              <a:sym typeface="Calibri"/>
            </a:endParaRPr>
          </a:p>
        </p:txBody>
      </p:sp>
      <p:sp>
        <p:nvSpPr>
          <p:cNvPr id="868" name="Google Shape;868;p29"/>
          <p:cNvSpPr/>
          <p:nvPr/>
        </p:nvSpPr>
        <p:spPr>
          <a:xfrm>
            <a:off x="3611880" y="1691640"/>
            <a:ext cx="51206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Global species occurrence data — millions of observations, open access. Essential for distribution models.</a:t>
            </a:r>
            <a:endParaRPr b="0" i="0" sz="1250" u="none" cap="none" strike="noStrike">
              <a:solidFill>
                <a:schemeClr val="dk1"/>
              </a:solidFill>
              <a:latin typeface="Calibri"/>
              <a:ea typeface="Calibri"/>
              <a:cs typeface="Calibri"/>
              <a:sym typeface="Calibri"/>
            </a:endParaRPr>
          </a:p>
        </p:txBody>
      </p:sp>
      <p:sp>
        <p:nvSpPr>
          <p:cNvPr id="869" name="Google Shape;869;p29"/>
          <p:cNvSpPr/>
          <p:nvPr/>
        </p:nvSpPr>
        <p:spPr>
          <a:xfrm>
            <a:off x="320040" y="2587752"/>
            <a:ext cx="8503920" cy="841248"/>
          </a:xfrm>
          <a:prstGeom prst="rect">
            <a:avLst/>
          </a:prstGeom>
          <a:solidFill>
            <a:srgbClr val="EAF5EF"/>
          </a:solidFill>
          <a:ln cap="flat" cmpd="sng" w="12700">
            <a:solidFill>
              <a:srgbClr val="4CAF8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9"/>
          <p:cNvSpPr/>
          <p:nvPr/>
        </p:nvSpPr>
        <p:spPr>
          <a:xfrm>
            <a:off x="320040" y="2587752"/>
            <a:ext cx="73152" cy="841248"/>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9"/>
          <p:cNvSpPr/>
          <p:nvPr/>
        </p:nvSpPr>
        <p:spPr>
          <a:xfrm>
            <a:off x="530352" y="2642616"/>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8A"/>
              </a:buClr>
              <a:buSzPts val="1300"/>
              <a:buFont typeface="Calibri"/>
              <a:buNone/>
            </a:pPr>
            <a:r>
              <a:rPr b="1" i="0" lang="en-US" sz="1300" u="none" cap="none" strike="noStrike">
                <a:solidFill>
                  <a:srgbClr val="4CAF8A"/>
                </a:solidFill>
                <a:latin typeface="Calibri"/>
                <a:ea typeface="Calibri"/>
                <a:cs typeface="Calibri"/>
                <a:sym typeface="Calibri"/>
              </a:rPr>
              <a:t>European Environment Agency</a:t>
            </a:r>
            <a:endParaRPr b="0" i="0" sz="1300" u="none" cap="none" strike="noStrike">
              <a:solidFill>
                <a:schemeClr val="dk1"/>
              </a:solidFill>
              <a:latin typeface="Calibri"/>
              <a:ea typeface="Calibri"/>
              <a:cs typeface="Calibri"/>
              <a:sym typeface="Calibri"/>
            </a:endParaRPr>
          </a:p>
        </p:txBody>
      </p:sp>
      <p:sp>
        <p:nvSpPr>
          <p:cNvPr id="872" name="Google Shape;872;p29"/>
          <p:cNvSpPr/>
          <p:nvPr/>
        </p:nvSpPr>
        <p:spPr>
          <a:xfrm>
            <a:off x="530352" y="2916936"/>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100"/>
              <a:buFont typeface="Calibri"/>
              <a:buNone/>
            </a:pPr>
            <a:r>
              <a:rPr b="0" i="1" lang="en-US" sz="1100" u="none" cap="none" strike="noStrike">
                <a:solidFill>
                  <a:srgbClr val="8D99AE"/>
                </a:solidFill>
                <a:latin typeface="Calibri"/>
                <a:ea typeface="Calibri"/>
                <a:cs typeface="Calibri"/>
                <a:sym typeface="Calibri"/>
              </a:rPr>
              <a:t>eea.europa.eu</a:t>
            </a:r>
            <a:endParaRPr b="0" i="0" sz="1100" u="none" cap="none" strike="noStrike">
              <a:solidFill>
                <a:schemeClr val="dk1"/>
              </a:solidFill>
              <a:latin typeface="Calibri"/>
              <a:ea typeface="Calibri"/>
              <a:cs typeface="Calibri"/>
              <a:sym typeface="Calibri"/>
            </a:endParaRPr>
          </a:p>
        </p:txBody>
      </p:sp>
      <p:sp>
        <p:nvSpPr>
          <p:cNvPr id="873" name="Google Shape;873;p29"/>
          <p:cNvSpPr/>
          <p:nvPr/>
        </p:nvSpPr>
        <p:spPr>
          <a:xfrm>
            <a:off x="3611880" y="2679192"/>
            <a:ext cx="51206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Comprehensive ecological data for Europe, relevant to Israel and Mediterranean contexts.</a:t>
            </a:r>
            <a:endParaRPr b="0" i="0" sz="1250" u="none" cap="none" strike="noStrike">
              <a:solidFill>
                <a:schemeClr val="dk1"/>
              </a:solidFill>
              <a:latin typeface="Calibri"/>
              <a:ea typeface="Calibri"/>
              <a:cs typeface="Calibri"/>
              <a:sym typeface="Calibri"/>
            </a:endParaRPr>
          </a:p>
        </p:txBody>
      </p:sp>
      <p:sp>
        <p:nvSpPr>
          <p:cNvPr id="874" name="Google Shape;874;p29"/>
          <p:cNvSpPr/>
          <p:nvPr/>
        </p:nvSpPr>
        <p:spPr>
          <a:xfrm>
            <a:off x="320040" y="3575304"/>
            <a:ext cx="8503920" cy="841248"/>
          </a:xfrm>
          <a:prstGeom prst="rect">
            <a:avLst/>
          </a:prstGeom>
          <a:solidFill>
            <a:srgbClr val="F0ECFA"/>
          </a:solidFill>
          <a:ln cap="flat" cmpd="sng" w="12700">
            <a:solidFill>
              <a:srgbClr val="7B68C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9"/>
          <p:cNvSpPr/>
          <p:nvPr/>
        </p:nvSpPr>
        <p:spPr>
          <a:xfrm>
            <a:off x="320040" y="3575304"/>
            <a:ext cx="73152" cy="841248"/>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9"/>
          <p:cNvSpPr/>
          <p:nvPr/>
        </p:nvSpPr>
        <p:spPr>
          <a:xfrm>
            <a:off x="530352" y="3630168"/>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68C8"/>
              </a:buClr>
              <a:buSzPts val="1300"/>
              <a:buFont typeface="Calibri"/>
              <a:buNone/>
            </a:pPr>
            <a:r>
              <a:rPr b="1" i="0" lang="en-US" sz="1300" u="none" cap="none" strike="noStrike">
                <a:solidFill>
                  <a:srgbClr val="7B68C8"/>
                </a:solidFill>
                <a:latin typeface="Calibri"/>
                <a:ea typeface="Calibri"/>
                <a:cs typeface="Calibri"/>
                <a:sym typeface="Calibri"/>
              </a:rPr>
              <a:t>Israel Open Data</a:t>
            </a:r>
            <a:endParaRPr b="0" i="0" sz="1300" u="none" cap="none" strike="noStrike">
              <a:solidFill>
                <a:schemeClr val="dk1"/>
              </a:solidFill>
              <a:latin typeface="Calibri"/>
              <a:ea typeface="Calibri"/>
              <a:cs typeface="Calibri"/>
              <a:sym typeface="Calibri"/>
            </a:endParaRPr>
          </a:p>
        </p:txBody>
      </p:sp>
      <p:sp>
        <p:nvSpPr>
          <p:cNvPr id="877" name="Google Shape;877;p29"/>
          <p:cNvSpPr/>
          <p:nvPr/>
        </p:nvSpPr>
        <p:spPr>
          <a:xfrm>
            <a:off x="530352" y="3904488"/>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100"/>
              <a:buFont typeface="Calibri"/>
              <a:buNone/>
            </a:pPr>
            <a:r>
              <a:rPr b="0" i="1" lang="en-US" sz="1100" u="none" cap="none" strike="noStrike">
                <a:solidFill>
                  <a:srgbClr val="8D99AE"/>
                </a:solidFill>
                <a:latin typeface="Calibri"/>
                <a:ea typeface="Calibri"/>
                <a:cs typeface="Calibri"/>
                <a:sym typeface="Calibri"/>
              </a:rPr>
              <a:t>data.gov.il</a:t>
            </a:r>
            <a:endParaRPr b="0" i="0" sz="1100" u="none" cap="none" strike="noStrike">
              <a:solidFill>
                <a:schemeClr val="dk1"/>
              </a:solidFill>
              <a:latin typeface="Calibri"/>
              <a:ea typeface="Calibri"/>
              <a:cs typeface="Calibri"/>
              <a:sym typeface="Calibri"/>
            </a:endParaRPr>
          </a:p>
        </p:txBody>
      </p:sp>
      <p:sp>
        <p:nvSpPr>
          <p:cNvPr id="878" name="Google Shape;878;p29"/>
          <p:cNvSpPr/>
          <p:nvPr/>
        </p:nvSpPr>
        <p:spPr>
          <a:xfrm>
            <a:off x="3611880" y="3666744"/>
            <a:ext cx="51206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D42"/>
              </a:buClr>
              <a:buSzPts val="1250"/>
              <a:buFont typeface="Calibri"/>
              <a:buNone/>
            </a:pPr>
            <a:r>
              <a:rPr b="0" i="0" lang="en-US" sz="1250" u="none" cap="none" strike="noStrike">
                <a:solidFill>
                  <a:srgbClr val="2B2D42"/>
                </a:solidFill>
                <a:latin typeface="Calibri"/>
                <a:ea typeface="Calibri"/>
                <a:cs typeface="Calibri"/>
                <a:sym typeface="Calibri"/>
              </a:rPr>
              <a:t>Israeli government data: air quality, water quality, biodiversity indices. Also: המשרד להגנת הסביבה.</a:t>
            </a:r>
            <a:endParaRPr b="0" i="0" sz="1250" u="none" cap="none" strike="noStrike">
              <a:solidFill>
                <a:schemeClr val="dk1"/>
              </a:solidFill>
              <a:latin typeface="Calibri"/>
              <a:ea typeface="Calibri"/>
              <a:cs typeface="Calibri"/>
              <a:sym typeface="Calibri"/>
            </a:endParaRPr>
          </a:p>
        </p:txBody>
      </p:sp>
      <p:sp>
        <p:nvSpPr>
          <p:cNvPr id="879" name="Google Shape;879;p29"/>
          <p:cNvSpPr/>
          <p:nvPr/>
        </p:nvSpPr>
        <p:spPr>
          <a:xfrm>
            <a:off x="320040" y="473659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150"/>
              <a:buFont typeface="Calibri"/>
              <a:buNone/>
            </a:pPr>
            <a:r>
              <a:rPr i="1" lang="en-US" sz="1150">
                <a:solidFill>
                  <a:schemeClr val="dk1"/>
                </a:solidFill>
                <a:latin typeface="Calibri"/>
                <a:ea typeface="Calibri"/>
                <a:cs typeface="Calibri"/>
                <a:sym typeface="Calibri"/>
              </a:rPr>
              <a:t>https://docs.google.com/document/d/1U7Gd7F5geYKFgq7EoOx9pk9AXeZpqNZ9/edit?usp=drive_link&amp;ouid=118157260584278498099&amp;rtpof=true&amp;sd=true</a:t>
            </a:r>
            <a:endParaRPr b="0" i="0" sz="1150" u="none" cap="none" strike="noStrike">
              <a:solidFill>
                <a:schemeClr val="dk1"/>
              </a:solidFill>
              <a:latin typeface="Calibri"/>
              <a:ea typeface="Calibri"/>
              <a:cs typeface="Calibri"/>
              <a:sym typeface="Calibri"/>
            </a:endParaRPr>
          </a:p>
        </p:txBody>
      </p:sp>
      <p:sp>
        <p:nvSpPr>
          <p:cNvPr id="880" name="Google Shape;880;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5" name="Shape 885"/>
        <p:cNvGrpSpPr/>
        <p:nvPr/>
      </p:nvGrpSpPr>
      <p:grpSpPr>
        <a:xfrm>
          <a:off x="0" y="0"/>
          <a:ext cx="0" cy="0"/>
          <a:chOff x="0" y="0"/>
          <a:chExt cx="0" cy="0"/>
        </a:xfrm>
      </p:grpSpPr>
      <p:sp>
        <p:nvSpPr>
          <p:cNvPr id="886" name="Google Shape;886;p31"/>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1"/>
          <p:cNvSpPr/>
          <p:nvPr/>
        </p:nvSpPr>
        <p:spPr>
          <a:xfrm>
            <a:off x="164592" y="0"/>
            <a:ext cx="8979408" cy="685800"/>
          </a:xfrm>
          <a:prstGeom prst="rect">
            <a:avLst/>
          </a:prstGeom>
          <a:solidFill>
            <a:srgbClr val="F8F9FA"/>
          </a:solidFill>
          <a:ln cap="flat" cmpd="sng" w="1270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1"/>
          <p:cNvSpPr/>
          <p:nvPr/>
        </p:nvSpPr>
        <p:spPr>
          <a:xfrm>
            <a:off x="320040" y="137160"/>
            <a:ext cx="402336" cy="402336"/>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1"/>
          <p:cNvSpPr/>
          <p:nvPr/>
        </p:nvSpPr>
        <p:spPr>
          <a:xfrm>
            <a:off x="868680" y="914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A"/>
              </a:buClr>
              <a:buSzPts val="2200"/>
              <a:buFont typeface="Calibri"/>
              <a:buNone/>
            </a:pPr>
            <a:r>
              <a:rPr b="1" i="0" lang="en-US" sz="2200" u="none" cap="none" strike="noStrike">
                <a:solidFill>
                  <a:srgbClr val="23293A"/>
                </a:solidFill>
                <a:latin typeface="Calibri"/>
                <a:ea typeface="Calibri"/>
                <a:cs typeface="Calibri"/>
                <a:sym typeface="Calibri"/>
              </a:rPr>
              <a:t>References &amp; Further Reading</a:t>
            </a:r>
            <a:endParaRPr b="0" i="0" sz="2200" u="none" cap="none" strike="noStrike">
              <a:solidFill>
                <a:schemeClr val="dk1"/>
              </a:solidFill>
              <a:latin typeface="Calibri"/>
              <a:ea typeface="Calibri"/>
              <a:cs typeface="Calibri"/>
              <a:sym typeface="Calibri"/>
            </a:endParaRPr>
          </a:p>
        </p:txBody>
      </p:sp>
      <p:sp>
        <p:nvSpPr>
          <p:cNvPr id="890" name="Google Shape;890;p31"/>
          <p:cNvSpPr/>
          <p:nvPr/>
        </p:nvSpPr>
        <p:spPr>
          <a:xfrm>
            <a:off x="164592" y="685800"/>
            <a:ext cx="8979408" cy="36576"/>
          </a:xfrm>
          <a:prstGeom prst="rect">
            <a:avLst/>
          </a:prstGeom>
          <a:solidFill>
            <a:srgbClr val="4A9DB5">
              <a:alpha val="40000"/>
            </a:srgbClr>
          </a:solidFill>
          <a:ln cap="flat" cmpd="sng" w="12700">
            <a:solidFill>
              <a:srgbClr val="4A9DB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1"/>
          <p:cNvSpPr/>
          <p:nvPr/>
        </p:nvSpPr>
        <p:spPr>
          <a:xfrm>
            <a:off x="320040" y="804672"/>
            <a:ext cx="4160520" cy="3493008"/>
          </a:xfrm>
          <a:prstGeom prst="rect">
            <a:avLst/>
          </a:prstGeom>
          <a:solidFill>
            <a:srgbClr val="EAF4F7"/>
          </a:solidFill>
          <a:ln cap="flat" cmpd="sng" w="12700">
            <a:solidFill>
              <a:srgbClr val="4A9DB5">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1"/>
          <p:cNvSpPr/>
          <p:nvPr/>
        </p:nvSpPr>
        <p:spPr>
          <a:xfrm>
            <a:off x="320040" y="804672"/>
            <a:ext cx="41605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1"/>
          <p:cNvSpPr/>
          <p:nvPr/>
        </p:nvSpPr>
        <p:spPr>
          <a:xfrm>
            <a:off x="42976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Key Texts</a:t>
            </a:r>
            <a:endParaRPr b="0" i="0" sz="1300" u="none" cap="none" strike="noStrike">
              <a:solidFill>
                <a:schemeClr val="dk1"/>
              </a:solidFill>
              <a:latin typeface="Calibri"/>
              <a:ea typeface="Calibri"/>
              <a:cs typeface="Calibri"/>
              <a:sym typeface="Calibri"/>
            </a:endParaRPr>
          </a:p>
        </p:txBody>
      </p:sp>
      <p:sp>
        <p:nvSpPr>
          <p:cNvPr id="894" name="Google Shape;894;p31"/>
          <p:cNvSpPr/>
          <p:nvPr/>
        </p:nvSpPr>
        <p:spPr>
          <a:xfrm>
            <a:off x="429768" y="1216152"/>
            <a:ext cx="3931920" cy="30175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Soetaert, K. &amp; Herman, P.M.J. (2009). A Practical Guide to Ecological Modelling. Springer.</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Otto, S.P. &amp; Day, T. (2007). A Biologist's Guide to Mathematical Modeling. Princeton UP.</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Gotelli, N.J. &amp; Ellison, A.M. (2004). A Primer of Ecological Statistics. Sinauer.</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Grimm, V. &amp; Railsback, S.F. (2005). Individual-based Modeling and Ecology. Princeton UP.</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Levins, R. (1966). The strategy of model building in population biology. American Scientist 54.</a:t>
            </a:r>
            <a:endParaRPr b="0" i="0" sz="1250" u="none" cap="none" strike="noStrike">
              <a:solidFill>
                <a:schemeClr val="dk1"/>
              </a:solidFill>
              <a:latin typeface="Calibri"/>
              <a:ea typeface="Calibri"/>
              <a:cs typeface="Calibri"/>
              <a:sym typeface="Calibri"/>
            </a:endParaRPr>
          </a:p>
        </p:txBody>
      </p:sp>
      <p:sp>
        <p:nvSpPr>
          <p:cNvPr id="895" name="Google Shape;895;p31"/>
          <p:cNvSpPr/>
          <p:nvPr/>
        </p:nvSpPr>
        <p:spPr>
          <a:xfrm>
            <a:off x="4663440" y="804672"/>
            <a:ext cx="4160520" cy="3493008"/>
          </a:xfrm>
          <a:prstGeom prst="rect">
            <a:avLst/>
          </a:prstGeom>
          <a:solidFill>
            <a:srgbClr val="EAF5EF"/>
          </a:solidFill>
          <a:ln cap="flat" cmpd="sng" w="12700">
            <a:solidFill>
              <a:srgbClr val="4CAF8A">
                <a:alpha val="40000"/>
              </a:srgbClr>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1"/>
          <p:cNvSpPr/>
          <p:nvPr/>
        </p:nvSpPr>
        <p:spPr>
          <a:xfrm>
            <a:off x="4663440" y="804672"/>
            <a:ext cx="4160520" cy="347472"/>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1"/>
          <p:cNvSpPr/>
          <p:nvPr/>
        </p:nvSpPr>
        <p:spPr>
          <a:xfrm>
            <a:off x="4773168" y="832104"/>
            <a:ext cx="394106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Online Resources</a:t>
            </a:r>
            <a:endParaRPr b="0" i="0" sz="1300" u="none" cap="none" strike="noStrike">
              <a:solidFill>
                <a:schemeClr val="dk1"/>
              </a:solidFill>
              <a:latin typeface="Calibri"/>
              <a:ea typeface="Calibri"/>
              <a:cs typeface="Calibri"/>
              <a:sym typeface="Calibri"/>
            </a:endParaRPr>
          </a:p>
        </p:txBody>
      </p:sp>
      <p:sp>
        <p:nvSpPr>
          <p:cNvPr id="898" name="Google Shape;898;p31"/>
          <p:cNvSpPr/>
          <p:nvPr/>
        </p:nvSpPr>
        <p:spPr>
          <a:xfrm>
            <a:off x="4773168" y="1216152"/>
            <a:ext cx="3931920" cy="30175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GBIF — gbif.org (global biodiversity data)</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EEA — eea.europa.eu (European environmental data)</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Israel open data — data.gov.il</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NetLogo models library — ccl.northwestern.edu</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B2D42"/>
              </a:buClr>
              <a:buSzPts val="1250"/>
              <a:buFont typeface="Calibri"/>
              <a:buChar char="•"/>
            </a:pPr>
            <a:r>
              <a:rPr b="0" i="0" lang="en-US" sz="1250" u="none" cap="none" strike="noStrike">
                <a:solidFill>
                  <a:srgbClr val="2B2D42"/>
                </a:solidFill>
                <a:latin typeface="Calibri"/>
                <a:ea typeface="Calibri"/>
                <a:cs typeface="Calibri"/>
                <a:sym typeface="Calibri"/>
              </a:rPr>
              <a:t>Software Carpentry — software-carpentry.org</a:t>
            </a:r>
            <a:endParaRPr b="0" i="0" sz="1250" u="none" cap="none" strike="noStrike">
              <a:solidFill>
                <a:schemeClr val="dk1"/>
              </a:solidFill>
              <a:latin typeface="Calibri"/>
              <a:ea typeface="Calibri"/>
              <a:cs typeface="Calibri"/>
              <a:sym typeface="Calibri"/>
            </a:endParaRPr>
          </a:p>
        </p:txBody>
      </p:sp>
      <p:sp>
        <p:nvSpPr>
          <p:cNvPr id="899" name="Google Shape;899;p31"/>
          <p:cNvSpPr/>
          <p:nvPr/>
        </p:nvSpPr>
        <p:spPr>
          <a:xfrm>
            <a:off x="320040" y="4407408"/>
            <a:ext cx="8503920" cy="475488"/>
          </a:xfrm>
          <a:prstGeom prst="rect">
            <a:avLst/>
          </a:prstGeom>
          <a:solidFill>
            <a:srgbClr val="F7F3E8"/>
          </a:solidFill>
          <a:ln cap="flat" cmpd="sng" w="12700">
            <a:solidFill>
              <a:srgbClr val="C9A84C">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1"/>
          <p:cNvSpPr/>
          <p:nvPr/>
        </p:nvSpPr>
        <p:spPr>
          <a:xfrm>
            <a:off x="438912" y="4434840"/>
            <a:ext cx="82296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99AE"/>
              </a:buClr>
              <a:buSzPts val="1050"/>
              <a:buFont typeface="Calibri"/>
              <a:buNone/>
            </a:pPr>
            <a:r>
              <a:rPr b="0" i="1" lang="en-US" sz="1050" u="none" cap="none" strike="noStrike">
                <a:solidFill>
                  <a:srgbClr val="8D99AE"/>
                </a:solidFill>
                <a:latin typeface="Calibri"/>
                <a:ea typeface="Calibri"/>
                <a:cs typeface="Calibri"/>
                <a:sym typeface="Calibri"/>
              </a:rPr>
              <a:t>Chapter ref: Jørgensen (2018) History of ecological modelling, in Ecological Model Types, Springer.  ·  Futurecasting ecological research — rise of technoecology. ResearchGate #325027525.</a:t>
            </a:r>
            <a:endParaRPr b="0" i="0" sz="1050" u="none" cap="none" strike="noStrike">
              <a:solidFill>
                <a:schemeClr val="dk1"/>
              </a:solidFill>
              <a:latin typeface="Calibri"/>
              <a:ea typeface="Calibri"/>
              <a:cs typeface="Calibri"/>
              <a:sym typeface="Calibri"/>
            </a:endParaRPr>
          </a:p>
        </p:txBody>
      </p:sp>
      <p:sp>
        <p:nvSpPr>
          <p:cNvPr id="901" name="Google Shape;901;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906" name="Shape 906"/>
        <p:cNvGrpSpPr/>
        <p:nvPr/>
      </p:nvGrpSpPr>
      <p:grpSpPr>
        <a:xfrm>
          <a:off x="0" y="0"/>
          <a:ext cx="0" cy="0"/>
          <a:chOff x="0" y="0"/>
          <a:chExt cx="0" cy="0"/>
        </a:xfrm>
      </p:grpSpPr>
      <p:sp>
        <p:nvSpPr>
          <p:cNvPr id="907" name="Google Shape;907;p32"/>
          <p:cNvSpPr/>
          <p:nvPr/>
        </p:nvSpPr>
        <p:spPr>
          <a:xfrm>
            <a:off x="0" y="4914900"/>
            <a:ext cx="1828800" cy="228600"/>
          </a:xfrm>
          <a:prstGeom prst="rect">
            <a:avLst/>
          </a:prstGeom>
          <a:solidFill>
            <a:srgbClr val="4A9DB5"/>
          </a:solidFill>
          <a:ln cap="flat" cmpd="sng" w="12700">
            <a:solidFill>
              <a:srgbClr val="4A9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2"/>
          <p:cNvSpPr/>
          <p:nvPr/>
        </p:nvSpPr>
        <p:spPr>
          <a:xfrm>
            <a:off x="1828800" y="4914900"/>
            <a:ext cx="1828800" cy="228600"/>
          </a:xfrm>
          <a:prstGeom prst="rect">
            <a:avLst/>
          </a:prstGeom>
          <a:solidFill>
            <a:srgbClr val="D4756B"/>
          </a:solidFill>
          <a:ln cap="flat" cmpd="sng" w="12700">
            <a:solidFill>
              <a:srgbClr val="D475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2"/>
          <p:cNvSpPr/>
          <p:nvPr/>
        </p:nvSpPr>
        <p:spPr>
          <a:xfrm>
            <a:off x="3657600" y="4914900"/>
            <a:ext cx="1828800" cy="2286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2"/>
          <p:cNvSpPr/>
          <p:nvPr/>
        </p:nvSpPr>
        <p:spPr>
          <a:xfrm>
            <a:off x="5486400" y="4914900"/>
            <a:ext cx="1828800" cy="228600"/>
          </a:xfrm>
          <a:prstGeom prst="rect">
            <a:avLst/>
          </a:prstGeom>
          <a:solidFill>
            <a:srgbClr val="4CAF8A"/>
          </a:solidFill>
          <a:ln cap="flat" cmpd="sng" w="12700">
            <a:solidFill>
              <a:srgbClr val="4CAF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2"/>
          <p:cNvSpPr/>
          <p:nvPr/>
        </p:nvSpPr>
        <p:spPr>
          <a:xfrm>
            <a:off x="7315200" y="4914900"/>
            <a:ext cx="1828800" cy="228600"/>
          </a:xfrm>
          <a:prstGeom prst="rect">
            <a:avLst/>
          </a:prstGeom>
          <a:solidFill>
            <a:srgbClr val="7B68C8"/>
          </a:solidFill>
          <a:ln cap="flat" cmpd="sng" w="12700">
            <a:solidFill>
              <a:srgbClr val="7B6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2"/>
          <p:cNvSpPr/>
          <p:nvPr/>
        </p:nvSpPr>
        <p:spPr>
          <a:xfrm>
            <a:off x="6858000" y="365760"/>
            <a:ext cx="1188720" cy="1188720"/>
          </a:xfrm>
          <a:prstGeom prst="ellipse">
            <a:avLst/>
          </a:prstGeom>
          <a:solidFill>
            <a:srgbClr val="4A9DB5">
              <a:alpha val="70196"/>
            </a:srgbClr>
          </a:solidFill>
          <a:ln cap="flat" cmpd="sng" w="12700">
            <a:solidFill>
              <a:srgbClr val="4A9DB5">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2"/>
          <p:cNvSpPr/>
          <p:nvPr/>
        </p:nvSpPr>
        <p:spPr>
          <a:xfrm>
            <a:off x="7863840" y="1828800"/>
            <a:ext cx="731520" cy="731520"/>
          </a:xfrm>
          <a:prstGeom prst="ellipse">
            <a:avLst/>
          </a:prstGeom>
          <a:solidFill>
            <a:srgbClr val="C9A84C">
              <a:alpha val="70196"/>
            </a:srgbClr>
          </a:solidFill>
          <a:ln cap="flat" cmpd="sng" w="12700">
            <a:solidFill>
              <a:srgbClr val="C9A84C">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2"/>
          <p:cNvSpPr/>
          <p:nvPr/>
        </p:nvSpPr>
        <p:spPr>
          <a:xfrm>
            <a:off x="6492240" y="2926080"/>
            <a:ext cx="457200" cy="457200"/>
          </a:xfrm>
          <a:prstGeom prst="ellipse">
            <a:avLst/>
          </a:prstGeom>
          <a:solidFill>
            <a:srgbClr val="D4756B">
              <a:alpha val="70196"/>
            </a:srgbClr>
          </a:solidFill>
          <a:ln cap="flat" cmpd="sng" w="12700">
            <a:solidFill>
              <a:srgbClr val="D4756B">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2"/>
          <p:cNvSpPr/>
          <p:nvPr/>
        </p:nvSpPr>
        <p:spPr>
          <a:xfrm>
            <a:off x="7498080" y="3749040"/>
            <a:ext cx="914400" cy="914400"/>
          </a:xfrm>
          <a:prstGeom prst="ellipse">
            <a:avLst/>
          </a:prstGeom>
          <a:solidFill>
            <a:srgbClr val="4CAF8A">
              <a:alpha val="70196"/>
            </a:srgbClr>
          </a:solidFill>
          <a:ln cap="flat" cmpd="sng" w="12700">
            <a:solidFill>
              <a:srgbClr val="4CAF8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2"/>
          <p:cNvSpPr/>
          <p:nvPr/>
        </p:nvSpPr>
        <p:spPr>
          <a:xfrm>
            <a:off x="502920" y="1005840"/>
            <a:ext cx="5943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DB5"/>
              </a:buClr>
              <a:buSzPts val="1800"/>
              <a:buFont typeface="Calibri"/>
              <a:buNone/>
            </a:pPr>
            <a:r>
              <a:rPr b="1" i="0" lang="en-US" sz="1800" u="none" cap="none" strike="noStrike">
                <a:solidFill>
                  <a:srgbClr val="4A9DB5"/>
                </a:solidFill>
                <a:latin typeface="Calibri"/>
                <a:ea typeface="Calibri"/>
                <a:cs typeface="Calibri"/>
                <a:sym typeface="Calibri"/>
              </a:rPr>
              <a:t>Next Lecture:</a:t>
            </a:r>
            <a:endParaRPr b="0" i="0" sz="1800" u="none" cap="none" strike="noStrike">
              <a:solidFill>
                <a:schemeClr val="dk1"/>
              </a:solidFill>
              <a:latin typeface="Calibri"/>
              <a:ea typeface="Calibri"/>
              <a:cs typeface="Calibri"/>
              <a:sym typeface="Calibri"/>
            </a:endParaRPr>
          </a:p>
        </p:txBody>
      </p:sp>
      <p:sp>
        <p:nvSpPr>
          <p:cNvPr id="917" name="Google Shape;917;p32"/>
          <p:cNvSpPr/>
          <p:nvPr/>
        </p:nvSpPr>
        <p:spPr>
          <a:xfrm>
            <a:off x="502920" y="1417320"/>
            <a:ext cx="594360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Population Models</a:t>
            </a:r>
            <a:endParaRPr b="0" i="0" sz="3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&amp; Lotka-Volterra</a:t>
            </a:r>
            <a:endParaRPr b="0" i="0" sz="3800" u="none" cap="none" strike="noStrike">
              <a:solidFill>
                <a:schemeClr val="dk1"/>
              </a:solidFill>
              <a:latin typeface="Calibri"/>
              <a:ea typeface="Calibri"/>
              <a:cs typeface="Calibri"/>
              <a:sym typeface="Calibri"/>
            </a:endParaRPr>
          </a:p>
        </p:txBody>
      </p:sp>
      <p:sp>
        <p:nvSpPr>
          <p:cNvPr id="918" name="Google Shape;918;p32"/>
          <p:cNvSpPr/>
          <p:nvPr/>
        </p:nvSpPr>
        <p:spPr>
          <a:xfrm>
            <a:off x="502920" y="3291840"/>
            <a:ext cx="5943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350"/>
              <a:buFont typeface="Calibri"/>
              <a:buNone/>
            </a:pPr>
            <a:r>
              <a:rPr b="0" i="0" lang="en-US" sz="1350" u="none" cap="none" strike="noStrike">
                <a:solidFill>
                  <a:srgbClr val="C9A84C"/>
                </a:solidFill>
                <a:latin typeface="Calibri"/>
                <a:ea typeface="Calibri"/>
                <a:cs typeface="Calibri"/>
                <a:sym typeface="Calibri"/>
              </a:rPr>
              <a:t>Prepare: review differential equations and exponential vs. logistic growth before Lecture 2.</a:t>
            </a:r>
            <a:endParaRPr b="0" i="0" sz="1350" u="none" cap="none" strike="noStrike">
              <a:solidFill>
                <a:schemeClr val="dk1"/>
              </a:solidFill>
              <a:latin typeface="Calibri"/>
              <a:ea typeface="Calibri"/>
              <a:cs typeface="Calibri"/>
              <a:sym typeface="Calibri"/>
            </a:endParaRPr>
          </a:p>
        </p:txBody>
      </p:sp>
      <p:sp>
        <p:nvSpPr>
          <p:cNvPr id="919" name="Google Shape;919;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2026-03-17T20:21:54Z</dcterms:created>
  <dc:creator>PptxGenJS</dc:creator>
</cp:coreProperties>
</file>