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9"/>
  </p:notesMasterIdLst>
  <p:sldIdLst>
    <p:sldId id="256" r:id="rId2"/>
    <p:sldId id="257" r:id="rId3"/>
    <p:sldId id="258" r:id="rId4"/>
    <p:sldId id="277" r:id="rId5"/>
    <p:sldId id="278" r:id="rId6"/>
    <p:sldId id="279" r:id="rId7"/>
    <p:sldId id="280" r:id="rId8"/>
    <p:sldId id="261" r:id="rId9"/>
    <p:sldId id="259" r:id="rId10"/>
    <p:sldId id="260" r:id="rId11"/>
    <p:sldId id="262" r:id="rId12"/>
    <p:sldId id="283" r:id="rId13"/>
    <p:sldId id="285" r:id="rId14"/>
    <p:sldId id="286" r:id="rId15"/>
    <p:sldId id="287" r:id="rId16"/>
    <p:sldId id="288" r:id="rId17"/>
    <p:sldId id="289" r:id="rId18"/>
    <p:sldId id="290" r:id="rId19"/>
    <p:sldId id="268" r:id="rId20"/>
    <p:sldId id="263" r:id="rId21"/>
    <p:sldId id="264" r:id="rId22"/>
    <p:sldId id="265" r:id="rId23"/>
    <p:sldId id="266" r:id="rId24"/>
    <p:sldId id="267" r:id="rId25"/>
    <p:sldId id="298" r:id="rId26"/>
    <p:sldId id="269" r:id="rId27"/>
    <p:sldId id="291" r:id="rId28"/>
    <p:sldId id="292" r:id="rId29"/>
    <p:sldId id="293" r:id="rId30"/>
    <p:sldId id="276" r:id="rId31"/>
    <p:sldId id="299" r:id="rId32"/>
    <p:sldId id="284" r:id="rId33"/>
    <p:sldId id="271" r:id="rId34"/>
    <p:sldId id="294" r:id="rId35"/>
    <p:sldId id="295" r:id="rId36"/>
    <p:sldId id="296" r:id="rId37"/>
    <p:sldId id="275" r:id="rId38"/>
  </p:sldIdLst>
  <p:sldSz cx="9144000" cy="5143500" type="screen16x9"/>
  <p:notesSz cx="5143500" cy="9144000"/>
  <p:embeddedFontLst>
    <p:embeddedFont>
      <p:font typeface="DM Sans"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gRMSg+GXUl3xorVpNsXD0+ZHrnb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 name="Google Shape;25;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 name="Google Shape;26;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 name="Google Shape;32;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 name="Google Shape;33;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860BE088-F1DD-C5B4-3A1B-CB7EE1D99697}"/>
            </a:ext>
          </a:extLst>
        </p:cNvPr>
        <p:cNvGrpSpPr/>
        <p:nvPr/>
      </p:nvGrpSpPr>
      <p:grpSpPr>
        <a:xfrm>
          <a:off x="0" y="0"/>
          <a:ext cx="0" cy="0"/>
          <a:chOff x="0" y="0"/>
          <a:chExt cx="0" cy="0"/>
        </a:xfrm>
      </p:grpSpPr>
      <p:sp>
        <p:nvSpPr>
          <p:cNvPr id="31" name="Google Shape;31;p3:notes">
            <a:extLst>
              <a:ext uri="{FF2B5EF4-FFF2-40B4-BE49-F238E27FC236}">
                <a16:creationId xmlns:a16="http://schemas.microsoft.com/office/drawing/2014/main" id="{256C9B9E-925C-9BFD-C387-A5BE457A9770}"/>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 name="Google Shape;32;p3:notes">
            <a:extLst>
              <a:ext uri="{FF2B5EF4-FFF2-40B4-BE49-F238E27FC236}">
                <a16:creationId xmlns:a16="http://schemas.microsoft.com/office/drawing/2014/main" id="{63450F4E-4E22-975E-2D26-C7C019755B43}"/>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 name="Google Shape;33;p3:notes">
            <a:extLst>
              <a:ext uri="{FF2B5EF4-FFF2-40B4-BE49-F238E27FC236}">
                <a16:creationId xmlns:a16="http://schemas.microsoft.com/office/drawing/2014/main" id="{DC41462F-F3B1-9CB5-91E8-5D825C9FC22A}"/>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1245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58DB8E65-6B89-7B11-3EED-BB328FE1ED46}"/>
            </a:ext>
          </a:extLst>
        </p:cNvPr>
        <p:cNvGrpSpPr/>
        <p:nvPr/>
      </p:nvGrpSpPr>
      <p:grpSpPr>
        <a:xfrm>
          <a:off x="0" y="0"/>
          <a:ext cx="0" cy="0"/>
          <a:chOff x="0" y="0"/>
          <a:chExt cx="0" cy="0"/>
        </a:xfrm>
      </p:grpSpPr>
      <p:sp>
        <p:nvSpPr>
          <p:cNvPr id="31" name="Google Shape;31;p3:notes">
            <a:extLst>
              <a:ext uri="{FF2B5EF4-FFF2-40B4-BE49-F238E27FC236}">
                <a16:creationId xmlns:a16="http://schemas.microsoft.com/office/drawing/2014/main" id="{D9D28217-4921-7FF6-4E4C-FF1951929EA4}"/>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 name="Google Shape;32;p3:notes">
            <a:extLst>
              <a:ext uri="{FF2B5EF4-FFF2-40B4-BE49-F238E27FC236}">
                <a16:creationId xmlns:a16="http://schemas.microsoft.com/office/drawing/2014/main" id="{0F2718D4-E592-C1A0-8FBC-D369B14E03F4}"/>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 name="Google Shape;33;p3:notes">
            <a:extLst>
              <a:ext uri="{FF2B5EF4-FFF2-40B4-BE49-F238E27FC236}">
                <a16:creationId xmlns:a16="http://schemas.microsoft.com/office/drawing/2014/main" id="{359059B6-EF97-8DC0-9903-4FF91F4BA94E}"/>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5</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65254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EEFC172B-04E6-3390-731D-06EBB57B35A4}"/>
            </a:ext>
          </a:extLst>
        </p:cNvPr>
        <p:cNvGrpSpPr/>
        <p:nvPr/>
      </p:nvGrpSpPr>
      <p:grpSpPr>
        <a:xfrm>
          <a:off x="0" y="0"/>
          <a:ext cx="0" cy="0"/>
          <a:chOff x="0" y="0"/>
          <a:chExt cx="0" cy="0"/>
        </a:xfrm>
      </p:grpSpPr>
      <p:sp>
        <p:nvSpPr>
          <p:cNvPr id="31" name="Google Shape;31;p3:notes">
            <a:extLst>
              <a:ext uri="{FF2B5EF4-FFF2-40B4-BE49-F238E27FC236}">
                <a16:creationId xmlns:a16="http://schemas.microsoft.com/office/drawing/2014/main" id="{5EE3615E-3140-3035-5170-5497CCAA6914}"/>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 name="Google Shape;32;p3:notes">
            <a:extLst>
              <a:ext uri="{FF2B5EF4-FFF2-40B4-BE49-F238E27FC236}">
                <a16:creationId xmlns:a16="http://schemas.microsoft.com/office/drawing/2014/main" id="{D822C218-942F-F7A4-3CDF-16AEF6C78E3E}"/>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 name="Google Shape;33;p3:notes">
            <a:extLst>
              <a:ext uri="{FF2B5EF4-FFF2-40B4-BE49-F238E27FC236}">
                <a16:creationId xmlns:a16="http://schemas.microsoft.com/office/drawing/2014/main" id="{2FBE04E6-148B-9B39-B71C-3FC3B9A2A9C3}"/>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98929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753D6DF1-7C3D-4EDB-14DF-97B09279E513}"/>
            </a:ext>
          </a:extLst>
        </p:cNvPr>
        <p:cNvGrpSpPr/>
        <p:nvPr/>
      </p:nvGrpSpPr>
      <p:grpSpPr>
        <a:xfrm>
          <a:off x="0" y="0"/>
          <a:ext cx="0" cy="0"/>
          <a:chOff x="0" y="0"/>
          <a:chExt cx="0" cy="0"/>
        </a:xfrm>
      </p:grpSpPr>
      <p:sp>
        <p:nvSpPr>
          <p:cNvPr id="31" name="Google Shape;31;p3:notes">
            <a:extLst>
              <a:ext uri="{FF2B5EF4-FFF2-40B4-BE49-F238E27FC236}">
                <a16:creationId xmlns:a16="http://schemas.microsoft.com/office/drawing/2014/main" id="{CEDB8EAD-A360-CFD3-8FA8-7C3478F353AD}"/>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 name="Google Shape;32;p3:notes">
            <a:extLst>
              <a:ext uri="{FF2B5EF4-FFF2-40B4-BE49-F238E27FC236}">
                <a16:creationId xmlns:a16="http://schemas.microsoft.com/office/drawing/2014/main" id="{4EF61427-ED4A-968B-217D-667A4A948C5C}"/>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 name="Google Shape;33;p3:notes">
            <a:extLst>
              <a:ext uri="{FF2B5EF4-FFF2-40B4-BE49-F238E27FC236}">
                <a16:creationId xmlns:a16="http://schemas.microsoft.com/office/drawing/2014/main" id="{1237F538-0143-0ACC-5E16-AB7021A054A0}"/>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93812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3" name="Google Shape;83;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8</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 name="Google Shape;40;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1" name="Google Shape;41;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9</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 name="Google Shape;61;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2" name="Google Shape;62;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10</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0" name="Google Shape;90;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11</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9" name="Google Shape;219;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0" name="Google Shape;220;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19</a:t>
            </a:fld>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8" name="Google Shape;9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9" name="Google Shape;99;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20</a:t>
            </a:fld>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 name="Google Shape;116;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7" name="Google Shape;117;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21</a:t>
            </a:fld>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4" name="Google Shape;134;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35" name="Google Shape;135;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22</a:t>
            </a:fld>
            <a:endParaRPr sz="18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57" name="Google Shape;157;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23</a:t>
            </a:fld>
            <a:endParaRPr sz="18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4" name="Google Shape;174;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5" name="Google Shape;175;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24</a:t>
            </a:fld>
            <a:endParaRPr sz="18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59E29E92-6B29-002D-3B43-B4BE8455945C}"/>
            </a:ext>
          </a:extLst>
        </p:cNvPr>
        <p:cNvGrpSpPr/>
        <p:nvPr/>
      </p:nvGrpSpPr>
      <p:grpSpPr>
        <a:xfrm>
          <a:off x="0" y="0"/>
          <a:ext cx="0" cy="0"/>
          <a:chOff x="0" y="0"/>
          <a:chExt cx="0" cy="0"/>
        </a:xfrm>
      </p:grpSpPr>
      <p:sp>
        <p:nvSpPr>
          <p:cNvPr id="218" name="Google Shape;218;p13:notes">
            <a:extLst>
              <a:ext uri="{FF2B5EF4-FFF2-40B4-BE49-F238E27FC236}">
                <a16:creationId xmlns:a16="http://schemas.microsoft.com/office/drawing/2014/main" id="{2AE95ABB-DC77-9A4C-2ABF-61A04FC80AF6}"/>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9" name="Google Shape;219;p13:notes">
            <a:extLst>
              <a:ext uri="{FF2B5EF4-FFF2-40B4-BE49-F238E27FC236}">
                <a16:creationId xmlns:a16="http://schemas.microsoft.com/office/drawing/2014/main" id="{FBFA7587-0FE2-A373-3582-F30B6D090269}"/>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0" name="Google Shape;220;p13:notes">
            <a:extLst>
              <a:ext uri="{FF2B5EF4-FFF2-40B4-BE49-F238E27FC236}">
                <a16:creationId xmlns:a16="http://schemas.microsoft.com/office/drawing/2014/main" id="{37CC57CF-DAFD-6E3F-E71E-F5DCE429DB3B}"/>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25</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347148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7" name="Google Shape;227;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26</a:t>
            </a:fld>
            <a:endParaRPr sz="18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8" name="Google Shape;648;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49" name="Google Shape;649;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30</a:t>
            </a:fld>
            <a:endParaRPr sz="18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a:extLst>
            <a:ext uri="{FF2B5EF4-FFF2-40B4-BE49-F238E27FC236}">
              <a16:creationId xmlns:a16="http://schemas.microsoft.com/office/drawing/2014/main" id="{1AC29CAB-91A5-E077-CD3C-5C72E61E7E48}"/>
            </a:ext>
          </a:extLst>
        </p:cNvPr>
        <p:cNvGrpSpPr/>
        <p:nvPr/>
      </p:nvGrpSpPr>
      <p:grpSpPr>
        <a:xfrm>
          <a:off x="0" y="0"/>
          <a:ext cx="0" cy="0"/>
          <a:chOff x="0" y="0"/>
          <a:chExt cx="0" cy="0"/>
        </a:xfrm>
      </p:grpSpPr>
      <p:sp>
        <p:nvSpPr>
          <p:cNvPr id="647" name="Google Shape;647;p21:notes">
            <a:extLst>
              <a:ext uri="{FF2B5EF4-FFF2-40B4-BE49-F238E27FC236}">
                <a16:creationId xmlns:a16="http://schemas.microsoft.com/office/drawing/2014/main" id="{CE813CC0-9B58-85FC-6ECF-90EFAEB43540}"/>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8" name="Google Shape;648;p21:notes">
            <a:extLst>
              <a:ext uri="{FF2B5EF4-FFF2-40B4-BE49-F238E27FC236}">
                <a16:creationId xmlns:a16="http://schemas.microsoft.com/office/drawing/2014/main" id="{63AA2C82-C1AB-942F-4BEA-CB2EB5679B11}"/>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49" name="Google Shape;649;p21:notes">
            <a:extLst>
              <a:ext uri="{FF2B5EF4-FFF2-40B4-BE49-F238E27FC236}">
                <a16:creationId xmlns:a16="http://schemas.microsoft.com/office/drawing/2014/main" id="{C9F3AB37-AED1-47B6-29B9-B8E85141F81C}"/>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31</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452013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7" name="Google Shape;407;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08" name="Google Shape;408;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33</a:t>
            </a:fld>
            <a:endParaRPr sz="1800">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7331067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2" name="Google Shape;612;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13" name="Google Shape;613;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37</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www.ibm.com/think/topics/principal-component-analysi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https://www.isca.me/MATH_SCI/Archive/v3/i6/2.ISCA-RJMSS-2015-019.pdf" TargetMode="External"/><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www.nku.edu/~longa/geomed/ppa/doc/globals/Globals.htm" TargetMode="External"/><Relationship Id="rId5" Type="http://schemas.openxmlformats.org/officeDocument/2006/relationships/hyperlink" Target="https://pachterlab.github.io/voyager/articles/geary_landing.html" TargetMode="External"/><Relationship Id="rId4" Type="http://schemas.openxmlformats.org/officeDocument/2006/relationships/hyperlink" Target="https://www.youtube.com/watch?v=EKIKEeAw0W8&amp;t=1"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93A"/>
        </a:solidFill>
        <a:effectLst/>
      </p:bgPr>
    </p:bg>
    <p:spTree>
      <p:nvGrpSpPr>
        <p:cNvPr id="1" name="Shape 11"/>
        <p:cNvGrpSpPr/>
        <p:nvPr/>
      </p:nvGrpSpPr>
      <p:grpSpPr>
        <a:xfrm>
          <a:off x="0" y="0"/>
          <a:ext cx="0" cy="0"/>
          <a:chOff x="0" y="0"/>
          <a:chExt cx="0" cy="0"/>
        </a:xfrm>
      </p:grpSpPr>
      <p:sp>
        <p:nvSpPr>
          <p:cNvPr id="12" name="Google Shape;12;p1"/>
          <p:cNvSpPr/>
          <p:nvPr/>
        </p:nvSpPr>
        <p:spPr>
          <a:xfrm>
            <a:off x="7772400" y="-274320"/>
            <a:ext cx="1645920" cy="1645920"/>
          </a:xfrm>
          <a:prstGeom prst="ellipse">
            <a:avLst/>
          </a:prstGeom>
          <a:solidFill>
            <a:srgbClr val="E8734A">
              <a:alpha val="60000"/>
            </a:srgbClr>
          </a:solidFill>
          <a:ln w="12700" cap="flat" cmpd="sng">
            <a:solidFill>
              <a:srgbClr val="E8734A">
                <a:alpha val="6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1"/>
          <p:cNvSpPr/>
          <p:nvPr/>
        </p:nvSpPr>
        <p:spPr>
          <a:xfrm>
            <a:off x="8412480" y="731520"/>
            <a:ext cx="1280160" cy="1280160"/>
          </a:xfrm>
          <a:prstGeom prst="ellipse">
            <a:avLst/>
          </a:prstGeom>
          <a:solidFill>
            <a:srgbClr val="4A9B8E">
              <a:alpha val="50196"/>
            </a:srgbClr>
          </a:solidFill>
          <a:ln w="12700" cap="flat" cmpd="sng">
            <a:solidFill>
              <a:srgbClr val="4A9B8E">
                <a:alpha val="5019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 name="Google Shape;14;p1"/>
          <p:cNvSpPr/>
          <p:nvPr/>
        </p:nvSpPr>
        <p:spPr>
          <a:xfrm>
            <a:off x="7132320" y="822960"/>
            <a:ext cx="914400" cy="914400"/>
          </a:xfrm>
          <a:prstGeom prst="ellipse">
            <a:avLst/>
          </a:prstGeom>
          <a:solidFill>
            <a:srgbClr val="E05A5A">
              <a:alpha val="50196"/>
            </a:srgbClr>
          </a:solidFill>
          <a:ln w="12700" cap="flat" cmpd="sng">
            <a:solidFill>
              <a:srgbClr val="E05A5A">
                <a:alpha val="50196"/>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15;p1"/>
          <p:cNvSpPr/>
          <p:nvPr/>
        </p:nvSpPr>
        <p:spPr>
          <a:xfrm>
            <a:off x="7589520" y="3474720"/>
            <a:ext cx="1463040" cy="1463040"/>
          </a:xfrm>
          <a:prstGeom prst="ellipse">
            <a:avLst/>
          </a:prstGeom>
          <a:solidFill>
            <a:srgbClr val="7C6FA0">
              <a:alpha val="40000"/>
            </a:srgbClr>
          </a:solidFill>
          <a:ln w="12700" cap="flat" cmpd="sng">
            <a:solidFill>
              <a:srgbClr val="7C6FA0">
                <a:alpha val="4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1"/>
          <p:cNvSpPr/>
          <p:nvPr/>
        </p:nvSpPr>
        <p:spPr>
          <a:xfrm>
            <a:off x="8503920" y="3840480"/>
            <a:ext cx="1097280" cy="1097280"/>
          </a:xfrm>
          <a:prstGeom prst="ellipse">
            <a:avLst/>
          </a:prstGeom>
          <a:solidFill>
            <a:srgbClr val="4A9B8E">
              <a:alpha val="40000"/>
            </a:srgbClr>
          </a:solidFill>
          <a:ln w="12700" cap="flat" cmpd="sng">
            <a:solidFill>
              <a:srgbClr val="4A9B8E">
                <a:alpha val="4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17;p1"/>
          <p:cNvSpPr/>
          <p:nvPr/>
        </p:nvSpPr>
        <p:spPr>
          <a:xfrm>
            <a:off x="457200" y="457200"/>
            <a:ext cx="68580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AAAAA"/>
              </a:buClr>
              <a:buSzPts val="1100"/>
              <a:buFont typeface="Calibri"/>
              <a:buNone/>
            </a:pPr>
            <a:r>
              <a:rPr lang="en-US" sz="1100">
                <a:solidFill>
                  <a:srgbClr val="AAAAAA"/>
                </a:solidFill>
                <a:latin typeface="Calibri"/>
                <a:ea typeface="Calibri"/>
                <a:cs typeface="Calibri"/>
                <a:sym typeface="Calibri"/>
              </a:rPr>
              <a:t>Introduction to Ecological Modeling</a:t>
            </a:r>
            <a:endParaRPr sz="1100">
              <a:solidFill>
                <a:schemeClr val="dk1"/>
              </a:solidFill>
              <a:latin typeface="Calibri"/>
              <a:ea typeface="Calibri"/>
              <a:cs typeface="Calibri"/>
              <a:sym typeface="Calibri"/>
            </a:endParaRPr>
          </a:p>
        </p:txBody>
      </p:sp>
      <p:sp>
        <p:nvSpPr>
          <p:cNvPr id="18" name="Google Shape;18;p1"/>
          <p:cNvSpPr/>
          <p:nvPr/>
        </p:nvSpPr>
        <p:spPr>
          <a:xfrm>
            <a:off x="457200" y="914400"/>
            <a:ext cx="6858000" cy="914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400"/>
              <a:buFont typeface="Calibri"/>
              <a:buNone/>
            </a:pPr>
            <a:r>
              <a:rPr lang="en-US" sz="4400" b="1" dirty="0" err="1">
                <a:solidFill>
                  <a:srgbClr val="FFFFFF"/>
                </a:solidFill>
                <a:latin typeface="Calibri"/>
                <a:ea typeface="Calibri"/>
                <a:cs typeface="Calibri"/>
                <a:sym typeface="Calibri"/>
              </a:rPr>
              <a:t>Lec</a:t>
            </a:r>
            <a:r>
              <a:rPr lang="en-US" sz="4400" b="1" dirty="0">
                <a:solidFill>
                  <a:srgbClr val="FFFFFF"/>
                </a:solidFill>
                <a:latin typeface="Calibri"/>
                <a:ea typeface="Calibri"/>
                <a:cs typeface="Calibri"/>
                <a:sym typeface="Calibri"/>
              </a:rPr>
              <a:t> 6 — Spatial Statistics - Kriging</a:t>
            </a:r>
            <a:endParaRPr sz="4400" dirty="0">
              <a:solidFill>
                <a:schemeClr val="dk1"/>
              </a:solidFill>
              <a:latin typeface="Calibri"/>
              <a:ea typeface="Calibri"/>
              <a:cs typeface="Calibri"/>
              <a:sym typeface="Calibri"/>
            </a:endParaRPr>
          </a:p>
        </p:txBody>
      </p:sp>
      <p:sp>
        <p:nvSpPr>
          <p:cNvPr id="19" name="Google Shape;19;p1"/>
          <p:cNvSpPr/>
          <p:nvPr/>
        </p:nvSpPr>
        <p:spPr>
          <a:xfrm>
            <a:off x="457200" y="1783080"/>
            <a:ext cx="6858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CCCCC"/>
              </a:buClr>
              <a:buSzPts val="2000"/>
              <a:buFont typeface="Calibri"/>
              <a:buNone/>
            </a:pPr>
            <a:r>
              <a:rPr lang="en-US" sz="2000" i="1">
                <a:solidFill>
                  <a:srgbClr val="CCCCCC"/>
                </a:solidFill>
                <a:latin typeface="Calibri"/>
                <a:ea typeface="Calibri"/>
                <a:cs typeface="Calibri"/>
                <a:sym typeface="Calibri"/>
              </a:rPr>
              <a:t>in Ecological Systems</a:t>
            </a:r>
            <a:endParaRPr sz="2000">
              <a:solidFill>
                <a:schemeClr val="dk1"/>
              </a:solidFill>
              <a:latin typeface="Calibri"/>
              <a:ea typeface="Calibri"/>
              <a:cs typeface="Calibri"/>
              <a:sym typeface="Calibri"/>
            </a:endParaRPr>
          </a:p>
        </p:txBody>
      </p:sp>
      <p:sp>
        <p:nvSpPr>
          <p:cNvPr id="20" name="Google Shape;20;p1"/>
          <p:cNvSpPr/>
          <p:nvPr/>
        </p:nvSpPr>
        <p:spPr>
          <a:xfrm>
            <a:off x="457200" y="2423160"/>
            <a:ext cx="4114800" cy="36576"/>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 name="Google Shape;21;p1"/>
          <p:cNvSpPr/>
          <p:nvPr/>
        </p:nvSpPr>
        <p:spPr>
          <a:xfrm>
            <a:off x="457200" y="2578608"/>
            <a:ext cx="7772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99999"/>
              </a:buClr>
              <a:buSzPts val="950"/>
              <a:buFont typeface="Calibri"/>
              <a:buNone/>
            </a:pPr>
            <a:r>
              <a:rPr lang="en-US" sz="950">
                <a:solidFill>
                  <a:srgbClr val="999999"/>
                </a:solidFill>
                <a:latin typeface="Calibri"/>
                <a:ea typeface="Calibri"/>
                <a:cs typeface="Calibri"/>
                <a:sym typeface="Calibri"/>
              </a:rPr>
              <a:t>Geostatistics  ·  Spatial Interpolation  ·  Variogram Modeling  ·  Uncertainty Quantification</a:t>
            </a:r>
            <a:endParaRPr sz="950">
              <a:solidFill>
                <a:schemeClr val="dk1"/>
              </a:solidFill>
              <a:latin typeface="Calibri"/>
              <a:ea typeface="Calibri"/>
              <a:cs typeface="Calibri"/>
              <a:sym typeface="Calibri"/>
            </a:endParaRPr>
          </a:p>
        </p:txBody>
      </p:sp>
      <p:sp>
        <p:nvSpPr>
          <p:cNvPr id="22" name="Google Shape;22;p1"/>
          <p:cNvSpPr/>
          <p:nvPr/>
        </p:nvSpPr>
        <p:spPr>
          <a:xfrm>
            <a:off x="457200" y="4663440"/>
            <a:ext cx="4572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AAAAA"/>
              </a:buClr>
              <a:buSzPts val="1100"/>
              <a:buFont typeface="Calibri"/>
              <a:buNone/>
            </a:pPr>
            <a:r>
              <a:rPr lang="en-US" sz="1100">
                <a:solidFill>
                  <a:srgbClr val="AAAAAA"/>
                </a:solidFill>
                <a:latin typeface="Calibri"/>
                <a:ea typeface="Calibri"/>
                <a:cs typeface="Calibri"/>
                <a:sym typeface="Calibri"/>
              </a:rPr>
              <a:t>Dr. Naomi Unkelos-Shpigel</a:t>
            </a:r>
            <a:endParaRPr sz="11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A6E78"/>
        </a:solidFill>
        <a:effectLst/>
      </p:bgPr>
    </p:bg>
    <p:spTree>
      <p:nvGrpSpPr>
        <p:cNvPr id="1" name="Shape 27"/>
        <p:cNvGrpSpPr/>
        <p:nvPr/>
      </p:nvGrpSpPr>
      <p:grpSpPr>
        <a:xfrm>
          <a:off x="0" y="0"/>
          <a:ext cx="0" cy="0"/>
          <a:chOff x="0" y="0"/>
          <a:chExt cx="0" cy="0"/>
        </a:xfrm>
      </p:grpSpPr>
      <p:sp>
        <p:nvSpPr>
          <p:cNvPr id="28" name="Google Shape;28;p2"/>
          <p:cNvSpPr/>
          <p:nvPr/>
        </p:nvSpPr>
        <p:spPr>
          <a:xfrm>
            <a:off x="0" y="457200"/>
            <a:ext cx="9144000" cy="4114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0"/>
              <a:buFont typeface="Calibri"/>
              <a:buNone/>
            </a:pPr>
            <a:r>
              <a:rPr lang="en-US" sz="18000" b="1">
                <a:solidFill>
                  <a:srgbClr val="FFFFFF"/>
                </a:solidFill>
                <a:latin typeface="Calibri"/>
                <a:ea typeface="Calibri"/>
                <a:cs typeface="Calibri"/>
                <a:sym typeface="Calibri"/>
              </a:rPr>
              <a:t>1</a:t>
            </a:r>
            <a:endParaRPr sz="18000">
              <a:solidFill>
                <a:schemeClr val="dk1"/>
              </a:solidFill>
              <a:latin typeface="Calibri"/>
              <a:ea typeface="Calibri"/>
              <a:cs typeface="Calibri"/>
              <a:sym typeface="Calibri"/>
            </a:endParaRPr>
          </a:p>
        </p:txBody>
      </p:sp>
      <p:sp>
        <p:nvSpPr>
          <p:cNvPr id="29" name="Google Shape;29;p2"/>
          <p:cNvSpPr/>
          <p:nvPr/>
        </p:nvSpPr>
        <p:spPr>
          <a:xfrm>
            <a:off x="0" y="4297680"/>
            <a:ext cx="91440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libri"/>
              <a:buNone/>
            </a:pPr>
            <a:r>
              <a:rPr lang="en-US" sz="1800" dirty="0" err="1">
                <a:solidFill>
                  <a:srgbClr val="FFFFFF"/>
                </a:solidFill>
                <a:latin typeface="Calibri"/>
                <a:ea typeface="Calibri"/>
                <a:cs typeface="Calibri"/>
                <a:sym typeface="Calibri"/>
              </a:rPr>
              <a:t>GeoSpatial</a:t>
            </a:r>
            <a:r>
              <a:rPr lang="en-US" sz="1800" dirty="0">
                <a:solidFill>
                  <a:srgbClr val="FFFFFF"/>
                </a:solidFill>
                <a:latin typeface="Calibri"/>
                <a:ea typeface="Calibri"/>
                <a:cs typeface="Calibri"/>
                <a:sym typeface="Calibri"/>
              </a:rPr>
              <a:t> challenge</a:t>
            </a:r>
            <a:endParaRPr sz="1800"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34"/>
        <p:cNvGrpSpPr/>
        <p:nvPr/>
      </p:nvGrpSpPr>
      <p:grpSpPr>
        <a:xfrm>
          <a:off x="0" y="0"/>
          <a:ext cx="0" cy="0"/>
          <a:chOff x="0" y="0"/>
          <a:chExt cx="0" cy="0"/>
        </a:xfrm>
      </p:grpSpPr>
      <p:sp>
        <p:nvSpPr>
          <p:cNvPr id="35" name="Google Shape;35;p3"/>
          <p:cNvSpPr/>
          <p:nvPr/>
        </p:nvSpPr>
        <p:spPr>
          <a:xfrm>
            <a:off x="365760" y="256032"/>
            <a:ext cx="201168" cy="201168"/>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36;p3"/>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dirty="0">
                <a:solidFill>
                  <a:srgbClr val="2C2C2C"/>
                </a:solidFill>
                <a:latin typeface="Calibri"/>
                <a:ea typeface="Calibri"/>
                <a:cs typeface="Calibri"/>
                <a:sym typeface="Calibri"/>
              </a:rPr>
              <a:t>Spatial Statistics and Geographic Analysis</a:t>
            </a:r>
          </a:p>
        </p:txBody>
      </p:sp>
      <p:pic>
        <p:nvPicPr>
          <p:cNvPr id="2" name="Google Shape;156;p36">
            <a:extLst>
              <a:ext uri="{FF2B5EF4-FFF2-40B4-BE49-F238E27FC236}">
                <a16:creationId xmlns:a16="http://schemas.microsoft.com/office/drawing/2014/main" id="{25C53BFF-BF52-85F6-EA6D-4EE41060DB7E}"/>
              </a:ext>
            </a:extLst>
          </p:cNvPr>
          <p:cNvPicPr preferRelativeResize="0"/>
          <p:nvPr/>
        </p:nvPicPr>
        <p:blipFill rotWithShape="1">
          <a:blip r:embed="rId3">
            <a:alphaModFix/>
          </a:blip>
          <a:srcRect/>
          <a:stretch/>
        </p:blipFill>
        <p:spPr>
          <a:xfrm>
            <a:off x="6172200" y="0"/>
            <a:ext cx="2807208" cy="5143500"/>
          </a:xfrm>
          <a:prstGeom prst="rect">
            <a:avLst/>
          </a:prstGeom>
          <a:noFill/>
          <a:ln>
            <a:noFill/>
          </a:ln>
        </p:spPr>
      </p:pic>
      <p:sp>
        <p:nvSpPr>
          <p:cNvPr id="3" name="Google Shape;46;p4">
            <a:extLst>
              <a:ext uri="{FF2B5EF4-FFF2-40B4-BE49-F238E27FC236}">
                <a16:creationId xmlns:a16="http://schemas.microsoft.com/office/drawing/2014/main" id="{5F1EC917-7028-00E7-DD6A-14F7BCAD5150}"/>
              </a:ext>
            </a:extLst>
          </p:cNvPr>
          <p:cNvSpPr/>
          <p:nvPr/>
        </p:nvSpPr>
        <p:spPr>
          <a:xfrm>
            <a:off x="320040" y="1097280"/>
            <a:ext cx="2834640" cy="411480"/>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 name="Google Shape;47;p4">
            <a:extLst>
              <a:ext uri="{FF2B5EF4-FFF2-40B4-BE49-F238E27FC236}">
                <a16:creationId xmlns:a16="http://schemas.microsoft.com/office/drawing/2014/main" id="{9460E3E0-362D-AA02-3048-4FF414769886}"/>
              </a:ext>
            </a:extLst>
          </p:cNvPr>
          <p:cNvSpPr/>
          <p:nvPr/>
        </p:nvSpPr>
        <p:spPr>
          <a:xfrm>
            <a:off x="320040" y="1097280"/>
            <a:ext cx="283464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dirty="0">
                <a:solidFill>
                  <a:srgbClr val="FFFFFF"/>
                </a:solidFill>
                <a:latin typeface="Calibri"/>
                <a:ea typeface="Calibri"/>
                <a:cs typeface="Calibri"/>
                <a:sym typeface="Calibri"/>
              </a:rPr>
              <a:t>GIS integration</a:t>
            </a:r>
            <a:endParaRPr sz="1200" dirty="0">
              <a:solidFill>
                <a:schemeClr val="dk1"/>
              </a:solidFill>
              <a:latin typeface="Calibri"/>
              <a:ea typeface="Calibri"/>
              <a:cs typeface="Calibri"/>
              <a:sym typeface="Calibri"/>
            </a:endParaRPr>
          </a:p>
        </p:txBody>
      </p:sp>
      <p:sp>
        <p:nvSpPr>
          <p:cNvPr id="5" name="Google Shape;48;p4">
            <a:extLst>
              <a:ext uri="{FF2B5EF4-FFF2-40B4-BE49-F238E27FC236}">
                <a16:creationId xmlns:a16="http://schemas.microsoft.com/office/drawing/2014/main" id="{8759E9A7-DEF9-F66C-D200-2ADCC037337D}"/>
              </a:ext>
            </a:extLst>
          </p:cNvPr>
          <p:cNvSpPr/>
          <p:nvPr/>
        </p:nvSpPr>
        <p:spPr>
          <a:xfrm>
            <a:off x="320040" y="1508760"/>
            <a:ext cx="2834640" cy="3200400"/>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 name="Google Shape;49;p4">
            <a:extLst>
              <a:ext uri="{FF2B5EF4-FFF2-40B4-BE49-F238E27FC236}">
                <a16:creationId xmlns:a16="http://schemas.microsoft.com/office/drawing/2014/main" id="{2EB27814-52AA-F4D7-E9F6-000D71FC2FF4}"/>
              </a:ext>
            </a:extLst>
          </p:cNvPr>
          <p:cNvSpPr/>
          <p:nvPr/>
        </p:nvSpPr>
        <p:spPr>
          <a:xfrm>
            <a:off x="411480" y="1600200"/>
            <a:ext cx="2651760" cy="3017520"/>
          </a:xfrm>
          <a:prstGeom prst="rect">
            <a:avLst/>
          </a:prstGeom>
          <a:noFill/>
          <a:ln>
            <a:noFill/>
          </a:ln>
        </p:spPr>
        <p:txBody>
          <a:bodyPr spcFirstLastPara="1" wrap="square" lIns="91425" tIns="45700" rIns="91425" bIns="45700" anchor="t" anchorCtr="0">
            <a:noAutofit/>
          </a:bodyPr>
          <a:lstStyle/>
          <a:p>
            <a:pPr>
              <a:buClr>
                <a:srgbClr val="2C2C2C"/>
              </a:buClr>
              <a:buSzPts val="1050"/>
            </a:pPr>
            <a:r>
              <a:rPr lang="en-US" sz="1200" dirty="0">
                <a:solidFill>
                  <a:srgbClr val="2C2C2C"/>
                </a:solidFill>
                <a:latin typeface="Calibri"/>
                <a:ea typeface="Calibri"/>
                <a:cs typeface="Calibri"/>
                <a:sym typeface="DM Sans"/>
              </a:rPr>
              <a:t>Geographic Information Systems enable habitat modeling, landscape metrics, conservation planning, and invasive species tracking.</a:t>
            </a:r>
            <a:endParaRPr lang="en-US" sz="1200" dirty="0">
              <a:solidFill>
                <a:srgbClr val="2C2C2C"/>
              </a:solidFill>
              <a:latin typeface="Calibri"/>
              <a:ea typeface="Calibri"/>
              <a:cs typeface="Calibri"/>
            </a:endParaRPr>
          </a:p>
          <a:p>
            <a:pPr marL="0" marR="0" lvl="0" indent="0" algn="l" rtl="0">
              <a:spcBef>
                <a:spcPts val="0"/>
              </a:spcBef>
              <a:spcAft>
                <a:spcPts val="0"/>
              </a:spcAft>
              <a:buClr>
                <a:srgbClr val="2C2C2C"/>
              </a:buClr>
              <a:buSzPts val="1050"/>
              <a:buFont typeface="Calibri"/>
              <a:buNone/>
            </a:pPr>
            <a:endParaRPr sz="1050" dirty="0">
              <a:solidFill>
                <a:schemeClr val="dk1"/>
              </a:solidFill>
              <a:latin typeface="Calibri"/>
              <a:ea typeface="Calibri"/>
              <a:cs typeface="Calibri"/>
              <a:sym typeface="Calibri"/>
            </a:endParaRPr>
          </a:p>
        </p:txBody>
      </p:sp>
      <p:sp>
        <p:nvSpPr>
          <p:cNvPr id="7" name="Google Shape;50;p4">
            <a:extLst>
              <a:ext uri="{FF2B5EF4-FFF2-40B4-BE49-F238E27FC236}">
                <a16:creationId xmlns:a16="http://schemas.microsoft.com/office/drawing/2014/main" id="{256EF59E-7FDD-7A08-95B0-E5D6622B858F}"/>
              </a:ext>
            </a:extLst>
          </p:cNvPr>
          <p:cNvSpPr/>
          <p:nvPr/>
        </p:nvSpPr>
        <p:spPr>
          <a:xfrm>
            <a:off x="3246120" y="1097280"/>
            <a:ext cx="2834640" cy="411480"/>
          </a:xfrm>
          <a:prstGeom prst="rect">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 name="Google Shape;51;p4">
            <a:extLst>
              <a:ext uri="{FF2B5EF4-FFF2-40B4-BE49-F238E27FC236}">
                <a16:creationId xmlns:a16="http://schemas.microsoft.com/office/drawing/2014/main" id="{C4F3D5A1-814C-A7FD-8B3D-7E153110F3FF}"/>
              </a:ext>
            </a:extLst>
          </p:cNvPr>
          <p:cNvSpPr/>
          <p:nvPr/>
        </p:nvSpPr>
        <p:spPr>
          <a:xfrm>
            <a:off x="3246120" y="1097280"/>
            <a:ext cx="283464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Core Concept</a:t>
            </a:r>
            <a:endParaRPr sz="1200">
              <a:solidFill>
                <a:schemeClr val="dk1"/>
              </a:solidFill>
              <a:latin typeface="Calibri"/>
              <a:ea typeface="Calibri"/>
              <a:cs typeface="Calibri"/>
              <a:sym typeface="Calibri"/>
            </a:endParaRPr>
          </a:p>
        </p:txBody>
      </p:sp>
      <p:sp>
        <p:nvSpPr>
          <p:cNvPr id="9" name="Google Shape;52;p4">
            <a:extLst>
              <a:ext uri="{FF2B5EF4-FFF2-40B4-BE49-F238E27FC236}">
                <a16:creationId xmlns:a16="http://schemas.microsoft.com/office/drawing/2014/main" id="{188B6833-1BEC-D497-EC0A-D877334652D7}"/>
              </a:ext>
            </a:extLst>
          </p:cNvPr>
          <p:cNvSpPr/>
          <p:nvPr/>
        </p:nvSpPr>
        <p:spPr>
          <a:xfrm>
            <a:off x="3246120" y="1508760"/>
            <a:ext cx="2834640" cy="3200400"/>
          </a:xfrm>
          <a:prstGeom prst="rect">
            <a:avLst/>
          </a:prstGeom>
          <a:solidFill>
            <a:srgbClr val="D5EAE0"/>
          </a:solidFill>
          <a:ln w="12700" cap="flat" cmpd="sng">
            <a:solidFill>
              <a:srgbClr val="D5EA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 name="Google Shape;53;p4">
            <a:extLst>
              <a:ext uri="{FF2B5EF4-FFF2-40B4-BE49-F238E27FC236}">
                <a16:creationId xmlns:a16="http://schemas.microsoft.com/office/drawing/2014/main" id="{B26289D3-BA36-C08D-A4CB-7A419A30C3EF}"/>
              </a:ext>
            </a:extLst>
          </p:cNvPr>
          <p:cNvSpPr/>
          <p:nvPr/>
        </p:nvSpPr>
        <p:spPr>
          <a:xfrm>
            <a:off x="3337560" y="1600200"/>
            <a:ext cx="2651760" cy="3017520"/>
          </a:xfrm>
          <a:prstGeom prst="rect">
            <a:avLst/>
          </a:prstGeom>
          <a:noFill/>
          <a:ln>
            <a:noFill/>
          </a:ln>
        </p:spPr>
        <p:txBody>
          <a:bodyPr spcFirstLastPara="1" wrap="square" lIns="91425" tIns="45700" rIns="91425" bIns="45700" anchor="t" anchorCtr="0">
            <a:noAutofit/>
          </a:bodyPr>
          <a:lstStyle/>
          <a:p>
            <a:pPr lvl="0">
              <a:lnSpc>
                <a:spcPct val="160000"/>
              </a:lnSpc>
              <a:buClr>
                <a:srgbClr val="3B3535"/>
              </a:buClr>
              <a:buSzPts val="800"/>
            </a:pPr>
            <a:r>
              <a:rPr lang="en-US" sz="1050" dirty="0">
                <a:solidFill>
                  <a:srgbClr val="3B3535"/>
                </a:solidFill>
                <a:latin typeface="DM Sans"/>
                <a:ea typeface="DM Sans"/>
                <a:cs typeface="DM Sans"/>
                <a:sym typeface="DM Sans"/>
              </a:rPr>
              <a:t>Moran's I and Geary's C measure the degree to which ecological features are clustered or dispersed across space.</a:t>
            </a:r>
            <a:endParaRPr lang="en-US" sz="1050" dirty="0"/>
          </a:p>
        </p:txBody>
      </p:sp>
      <p:sp>
        <p:nvSpPr>
          <p:cNvPr id="16" name="TextBox 15">
            <a:extLst>
              <a:ext uri="{FF2B5EF4-FFF2-40B4-BE49-F238E27FC236}">
                <a16:creationId xmlns:a16="http://schemas.microsoft.com/office/drawing/2014/main" id="{2377E296-CC02-275F-531B-5863EAA801F3}"/>
              </a:ext>
            </a:extLst>
          </p:cNvPr>
          <p:cNvSpPr txBox="1"/>
          <p:nvPr/>
        </p:nvSpPr>
        <p:spPr>
          <a:xfrm>
            <a:off x="1129284" y="4709160"/>
            <a:ext cx="4572000" cy="333874"/>
          </a:xfrm>
          <a:prstGeom prst="rect">
            <a:avLst/>
          </a:prstGeom>
          <a:noFill/>
        </p:spPr>
        <p:txBody>
          <a:bodyPr wrap="square">
            <a:spAutoFit/>
          </a:bodyPr>
          <a:lstStyle/>
          <a:p>
            <a:pPr marL="0" marR="0" lvl="0" indent="0" algn="l" rtl="0">
              <a:lnSpc>
                <a:spcPct val="158823"/>
              </a:lnSpc>
              <a:spcBef>
                <a:spcPts val="0"/>
              </a:spcBef>
              <a:spcAft>
                <a:spcPts val="0"/>
              </a:spcAft>
              <a:buClr>
                <a:srgbClr val="1A2D7A"/>
              </a:buClr>
              <a:buSzPts val="1100"/>
              <a:buFont typeface="DM Sans"/>
              <a:buNone/>
            </a:pPr>
            <a:r>
              <a:rPr lang="en-US" sz="1050" b="0" i="0" u="sng" strike="noStrike" cap="none" dirty="0" err="1">
                <a:solidFill>
                  <a:schemeClr val="hlink"/>
                </a:solidFill>
                <a:latin typeface="DM Sans"/>
                <a:ea typeface="DM Sans"/>
                <a:cs typeface="DM Sans"/>
                <a:sym typeface="DM Sans"/>
                <a:hlinkClick r:id="rId4"/>
              </a:rPr>
              <a:t>Matheron</a:t>
            </a:r>
            <a:r>
              <a:rPr lang="en-US" sz="1050" b="0" i="0" u="sng" strike="noStrike" cap="none" dirty="0">
                <a:solidFill>
                  <a:schemeClr val="hlink"/>
                </a:solidFill>
                <a:latin typeface="DM Sans"/>
                <a:ea typeface="DM Sans"/>
                <a:cs typeface="DM Sans"/>
                <a:sym typeface="DM Sans"/>
                <a:hlinkClick r:id="rId4"/>
              </a:rPr>
              <a:t>, G. (1963). Principles of </a:t>
            </a:r>
            <a:r>
              <a:rPr lang="en-US" sz="1050" b="0" i="0" u="sng" strike="noStrike" cap="none" dirty="0" err="1">
                <a:solidFill>
                  <a:schemeClr val="hlink"/>
                </a:solidFill>
                <a:latin typeface="DM Sans"/>
                <a:ea typeface="DM Sans"/>
                <a:cs typeface="DM Sans"/>
                <a:sym typeface="DM Sans"/>
                <a:hlinkClick r:id="rId4"/>
              </a:rPr>
              <a:t>geostatistics</a:t>
            </a:r>
            <a:r>
              <a:rPr lang="en-US" sz="1050" b="0" i="0" u="sng" strike="noStrike" cap="none" dirty="0">
                <a:solidFill>
                  <a:schemeClr val="hlink"/>
                </a:solidFill>
                <a:latin typeface="DM Sans"/>
                <a:ea typeface="DM Sans"/>
                <a:cs typeface="DM Sans"/>
                <a:sym typeface="DM Sans"/>
                <a:hlinkClick r:id="rId4"/>
              </a:rPr>
              <a:t>. Economic Geology.</a:t>
            </a:r>
            <a:endParaRPr lang="en-US" sz="105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34">
          <a:extLst>
            <a:ext uri="{FF2B5EF4-FFF2-40B4-BE49-F238E27FC236}">
              <a16:creationId xmlns:a16="http://schemas.microsoft.com/office/drawing/2014/main" id="{AC353D1E-F136-B47A-0E43-C69B678142A5}"/>
            </a:ext>
          </a:extLst>
        </p:cNvPr>
        <p:cNvGrpSpPr/>
        <p:nvPr/>
      </p:nvGrpSpPr>
      <p:grpSpPr>
        <a:xfrm>
          <a:off x="0" y="0"/>
          <a:ext cx="0" cy="0"/>
          <a:chOff x="0" y="0"/>
          <a:chExt cx="0" cy="0"/>
        </a:xfrm>
      </p:grpSpPr>
      <p:sp>
        <p:nvSpPr>
          <p:cNvPr id="35" name="Google Shape;35;p3">
            <a:extLst>
              <a:ext uri="{FF2B5EF4-FFF2-40B4-BE49-F238E27FC236}">
                <a16:creationId xmlns:a16="http://schemas.microsoft.com/office/drawing/2014/main" id="{8BD2174F-6320-757D-9514-CE47840FE820}"/>
              </a:ext>
            </a:extLst>
          </p:cNvPr>
          <p:cNvSpPr/>
          <p:nvPr/>
        </p:nvSpPr>
        <p:spPr>
          <a:xfrm>
            <a:off x="365760" y="256032"/>
            <a:ext cx="201168" cy="201168"/>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36;p3">
            <a:extLst>
              <a:ext uri="{FF2B5EF4-FFF2-40B4-BE49-F238E27FC236}">
                <a16:creationId xmlns:a16="http://schemas.microsoft.com/office/drawing/2014/main" id="{1D7991B0-19CB-3CD8-F180-A5B4E68C7B90}"/>
              </a:ext>
            </a:extLst>
          </p:cNvPr>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dirty="0">
                <a:solidFill>
                  <a:srgbClr val="2C2C2C"/>
                </a:solidFill>
                <a:latin typeface="Calibri"/>
                <a:ea typeface="Calibri"/>
                <a:cs typeface="Calibri"/>
                <a:sym typeface="Calibri"/>
              </a:rPr>
              <a:t>Geary’s C (Geary, 1954)</a:t>
            </a:r>
          </a:p>
        </p:txBody>
      </p:sp>
      <p:sp>
        <p:nvSpPr>
          <p:cNvPr id="3" name="Google Shape;46;p4">
            <a:extLst>
              <a:ext uri="{FF2B5EF4-FFF2-40B4-BE49-F238E27FC236}">
                <a16:creationId xmlns:a16="http://schemas.microsoft.com/office/drawing/2014/main" id="{3BA28FB1-39DA-4C91-4DD2-8DD51912C62C}"/>
              </a:ext>
            </a:extLst>
          </p:cNvPr>
          <p:cNvSpPr/>
          <p:nvPr/>
        </p:nvSpPr>
        <p:spPr>
          <a:xfrm>
            <a:off x="320040" y="1097280"/>
            <a:ext cx="2834640" cy="411480"/>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 name="Google Shape;47;p4">
            <a:extLst>
              <a:ext uri="{FF2B5EF4-FFF2-40B4-BE49-F238E27FC236}">
                <a16:creationId xmlns:a16="http://schemas.microsoft.com/office/drawing/2014/main" id="{6A253B39-A75C-F021-BD23-A2BF53E03809}"/>
              </a:ext>
            </a:extLst>
          </p:cNvPr>
          <p:cNvSpPr/>
          <p:nvPr/>
        </p:nvSpPr>
        <p:spPr>
          <a:xfrm>
            <a:off x="320040" y="1097280"/>
            <a:ext cx="283464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dirty="0">
                <a:solidFill>
                  <a:srgbClr val="FFFFFF"/>
                </a:solidFill>
                <a:latin typeface="Calibri"/>
                <a:ea typeface="Calibri"/>
                <a:cs typeface="Calibri"/>
                <a:sym typeface="Calibri"/>
              </a:rPr>
              <a:t>GIS integration</a:t>
            </a:r>
            <a:endParaRPr sz="1200" dirty="0">
              <a:solidFill>
                <a:schemeClr val="dk1"/>
              </a:solidFill>
              <a:latin typeface="Calibri"/>
              <a:ea typeface="Calibri"/>
              <a:cs typeface="Calibri"/>
              <a:sym typeface="Calibri"/>
            </a:endParaRPr>
          </a:p>
        </p:txBody>
      </p:sp>
      <p:sp>
        <p:nvSpPr>
          <p:cNvPr id="5" name="Google Shape;48;p4">
            <a:extLst>
              <a:ext uri="{FF2B5EF4-FFF2-40B4-BE49-F238E27FC236}">
                <a16:creationId xmlns:a16="http://schemas.microsoft.com/office/drawing/2014/main" id="{F54E53D7-6E7F-523E-537E-3C4A7844582B}"/>
              </a:ext>
            </a:extLst>
          </p:cNvPr>
          <p:cNvSpPr/>
          <p:nvPr/>
        </p:nvSpPr>
        <p:spPr>
          <a:xfrm>
            <a:off x="320040" y="1508760"/>
            <a:ext cx="2834640" cy="2045712"/>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6" name="Google Shape;49;p4">
            <a:extLst>
              <a:ext uri="{FF2B5EF4-FFF2-40B4-BE49-F238E27FC236}">
                <a16:creationId xmlns:a16="http://schemas.microsoft.com/office/drawing/2014/main" id="{1CB6C642-E99D-1583-251E-1540150F81FB}"/>
              </a:ext>
            </a:extLst>
          </p:cNvPr>
          <p:cNvSpPr/>
          <p:nvPr/>
        </p:nvSpPr>
        <p:spPr>
          <a:xfrm>
            <a:off x="411480" y="1600200"/>
            <a:ext cx="2651760" cy="30175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endParaRPr sz="1050" dirty="0">
              <a:solidFill>
                <a:schemeClr val="dk1"/>
              </a:solidFill>
              <a:latin typeface="Calibri"/>
              <a:ea typeface="Calibri"/>
              <a:cs typeface="Calibri"/>
              <a:sym typeface="Calibri"/>
            </a:endParaRPr>
          </a:p>
        </p:txBody>
      </p:sp>
      <p:pic>
        <p:nvPicPr>
          <p:cNvPr id="1026" name="Picture 2">
            <a:extLst>
              <a:ext uri="{FF2B5EF4-FFF2-40B4-BE49-F238E27FC236}">
                <a16:creationId xmlns:a16="http://schemas.microsoft.com/office/drawing/2014/main" id="{6B7D650B-4E9F-C18B-B9E6-3C2AA852B3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2484" y="753507"/>
            <a:ext cx="2834640" cy="29617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FB586767-0D5A-19AF-2EDB-F2C901BEC298}"/>
              </a:ext>
            </a:extLst>
          </p:cNvPr>
          <p:cNvPicPr>
            <a:picLocks noChangeAspect="1"/>
          </p:cNvPicPr>
          <p:nvPr/>
        </p:nvPicPr>
        <p:blipFill>
          <a:blip r:embed="rId4"/>
          <a:stretch>
            <a:fillRect/>
          </a:stretch>
        </p:blipFill>
        <p:spPr>
          <a:xfrm>
            <a:off x="702884" y="1630986"/>
            <a:ext cx="2245296" cy="578507"/>
          </a:xfrm>
          <a:prstGeom prst="rect">
            <a:avLst/>
          </a:prstGeom>
        </p:spPr>
      </p:pic>
      <p:sp>
        <p:nvSpPr>
          <p:cNvPr id="15" name="TextBox 14">
            <a:extLst>
              <a:ext uri="{FF2B5EF4-FFF2-40B4-BE49-F238E27FC236}">
                <a16:creationId xmlns:a16="http://schemas.microsoft.com/office/drawing/2014/main" id="{95B9D594-5A42-5D45-B886-787267B1BB8B}"/>
              </a:ext>
            </a:extLst>
          </p:cNvPr>
          <p:cNvSpPr txBox="1"/>
          <p:nvPr/>
        </p:nvSpPr>
        <p:spPr>
          <a:xfrm>
            <a:off x="3872484" y="72033"/>
            <a:ext cx="4572000" cy="430887"/>
          </a:xfrm>
          <a:prstGeom prst="rect">
            <a:avLst/>
          </a:prstGeom>
          <a:noFill/>
        </p:spPr>
        <p:txBody>
          <a:bodyPr wrap="square">
            <a:spAutoFit/>
          </a:bodyPr>
          <a:lstStyle/>
          <a:p>
            <a:r>
              <a:rPr lang="he-IL" sz="1050" dirty="0"/>
              <a:t>https://colab.research.google.com/github/pachterlab/voyager/blob/documentation/vignettes/vig2_visium.ipynb#scrollTo=d5f48a82</a:t>
            </a:r>
          </a:p>
        </p:txBody>
      </p:sp>
      <p:pic>
        <p:nvPicPr>
          <p:cNvPr id="19" name="Picture 18">
            <a:extLst>
              <a:ext uri="{FF2B5EF4-FFF2-40B4-BE49-F238E27FC236}">
                <a16:creationId xmlns:a16="http://schemas.microsoft.com/office/drawing/2014/main" id="{C9AD9B98-AED0-F9BE-84AF-5539320E7947}"/>
              </a:ext>
            </a:extLst>
          </p:cNvPr>
          <p:cNvPicPr>
            <a:picLocks noChangeAspect="1"/>
          </p:cNvPicPr>
          <p:nvPr/>
        </p:nvPicPr>
        <p:blipFill>
          <a:blip r:embed="rId5"/>
          <a:stretch>
            <a:fillRect/>
          </a:stretch>
        </p:blipFill>
        <p:spPr>
          <a:xfrm>
            <a:off x="411481" y="2255213"/>
            <a:ext cx="2651760" cy="1184476"/>
          </a:xfrm>
          <a:prstGeom prst="rect">
            <a:avLst/>
          </a:prstGeom>
        </p:spPr>
      </p:pic>
      <p:sp>
        <p:nvSpPr>
          <p:cNvPr id="23" name="TextBox 22">
            <a:extLst>
              <a:ext uri="{FF2B5EF4-FFF2-40B4-BE49-F238E27FC236}">
                <a16:creationId xmlns:a16="http://schemas.microsoft.com/office/drawing/2014/main" id="{94E450B8-CB05-C3D9-AF29-6B845743764D}"/>
              </a:ext>
            </a:extLst>
          </p:cNvPr>
          <p:cNvSpPr txBox="1"/>
          <p:nvPr/>
        </p:nvSpPr>
        <p:spPr>
          <a:xfrm>
            <a:off x="201168" y="3715208"/>
            <a:ext cx="3538934" cy="1277273"/>
          </a:xfrm>
          <a:prstGeom prst="rect">
            <a:avLst/>
          </a:prstGeom>
          <a:noFill/>
        </p:spPr>
        <p:txBody>
          <a:bodyPr wrap="square">
            <a:spAutoFit/>
          </a:bodyPr>
          <a:lstStyle/>
          <a:p>
            <a:r>
              <a:rPr lang="sv-SE" sz="1100" dirty="0">
                <a:latin typeface="Calibri" panose="020F0502020204030204" pitchFamily="34" charset="0"/>
                <a:ea typeface="Calibri" panose="020F0502020204030204" pitchFamily="34" charset="0"/>
                <a:cs typeface="Calibri" panose="020F0502020204030204" pitchFamily="34" charset="0"/>
              </a:rPr>
              <a:t>C &lt; 1: Indicates Positive Spatial Autocorrelation. Similar values cluster together on the map (e.g., high values next to high values).C = 1: Indicates No Spatial Autocorrelation. Spatial randomness; values are arranged independently of geography.C &gt; 1: Indicates Negative Spatial Autocorrelation. Dissimilar values cluster together (e.g., high values next to low values).</a:t>
            </a:r>
            <a:endParaRPr lang="he-IL" sz="11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67630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34">
          <a:extLst>
            <a:ext uri="{FF2B5EF4-FFF2-40B4-BE49-F238E27FC236}">
              <a16:creationId xmlns:a16="http://schemas.microsoft.com/office/drawing/2014/main" id="{E0AD4BEC-5F6D-8FEB-1344-63A4BECF9982}"/>
            </a:ext>
          </a:extLst>
        </p:cNvPr>
        <p:cNvGrpSpPr/>
        <p:nvPr/>
      </p:nvGrpSpPr>
      <p:grpSpPr>
        <a:xfrm>
          <a:off x="0" y="0"/>
          <a:ext cx="0" cy="0"/>
          <a:chOff x="0" y="0"/>
          <a:chExt cx="0" cy="0"/>
        </a:xfrm>
      </p:grpSpPr>
      <p:sp>
        <p:nvSpPr>
          <p:cNvPr id="35" name="Google Shape;35;p3">
            <a:extLst>
              <a:ext uri="{FF2B5EF4-FFF2-40B4-BE49-F238E27FC236}">
                <a16:creationId xmlns:a16="http://schemas.microsoft.com/office/drawing/2014/main" id="{B19294FD-9AF3-36E0-8C3D-FFA579944B9D}"/>
              </a:ext>
            </a:extLst>
          </p:cNvPr>
          <p:cNvSpPr/>
          <p:nvPr/>
        </p:nvSpPr>
        <p:spPr>
          <a:xfrm>
            <a:off x="365760" y="256032"/>
            <a:ext cx="201168" cy="201168"/>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36;p3">
            <a:extLst>
              <a:ext uri="{FF2B5EF4-FFF2-40B4-BE49-F238E27FC236}">
                <a16:creationId xmlns:a16="http://schemas.microsoft.com/office/drawing/2014/main" id="{954638DC-60A6-508A-B10B-C76597893522}"/>
              </a:ext>
            </a:extLst>
          </p:cNvPr>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dirty="0">
                <a:solidFill>
                  <a:srgbClr val="2C2C2C"/>
                </a:solidFill>
                <a:latin typeface="Calibri"/>
                <a:ea typeface="Calibri"/>
                <a:cs typeface="Calibri"/>
                <a:sym typeface="Calibri"/>
              </a:rPr>
              <a:t>Geary’s C (Geary, 1954) example</a:t>
            </a:r>
          </a:p>
        </p:txBody>
      </p:sp>
      <p:sp>
        <p:nvSpPr>
          <p:cNvPr id="4" name="Google Shape;47;p4">
            <a:extLst>
              <a:ext uri="{FF2B5EF4-FFF2-40B4-BE49-F238E27FC236}">
                <a16:creationId xmlns:a16="http://schemas.microsoft.com/office/drawing/2014/main" id="{8203CA08-E615-FA68-438B-44089F467947}"/>
              </a:ext>
            </a:extLst>
          </p:cNvPr>
          <p:cNvSpPr/>
          <p:nvPr/>
        </p:nvSpPr>
        <p:spPr>
          <a:xfrm>
            <a:off x="320040" y="1097280"/>
            <a:ext cx="283464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dirty="0">
                <a:solidFill>
                  <a:srgbClr val="FFFFFF"/>
                </a:solidFill>
                <a:latin typeface="Calibri"/>
                <a:ea typeface="Calibri"/>
                <a:cs typeface="Calibri"/>
                <a:sym typeface="Calibri"/>
              </a:rPr>
              <a:t>GIS integration</a:t>
            </a:r>
            <a:endParaRPr sz="1200" dirty="0">
              <a:solidFill>
                <a:schemeClr val="dk1"/>
              </a:solidFill>
              <a:latin typeface="Calibri"/>
              <a:ea typeface="Calibri"/>
              <a:cs typeface="Calibri"/>
              <a:sym typeface="Calibri"/>
            </a:endParaRPr>
          </a:p>
        </p:txBody>
      </p:sp>
      <p:sp>
        <p:nvSpPr>
          <p:cNvPr id="5" name="Google Shape;48;p4">
            <a:extLst>
              <a:ext uri="{FF2B5EF4-FFF2-40B4-BE49-F238E27FC236}">
                <a16:creationId xmlns:a16="http://schemas.microsoft.com/office/drawing/2014/main" id="{6FC3B723-4E09-6D93-1D10-0AF14E1D9772}"/>
              </a:ext>
            </a:extLst>
          </p:cNvPr>
          <p:cNvSpPr/>
          <p:nvPr/>
        </p:nvSpPr>
        <p:spPr>
          <a:xfrm>
            <a:off x="271914" y="643174"/>
            <a:ext cx="5922630" cy="3974546"/>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r>
              <a:rPr lang="en-US" sz="1100" dirty="0">
                <a:latin typeface="Calibri" panose="020F0502020204030204" pitchFamily="34" charset="0"/>
                <a:ea typeface="Calibri" panose="020F0502020204030204" pitchFamily="34" charset="0"/>
                <a:cs typeface="Calibri" panose="020F0502020204030204" pitchFamily="34" charset="0"/>
              </a:rPr>
              <a:t>Suppose we have five districts in a city with median house prices, and we want to know if prices form a spatial cluster. [</a:t>
            </a:r>
            <a:r>
              <a:rPr lang="en-US" sz="1100" dirty="0">
                <a:latin typeface="Calibri" panose="020F0502020204030204" pitchFamily="34" charset="0"/>
                <a:ea typeface="Calibri" panose="020F0502020204030204" pitchFamily="34" charset="0"/>
                <a:cs typeface="Calibri" panose="020F0502020204030204" pitchFamily="34" charset="0"/>
                <a:hlinkClick r:id="rId3"/>
              </a:rPr>
              <a:t>1</a:t>
            </a:r>
            <a:r>
              <a:rPr lang="en-US" sz="1100" dirty="0">
                <a:latin typeface="Calibri" panose="020F0502020204030204" pitchFamily="34" charset="0"/>
                <a:ea typeface="Calibri" panose="020F0502020204030204" pitchFamily="34" charset="0"/>
                <a:cs typeface="Calibri" panose="020F0502020204030204" pitchFamily="34" charset="0"/>
              </a:rPr>
              <a:t>]</a:t>
            </a:r>
          </a:p>
          <a:p>
            <a:r>
              <a:rPr lang="en-US" sz="1100" b="1" dirty="0">
                <a:latin typeface="Calibri" panose="020F0502020204030204" pitchFamily="34" charset="0"/>
                <a:ea typeface="Calibri" panose="020F0502020204030204" pitchFamily="34" charset="0"/>
                <a:cs typeface="Calibri" panose="020F0502020204030204" pitchFamily="34" charset="0"/>
              </a:rPr>
              <a:t>1. Our Data (\(x\)):</a:t>
            </a:r>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dirty="0">
                <a:latin typeface="Calibri" panose="020F0502020204030204" pitchFamily="34" charset="0"/>
                <a:ea typeface="Calibri" panose="020F0502020204030204" pitchFamily="34" charset="0"/>
                <a:cs typeface="Calibri" panose="020F0502020204030204" pitchFamily="34" charset="0"/>
              </a:rPr>
              <a:t>District 1: $100,000</a:t>
            </a:r>
          </a:p>
          <a:p>
            <a:r>
              <a:rPr lang="en-US" sz="1100" dirty="0">
                <a:latin typeface="Calibri" panose="020F0502020204030204" pitchFamily="34" charset="0"/>
                <a:ea typeface="Calibri" panose="020F0502020204030204" pitchFamily="34" charset="0"/>
                <a:cs typeface="Calibri" panose="020F0502020204030204" pitchFamily="34" charset="0"/>
              </a:rPr>
              <a:t>District 2: $110,000</a:t>
            </a:r>
          </a:p>
          <a:p>
            <a:r>
              <a:rPr lang="en-US" sz="1100" dirty="0">
                <a:latin typeface="Calibri" panose="020F0502020204030204" pitchFamily="34" charset="0"/>
                <a:ea typeface="Calibri" panose="020F0502020204030204" pitchFamily="34" charset="0"/>
                <a:cs typeface="Calibri" panose="020F0502020204030204" pitchFamily="34" charset="0"/>
              </a:rPr>
              <a:t>District 3: $105,000</a:t>
            </a:r>
          </a:p>
          <a:p>
            <a:r>
              <a:rPr lang="en-US" sz="1100" dirty="0">
                <a:latin typeface="Calibri" panose="020F0502020204030204" pitchFamily="34" charset="0"/>
                <a:ea typeface="Calibri" panose="020F0502020204030204" pitchFamily="34" charset="0"/>
                <a:cs typeface="Calibri" panose="020F0502020204030204" pitchFamily="34" charset="0"/>
              </a:rPr>
              <a:t>District 4: $150,000</a:t>
            </a:r>
          </a:p>
          <a:p>
            <a:r>
              <a:rPr lang="en-US" sz="1100" dirty="0">
                <a:latin typeface="Calibri" panose="020F0502020204030204" pitchFamily="34" charset="0"/>
                <a:ea typeface="Calibri" panose="020F0502020204030204" pitchFamily="34" charset="0"/>
                <a:cs typeface="Calibri" panose="020F0502020204030204" pitchFamily="34" charset="0"/>
              </a:rPr>
              <a:t>District 5: $155,000</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i="1" dirty="0">
                <a:latin typeface="Calibri" panose="020F0502020204030204" pitchFamily="34" charset="0"/>
                <a:ea typeface="Calibri" panose="020F0502020204030204" pitchFamily="34" charset="0"/>
                <a:cs typeface="Calibri" panose="020F0502020204030204" pitchFamily="34" charset="0"/>
              </a:rPr>
              <a:t>(Mean price \(\bar{x} = \$124,000\))</a:t>
            </a:r>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b="1" dirty="0">
                <a:latin typeface="Calibri" panose="020F0502020204030204" pitchFamily="34" charset="0"/>
                <a:ea typeface="Calibri" panose="020F0502020204030204" pitchFamily="34" charset="0"/>
                <a:cs typeface="Calibri" panose="020F0502020204030204" pitchFamily="34" charset="0"/>
              </a:rPr>
              <a:t>2. Spatial Weights (\(w_{</a:t>
            </a:r>
            <a:r>
              <a:rPr lang="en-US" sz="1100" b="1" dirty="0" err="1">
                <a:latin typeface="Calibri" panose="020F0502020204030204" pitchFamily="34" charset="0"/>
                <a:ea typeface="Calibri" panose="020F0502020204030204" pitchFamily="34" charset="0"/>
                <a:cs typeface="Calibri" panose="020F0502020204030204" pitchFamily="34" charset="0"/>
              </a:rPr>
              <a:t>ij</a:t>
            </a:r>
            <a:r>
              <a:rPr lang="en-US" sz="1100" b="1" dirty="0">
                <a:latin typeface="Calibri" panose="020F0502020204030204" pitchFamily="34" charset="0"/>
                <a:ea typeface="Calibri" panose="020F0502020204030204" pitchFamily="34" charset="0"/>
                <a:cs typeface="Calibri" panose="020F0502020204030204" pitchFamily="34" charset="0"/>
              </a:rPr>
              <a:t>}\)):</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Assume the districts form a line: D1 connects to D2, D2 connects to D3, etc. We use a simple binary weight (\(1\) if neighbors, \(0\) otherwise) to create our \(w_{</a:t>
            </a:r>
            <a:r>
              <a:rPr lang="en-US" sz="1100" dirty="0" err="1">
                <a:latin typeface="Calibri" panose="020F0502020204030204" pitchFamily="34" charset="0"/>
                <a:ea typeface="Calibri" panose="020F0502020204030204" pitchFamily="34" charset="0"/>
                <a:cs typeface="Calibri" panose="020F0502020204030204" pitchFamily="34" charset="0"/>
              </a:rPr>
              <a:t>ij</a:t>
            </a:r>
            <a:r>
              <a:rPr lang="en-US" sz="1100" dirty="0">
                <a:latin typeface="Calibri" panose="020F0502020204030204" pitchFamily="34" charset="0"/>
                <a:ea typeface="Calibri" panose="020F0502020204030204" pitchFamily="34" charset="0"/>
                <a:cs typeface="Calibri" panose="020F0502020204030204" pitchFamily="34" charset="0"/>
              </a:rPr>
              <a:t>}\) table. </a:t>
            </a:r>
          </a:p>
          <a:p>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dirty="0">
                <a:latin typeface="Calibri" panose="020F0502020204030204" pitchFamily="34" charset="0"/>
                <a:ea typeface="Calibri" panose="020F0502020204030204" pitchFamily="34" charset="0"/>
                <a:cs typeface="Calibri" panose="020F0502020204030204" pitchFamily="34" charset="0"/>
              </a:rPr>
              <a:t>We calculate the squared difference between all neighbor pairs and divide it by the overall variance of the city's housing prices. [</a:t>
            </a:r>
            <a:r>
              <a:rPr lang="en-US" sz="1100" dirty="0">
                <a:latin typeface="Calibri" panose="020F0502020204030204" pitchFamily="34" charset="0"/>
                <a:ea typeface="Calibri" panose="020F0502020204030204" pitchFamily="34" charset="0"/>
                <a:cs typeface="Calibri" panose="020F0502020204030204" pitchFamily="34" charset="0"/>
                <a:hlinkClick r:id="rId4"/>
              </a:rPr>
              <a:t>1</a:t>
            </a:r>
            <a:r>
              <a:rPr lang="en-US" sz="1100" dirty="0">
                <a:latin typeface="Calibri" panose="020F0502020204030204" pitchFamily="34" charset="0"/>
                <a:ea typeface="Calibri" panose="020F0502020204030204" pitchFamily="34" charset="0"/>
                <a:cs typeface="Calibri" panose="020F0502020204030204" pitchFamily="34" charset="0"/>
              </a:rPr>
              <a:t>, </a:t>
            </a:r>
            <a:r>
              <a:rPr lang="en-US" sz="1100" dirty="0">
                <a:latin typeface="Calibri" panose="020F0502020204030204" pitchFamily="34" charset="0"/>
                <a:ea typeface="Calibri" panose="020F0502020204030204" pitchFamily="34" charset="0"/>
                <a:cs typeface="Calibri" panose="020F0502020204030204" pitchFamily="34" charset="0"/>
                <a:hlinkClick r:id="rId5"/>
              </a:rPr>
              <a:t>2</a:t>
            </a:r>
            <a:r>
              <a:rPr lang="en-US" sz="1100" dirty="0">
                <a:latin typeface="Calibri" panose="020F0502020204030204" pitchFamily="34" charset="0"/>
                <a:ea typeface="Calibri" panose="020F0502020204030204" pitchFamily="34" charset="0"/>
                <a:cs typeface="Calibri" panose="020F0502020204030204" pitchFamily="34" charset="0"/>
              </a:rPr>
              <a:t>]</a:t>
            </a:r>
          </a:p>
          <a:p>
            <a:r>
              <a:rPr lang="en-US" sz="1100" dirty="0">
                <a:latin typeface="Calibri" panose="020F0502020204030204" pitchFamily="34" charset="0"/>
                <a:ea typeface="Calibri" panose="020F0502020204030204" pitchFamily="34" charset="0"/>
                <a:cs typeface="Calibri" panose="020F0502020204030204" pitchFamily="34" charset="0"/>
              </a:rPr>
              <a:t>Because Districts 1, 2, and 3 have similar prices and are located next to each other, their local differences are small.</a:t>
            </a:r>
          </a:p>
          <a:p>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dirty="0">
                <a:latin typeface="Calibri" panose="020F0502020204030204" pitchFamily="34" charset="0"/>
                <a:ea typeface="Calibri" panose="020F0502020204030204" pitchFamily="34" charset="0"/>
                <a:cs typeface="Calibri" panose="020F0502020204030204" pitchFamily="34" charset="0"/>
              </a:rPr>
              <a:t>If our final equation yields \(C = 0.75\), this number is </a:t>
            </a:r>
            <a:r>
              <a:rPr lang="en-US" sz="1100" b="1" dirty="0">
                <a:latin typeface="Calibri" panose="020F0502020204030204" pitchFamily="34" charset="0"/>
                <a:ea typeface="Calibri" panose="020F0502020204030204" pitchFamily="34" charset="0"/>
                <a:cs typeface="Calibri" panose="020F0502020204030204" pitchFamily="34" charset="0"/>
              </a:rPr>
              <a:t>less than 1</a:t>
            </a:r>
            <a:r>
              <a:rPr lang="en-US" sz="1100" dirty="0">
                <a:latin typeface="Calibri" panose="020F0502020204030204" pitchFamily="34" charset="0"/>
                <a:ea typeface="Calibri" panose="020F0502020204030204" pitchFamily="34" charset="0"/>
                <a:cs typeface="Calibri" panose="020F0502020204030204" pitchFamily="34" charset="0"/>
              </a:rPr>
              <a:t>.</a:t>
            </a:r>
          </a:p>
          <a:p>
            <a:r>
              <a:rPr lang="en-US" sz="1100" b="1" dirty="0">
                <a:latin typeface="Calibri" panose="020F0502020204030204" pitchFamily="34" charset="0"/>
                <a:ea typeface="Calibri" panose="020F0502020204030204" pitchFamily="34" charset="0"/>
                <a:cs typeface="Calibri" panose="020F0502020204030204" pitchFamily="34" charset="0"/>
              </a:rPr>
              <a:t>Conclusion:</a:t>
            </a:r>
            <a:r>
              <a:rPr lang="en-US" sz="1100" dirty="0">
                <a:latin typeface="Calibri" panose="020F0502020204030204" pitchFamily="34" charset="0"/>
                <a:ea typeface="Calibri" panose="020F0502020204030204" pitchFamily="34" charset="0"/>
                <a:cs typeface="Calibri" panose="020F0502020204030204" pitchFamily="34" charset="0"/>
              </a:rPr>
              <a:t> There is positive spatial autocorrelation; housing prices are spatially clustered rather than randomly distributed across the city. [</a:t>
            </a:r>
            <a:r>
              <a:rPr lang="en-US" sz="1100" dirty="0">
                <a:latin typeface="Calibri" panose="020F0502020204030204" pitchFamily="34" charset="0"/>
                <a:ea typeface="Calibri" panose="020F0502020204030204" pitchFamily="34" charset="0"/>
                <a:cs typeface="Calibri" panose="020F0502020204030204" pitchFamily="34" charset="0"/>
                <a:hlinkClick r:id="rId6"/>
              </a:rPr>
              <a:t>1</a:t>
            </a:r>
            <a:r>
              <a:rPr lang="en-US" sz="1100" dirty="0">
                <a:latin typeface="Calibri" panose="020F0502020204030204" pitchFamily="34" charset="0"/>
                <a:ea typeface="Calibri" panose="020F0502020204030204" pitchFamily="34" charset="0"/>
                <a:cs typeface="Calibri" panose="020F0502020204030204" pitchFamily="34" charset="0"/>
              </a:rPr>
              <a:t>]</a:t>
            </a:r>
          </a:p>
          <a:p>
            <a:pPr marL="0" marR="0" lvl="0" indent="0" algn="l" rtl="0">
              <a:spcBef>
                <a:spcPts val="0"/>
              </a:spcBef>
              <a:spcAft>
                <a:spcPts val="0"/>
              </a:spcAft>
              <a:buNone/>
            </a:pPr>
            <a:endParaRPr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6" name="Google Shape;49;p4">
            <a:extLst>
              <a:ext uri="{FF2B5EF4-FFF2-40B4-BE49-F238E27FC236}">
                <a16:creationId xmlns:a16="http://schemas.microsoft.com/office/drawing/2014/main" id="{247C4DAA-1577-DDE1-C713-BFF50B21C456}"/>
              </a:ext>
            </a:extLst>
          </p:cNvPr>
          <p:cNvSpPr/>
          <p:nvPr/>
        </p:nvSpPr>
        <p:spPr>
          <a:xfrm>
            <a:off x="411480" y="1600200"/>
            <a:ext cx="2651760" cy="30175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endParaRPr sz="1050" dirty="0">
              <a:solidFill>
                <a:schemeClr val="dk1"/>
              </a:solidFill>
              <a:latin typeface="Calibri"/>
              <a:ea typeface="Calibri"/>
              <a:cs typeface="Calibri"/>
              <a:sym typeface="Calibri"/>
            </a:endParaRPr>
          </a:p>
        </p:txBody>
      </p:sp>
      <p:pic>
        <p:nvPicPr>
          <p:cNvPr id="1032" name="Picture 8">
            <a:extLst>
              <a:ext uri="{FF2B5EF4-FFF2-40B4-BE49-F238E27FC236}">
                <a16:creationId xmlns:a16="http://schemas.microsoft.com/office/drawing/2014/main" id="{03F293BE-FA9A-B0B4-2269-6616EDC0F30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06615" y="256032"/>
            <a:ext cx="1507162" cy="1507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4676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34">
          <a:extLst>
            <a:ext uri="{FF2B5EF4-FFF2-40B4-BE49-F238E27FC236}">
              <a16:creationId xmlns:a16="http://schemas.microsoft.com/office/drawing/2014/main" id="{AF15BF20-E1EC-FFC9-7584-B75C25D334BA}"/>
            </a:ext>
          </a:extLst>
        </p:cNvPr>
        <p:cNvGrpSpPr/>
        <p:nvPr/>
      </p:nvGrpSpPr>
      <p:grpSpPr>
        <a:xfrm>
          <a:off x="0" y="0"/>
          <a:ext cx="0" cy="0"/>
          <a:chOff x="0" y="0"/>
          <a:chExt cx="0" cy="0"/>
        </a:xfrm>
      </p:grpSpPr>
      <p:sp>
        <p:nvSpPr>
          <p:cNvPr id="35" name="Google Shape;35;p3">
            <a:extLst>
              <a:ext uri="{FF2B5EF4-FFF2-40B4-BE49-F238E27FC236}">
                <a16:creationId xmlns:a16="http://schemas.microsoft.com/office/drawing/2014/main" id="{9B0D25B3-CC6A-467E-4870-13585F9CDFD8}"/>
              </a:ext>
            </a:extLst>
          </p:cNvPr>
          <p:cNvSpPr/>
          <p:nvPr/>
        </p:nvSpPr>
        <p:spPr>
          <a:xfrm>
            <a:off x="365760" y="256032"/>
            <a:ext cx="201168" cy="201168"/>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36;p3">
            <a:extLst>
              <a:ext uri="{FF2B5EF4-FFF2-40B4-BE49-F238E27FC236}">
                <a16:creationId xmlns:a16="http://schemas.microsoft.com/office/drawing/2014/main" id="{F0785A68-8D8D-C137-1BF8-6B7F9EE43300}"/>
              </a:ext>
            </a:extLst>
          </p:cNvPr>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dirty="0">
                <a:solidFill>
                  <a:srgbClr val="2C2C2C"/>
                </a:solidFill>
                <a:latin typeface="Calibri"/>
                <a:ea typeface="Calibri"/>
                <a:cs typeface="Calibri"/>
                <a:sym typeface="Calibri"/>
              </a:rPr>
              <a:t>Moran's I (Moran, 1948)</a:t>
            </a:r>
          </a:p>
        </p:txBody>
      </p:sp>
      <p:sp>
        <p:nvSpPr>
          <p:cNvPr id="3" name="Google Shape;46;p4">
            <a:extLst>
              <a:ext uri="{FF2B5EF4-FFF2-40B4-BE49-F238E27FC236}">
                <a16:creationId xmlns:a16="http://schemas.microsoft.com/office/drawing/2014/main" id="{8EBCB934-5FCD-1486-E4BC-3439360C9560}"/>
              </a:ext>
            </a:extLst>
          </p:cNvPr>
          <p:cNvSpPr/>
          <p:nvPr/>
        </p:nvSpPr>
        <p:spPr>
          <a:xfrm>
            <a:off x="320040" y="1097280"/>
            <a:ext cx="2834640" cy="411480"/>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 name="Google Shape;47;p4">
            <a:extLst>
              <a:ext uri="{FF2B5EF4-FFF2-40B4-BE49-F238E27FC236}">
                <a16:creationId xmlns:a16="http://schemas.microsoft.com/office/drawing/2014/main" id="{640DD4EE-6BC4-35C6-4D24-6C72446A6ECC}"/>
              </a:ext>
            </a:extLst>
          </p:cNvPr>
          <p:cNvSpPr/>
          <p:nvPr/>
        </p:nvSpPr>
        <p:spPr>
          <a:xfrm>
            <a:off x="320040" y="1097280"/>
            <a:ext cx="283464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dirty="0">
                <a:solidFill>
                  <a:srgbClr val="FFFFFF"/>
                </a:solidFill>
                <a:latin typeface="Calibri"/>
                <a:ea typeface="Calibri"/>
                <a:cs typeface="Calibri"/>
                <a:sym typeface="Calibri"/>
              </a:rPr>
              <a:t>GIS integration</a:t>
            </a:r>
            <a:endParaRPr sz="1200" dirty="0">
              <a:solidFill>
                <a:schemeClr val="dk1"/>
              </a:solidFill>
              <a:latin typeface="Calibri"/>
              <a:ea typeface="Calibri"/>
              <a:cs typeface="Calibri"/>
              <a:sym typeface="Calibri"/>
            </a:endParaRPr>
          </a:p>
        </p:txBody>
      </p:sp>
      <p:sp>
        <p:nvSpPr>
          <p:cNvPr id="5" name="Google Shape;48;p4">
            <a:extLst>
              <a:ext uri="{FF2B5EF4-FFF2-40B4-BE49-F238E27FC236}">
                <a16:creationId xmlns:a16="http://schemas.microsoft.com/office/drawing/2014/main" id="{9C05868D-A610-AA7E-DFD2-F8BCCB05A8BE}"/>
              </a:ext>
            </a:extLst>
          </p:cNvPr>
          <p:cNvSpPr/>
          <p:nvPr/>
        </p:nvSpPr>
        <p:spPr>
          <a:xfrm>
            <a:off x="320040" y="1508760"/>
            <a:ext cx="2834640" cy="2045712"/>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6" name="Google Shape;49;p4">
            <a:extLst>
              <a:ext uri="{FF2B5EF4-FFF2-40B4-BE49-F238E27FC236}">
                <a16:creationId xmlns:a16="http://schemas.microsoft.com/office/drawing/2014/main" id="{9529F374-3A91-3364-BF41-9C47A3E20A49}"/>
              </a:ext>
            </a:extLst>
          </p:cNvPr>
          <p:cNvSpPr/>
          <p:nvPr/>
        </p:nvSpPr>
        <p:spPr>
          <a:xfrm>
            <a:off x="411480" y="1600200"/>
            <a:ext cx="2651760" cy="30175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endParaRPr sz="1050" dirty="0">
              <a:solidFill>
                <a:schemeClr val="dk1"/>
              </a:solidFill>
              <a:latin typeface="Calibri"/>
              <a:ea typeface="Calibri"/>
              <a:cs typeface="Calibri"/>
              <a:sym typeface="Calibri"/>
            </a:endParaRPr>
          </a:p>
        </p:txBody>
      </p:sp>
      <p:sp>
        <p:nvSpPr>
          <p:cNvPr id="7" name="TextBox 6">
            <a:extLst>
              <a:ext uri="{FF2B5EF4-FFF2-40B4-BE49-F238E27FC236}">
                <a16:creationId xmlns:a16="http://schemas.microsoft.com/office/drawing/2014/main" id="{6E2C2331-690D-0B7D-7530-441A8528B88B}"/>
              </a:ext>
            </a:extLst>
          </p:cNvPr>
          <p:cNvSpPr txBox="1"/>
          <p:nvPr/>
        </p:nvSpPr>
        <p:spPr>
          <a:xfrm>
            <a:off x="5256081" y="0"/>
            <a:ext cx="4572000" cy="261610"/>
          </a:xfrm>
          <a:prstGeom prst="rect">
            <a:avLst/>
          </a:prstGeom>
          <a:noFill/>
        </p:spPr>
        <p:txBody>
          <a:bodyPr wrap="square">
            <a:spAutoFit/>
          </a:bodyPr>
          <a:lstStyle/>
          <a:p>
            <a:r>
              <a:rPr lang="he-IL" sz="1050" dirty="0"/>
              <a:t>https://manuals.pqstat.pl/en:przestrzenpl:autocorpl:gmoranpl</a:t>
            </a:r>
          </a:p>
        </p:txBody>
      </p:sp>
      <p:pic>
        <p:nvPicPr>
          <p:cNvPr id="9" name="Picture 8">
            <a:extLst>
              <a:ext uri="{FF2B5EF4-FFF2-40B4-BE49-F238E27FC236}">
                <a16:creationId xmlns:a16="http://schemas.microsoft.com/office/drawing/2014/main" id="{A45817AB-DFAE-30E6-45E1-915AF87B2FDD}"/>
              </a:ext>
            </a:extLst>
          </p:cNvPr>
          <p:cNvPicPr>
            <a:picLocks noChangeAspect="1"/>
          </p:cNvPicPr>
          <p:nvPr/>
        </p:nvPicPr>
        <p:blipFill>
          <a:blip r:embed="rId3"/>
          <a:stretch>
            <a:fillRect/>
          </a:stretch>
        </p:blipFill>
        <p:spPr>
          <a:xfrm>
            <a:off x="319278" y="2080268"/>
            <a:ext cx="2834640" cy="1382755"/>
          </a:xfrm>
          <a:prstGeom prst="rect">
            <a:avLst/>
          </a:prstGeom>
        </p:spPr>
      </p:pic>
      <p:pic>
        <p:nvPicPr>
          <p:cNvPr id="4098" name="Picture 2" descr="\begin{displaymath}&#10;I=\frac{\sum_{i=1}^n\sum_{j=1}^nw_{ij}\left(x_i-\overline{x}\right)\left(x_j-\overline{x}\right)}{S_0\sigma^2}&#10;\end{displaymath}">
            <a:extLst>
              <a:ext uri="{FF2B5EF4-FFF2-40B4-BE49-F238E27FC236}">
                <a16:creationId xmlns:a16="http://schemas.microsoft.com/office/drawing/2014/main" id="{075882AB-B5CE-416B-04FB-F6BD81A87D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396" y="1591381"/>
            <a:ext cx="2514404" cy="39743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begin{pspicture}(-4,-3.6)(10,4.5)&#10;\psline{-&gt;}(-4,0)(4,0)&#10;\psline{-&gt;}(0,-3.5)(0,4)&#10;\rput(1.5,1.5){\textcolor{red}{\textbf{\colorbox[rgb]{0.82,0.82,0.82}{HH}}}}&#10;\rput(-1.5,1.5){\textcolor[rgb]{0.2,0.8,0.8}{\textbf{\colorbox[rgb]{0.82,0.82,0.82}{LH}}}}&#10;\rput(-1.5,-1.5){\textcolor[rgb]{0,0,1}{\textbf{\colorbox[rgb]{0.82,0.82,0.82}{LL}}}}&#10;\rput(1.5,-1.5){\textcolor[rgb]{1,0.36,0.36}{\textbf{\colorbox[rgb]{0.82,0.82,0.82}{HL}}}}&#10;\psdot[dotsize=3pt](1.5,-0.6)&#10;\psdot[dotsize=3pt](0.8,0)&#10;\psdot[dotsize=3pt](1.1,0.2)&#10;\psdot[dotsize=3pt](2,-1.6)&#10;\psdot[dotsize=3pt](1.3,0)&#10;\psdot[dotsize=3pt](-1.6,1.9)&#10;\psdot[dotsize=3pt](-1.2,-1)&#10;\psdot[dotsize=3pt](1.3,0.5)&#10;\psdot[dotsize=3pt](1,0.6)&#10;\psdot[dotsize=3pt](0.2,-1.6)&#10;\psdot[dotsize=3pt](-0.6,0.2)&#10;\psdot[dotsize=3pt](-0.8,-1)&#10;\psdot[dotsize=3pt](1.9,0.7)&#10;\psdot[dotsize=3pt](1.8,-1.2)&#10;\psdot[dotsize=3pt](-1.8,-1)&#10;\psdot[dotsize=3pt](1.4,0.8)&#10;\psdot[dotsize=3pt](-0.6,-1.8)&#10;\psdot[dotsize=3pt](1.1,0.3)&#10;\psdot[dotsize=3pt](0.1,-1)&#10;\psdot[dotsize=3pt](-1.7,-1)&#10;\psdot[dotsize=3pt](1,-0.2)&#10;\psdot[dotsize=3pt](-0.4,-1.3)&#10;\psdot[dotsize=3pt](-1.1,-0.2)&#10;\psdot[dotsize=3pt](-0.1,-0.3)&#10;\psdot[dotsize=3pt](0.9,-0.9)&#10;\psdot[dotsize=3pt](-0.1,0.5)&#10;\psdot[dotsize=3pt](2,1.9)&#10;\psdot[dotsize=3pt](-1.5,-1)&#10;\psdot[dotsize=3pt](-1.5,1.1)&#10;\psdot[dotsize=3pt](0.6,-0.6)&#10;\psline[linewidth=1.8pt,linecolor=green](-2.5,-1)(2.5,1)&#10;\end{pspicture}">
            <a:extLst>
              <a:ext uri="{FF2B5EF4-FFF2-40B4-BE49-F238E27FC236}">
                <a16:creationId xmlns:a16="http://schemas.microsoft.com/office/drawing/2014/main" id="{1EC491C0-DF5B-EC0B-CE15-4C7E149B74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53328" y="674370"/>
            <a:ext cx="2834640" cy="265507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9C120E6-EC52-F942-2BC0-8CBBAD251315}"/>
              </a:ext>
            </a:extLst>
          </p:cNvPr>
          <p:cNvPicPr>
            <a:picLocks noChangeAspect="1"/>
          </p:cNvPicPr>
          <p:nvPr/>
        </p:nvPicPr>
        <p:blipFill>
          <a:blip r:embed="rId6"/>
          <a:stretch>
            <a:fillRect/>
          </a:stretch>
        </p:blipFill>
        <p:spPr>
          <a:xfrm>
            <a:off x="411480" y="3765053"/>
            <a:ext cx="4572000" cy="1122415"/>
          </a:xfrm>
          <a:prstGeom prst="rect">
            <a:avLst/>
          </a:prstGeom>
        </p:spPr>
      </p:pic>
    </p:spTree>
    <p:extLst>
      <p:ext uri="{BB962C8B-B14F-4D97-AF65-F5344CB8AC3E}">
        <p14:creationId xmlns:p14="http://schemas.microsoft.com/office/powerpoint/2010/main" val="1199732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34">
          <a:extLst>
            <a:ext uri="{FF2B5EF4-FFF2-40B4-BE49-F238E27FC236}">
              <a16:creationId xmlns:a16="http://schemas.microsoft.com/office/drawing/2014/main" id="{90B46511-35EF-59CA-1CE8-2C5E7A45E62E}"/>
            </a:ext>
          </a:extLst>
        </p:cNvPr>
        <p:cNvGrpSpPr/>
        <p:nvPr/>
      </p:nvGrpSpPr>
      <p:grpSpPr>
        <a:xfrm>
          <a:off x="0" y="0"/>
          <a:ext cx="0" cy="0"/>
          <a:chOff x="0" y="0"/>
          <a:chExt cx="0" cy="0"/>
        </a:xfrm>
      </p:grpSpPr>
      <p:sp>
        <p:nvSpPr>
          <p:cNvPr id="35" name="Google Shape;35;p3">
            <a:extLst>
              <a:ext uri="{FF2B5EF4-FFF2-40B4-BE49-F238E27FC236}">
                <a16:creationId xmlns:a16="http://schemas.microsoft.com/office/drawing/2014/main" id="{C7D7C275-8327-F24E-4934-5ABA9DFBABF9}"/>
              </a:ext>
            </a:extLst>
          </p:cNvPr>
          <p:cNvSpPr/>
          <p:nvPr/>
        </p:nvSpPr>
        <p:spPr>
          <a:xfrm>
            <a:off x="365760" y="256032"/>
            <a:ext cx="201168" cy="201168"/>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36;p3">
            <a:extLst>
              <a:ext uri="{FF2B5EF4-FFF2-40B4-BE49-F238E27FC236}">
                <a16:creationId xmlns:a16="http://schemas.microsoft.com/office/drawing/2014/main" id="{74CCC6BA-693E-2654-3E39-7086729AA10B}"/>
              </a:ext>
            </a:extLst>
          </p:cNvPr>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dirty="0">
                <a:solidFill>
                  <a:srgbClr val="2C2C2C"/>
                </a:solidFill>
                <a:latin typeface="Calibri"/>
                <a:ea typeface="Calibri"/>
                <a:cs typeface="Calibri"/>
                <a:sym typeface="Calibri"/>
              </a:rPr>
              <a:t>Moran I example</a:t>
            </a:r>
          </a:p>
        </p:txBody>
      </p:sp>
      <p:sp>
        <p:nvSpPr>
          <p:cNvPr id="4" name="Google Shape;47;p4">
            <a:extLst>
              <a:ext uri="{FF2B5EF4-FFF2-40B4-BE49-F238E27FC236}">
                <a16:creationId xmlns:a16="http://schemas.microsoft.com/office/drawing/2014/main" id="{0873E9AF-05F8-0BC9-8DAB-F628795AC064}"/>
              </a:ext>
            </a:extLst>
          </p:cNvPr>
          <p:cNvSpPr/>
          <p:nvPr/>
        </p:nvSpPr>
        <p:spPr>
          <a:xfrm>
            <a:off x="320040" y="1097280"/>
            <a:ext cx="283464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dirty="0">
                <a:solidFill>
                  <a:srgbClr val="FFFFFF"/>
                </a:solidFill>
                <a:latin typeface="Calibri"/>
                <a:ea typeface="Calibri"/>
                <a:cs typeface="Calibri"/>
                <a:sym typeface="Calibri"/>
              </a:rPr>
              <a:t>GIS integration</a:t>
            </a:r>
            <a:endParaRPr sz="1200" dirty="0">
              <a:solidFill>
                <a:schemeClr val="dk1"/>
              </a:solidFill>
              <a:latin typeface="Calibri"/>
              <a:ea typeface="Calibri"/>
              <a:cs typeface="Calibri"/>
              <a:sym typeface="Calibri"/>
            </a:endParaRPr>
          </a:p>
        </p:txBody>
      </p:sp>
      <p:sp>
        <p:nvSpPr>
          <p:cNvPr id="6" name="Google Shape;49;p4">
            <a:extLst>
              <a:ext uri="{FF2B5EF4-FFF2-40B4-BE49-F238E27FC236}">
                <a16:creationId xmlns:a16="http://schemas.microsoft.com/office/drawing/2014/main" id="{6694C153-DB87-A57D-7FD8-E7D7E0E34A4F}"/>
              </a:ext>
            </a:extLst>
          </p:cNvPr>
          <p:cNvSpPr/>
          <p:nvPr/>
        </p:nvSpPr>
        <p:spPr>
          <a:xfrm>
            <a:off x="411480" y="1600200"/>
            <a:ext cx="2651760" cy="30175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endParaRPr sz="1050" dirty="0">
              <a:solidFill>
                <a:schemeClr val="dk1"/>
              </a:solidFill>
              <a:latin typeface="Calibri"/>
              <a:ea typeface="Calibri"/>
              <a:cs typeface="Calibri"/>
              <a:sym typeface="Calibri"/>
            </a:endParaRPr>
          </a:p>
        </p:txBody>
      </p:sp>
      <p:pic>
        <p:nvPicPr>
          <p:cNvPr id="2050" name="Picture 2" descr="undefined">
            <a:extLst>
              <a:ext uri="{FF2B5EF4-FFF2-40B4-BE49-F238E27FC236}">
                <a16:creationId xmlns:a16="http://schemas.microsoft.com/office/drawing/2014/main" id="{335A5B50-5F72-B85B-1FBD-A8405E6ADF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928" y="640080"/>
            <a:ext cx="4703847" cy="363474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2E76155-4DF8-603F-7E99-E2EA3BFAAA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5822" y="1303020"/>
            <a:ext cx="23812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9835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B4E7D"/>
        </a:solidFill>
        <a:effectLst/>
      </p:bgPr>
    </p:bg>
    <p:spTree>
      <p:nvGrpSpPr>
        <p:cNvPr id="1" name="Shape 84"/>
        <p:cNvGrpSpPr/>
        <p:nvPr/>
      </p:nvGrpSpPr>
      <p:grpSpPr>
        <a:xfrm>
          <a:off x="0" y="0"/>
          <a:ext cx="0" cy="0"/>
          <a:chOff x="0" y="0"/>
          <a:chExt cx="0" cy="0"/>
        </a:xfrm>
      </p:grpSpPr>
      <p:sp>
        <p:nvSpPr>
          <p:cNvPr id="85" name="Google Shape;85;p6"/>
          <p:cNvSpPr/>
          <p:nvPr/>
        </p:nvSpPr>
        <p:spPr>
          <a:xfrm>
            <a:off x="0" y="457200"/>
            <a:ext cx="9144000" cy="4114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0"/>
              <a:buFont typeface="Calibri"/>
              <a:buNone/>
            </a:pPr>
            <a:r>
              <a:rPr lang="en-US" sz="18000" b="1">
                <a:solidFill>
                  <a:srgbClr val="FFFFFF"/>
                </a:solidFill>
                <a:latin typeface="Calibri"/>
                <a:ea typeface="Calibri"/>
                <a:cs typeface="Calibri"/>
                <a:sym typeface="Calibri"/>
              </a:rPr>
              <a:t>2</a:t>
            </a:r>
            <a:endParaRPr sz="18000">
              <a:solidFill>
                <a:schemeClr val="dk1"/>
              </a:solidFill>
              <a:latin typeface="Calibri"/>
              <a:ea typeface="Calibri"/>
              <a:cs typeface="Calibri"/>
              <a:sym typeface="Calibri"/>
            </a:endParaRPr>
          </a:p>
        </p:txBody>
      </p:sp>
      <p:sp>
        <p:nvSpPr>
          <p:cNvPr id="86" name="Google Shape;86;p6"/>
          <p:cNvSpPr/>
          <p:nvPr/>
        </p:nvSpPr>
        <p:spPr>
          <a:xfrm>
            <a:off x="0" y="4297680"/>
            <a:ext cx="91440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libri"/>
              <a:buNone/>
            </a:pPr>
            <a:r>
              <a:rPr lang="en-US" sz="1800">
                <a:solidFill>
                  <a:srgbClr val="FFFFFF"/>
                </a:solidFill>
                <a:latin typeface="Calibri"/>
                <a:ea typeface="Calibri"/>
                <a:cs typeface="Calibri"/>
                <a:sym typeface="Calibri"/>
              </a:rPr>
              <a:t>The Kriging Workflow</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42"/>
        <p:cNvGrpSpPr/>
        <p:nvPr/>
      </p:nvGrpSpPr>
      <p:grpSpPr>
        <a:xfrm>
          <a:off x="0" y="0"/>
          <a:ext cx="0" cy="0"/>
          <a:chOff x="0" y="0"/>
          <a:chExt cx="0" cy="0"/>
        </a:xfrm>
      </p:grpSpPr>
      <p:sp>
        <p:nvSpPr>
          <p:cNvPr id="43" name="Google Shape;43;p4"/>
          <p:cNvSpPr/>
          <p:nvPr/>
        </p:nvSpPr>
        <p:spPr>
          <a:xfrm>
            <a:off x="365760" y="256032"/>
            <a:ext cx="201168" cy="201168"/>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 name="Google Shape;44;p4"/>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a:solidFill>
                  <a:srgbClr val="2C2C2C"/>
                </a:solidFill>
                <a:latin typeface="Calibri"/>
                <a:ea typeface="Calibri"/>
                <a:cs typeface="Calibri"/>
                <a:sym typeface="Calibri"/>
              </a:rPr>
              <a:t>Kriging: Geostatistical Interpolation</a:t>
            </a:r>
            <a:endParaRPr sz="2000">
              <a:solidFill>
                <a:schemeClr val="dk1"/>
              </a:solidFill>
              <a:latin typeface="Calibri"/>
              <a:ea typeface="Calibri"/>
              <a:cs typeface="Calibri"/>
              <a:sym typeface="Calibri"/>
            </a:endParaRPr>
          </a:p>
        </p:txBody>
      </p:sp>
      <p:sp>
        <p:nvSpPr>
          <p:cNvPr id="45" name="Google Shape;45;p4"/>
          <p:cNvSpPr/>
          <p:nvPr/>
        </p:nvSpPr>
        <p:spPr>
          <a:xfrm>
            <a:off x="365760" y="658368"/>
            <a:ext cx="8412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55555"/>
              </a:buClr>
              <a:buSzPts val="1150"/>
              <a:buFont typeface="Calibri"/>
              <a:buNone/>
            </a:pPr>
            <a:r>
              <a:rPr lang="en-US" sz="1150" i="1">
                <a:solidFill>
                  <a:srgbClr val="555555"/>
                </a:solidFill>
                <a:latin typeface="Calibri"/>
                <a:ea typeface="Calibri"/>
                <a:cs typeface="Calibri"/>
                <a:sym typeface="Calibri"/>
              </a:rPr>
              <a:t>Kriging predicts values at unsampled locations using the spatial structure of measured points, producing both estimates and uncertainty.</a:t>
            </a:r>
            <a:endParaRPr sz="1150">
              <a:solidFill>
                <a:schemeClr val="dk1"/>
              </a:solidFill>
              <a:latin typeface="Calibri"/>
              <a:ea typeface="Calibri"/>
              <a:cs typeface="Calibri"/>
              <a:sym typeface="Calibri"/>
            </a:endParaRPr>
          </a:p>
        </p:txBody>
      </p:sp>
      <p:sp>
        <p:nvSpPr>
          <p:cNvPr id="46" name="Google Shape;46;p4"/>
          <p:cNvSpPr/>
          <p:nvPr/>
        </p:nvSpPr>
        <p:spPr>
          <a:xfrm>
            <a:off x="320040" y="1097280"/>
            <a:ext cx="2834640" cy="411480"/>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 name="Google Shape;47;p4"/>
          <p:cNvSpPr/>
          <p:nvPr/>
        </p:nvSpPr>
        <p:spPr>
          <a:xfrm>
            <a:off x="320040" y="1097280"/>
            <a:ext cx="283464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Origin &amp; Development</a:t>
            </a:r>
            <a:endParaRPr sz="1200">
              <a:solidFill>
                <a:schemeClr val="dk1"/>
              </a:solidFill>
              <a:latin typeface="Calibri"/>
              <a:ea typeface="Calibri"/>
              <a:cs typeface="Calibri"/>
              <a:sym typeface="Calibri"/>
            </a:endParaRPr>
          </a:p>
        </p:txBody>
      </p:sp>
      <p:sp>
        <p:nvSpPr>
          <p:cNvPr id="48" name="Google Shape;48;p4"/>
          <p:cNvSpPr/>
          <p:nvPr/>
        </p:nvSpPr>
        <p:spPr>
          <a:xfrm>
            <a:off x="320040" y="1508760"/>
            <a:ext cx="2834640" cy="3200400"/>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 name="Google Shape;49;p4"/>
          <p:cNvSpPr/>
          <p:nvPr/>
        </p:nvSpPr>
        <p:spPr>
          <a:xfrm>
            <a:off x="411480" y="1600200"/>
            <a:ext cx="2651760" cy="30175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r>
              <a:rPr lang="en-US" sz="1050" dirty="0">
                <a:solidFill>
                  <a:srgbClr val="2C2C2C"/>
                </a:solidFill>
                <a:latin typeface="Calibri"/>
                <a:ea typeface="Calibri"/>
                <a:cs typeface="Calibri"/>
                <a:sym typeface="Calibri"/>
              </a:rPr>
              <a:t>Named after South African mining engineer Danie Krige, who pioneered the approach for mineral resource estimation in the 1950s.</a:t>
            </a:r>
            <a:endParaRPr sz="1050"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dirty="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dirty="0">
                <a:solidFill>
                  <a:srgbClr val="2C2C2C"/>
                </a:solidFill>
                <a:latin typeface="Calibri"/>
                <a:ea typeface="Calibri"/>
                <a:cs typeface="Calibri"/>
                <a:sym typeface="Calibri"/>
              </a:rPr>
              <a:t>Later formalized mathematically by French mathematician Georges </a:t>
            </a:r>
            <a:r>
              <a:rPr lang="en-US" sz="1050" dirty="0" err="1">
                <a:solidFill>
                  <a:srgbClr val="2C2C2C"/>
                </a:solidFill>
                <a:latin typeface="Calibri"/>
                <a:ea typeface="Calibri"/>
                <a:cs typeface="Calibri"/>
                <a:sym typeface="Calibri"/>
              </a:rPr>
              <a:t>Matheron</a:t>
            </a:r>
            <a:r>
              <a:rPr lang="en-US" sz="1050" dirty="0">
                <a:solidFill>
                  <a:srgbClr val="2C2C2C"/>
                </a:solidFill>
                <a:latin typeface="Calibri"/>
                <a:ea typeface="Calibri"/>
                <a:cs typeface="Calibri"/>
                <a:sym typeface="Calibri"/>
              </a:rPr>
              <a:t> in the 1960s as part of his development of </a:t>
            </a:r>
            <a:r>
              <a:rPr lang="en-US" sz="1050" dirty="0" err="1">
                <a:solidFill>
                  <a:srgbClr val="2C2C2C"/>
                </a:solidFill>
                <a:latin typeface="Calibri"/>
                <a:ea typeface="Calibri"/>
                <a:cs typeface="Calibri"/>
                <a:sym typeface="Calibri"/>
              </a:rPr>
              <a:t>geostatistics</a:t>
            </a:r>
            <a:r>
              <a:rPr lang="en-US" sz="1050" dirty="0">
                <a:solidFill>
                  <a:srgbClr val="2C2C2C"/>
                </a:solidFill>
                <a:latin typeface="Calibri"/>
                <a:ea typeface="Calibri"/>
                <a:cs typeface="Calibri"/>
                <a:sym typeface="Calibri"/>
              </a:rPr>
              <a:t>.</a:t>
            </a:r>
            <a:endParaRPr sz="1050" dirty="0">
              <a:solidFill>
                <a:schemeClr val="dk1"/>
              </a:solidFill>
              <a:latin typeface="Calibri"/>
              <a:ea typeface="Calibri"/>
              <a:cs typeface="Calibri"/>
              <a:sym typeface="Calibri"/>
            </a:endParaRPr>
          </a:p>
        </p:txBody>
      </p:sp>
      <p:sp>
        <p:nvSpPr>
          <p:cNvPr id="50" name="Google Shape;50;p4"/>
          <p:cNvSpPr/>
          <p:nvPr/>
        </p:nvSpPr>
        <p:spPr>
          <a:xfrm>
            <a:off x="3246120" y="1097280"/>
            <a:ext cx="2834640" cy="411480"/>
          </a:xfrm>
          <a:prstGeom prst="rect">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 name="Google Shape;51;p4"/>
          <p:cNvSpPr/>
          <p:nvPr/>
        </p:nvSpPr>
        <p:spPr>
          <a:xfrm>
            <a:off x="3246120" y="1097280"/>
            <a:ext cx="283464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Core Concept</a:t>
            </a:r>
            <a:endParaRPr sz="1200">
              <a:solidFill>
                <a:schemeClr val="dk1"/>
              </a:solidFill>
              <a:latin typeface="Calibri"/>
              <a:ea typeface="Calibri"/>
              <a:cs typeface="Calibri"/>
              <a:sym typeface="Calibri"/>
            </a:endParaRPr>
          </a:p>
        </p:txBody>
      </p:sp>
      <p:sp>
        <p:nvSpPr>
          <p:cNvPr id="52" name="Google Shape;52;p4"/>
          <p:cNvSpPr/>
          <p:nvPr/>
        </p:nvSpPr>
        <p:spPr>
          <a:xfrm>
            <a:off x="3246120" y="1508760"/>
            <a:ext cx="2834640" cy="3200400"/>
          </a:xfrm>
          <a:prstGeom prst="rect">
            <a:avLst/>
          </a:prstGeom>
          <a:solidFill>
            <a:srgbClr val="D5EAE0"/>
          </a:solidFill>
          <a:ln w="12700" cap="flat" cmpd="sng">
            <a:solidFill>
              <a:srgbClr val="D5EA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 name="Google Shape;53;p4"/>
          <p:cNvSpPr/>
          <p:nvPr/>
        </p:nvSpPr>
        <p:spPr>
          <a:xfrm>
            <a:off x="3337560" y="1600200"/>
            <a:ext cx="2651760" cy="30175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Creates a continuous surface from scattered observations</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Accounts for spatial autocorrelation — nearby points are more similar</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Produces predictions AND quantified uncertainty (kriging variance)</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Optimal weights derived from data structure, not arbitrary rules</a:t>
            </a:r>
            <a:endParaRPr sz="1050">
              <a:solidFill>
                <a:schemeClr val="dk1"/>
              </a:solidFill>
              <a:latin typeface="Calibri"/>
              <a:ea typeface="Calibri"/>
              <a:cs typeface="Calibri"/>
              <a:sym typeface="Calibri"/>
            </a:endParaRPr>
          </a:p>
        </p:txBody>
      </p:sp>
      <p:sp>
        <p:nvSpPr>
          <p:cNvPr id="54" name="Google Shape;54;p4"/>
          <p:cNvSpPr/>
          <p:nvPr/>
        </p:nvSpPr>
        <p:spPr>
          <a:xfrm>
            <a:off x="6172200" y="1097280"/>
            <a:ext cx="2834640" cy="411480"/>
          </a:xfrm>
          <a:prstGeom prst="rect">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 name="Google Shape;55;p4"/>
          <p:cNvSpPr/>
          <p:nvPr/>
        </p:nvSpPr>
        <p:spPr>
          <a:xfrm>
            <a:off x="6172200" y="1097280"/>
            <a:ext cx="283464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Key Advantages</a:t>
            </a:r>
            <a:endParaRPr sz="1200">
              <a:solidFill>
                <a:schemeClr val="dk1"/>
              </a:solidFill>
              <a:latin typeface="Calibri"/>
              <a:ea typeface="Calibri"/>
              <a:cs typeface="Calibri"/>
              <a:sym typeface="Calibri"/>
            </a:endParaRPr>
          </a:p>
        </p:txBody>
      </p:sp>
      <p:sp>
        <p:nvSpPr>
          <p:cNvPr id="56" name="Google Shape;56;p4"/>
          <p:cNvSpPr/>
          <p:nvPr/>
        </p:nvSpPr>
        <p:spPr>
          <a:xfrm>
            <a:off x="6172200" y="1508760"/>
            <a:ext cx="2834640" cy="3200400"/>
          </a:xfrm>
          <a:prstGeom prst="rect">
            <a:avLst/>
          </a:prstGeom>
          <a:solidFill>
            <a:srgbClr val="D3E4FA"/>
          </a:solidFill>
          <a:ln w="12700" cap="flat" cmpd="sng">
            <a:solidFill>
              <a:srgbClr val="D3E4F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 name="Google Shape;57;p4"/>
          <p:cNvSpPr/>
          <p:nvPr/>
        </p:nvSpPr>
        <p:spPr>
          <a:xfrm>
            <a:off x="6263640" y="1600200"/>
            <a:ext cx="2651760" cy="30175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Functions as a Best Linear Unbiased Predictor (BLUP), minimizing estimation error variance while ensuring unbiased predictions.</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Can incorporate anisotropy — spatial correlation varying by direction — and prevents overweighting of densely sampled areas.</a:t>
            </a:r>
            <a:endParaRPr sz="105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1CAB2385-4770-22D6-694C-794189A5E924}"/>
              </a:ext>
            </a:extLst>
          </p:cNvPr>
          <p:cNvPicPr>
            <a:picLocks noChangeAspect="1"/>
          </p:cNvPicPr>
          <p:nvPr/>
        </p:nvPicPr>
        <p:blipFill>
          <a:blip r:embed="rId3"/>
          <a:stretch>
            <a:fillRect/>
          </a:stretch>
        </p:blipFill>
        <p:spPr>
          <a:xfrm>
            <a:off x="972153" y="3013059"/>
            <a:ext cx="1227907" cy="16961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63"/>
        <p:cNvGrpSpPr/>
        <p:nvPr/>
      </p:nvGrpSpPr>
      <p:grpSpPr>
        <a:xfrm>
          <a:off x="0" y="0"/>
          <a:ext cx="0" cy="0"/>
          <a:chOff x="0" y="0"/>
          <a:chExt cx="0" cy="0"/>
        </a:xfrm>
      </p:grpSpPr>
      <p:sp>
        <p:nvSpPr>
          <p:cNvPr id="64" name="Google Shape;64;p5"/>
          <p:cNvSpPr/>
          <p:nvPr/>
        </p:nvSpPr>
        <p:spPr>
          <a:xfrm>
            <a:off x="365760" y="256032"/>
            <a:ext cx="201168" cy="201168"/>
          </a:xfrm>
          <a:prstGeom prst="ellipse">
            <a:avLst/>
          </a:prstGeom>
          <a:solidFill>
            <a:srgbClr val="4A9B8E"/>
          </a:solidFill>
          <a:ln w="12700" cap="flat" cmpd="sng">
            <a:solidFill>
              <a:srgbClr val="4A9B8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 name="Google Shape;65;p5"/>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a:solidFill>
                  <a:srgbClr val="2C2C2C"/>
                </a:solidFill>
                <a:latin typeface="Calibri"/>
                <a:ea typeface="Calibri"/>
                <a:cs typeface="Calibri"/>
                <a:sym typeface="Calibri"/>
              </a:rPr>
              <a:t>The Variogram: Foundation of Kriging</a:t>
            </a:r>
            <a:endParaRPr sz="2000">
              <a:solidFill>
                <a:schemeClr val="dk1"/>
              </a:solidFill>
              <a:latin typeface="Calibri"/>
              <a:ea typeface="Calibri"/>
              <a:cs typeface="Calibri"/>
              <a:sym typeface="Calibri"/>
            </a:endParaRPr>
          </a:p>
        </p:txBody>
      </p:sp>
      <p:sp>
        <p:nvSpPr>
          <p:cNvPr id="66" name="Google Shape;66;p5"/>
          <p:cNvSpPr/>
          <p:nvPr/>
        </p:nvSpPr>
        <p:spPr>
          <a:xfrm>
            <a:off x="365760" y="658368"/>
            <a:ext cx="8412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55555"/>
              </a:buClr>
              <a:buSzPts val="1150"/>
              <a:buFont typeface="Calibri"/>
              <a:buNone/>
            </a:pPr>
            <a:r>
              <a:rPr lang="en-US" sz="1150" i="1">
                <a:solidFill>
                  <a:srgbClr val="555555"/>
                </a:solidFill>
                <a:latin typeface="Calibri"/>
                <a:ea typeface="Calibri"/>
                <a:cs typeface="Calibri"/>
                <a:sym typeface="Calibri"/>
              </a:rPr>
              <a:t>The variogram quantifies how spatial dissimilarity increases with distance — it is the key input for calculating kriging weights.</a:t>
            </a:r>
            <a:endParaRPr sz="1150">
              <a:solidFill>
                <a:schemeClr val="dk1"/>
              </a:solidFill>
              <a:latin typeface="Calibri"/>
              <a:ea typeface="Calibri"/>
              <a:cs typeface="Calibri"/>
              <a:sym typeface="Calibri"/>
            </a:endParaRPr>
          </a:p>
        </p:txBody>
      </p:sp>
      <p:sp>
        <p:nvSpPr>
          <p:cNvPr id="67" name="Google Shape;67;p5"/>
          <p:cNvSpPr/>
          <p:nvPr/>
        </p:nvSpPr>
        <p:spPr>
          <a:xfrm>
            <a:off x="320040" y="1097280"/>
            <a:ext cx="4114800" cy="411480"/>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 name="Google Shape;68;p5"/>
          <p:cNvSpPr/>
          <p:nvPr/>
        </p:nvSpPr>
        <p:spPr>
          <a:xfrm>
            <a:off x="320040" y="1097280"/>
            <a:ext cx="411480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Variogram Parameters</a:t>
            </a:r>
            <a:endParaRPr sz="1200">
              <a:solidFill>
                <a:schemeClr val="dk1"/>
              </a:solidFill>
              <a:latin typeface="Calibri"/>
              <a:ea typeface="Calibri"/>
              <a:cs typeface="Calibri"/>
              <a:sym typeface="Calibri"/>
            </a:endParaRPr>
          </a:p>
        </p:txBody>
      </p:sp>
      <p:sp>
        <p:nvSpPr>
          <p:cNvPr id="69" name="Google Shape;69;p5"/>
          <p:cNvSpPr/>
          <p:nvPr/>
        </p:nvSpPr>
        <p:spPr>
          <a:xfrm>
            <a:off x="320040" y="1508760"/>
            <a:ext cx="4114800" cy="1737360"/>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 name="Google Shape;70;p5"/>
          <p:cNvSpPr/>
          <p:nvPr/>
        </p:nvSpPr>
        <p:spPr>
          <a:xfrm>
            <a:off x="411480" y="1600200"/>
            <a:ext cx="3931920" cy="1554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Nugget (C₀): variance at zero distance — represents measurement error or microscale variation below sampling resolution.</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Sill (C₀+C): the plateau value where the variogram levels off — equal to the total variance of the dataset.</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Range (a): the distance at which the variogram reaches the sill — beyond this distance, points are spatially independent.</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Formula: γ(h) = (1/2n) · Σ[Z(xᵢ) − Z(xᵢ+h)]²</a:t>
            </a:r>
            <a:endParaRPr sz="1050">
              <a:solidFill>
                <a:schemeClr val="dk1"/>
              </a:solidFill>
              <a:latin typeface="Calibri"/>
              <a:ea typeface="Calibri"/>
              <a:cs typeface="Calibri"/>
              <a:sym typeface="Calibri"/>
            </a:endParaRPr>
          </a:p>
        </p:txBody>
      </p:sp>
      <p:sp>
        <p:nvSpPr>
          <p:cNvPr id="71" name="Google Shape;71;p5"/>
          <p:cNvSpPr/>
          <p:nvPr/>
        </p:nvSpPr>
        <p:spPr>
          <a:xfrm>
            <a:off x="4709160" y="1097280"/>
            <a:ext cx="4114800" cy="411480"/>
          </a:xfrm>
          <a:prstGeom prst="rect">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 name="Google Shape;72;p5"/>
          <p:cNvSpPr/>
          <p:nvPr/>
        </p:nvSpPr>
        <p:spPr>
          <a:xfrm>
            <a:off x="4709160" y="1097280"/>
            <a:ext cx="411480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Common Variogram Models</a:t>
            </a:r>
            <a:endParaRPr sz="1200">
              <a:solidFill>
                <a:schemeClr val="dk1"/>
              </a:solidFill>
              <a:latin typeface="Calibri"/>
              <a:ea typeface="Calibri"/>
              <a:cs typeface="Calibri"/>
              <a:sym typeface="Calibri"/>
            </a:endParaRPr>
          </a:p>
        </p:txBody>
      </p:sp>
      <p:sp>
        <p:nvSpPr>
          <p:cNvPr id="73" name="Google Shape;73;p5"/>
          <p:cNvSpPr/>
          <p:nvPr/>
        </p:nvSpPr>
        <p:spPr>
          <a:xfrm>
            <a:off x="4709160" y="1508760"/>
            <a:ext cx="4114800" cy="1737360"/>
          </a:xfrm>
          <a:prstGeom prst="rect">
            <a:avLst/>
          </a:prstGeom>
          <a:solidFill>
            <a:srgbClr val="D3E4FA"/>
          </a:solidFill>
          <a:ln w="12700" cap="flat" cmpd="sng">
            <a:solidFill>
              <a:srgbClr val="D3E4F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 name="Google Shape;74;p5"/>
          <p:cNvSpPr/>
          <p:nvPr/>
        </p:nvSpPr>
        <p:spPr>
          <a:xfrm>
            <a:off x="4800600" y="1600200"/>
            <a:ext cx="3931920" cy="1554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r>
              <a:rPr lang="en-US" sz="1050" dirty="0">
                <a:solidFill>
                  <a:srgbClr val="2C2C2C"/>
                </a:solidFill>
                <a:latin typeface="Calibri"/>
                <a:ea typeface="Calibri"/>
                <a:cs typeface="Calibri"/>
                <a:sym typeface="Calibri"/>
              </a:rPr>
              <a:t>Spherical: linear near origin, levels off at range. Most common for natural phenomena.</a:t>
            </a:r>
            <a:endParaRPr sz="1050"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dirty="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dirty="0">
                <a:solidFill>
                  <a:srgbClr val="2C2C2C"/>
                </a:solidFill>
                <a:latin typeface="Calibri"/>
                <a:ea typeface="Calibri"/>
                <a:cs typeface="Calibri"/>
                <a:sym typeface="Calibri"/>
              </a:rPr>
              <a:t>Exponential: steep initial rise, approaches sill asymptotically. Good for gradual spatial transitions.</a:t>
            </a:r>
            <a:endParaRPr sz="1050" dirty="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dirty="0">
                <a:solidFill>
                  <a:srgbClr val="2C2C2C"/>
                </a:solidFill>
                <a:latin typeface="Calibri"/>
                <a:ea typeface="Calibri"/>
                <a:cs typeface="Calibri"/>
                <a:sym typeface="Calibri"/>
              </a:rPr>
              <a:t>Gaussian: S-shaped curve, very smooth near origin. For highly continuous phenomena.</a:t>
            </a:r>
            <a:endParaRPr sz="1050" dirty="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dirty="0">
                <a:solidFill>
                  <a:srgbClr val="2C2C2C"/>
                </a:solidFill>
                <a:latin typeface="Calibri"/>
                <a:ea typeface="Calibri"/>
                <a:cs typeface="Calibri"/>
                <a:sym typeface="Calibri"/>
              </a:rPr>
              <a:t>Linear: no defined sill, continuous increase. For unbounded spatial variance.</a:t>
            </a:r>
            <a:endParaRPr sz="1050" dirty="0">
              <a:solidFill>
                <a:schemeClr val="dk1"/>
              </a:solidFill>
              <a:latin typeface="Calibri"/>
              <a:ea typeface="Calibri"/>
              <a:cs typeface="Calibri"/>
              <a:sym typeface="Calibri"/>
            </a:endParaRPr>
          </a:p>
        </p:txBody>
      </p:sp>
      <p:sp>
        <p:nvSpPr>
          <p:cNvPr id="75" name="Google Shape;75;p5"/>
          <p:cNvSpPr/>
          <p:nvPr/>
        </p:nvSpPr>
        <p:spPr>
          <a:xfrm>
            <a:off x="320040" y="3383280"/>
            <a:ext cx="8503920" cy="1417320"/>
          </a:xfrm>
          <a:prstGeom prst="rect">
            <a:avLst/>
          </a:prstGeom>
          <a:solidFill>
            <a:srgbClr val="D5EAE0"/>
          </a:solidFill>
          <a:ln w="12700" cap="flat" cmpd="sng">
            <a:solidFill>
              <a:srgbClr val="D5EA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 name="Google Shape;76;p5"/>
          <p:cNvSpPr/>
          <p:nvPr/>
        </p:nvSpPr>
        <p:spPr>
          <a:xfrm>
            <a:off x="320040" y="3383280"/>
            <a:ext cx="73152" cy="1417320"/>
          </a:xfrm>
          <a:prstGeom prst="rect">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 name="Google Shape;77;p5"/>
          <p:cNvSpPr/>
          <p:nvPr/>
        </p:nvSpPr>
        <p:spPr>
          <a:xfrm>
            <a:off x="502920" y="3456432"/>
            <a:ext cx="3657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9B6A"/>
              </a:buClr>
              <a:buSzPts val="1100"/>
              <a:buFont typeface="Calibri"/>
              <a:buNone/>
            </a:pPr>
            <a:r>
              <a:rPr lang="en-US" sz="1100" b="1">
                <a:solidFill>
                  <a:srgbClr val="4A9B6A"/>
                </a:solidFill>
                <a:latin typeface="Calibri"/>
                <a:ea typeface="Calibri"/>
                <a:cs typeface="Calibri"/>
                <a:sym typeface="Calibri"/>
              </a:rPr>
              <a:t>Key Assumption: Stationarity</a:t>
            </a:r>
            <a:endParaRPr sz="1100">
              <a:solidFill>
                <a:schemeClr val="dk1"/>
              </a:solidFill>
              <a:latin typeface="Calibri"/>
              <a:ea typeface="Calibri"/>
              <a:cs typeface="Calibri"/>
              <a:sym typeface="Calibri"/>
            </a:endParaRPr>
          </a:p>
        </p:txBody>
      </p:sp>
      <p:sp>
        <p:nvSpPr>
          <p:cNvPr id="78" name="Google Shape;78;p5"/>
          <p:cNvSpPr/>
          <p:nvPr/>
        </p:nvSpPr>
        <p:spPr>
          <a:xfrm>
            <a:off x="502920" y="3749040"/>
            <a:ext cx="4069080" cy="9601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Kriging assumes stationarity — that the mean and spatial structure are consistent across the study area. This allows the variogram estimated from sample pairs to be applied everywhere. When stationarity fails in large or heterogeneous areas, Universal Kriging or local variograms are used instead.</a:t>
            </a:r>
            <a:endParaRPr sz="1050">
              <a:solidFill>
                <a:schemeClr val="dk1"/>
              </a:solidFill>
              <a:latin typeface="Calibri"/>
              <a:ea typeface="Calibri"/>
              <a:cs typeface="Calibri"/>
              <a:sym typeface="Calibri"/>
            </a:endParaRPr>
          </a:p>
        </p:txBody>
      </p:sp>
      <p:pic>
        <p:nvPicPr>
          <p:cNvPr id="2" name="Google Shape;249;p41">
            <a:extLst>
              <a:ext uri="{FF2B5EF4-FFF2-40B4-BE49-F238E27FC236}">
                <a16:creationId xmlns:a16="http://schemas.microsoft.com/office/drawing/2014/main" id="{569ADEEC-6039-4446-57FE-1C2F7EDDB2FD}"/>
              </a:ext>
            </a:extLst>
          </p:cNvPr>
          <p:cNvPicPr preferRelativeResize="0"/>
          <p:nvPr/>
        </p:nvPicPr>
        <p:blipFill rotWithShape="1">
          <a:blip r:embed="rId3">
            <a:alphaModFix/>
          </a:blip>
          <a:srcRect/>
          <a:stretch/>
        </p:blipFill>
        <p:spPr>
          <a:xfrm>
            <a:off x="7184571" y="3411671"/>
            <a:ext cx="1639389" cy="141732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91"/>
        <p:cNvGrpSpPr/>
        <p:nvPr/>
      </p:nvGrpSpPr>
      <p:grpSpPr>
        <a:xfrm>
          <a:off x="0" y="0"/>
          <a:ext cx="0" cy="0"/>
          <a:chOff x="0" y="0"/>
          <a:chExt cx="0" cy="0"/>
        </a:xfrm>
      </p:grpSpPr>
      <p:sp>
        <p:nvSpPr>
          <p:cNvPr id="92" name="Google Shape;92;p7"/>
          <p:cNvSpPr/>
          <p:nvPr/>
        </p:nvSpPr>
        <p:spPr>
          <a:xfrm>
            <a:off x="365760" y="256032"/>
            <a:ext cx="201168" cy="201168"/>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 name="Google Shape;93;p7"/>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a:solidFill>
                  <a:srgbClr val="2C2C2C"/>
                </a:solidFill>
                <a:latin typeface="Calibri"/>
                <a:ea typeface="Calibri"/>
                <a:cs typeface="Calibri"/>
                <a:sym typeface="Calibri"/>
              </a:rPr>
              <a:t>Kriging in a nutshell</a:t>
            </a:r>
            <a:endParaRPr sz="2000">
              <a:solidFill>
                <a:schemeClr val="dk1"/>
              </a:solidFill>
              <a:latin typeface="Calibri"/>
              <a:ea typeface="Calibri"/>
              <a:cs typeface="Calibri"/>
              <a:sym typeface="Calibri"/>
            </a:endParaRPr>
          </a:p>
        </p:txBody>
      </p:sp>
      <p:sp>
        <p:nvSpPr>
          <p:cNvPr id="94" name="Google Shape;94;p7"/>
          <p:cNvSpPr/>
          <p:nvPr/>
        </p:nvSpPr>
        <p:spPr>
          <a:xfrm>
            <a:off x="321944" y="470916"/>
            <a:ext cx="8412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55555"/>
              </a:buClr>
              <a:buSzPts val="1150"/>
              <a:buFont typeface="Calibri"/>
              <a:buNone/>
            </a:pPr>
            <a:r>
              <a:rPr lang="en-US" sz="1150" i="1">
                <a:solidFill>
                  <a:srgbClr val="555555"/>
                </a:solidFill>
                <a:latin typeface="Calibri"/>
                <a:ea typeface="Calibri"/>
                <a:cs typeface="Calibri"/>
                <a:sym typeface="Calibri"/>
              </a:rPr>
              <a:t>Kriging workflow step by step</a:t>
            </a:r>
            <a:endParaRPr sz="1150">
              <a:solidFill>
                <a:schemeClr val="dk1"/>
              </a:solidFill>
              <a:latin typeface="Calibri"/>
              <a:ea typeface="Calibri"/>
              <a:cs typeface="Calibri"/>
              <a:sym typeface="Calibri"/>
            </a:endParaRPr>
          </a:p>
        </p:txBody>
      </p:sp>
      <p:pic>
        <p:nvPicPr>
          <p:cNvPr id="2" name="Google Shape;250;p41">
            <a:extLst>
              <a:ext uri="{FF2B5EF4-FFF2-40B4-BE49-F238E27FC236}">
                <a16:creationId xmlns:a16="http://schemas.microsoft.com/office/drawing/2014/main" id="{05F276F6-93A0-7AF9-56C8-008534DCE551}"/>
              </a:ext>
            </a:extLst>
          </p:cNvPr>
          <p:cNvPicPr preferRelativeResize="0"/>
          <p:nvPr/>
        </p:nvPicPr>
        <p:blipFill>
          <a:blip r:embed="rId3">
            <a:alphaModFix/>
          </a:blip>
          <a:stretch>
            <a:fillRect/>
          </a:stretch>
        </p:blipFill>
        <p:spPr>
          <a:xfrm>
            <a:off x="1420084" y="790876"/>
            <a:ext cx="6216200" cy="43526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03097" y="173736"/>
            <a:ext cx="159262" cy="173736"/>
          </a:xfrm>
          <a:prstGeom prst="ellipse">
            <a:avLst/>
          </a:prstGeom>
          <a:solidFill>
            <a:srgbClr val="E8734A"/>
          </a:solidFill>
          <a:ln w="12700">
            <a:solidFill>
              <a:srgbClr val="E8734A"/>
            </a:solidFill>
            <a:prstDash val="solid"/>
          </a:ln>
        </p:spPr>
        <p:txBody>
          <a:bodyPr/>
          <a:lstStyle/>
          <a:p>
            <a:endParaRPr lang="he-IL" sz="1200"/>
          </a:p>
        </p:txBody>
      </p:sp>
      <p:sp>
        <p:nvSpPr>
          <p:cNvPr id="3" name="Text 1"/>
          <p:cNvSpPr/>
          <p:nvPr/>
        </p:nvSpPr>
        <p:spPr>
          <a:xfrm>
            <a:off x="422553" y="128016"/>
            <a:ext cx="7543981" cy="329184"/>
          </a:xfrm>
          <a:prstGeom prst="rect">
            <a:avLst/>
          </a:prstGeom>
          <a:noFill/>
          <a:ln/>
        </p:spPr>
        <p:txBody>
          <a:bodyPr wrap="square" lIns="0" tIns="0" rIns="0" bIns="0" rtlCol="0" anchor="ctr"/>
          <a:lstStyle/>
          <a:p>
            <a:pPr marL="0" indent="0" algn="l">
              <a:buNone/>
            </a:pPr>
            <a:r>
              <a:rPr lang="en-US" sz="2000" b="1" dirty="0">
                <a:solidFill>
                  <a:srgbClr val="2D3142"/>
                </a:solidFill>
                <a:latin typeface="Calibri" pitchFamily="34" charset="0"/>
                <a:ea typeface="Calibri" pitchFamily="34" charset="-122"/>
                <a:cs typeface="Calibri" pitchFamily="34" charset="-120"/>
              </a:rPr>
              <a:t>Types of Kriging Methods</a:t>
            </a:r>
            <a:endParaRPr lang="en-US" sz="2000" dirty="0"/>
          </a:p>
        </p:txBody>
      </p:sp>
      <p:sp>
        <p:nvSpPr>
          <p:cNvPr id="4" name="Text 2"/>
          <p:cNvSpPr/>
          <p:nvPr/>
        </p:nvSpPr>
        <p:spPr>
          <a:xfrm>
            <a:off x="422553" y="457200"/>
            <a:ext cx="7543981" cy="237744"/>
          </a:xfrm>
          <a:prstGeom prst="rect">
            <a:avLst/>
          </a:prstGeom>
          <a:noFill/>
          <a:ln/>
        </p:spPr>
        <p:txBody>
          <a:bodyPr wrap="square" lIns="0" tIns="0" rIns="0" bIns="0" rtlCol="0" anchor="t"/>
          <a:lstStyle/>
          <a:p>
            <a:pPr marL="0" indent="0" algn="l">
              <a:buNone/>
            </a:pPr>
            <a:r>
              <a:rPr lang="en-US" sz="1000" i="1" dirty="0">
                <a:solidFill>
                  <a:srgbClr val="666666"/>
                </a:solidFill>
                <a:latin typeface="Calibri" pitchFamily="34" charset="0"/>
                <a:ea typeface="Calibri" pitchFamily="34" charset="-122"/>
                <a:cs typeface="Calibri" pitchFamily="34" charset="-120"/>
              </a:rPr>
              <a:t>Each variant is suited to different data conditions — choose based on what you know about the mean, trend, and available variables.</a:t>
            </a:r>
            <a:endParaRPr lang="en-US" sz="1000" dirty="0"/>
          </a:p>
        </p:txBody>
      </p:sp>
      <p:sp>
        <p:nvSpPr>
          <p:cNvPr id="5" name="Shape 3"/>
          <p:cNvSpPr/>
          <p:nvPr/>
        </p:nvSpPr>
        <p:spPr>
          <a:xfrm>
            <a:off x="203097" y="749808"/>
            <a:ext cx="2715833" cy="237744"/>
          </a:xfrm>
          <a:prstGeom prst="rect">
            <a:avLst/>
          </a:prstGeom>
          <a:solidFill>
            <a:srgbClr val="E8734A"/>
          </a:solidFill>
          <a:ln w="12700">
            <a:solidFill>
              <a:srgbClr val="E8734A"/>
            </a:solidFill>
            <a:prstDash val="solid"/>
          </a:ln>
        </p:spPr>
        <p:txBody>
          <a:bodyPr/>
          <a:lstStyle/>
          <a:p>
            <a:endParaRPr lang="he-IL" sz="1200"/>
          </a:p>
        </p:txBody>
      </p:sp>
      <p:sp>
        <p:nvSpPr>
          <p:cNvPr id="6" name="Text 4"/>
          <p:cNvSpPr/>
          <p:nvPr/>
        </p:nvSpPr>
        <p:spPr>
          <a:xfrm>
            <a:off x="203097" y="749808"/>
            <a:ext cx="2715833"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Ordinary Kriging</a:t>
            </a:r>
            <a:endParaRPr lang="en-US" sz="1200" dirty="0"/>
          </a:p>
        </p:txBody>
      </p:sp>
      <p:sp>
        <p:nvSpPr>
          <p:cNvPr id="7" name="Shape 5"/>
          <p:cNvSpPr/>
          <p:nvPr/>
        </p:nvSpPr>
        <p:spPr>
          <a:xfrm>
            <a:off x="203097" y="987552"/>
            <a:ext cx="2715833" cy="822960"/>
          </a:xfrm>
          <a:prstGeom prst="rect">
            <a:avLst/>
          </a:prstGeom>
          <a:solidFill>
            <a:srgbClr val="FDEBD7"/>
          </a:solidFill>
          <a:ln w="12700">
            <a:solidFill>
              <a:srgbClr val="FDEBD7"/>
            </a:solidFill>
            <a:prstDash val="solid"/>
          </a:ln>
        </p:spPr>
        <p:txBody>
          <a:bodyPr/>
          <a:lstStyle/>
          <a:p>
            <a:endParaRPr lang="he-IL" sz="1200"/>
          </a:p>
        </p:txBody>
      </p:sp>
      <p:sp>
        <p:nvSpPr>
          <p:cNvPr id="8" name="Text 6"/>
          <p:cNvSpPr/>
          <p:nvPr/>
        </p:nvSpPr>
        <p:spPr>
          <a:xfrm>
            <a:off x="276249" y="1042416"/>
            <a:ext cx="2581718" cy="731520"/>
          </a:xfrm>
          <a:prstGeom prst="rect">
            <a:avLst/>
          </a:prstGeom>
          <a:noFill/>
          <a:ln/>
        </p:spPr>
        <p:txBody>
          <a:bodyPr wrap="square" lIns="0" tIns="0" rIns="0" bIns="0" rtlCol="0" anchor="t"/>
          <a:lstStyle/>
          <a:p>
            <a:pPr marL="0" indent="0" algn="l">
              <a:buNone/>
            </a:pPr>
            <a:r>
              <a:rPr lang="en-US" sz="800" b="1" dirty="0">
                <a:solidFill>
                  <a:srgbClr val="B54020"/>
                </a:solidFill>
                <a:latin typeface="Calibri" pitchFamily="34" charset="0"/>
                <a:ea typeface="Calibri" pitchFamily="34" charset="-122"/>
                <a:cs typeface="Calibri" pitchFamily="34" charset="-120"/>
              </a:rPr>
              <a:t>Assumption</a:t>
            </a:r>
            <a:endParaRPr lang="en-US" sz="800" dirty="0"/>
          </a:p>
          <a:p>
            <a:pPr marL="0" indent="0" algn="l">
              <a:buNone/>
            </a:pPr>
            <a:r>
              <a:rPr lang="en-US" sz="800" dirty="0">
                <a:solidFill>
                  <a:srgbClr val="333333"/>
                </a:solidFill>
                <a:latin typeface="Calibri" pitchFamily="34" charset="0"/>
                <a:ea typeface="Calibri" pitchFamily="34" charset="-122"/>
                <a:cs typeface="Calibri" pitchFamily="34" charset="-120"/>
              </a:rPr>
              <a:t>Unknown constant mean</a:t>
            </a:r>
            <a:endParaRPr lang="en-US" sz="800" dirty="0"/>
          </a:p>
          <a:p>
            <a:pPr marL="0" indent="0" algn="l">
              <a:buNone/>
            </a:pPr>
            <a:r>
              <a:rPr lang="en-US" sz="300" dirty="0">
                <a:solidFill>
                  <a:srgbClr val="000000"/>
                </a:solidFill>
                <a:latin typeface="Calibri" pitchFamily="34" charset="0"/>
                <a:ea typeface="Calibri" pitchFamily="34" charset="-122"/>
                <a:cs typeface="Calibri" pitchFamily="34" charset="-120"/>
              </a:rPr>
              <a:t> </a:t>
            </a:r>
            <a:endParaRPr lang="en-US" sz="800" dirty="0"/>
          </a:p>
          <a:p>
            <a:pPr marL="0" indent="0" algn="l">
              <a:buNone/>
            </a:pPr>
            <a:r>
              <a:rPr lang="en-US" sz="800" b="1" dirty="0">
                <a:solidFill>
                  <a:srgbClr val="B54020"/>
                </a:solidFill>
                <a:latin typeface="Calibri" pitchFamily="34" charset="0"/>
                <a:ea typeface="Calibri" pitchFamily="34" charset="-122"/>
                <a:cs typeface="Calibri" pitchFamily="34" charset="-120"/>
              </a:rPr>
              <a:t>Best for</a:t>
            </a:r>
            <a:endParaRPr lang="en-US" sz="800" dirty="0"/>
          </a:p>
          <a:p>
            <a:pPr marL="0" indent="0" algn="l">
              <a:buNone/>
            </a:pPr>
            <a:r>
              <a:rPr lang="en-US" sz="800" dirty="0">
                <a:solidFill>
                  <a:srgbClr val="333333"/>
                </a:solidFill>
                <a:latin typeface="Calibri" pitchFamily="34" charset="0"/>
                <a:ea typeface="Calibri" pitchFamily="34" charset="-122"/>
                <a:cs typeface="Calibri" pitchFamily="34" charset="-120"/>
              </a:rPr>
              <a:t>Most environmental and ecological data</a:t>
            </a:r>
            <a:endParaRPr lang="en-US" sz="800" dirty="0"/>
          </a:p>
          <a:p>
            <a:pPr marL="0" indent="0" algn="l">
              <a:buNone/>
            </a:pPr>
            <a:r>
              <a:rPr lang="en-US" sz="300" dirty="0">
                <a:solidFill>
                  <a:srgbClr val="000000"/>
                </a:solidFill>
                <a:latin typeface="Calibri" pitchFamily="34" charset="0"/>
                <a:ea typeface="Calibri" pitchFamily="34" charset="-122"/>
                <a:cs typeface="Calibri" pitchFamily="34" charset="-120"/>
              </a:rPr>
              <a:t> </a:t>
            </a:r>
            <a:endParaRPr lang="en-US" sz="800" dirty="0"/>
          </a:p>
          <a:p>
            <a:pPr marL="0" indent="0" algn="l">
              <a:buNone/>
            </a:pPr>
            <a:r>
              <a:rPr lang="en-US" sz="800" i="1" dirty="0">
                <a:solidFill>
                  <a:srgbClr val="888888"/>
                </a:solidFill>
                <a:latin typeface="Calibri" pitchFamily="34" charset="0"/>
                <a:ea typeface="Calibri" pitchFamily="34" charset="-122"/>
                <a:cs typeface="Calibri" pitchFamily="34" charset="-120"/>
              </a:rPr>
              <a:t>★  Most widely used variant</a:t>
            </a:r>
            <a:endParaRPr lang="en-US" sz="800" dirty="0"/>
          </a:p>
        </p:txBody>
      </p:sp>
      <p:sp>
        <p:nvSpPr>
          <p:cNvPr id="9" name="Shape 7"/>
          <p:cNvSpPr/>
          <p:nvPr/>
        </p:nvSpPr>
        <p:spPr>
          <a:xfrm>
            <a:off x="3257193" y="749808"/>
            <a:ext cx="2715833" cy="237744"/>
          </a:xfrm>
          <a:prstGeom prst="rect">
            <a:avLst/>
          </a:prstGeom>
          <a:solidFill>
            <a:srgbClr val="4A9B8E"/>
          </a:solidFill>
          <a:ln w="12700">
            <a:solidFill>
              <a:srgbClr val="4A9B8E"/>
            </a:solidFill>
            <a:prstDash val="solid"/>
          </a:ln>
        </p:spPr>
        <p:txBody>
          <a:bodyPr/>
          <a:lstStyle/>
          <a:p>
            <a:endParaRPr lang="he-IL" sz="1200"/>
          </a:p>
        </p:txBody>
      </p:sp>
      <p:sp>
        <p:nvSpPr>
          <p:cNvPr id="10" name="Text 8"/>
          <p:cNvSpPr/>
          <p:nvPr/>
        </p:nvSpPr>
        <p:spPr>
          <a:xfrm>
            <a:off x="3257193" y="749808"/>
            <a:ext cx="2715833"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Simple Kriging</a:t>
            </a:r>
            <a:endParaRPr lang="en-US" sz="1200" dirty="0"/>
          </a:p>
        </p:txBody>
      </p:sp>
      <p:sp>
        <p:nvSpPr>
          <p:cNvPr id="11" name="Shape 9"/>
          <p:cNvSpPr/>
          <p:nvPr/>
        </p:nvSpPr>
        <p:spPr>
          <a:xfrm>
            <a:off x="3257193" y="987552"/>
            <a:ext cx="2715833" cy="822960"/>
          </a:xfrm>
          <a:prstGeom prst="rect">
            <a:avLst/>
          </a:prstGeom>
          <a:solidFill>
            <a:srgbClr val="D5EDE9"/>
          </a:solidFill>
          <a:ln w="12700">
            <a:solidFill>
              <a:srgbClr val="D5EDE9"/>
            </a:solidFill>
            <a:prstDash val="solid"/>
          </a:ln>
        </p:spPr>
        <p:txBody>
          <a:bodyPr/>
          <a:lstStyle/>
          <a:p>
            <a:endParaRPr lang="he-IL" sz="1200"/>
          </a:p>
        </p:txBody>
      </p:sp>
      <p:sp>
        <p:nvSpPr>
          <p:cNvPr id="12" name="Text 10"/>
          <p:cNvSpPr/>
          <p:nvPr/>
        </p:nvSpPr>
        <p:spPr>
          <a:xfrm>
            <a:off x="3330345" y="1042416"/>
            <a:ext cx="2581718" cy="731520"/>
          </a:xfrm>
          <a:prstGeom prst="rect">
            <a:avLst/>
          </a:prstGeom>
          <a:noFill/>
          <a:ln/>
        </p:spPr>
        <p:txBody>
          <a:bodyPr wrap="square" lIns="0" tIns="0" rIns="0" bIns="0" rtlCol="0" anchor="t"/>
          <a:lstStyle/>
          <a:p>
            <a:pPr marL="0" indent="0" algn="l">
              <a:buNone/>
            </a:pPr>
            <a:r>
              <a:rPr lang="en-US" sz="800" b="1" dirty="0">
                <a:solidFill>
                  <a:srgbClr val="2E7268"/>
                </a:solidFill>
                <a:latin typeface="Calibri" pitchFamily="34" charset="0"/>
                <a:ea typeface="Calibri" pitchFamily="34" charset="-122"/>
                <a:cs typeface="Calibri" pitchFamily="34" charset="-120"/>
              </a:rPr>
              <a:t>Assumption</a:t>
            </a:r>
            <a:endParaRPr lang="en-US" sz="800" dirty="0"/>
          </a:p>
          <a:p>
            <a:pPr marL="0" indent="0" algn="l">
              <a:buNone/>
            </a:pPr>
            <a:r>
              <a:rPr lang="en-US" sz="800" dirty="0">
                <a:solidFill>
                  <a:srgbClr val="333333"/>
                </a:solidFill>
                <a:latin typeface="Calibri" pitchFamily="34" charset="0"/>
                <a:ea typeface="Calibri" pitchFamily="34" charset="-122"/>
                <a:cs typeface="Calibri" pitchFamily="34" charset="-120"/>
              </a:rPr>
              <a:t>Known constant mean (user-specified)</a:t>
            </a:r>
            <a:endParaRPr lang="en-US" sz="800" dirty="0"/>
          </a:p>
          <a:p>
            <a:pPr marL="0" indent="0" algn="l">
              <a:buNone/>
            </a:pPr>
            <a:r>
              <a:rPr lang="en-US" sz="300" dirty="0">
                <a:solidFill>
                  <a:srgbClr val="000000"/>
                </a:solidFill>
                <a:latin typeface="Calibri" pitchFamily="34" charset="0"/>
                <a:ea typeface="Calibri" pitchFamily="34" charset="-122"/>
                <a:cs typeface="Calibri" pitchFamily="34" charset="-120"/>
              </a:rPr>
              <a:t> </a:t>
            </a:r>
            <a:endParaRPr lang="en-US" sz="800" dirty="0"/>
          </a:p>
          <a:p>
            <a:pPr marL="0" indent="0" algn="l">
              <a:buNone/>
            </a:pPr>
            <a:r>
              <a:rPr lang="en-US" sz="800" b="1" dirty="0">
                <a:solidFill>
                  <a:srgbClr val="2E7268"/>
                </a:solidFill>
                <a:latin typeface="Calibri" pitchFamily="34" charset="0"/>
                <a:ea typeface="Calibri" pitchFamily="34" charset="-122"/>
                <a:cs typeface="Calibri" pitchFamily="34" charset="-120"/>
              </a:rPr>
              <a:t>Best for</a:t>
            </a:r>
            <a:endParaRPr lang="en-US" sz="800" dirty="0"/>
          </a:p>
          <a:p>
            <a:pPr marL="0" indent="0" algn="l">
              <a:buNone/>
            </a:pPr>
            <a:r>
              <a:rPr lang="en-US" sz="800" dirty="0">
                <a:solidFill>
                  <a:srgbClr val="333333"/>
                </a:solidFill>
                <a:latin typeface="Calibri" pitchFamily="34" charset="0"/>
                <a:ea typeface="Calibri" pitchFamily="34" charset="-122"/>
                <a:cs typeface="Calibri" pitchFamily="34" charset="-120"/>
              </a:rPr>
              <a:t>Small areas with well-understood average conditions</a:t>
            </a:r>
            <a:endParaRPr lang="en-US" sz="800" dirty="0"/>
          </a:p>
          <a:p>
            <a:pPr marL="0" indent="0" algn="l">
              <a:buNone/>
            </a:pPr>
            <a:r>
              <a:rPr lang="en-US" sz="300" dirty="0">
                <a:solidFill>
                  <a:srgbClr val="000000"/>
                </a:solidFill>
                <a:latin typeface="Calibri" pitchFamily="34" charset="0"/>
                <a:ea typeface="Calibri" pitchFamily="34" charset="-122"/>
                <a:cs typeface="Calibri" pitchFamily="34" charset="-120"/>
              </a:rPr>
              <a:t> </a:t>
            </a:r>
            <a:endParaRPr lang="en-US" sz="800" dirty="0"/>
          </a:p>
          <a:p>
            <a:pPr marL="0" indent="0" algn="l">
              <a:buNone/>
            </a:pPr>
            <a:r>
              <a:rPr lang="en-US" sz="800" i="1" dirty="0">
                <a:solidFill>
                  <a:srgbClr val="888888"/>
                </a:solidFill>
                <a:latin typeface="Calibri" pitchFamily="34" charset="0"/>
                <a:ea typeface="Calibri" pitchFamily="34" charset="-122"/>
                <a:cs typeface="Calibri" pitchFamily="34" charset="-120"/>
              </a:rPr>
              <a:t>Uncommon in practice</a:t>
            </a:r>
            <a:endParaRPr lang="en-US" sz="800" dirty="0"/>
          </a:p>
        </p:txBody>
      </p:sp>
      <p:sp>
        <p:nvSpPr>
          <p:cNvPr id="13" name="Shape 11"/>
          <p:cNvSpPr/>
          <p:nvPr/>
        </p:nvSpPr>
        <p:spPr>
          <a:xfrm>
            <a:off x="6311289" y="749808"/>
            <a:ext cx="2715833" cy="237744"/>
          </a:xfrm>
          <a:prstGeom prst="rect">
            <a:avLst/>
          </a:prstGeom>
          <a:solidFill>
            <a:srgbClr val="5B7FA6"/>
          </a:solidFill>
          <a:ln w="12700">
            <a:solidFill>
              <a:srgbClr val="5B7FA6"/>
            </a:solidFill>
            <a:prstDash val="solid"/>
          </a:ln>
        </p:spPr>
        <p:txBody>
          <a:bodyPr/>
          <a:lstStyle/>
          <a:p>
            <a:endParaRPr lang="he-IL" sz="1200"/>
          </a:p>
        </p:txBody>
      </p:sp>
      <p:sp>
        <p:nvSpPr>
          <p:cNvPr id="14" name="Text 12"/>
          <p:cNvSpPr/>
          <p:nvPr/>
        </p:nvSpPr>
        <p:spPr>
          <a:xfrm>
            <a:off x="6311289" y="749808"/>
            <a:ext cx="2715833"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Universal Kriging</a:t>
            </a:r>
            <a:endParaRPr lang="en-US" sz="1200" dirty="0"/>
          </a:p>
        </p:txBody>
      </p:sp>
      <p:sp>
        <p:nvSpPr>
          <p:cNvPr id="15" name="Shape 13"/>
          <p:cNvSpPr/>
          <p:nvPr/>
        </p:nvSpPr>
        <p:spPr>
          <a:xfrm>
            <a:off x="6311289" y="987552"/>
            <a:ext cx="2715833" cy="822960"/>
          </a:xfrm>
          <a:prstGeom prst="rect">
            <a:avLst/>
          </a:prstGeom>
          <a:solidFill>
            <a:srgbClr val="D6E4F0"/>
          </a:solidFill>
          <a:ln w="12700">
            <a:solidFill>
              <a:srgbClr val="D6E4F0"/>
            </a:solidFill>
            <a:prstDash val="solid"/>
          </a:ln>
        </p:spPr>
        <p:txBody>
          <a:bodyPr/>
          <a:lstStyle/>
          <a:p>
            <a:endParaRPr lang="he-IL" sz="1200"/>
          </a:p>
        </p:txBody>
      </p:sp>
      <p:sp>
        <p:nvSpPr>
          <p:cNvPr id="16" name="Text 14"/>
          <p:cNvSpPr/>
          <p:nvPr/>
        </p:nvSpPr>
        <p:spPr>
          <a:xfrm>
            <a:off x="6384441" y="1042416"/>
            <a:ext cx="2581718" cy="731520"/>
          </a:xfrm>
          <a:prstGeom prst="rect">
            <a:avLst/>
          </a:prstGeom>
          <a:noFill/>
          <a:ln/>
        </p:spPr>
        <p:txBody>
          <a:bodyPr wrap="square" lIns="0" tIns="0" rIns="0" bIns="0" rtlCol="0" anchor="t"/>
          <a:lstStyle/>
          <a:p>
            <a:pPr marL="0" indent="0" algn="l">
              <a:buNone/>
            </a:pPr>
            <a:r>
              <a:rPr lang="en-US" sz="800" b="1" dirty="0">
                <a:solidFill>
                  <a:srgbClr val="3A5F85"/>
                </a:solidFill>
                <a:latin typeface="Calibri" pitchFamily="34" charset="0"/>
                <a:ea typeface="Calibri" pitchFamily="34" charset="-122"/>
                <a:cs typeface="Calibri" pitchFamily="34" charset="-120"/>
              </a:rPr>
              <a:t>Assumption</a:t>
            </a:r>
            <a:endParaRPr lang="en-US" sz="800" dirty="0"/>
          </a:p>
          <a:p>
            <a:pPr marL="0" indent="0" algn="l">
              <a:buNone/>
            </a:pPr>
            <a:r>
              <a:rPr lang="en-US" sz="800" dirty="0">
                <a:solidFill>
                  <a:srgbClr val="333333"/>
                </a:solidFill>
                <a:latin typeface="Calibri" pitchFamily="34" charset="0"/>
                <a:ea typeface="Calibri" pitchFamily="34" charset="-122"/>
                <a:cs typeface="Calibri" pitchFamily="34" charset="-120"/>
              </a:rPr>
              <a:t>Known functional spatial trend (drift)</a:t>
            </a:r>
            <a:endParaRPr lang="en-US" sz="800" dirty="0"/>
          </a:p>
          <a:p>
            <a:pPr marL="0" indent="0" algn="l">
              <a:buNone/>
            </a:pPr>
            <a:r>
              <a:rPr lang="en-US" sz="300" dirty="0">
                <a:solidFill>
                  <a:srgbClr val="000000"/>
                </a:solidFill>
                <a:latin typeface="Calibri" pitchFamily="34" charset="0"/>
                <a:ea typeface="Calibri" pitchFamily="34" charset="-122"/>
                <a:cs typeface="Calibri" pitchFamily="34" charset="-120"/>
              </a:rPr>
              <a:t> </a:t>
            </a:r>
            <a:endParaRPr lang="en-US" sz="800" dirty="0"/>
          </a:p>
          <a:p>
            <a:pPr marL="0" indent="0" algn="l">
              <a:buNone/>
            </a:pPr>
            <a:r>
              <a:rPr lang="en-US" sz="800" b="1" dirty="0">
                <a:solidFill>
                  <a:srgbClr val="3A5F85"/>
                </a:solidFill>
                <a:latin typeface="Calibri" pitchFamily="34" charset="0"/>
                <a:ea typeface="Calibri" pitchFamily="34" charset="-122"/>
                <a:cs typeface="Calibri" pitchFamily="34" charset="-120"/>
              </a:rPr>
              <a:t>Best for</a:t>
            </a:r>
            <a:endParaRPr lang="en-US" sz="800" dirty="0"/>
          </a:p>
          <a:p>
            <a:pPr marL="0" indent="0" algn="l">
              <a:buNone/>
            </a:pPr>
            <a:r>
              <a:rPr lang="en-US" sz="800" dirty="0">
                <a:solidFill>
                  <a:srgbClr val="333333"/>
                </a:solidFill>
                <a:latin typeface="Calibri" pitchFamily="34" charset="0"/>
                <a:ea typeface="Calibri" pitchFamily="34" charset="-122"/>
                <a:cs typeface="Calibri" pitchFamily="34" charset="-120"/>
              </a:rPr>
              <a:t>Pollution plumes, elevation gradients, directional drift</a:t>
            </a:r>
            <a:endParaRPr lang="en-US" sz="800" dirty="0"/>
          </a:p>
          <a:p>
            <a:pPr marL="0" indent="0" algn="l">
              <a:buNone/>
            </a:pPr>
            <a:r>
              <a:rPr lang="en-US" sz="300" dirty="0">
                <a:solidFill>
                  <a:srgbClr val="000000"/>
                </a:solidFill>
                <a:latin typeface="Calibri" pitchFamily="34" charset="0"/>
                <a:ea typeface="Calibri" pitchFamily="34" charset="-122"/>
                <a:cs typeface="Calibri" pitchFamily="34" charset="-120"/>
              </a:rPr>
              <a:t> </a:t>
            </a:r>
            <a:endParaRPr lang="en-US" sz="800" dirty="0"/>
          </a:p>
          <a:p>
            <a:pPr marL="0" indent="0" algn="l">
              <a:buNone/>
            </a:pPr>
            <a:r>
              <a:rPr lang="en-US" sz="800" i="1" dirty="0">
                <a:solidFill>
                  <a:srgbClr val="888888"/>
                </a:solidFill>
                <a:latin typeface="Calibri" pitchFamily="34" charset="0"/>
                <a:ea typeface="Calibri" pitchFamily="34" charset="-122"/>
                <a:cs typeface="Calibri" pitchFamily="34" charset="-120"/>
              </a:rPr>
              <a:t>When a spatial trend is present</a:t>
            </a:r>
            <a:endParaRPr lang="en-US" sz="800" dirty="0"/>
          </a:p>
        </p:txBody>
      </p:sp>
      <p:sp>
        <p:nvSpPr>
          <p:cNvPr id="17" name="Shape 15"/>
          <p:cNvSpPr/>
          <p:nvPr/>
        </p:nvSpPr>
        <p:spPr>
          <a:xfrm>
            <a:off x="203097" y="1883664"/>
            <a:ext cx="2715833" cy="237744"/>
          </a:xfrm>
          <a:prstGeom prst="rect">
            <a:avLst/>
          </a:prstGeom>
          <a:solidFill>
            <a:srgbClr val="7C6FA0"/>
          </a:solidFill>
          <a:ln w="12700">
            <a:solidFill>
              <a:srgbClr val="7C6FA0"/>
            </a:solidFill>
            <a:prstDash val="solid"/>
          </a:ln>
        </p:spPr>
        <p:txBody>
          <a:bodyPr/>
          <a:lstStyle/>
          <a:p>
            <a:endParaRPr lang="he-IL" sz="1200"/>
          </a:p>
        </p:txBody>
      </p:sp>
      <p:sp>
        <p:nvSpPr>
          <p:cNvPr id="18" name="Text 16"/>
          <p:cNvSpPr/>
          <p:nvPr/>
        </p:nvSpPr>
        <p:spPr>
          <a:xfrm>
            <a:off x="203097" y="1883664"/>
            <a:ext cx="2715833"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Co-Kriging</a:t>
            </a:r>
            <a:endParaRPr lang="en-US" sz="1200" dirty="0"/>
          </a:p>
        </p:txBody>
      </p:sp>
      <p:sp>
        <p:nvSpPr>
          <p:cNvPr id="19" name="Shape 17"/>
          <p:cNvSpPr/>
          <p:nvPr/>
        </p:nvSpPr>
        <p:spPr>
          <a:xfrm>
            <a:off x="203097" y="2121408"/>
            <a:ext cx="2715833" cy="822960"/>
          </a:xfrm>
          <a:prstGeom prst="rect">
            <a:avLst/>
          </a:prstGeom>
          <a:solidFill>
            <a:srgbClr val="E8E4F3"/>
          </a:solidFill>
          <a:ln w="12700">
            <a:solidFill>
              <a:srgbClr val="E8E4F3"/>
            </a:solidFill>
            <a:prstDash val="solid"/>
          </a:ln>
        </p:spPr>
        <p:txBody>
          <a:bodyPr/>
          <a:lstStyle/>
          <a:p>
            <a:endParaRPr lang="he-IL" sz="1200"/>
          </a:p>
        </p:txBody>
      </p:sp>
      <p:sp>
        <p:nvSpPr>
          <p:cNvPr id="20" name="Text 18"/>
          <p:cNvSpPr/>
          <p:nvPr/>
        </p:nvSpPr>
        <p:spPr>
          <a:xfrm>
            <a:off x="276249" y="2176272"/>
            <a:ext cx="2581718" cy="731520"/>
          </a:xfrm>
          <a:prstGeom prst="rect">
            <a:avLst/>
          </a:prstGeom>
          <a:noFill/>
          <a:ln/>
        </p:spPr>
        <p:txBody>
          <a:bodyPr wrap="square" lIns="0" tIns="0" rIns="0" bIns="0" rtlCol="0" anchor="t"/>
          <a:lstStyle/>
          <a:p>
            <a:pPr marL="0" indent="0" algn="l">
              <a:buNone/>
            </a:pPr>
            <a:r>
              <a:rPr lang="en-US" sz="800" b="1" dirty="0">
                <a:solidFill>
                  <a:srgbClr val="5A4E7E"/>
                </a:solidFill>
                <a:latin typeface="Calibri" pitchFamily="34" charset="0"/>
                <a:ea typeface="Calibri" pitchFamily="34" charset="-122"/>
                <a:cs typeface="Calibri" pitchFamily="34" charset="-120"/>
              </a:rPr>
              <a:t>Assumption</a:t>
            </a:r>
            <a:endParaRPr lang="en-US" sz="800" dirty="0"/>
          </a:p>
          <a:p>
            <a:pPr marL="0" indent="0" algn="l">
              <a:buNone/>
            </a:pPr>
            <a:r>
              <a:rPr lang="en-US" sz="800" dirty="0">
                <a:solidFill>
                  <a:srgbClr val="333333"/>
                </a:solidFill>
                <a:latin typeface="Calibri" pitchFamily="34" charset="0"/>
                <a:ea typeface="Calibri" pitchFamily="34" charset="-122"/>
                <a:cs typeface="Calibri" pitchFamily="34" charset="-120"/>
              </a:rPr>
              <a:t>Correlation with secondary variable(s)</a:t>
            </a:r>
            <a:endParaRPr lang="en-US" sz="800" dirty="0"/>
          </a:p>
          <a:p>
            <a:pPr marL="0" indent="0" algn="l">
              <a:buNone/>
            </a:pPr>
            <a:r>
              <a:rPr lang="en-US" sz="300" dirty="0">
                <a:solidFill>
                  <a:srgbClr val="000000"/>
                </a:solidFill>
                <a:latin typeface="Calibri" pitchFamily="34" charset="0"/>
                <a:ea typeface="Calibri" pitchFamily="34" charset="-122"/>
                <a:cs typeface="Calibri" pitchFamily="34" charset="-120"/>
              </a:rPr>
              <a:t> </a:t>
            </a:r>
            <a:endParaRPr lang="en-US" sz="800" dirty="0"/>
          </a:p>
          <a:p>
            <a:pPr marL="0" indent="0" algn="l">
              <a:buNone/>
            </a:pPr>
            <a:r>
              <a:rPr lang="en-US" sz="800" b="1" dirty="0">
                <a:solidFill>
                  <a:srgbClr val="5A4E7E"/>
                </a:solidFill>
                <a:latin typeface="Calibri" pitchFamily="34" charset="0"/>
                <a:ea typeface="Calibri" pitchFamily="34" charset="-122"/>
                <a:cs typeface="Calibri" pitchFamily="34" charset="-120"/>
              </a:rPr>
              <a:t>Best for</a:t>
            </a:r>
            <a:endParaRPr lang="en-US" sz="800" dirty="0"/>
          </a:p>
          <a:p>
            <a:pPr marL="0" indent="0" algn="l">
              <a:buNone/>
            </a:pPr>
            <a:r>
              <a:rPr lang="en-US" sz="800" dirty="0">
                <a:solidFill>
                  <a:srgbClr val="333333"/>
                </a:solidFill>
                <a:latin typeface="Calibri" pitchFamily="34" charset="0"/>
                <a:ea typeface="Calibri" pitchFamily="34" charset="-122"/>
                <a:cs typeface="Calibri" pitchFamily="34" charset="-120"/>
              </a:rPr>
              <a:t>When a correlated variable is easier or cheaper to measure</a:t>
            </a:r>
            <a:endParaRPr lang="en-US" sz="800" dirty="0"/>
          </a:p>
          <a:p>
            <a:pPr marL="0" indent="0" algn="l">
              <a:buNone/>
            </a:pPr>
            <a:r>
              <a:rPr lang="en-US" sz="300" dirty="0">
                <a:solidFill>
                  <a:srgbClr val="000000"/>
                </a:solidFill>
                <a:latin typeface="Calibri" pitchFamily="34" charset="0"/>
                <a:ea typeface="Calibri" pitchFamily="34" charset="-122"/>
                <a:cs typeface="Calibri" pitchFamily="34" charset="-120"/>
              </a:rPr>
              <a:t> </a:t>
            </a:r>
            <a:endParaRPr lang="en-US" sz="800" dirty="0"/>
          </a:p>
          <a:p>
            <a:pPr marL="0" indent="0" algn="l">
              <a:buNone/>
            </a:pPr>
            <a:r>
              <a:rPr lang="en-US" sz="800" i="1" dirty="0">
                <a:solidFill>
                  <a:srgbClr val="888888"/>
                </a:solidFill>
                <a:latin typeface="Calibri" pitchFamily="34" charset="0"/>
                <a:ea typeface="Calibri" pitchFamily="34" charset="-122"/>
                <a:cs typeface="Calibri" pitchFamily="34" charset="-120"/>
              </a:rPr>
              <a:t>E.g., DEM elevation to improve rainfall maps</a:t>
            </a:r>
            <a:endParaRPr lang="en-US" sz="800" dirty="0"/>
          </a:p>
        </p:txBody>
      </p:sp>
      <p:sp>
        <p:nvSpPr>
          <p:cNvPr id="21" name="Shape 19"/>
          <p:cNvSpPr/>
          <p:nvPr/>
        </p:nvSpPr>
        <p:spPr>
          <a:xfrm>
            <a:off x="3257193" y="1883664"/>
            <a:ext cx="2715833" cy="237744"/>
          </a:xfrm>
          <a:prstGeom prst="rect">
            <a:avLst/>
          </a:prstGeom>
          <a:solidFill>
            <a:srgbClr val="C0392B"/>
          </a:solidFill>
          <a:ln w="12700">
            <a:solidFill>
              <a:srgbClr val="C0392B"/>
            </a:solidFill>
            <a:prstDash val="solid"/>
          </a:ln>
        </p:spPr>
        <p:txBody>
          <a:bodyPr/>
          <a:lstStyle/>
          <a:p>
            <a:endParaRPr lang="he-IL" sz="1200"/>
          </a:p>
        </p:txBody>
      </p:sp>
      <p:sp>
        <p:nvSpPr>
          <p:cNvPr id="22" name="Text 20"/>
          <p:cNvSpPr/>
          <p:nvPr/>
        </p:nvSpPr>
        <p:spPr>
          <a:xfrm>
            <a:off x="3257193" y="1883664"/>
            <a:ext cx="2715833"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Indicator Kriging</a:t>
            </a:r>
            <a:endParaRPr lang="en-US" sz="1200" dirty="0"/>
          </a:p>
        </p:txBody>
      </p:sp>
      <p:sp>
        <p:nvSpPr>
          <p:cNvPr id="23" name="Shape 21"/>
          <p:cNvSpPr/>
          <p:nvPr/>
        </p:nvSpPr>
        <p:spPr>
          <a:xfrm>
            <a:off x="3257193" y="2121408"/>
            <a:ext cx="2715833" cy="822960"/>
          </a:xfrm>
          <a:prstGeom prst="rect">
            <a:avLst/>
          </a:prstGeom>
          <a:solidFill>
            <a:srgbClr val="FADBD8"/>
          </a:solidFill>
          <a:ln w="12700">
            <a:solidFill>
              <a:srgbClr val="FADBD8"/>
            </a:solidFill>
            <a:prstDash val="solid"/>
          </a:ln>
        </p:spPr>
        <p:txBody>
          <a:bodyPr/>
          <a:lstStyle/>
          <a:p>
            <a:endParaRPr lang="he-IL" sz="1200"/>
          </a:p>
        </p:txBody>
      </p:sp>
      <p:sp>
        <p:nvSpPr>
          <p:cNvPr id="24" name="Text 22"/>
          <p:cNvSpPr/>
          <p:nvPr/>
        </p:nvSpPr>
        <p:spPr>
          <a:xfrm>
            <a:off x="3330345" y="2176272"/>
            <a:ext cx="2581718" cy="731520"/>
          </a:xfrm>
          <a:prstGeom prst="rect">
            <a:avLst/>
          </a:prstGeom>
          <a:noFill/>
          <a:ln/>
        </p:spPr>
        <p:txBody>
          <a:bodyPr wrap="square" lIns="0" tIns="0" rIns="0" bIns="0" rtlCol="0" anchor="t"/>
          <a:lstStyle/>
          <a:p>
            <a:pPr marL="0" indent="0" algn="l">
              <a:buNone/>
            </a:pPr>
            <a:r>
              <a:rPr lang="en-US" sz="800" b="1" dirty="0">
                <a:solidFill>
                  <a:srgbClr val="922B21"/>
                </a:solidFill>
                <a:latin typeface="Calibri" pitchFamily="34" charset="0"/>
                <a:ea typeface="Calibri" pitchFamily="34" charset="-122"/>
                <a:cs typeface="Calibri" pitchFamily="34" charset="-120"/>
              </a:rPr>
              <a:t>Assumption</a:t>
            </a:r>
            <a:endParaRPr lang="en-US" sz="800" dirty="0"/>
          </a:p>
          <a:p>
            <a:pPr marL="0" indent="0" algn="l">
              <a:buNone/>
            </a:pPr>
            <a:r>
              <a:rPr lang="en-US" sz="800" dirty="0">
                <a:solidFill>
                  <a:srgbClr val="333333"/>
                </a:solidFill>
                <a:latin typeface="Calibri" pitchFamily="34" charset="0"/>
                <a:ea typeface="Calibri" pitchFamily="34" charset="-122"/>
                <a:cs typeface="Calibri" pitchFamily="34" charset="-120"/>
              </a:rPr>
              <a:t>Data coded as binary (above/below threshold)</a:t>
            </a:r>
            <a:endParaRPr lang="en-US" sz="800" dirty="0"/>
          </a:p>
          <a:p>
            <a:pPr marL="0" indent="0" algn="l">
              <a:buNone/>
            </a:pPr>
            <a:r>
              <a:rPr lang="en-US" sz="300" dirty="0">
                <a:solidFill>
                  <a:srgbClr val="000000"/>
                </a:solidFill>
                <a:latin typeface="Calibri" pitchFamily="34" charset="0"/>
                <a:ea typeface="Calibri" pitchFamily="34" charset="-122"/>
                <a:cs typeface="Calibri" pitchFamily="34" charset="-120"/>
              </a:rPr>
              <a:t> </a:t>
            </a:r>
            <a:endParaRPr lang="en-US" sz="800" dirty="0"/>
          </a:p>
          <a:p>
            <a:pPr marL="0" indent="0" algn="l">
              <a:buNone/>
            </a:pPr>
            <a:r>
              <a:rPr lang="en-US" sz="800" b="1" dirty="0">
                <a:solidFill>
                  <a:srgbClr val="922B21"/>
                </a:solidFill>
                <a:latin typeface="Calibri" pitchFamily="34" charset="0"/>
                <a:ea typeface="Calibri" pitchFamily="34" charset="-122"/>
                <a:cs typeface="Calibri" pitchFamily="34" charset="-120"/>
              </a:rPr>
              <a:t>Best for</a:t>
            </a:r>
            <a:endParaRPr lang="en-US" sz="800" dirty="0"/>
          </a:p>
          <a:p>
            <a:pPr marL="0" indent="0" algn="l">
              <a:buNone/>
            </a:pPr>
            <a:r>
              <a:rPr lang="en-US" sz="800" dirty="0">
                <a:solidFill>
                  <a:srgbClr val="333333"/>
                </a:solidFill>
                <a:latin typeface="Calibri" pitchFamily="34" charset="0"/>
                <a:ea typeface="Calibri" pitchFamily="34" charset="-122"/>
                <a:cs typeface="Calibri" pitchFamily="34" charset="-120"/>
              </a:rPr>
              <a:t>Risk mapping, regulatory threshold exceedance probability</a:t>
            </a:r>
            <a:endParaRPr lang="en-US" sz="800" dirty="0"/>
          </a:p>
          <a:p>
            <a:pPr marL="0" indent="0" algn="l">
              <a:buNone/>
            </a:pPr>
            <a:r>
              <a:rPr lang="en-US" sz="300" dirty="0">
                <a:solidFill>
                  <a:srgbClr val="000000"/>
                </a:solidFill>
                <a:latin typeface="Calibri" pitchFamily="34" charset="0"/>
                <a:ea typeface="Calibri" pitchFamily="34" charset="-122"/>
                <a:cs typeface="Calibri" pitchFamily="34" charset="-120"/>
              </a:rPr>
              <a:t> </a:t>
            </a:r>
            <a:endParaRPr lang="en-US" sz="800" dirty="0"/>
          </a:p>
          <a:p>
            <a:pPr marL="0" indent="0" algn="l">
              <a:buNone/>
            </a:pPr>
            <a:r>
              <a:rPr lang="en-US" sz="800" i="1" dirty="0">
                <a:solidFill>
                  <a:srgbClr val="888888"/>
                </a:solidFill>
                <a:latin typeface="Calibri" pitchFamily="34" charset="0"/>
                <a:ea typeface="Calibri" pitchFamily="34" charset="-122"/>
                <a:cs typeface="Calibri" pitchFamily="34" charset="-120"/>
              </a:rPr>
              <a:t>Outputs probability, not a continuous value</a:t>
            </a:r>
            <a:endParaRPr lang="en-US" sz="800" dirty="0"/>
          </a:p>
        </p:txBody>
      </p:sp>
      <p:sp>
        <p:nvSpPr>
          <p:cNvPr id="25" name="Shape 23"/>
          <p:cNvSpPr/>
          <p:nvPr/>
        </p:nvSpPr>
        <p:spPr>
          <a:xfrm>
            <a:off x="6311289" y="1883664"/>
            <a:ext cx="2715833" cy="237744"/>
          </a:xfrm>
          <a:prstGeom prst="rect">
            <a:avLst/>
          </a:prstGeom>
          <a:solidFill>
            <a:srgbClr val="2E7D6B"/>
          </a:solidFill>
          <a:ln w="12700">
            <a:solidFill>
              <a:srgbClr val="2E7D6B"/>
            </a:solidFill>
            <a:prstDash val="solid"/>
          </a:ln>
        </p:spPr>
        <p:txBody>
          <a:bodyPr/>
          <a:lstStyle/>
          <a:p>
            <a:endParaRPr lang="he-IL" sz="1200"/>
          </a:p>
        </p:txBody>
      </p:sp>
      <p:sp>
        <p:nvSpPr>
          <p:cNvPr id="26" name="Text 24"/>
          <p:cNvSpPr/>
          <p:nvPr/>
        </p:nvSpPr>
        <p:spPr>
          <a:xfrm>
            <a:off x="6311289" y="1883664"/>
            <a:ext cx="2715833"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Block Kriging</a:t>
            </a:r>
            <a:endParaRPr lang="en-US" sz="1200" dirty="0"/>
          </a:p>
        </p:txBody>
      </p:sp>
      <p:sp>
        <p:nvSpPr>
          <p:cNvPr id="27" name="Shape 25"/>
          <p:cNvSpPr/>
          <p:nvPr/>
        </p:nvSpPr>
        <p:spPr>
          <a:xfrm>
            <a:off x="6311289" y="2121408"/>
            <a:ext cx="2715833" cy="822960"/>
          </a:xfrm>
          <a:prstGeom prst="rect">
            <a:avLst/>
          </a:prstGeom>
          <a:solidFill>
            <a:srgbClr val="C8EDE5"/>
          </a:solidFill>
          <a:ln w="12700">
            <a:solidFill>
              <a:srgbClr val="C8EDE5"/>
            </a:solidFill>
            <a:prstDash val="solid"/>
          </a:ln>
        </p:spPr>
        <p:txBody>
          <a:bodyPr/>
          <a:lstStyle/>
          <a:p>
            <a:endParaRPr lang="he-IL" sz="1200"/>
          </a:p>
        </p:txBody>
      </p:sp>
      <p:sp>
        <p:nvSpPr>
          <p:cNvPr id="28" name="Text 26"/>
          <p:cNvSpPr/>
          <p:nvPr/>
        </p:nvSpPr>
        <p:spPr>
          <a:xfrm>
            <a:off x="6384441" y="2176272"/>
            <a:ext cx="2581718" cy="731520"/>
          </a:xfrm>
          <a:prstGeom prst="rect">
            <a:avLst/>
          </a:prstGeom>
          <a:noFill/>
          <a:ln/>
        </p:spPr>
        <p:txBody>
          <a:bodyPr wrap="square" lIns="0" tIns="0" rIns="0" bIns="0" rtlCol="0" anchor="t"/>
          <a:lstStyle/>
          <a:p>
            <a:pPr marL="0" indent="0" algn="l">
              <a:buNone/>
            </a:pPr>
            <a:r>
              <a:rPr lang="en-US" sz="800" b="1" dirty="0">
                <a:solidFill>
                  <a:srgbClr val="1A5C4A"/>
                </a:solidFill>
                <a:latin typeface="Calibri" pitchFamily="34" charset="0"/>
                <a:ea typeface="Calibri" pitchFamily="34" charset="-122"/>
                <a:cs typeface="Calibri" pitchFamily="34" charset="-120"/>
              </a:rPr>
              <a:t>Assumption</a:t>
            </a:r>
            <a:endParaRPr lang="en-US" sz="800" dirty="0"/>
          </a:p>
          <a:p>
            <a:pPr marL="0" indent="0" algn="l">
              <a:buNone/>
            </a:pPr>
            <a:r>
              <a:rPr lang="en-US" sz="800" dirty="0">
                <a:solidFill>
                  <a:srgbClr val="333333"/>
                </a:solidFill>
                <a:latin typeface="Calibri" pitchFamily="34" charset="0"/>
                <a:ea typeface="Calibri" pitchFamily="34" charset="-122"/>
                <a:cs typeface="Calibri" pitchFamily="34" charset="-120"/>
              </a:rPr>
              <a:t>Area-averaged prediction needed (not point values)</a:t>
            </a:r>
            <a:endParaRPr lang="en-US" sz="800" dirty="0"/>
          </a:p>
          <a:p>
            <a:pPr marL="0" indent="0" algn="l">
              <a:buNone/>
            </a:pPr>
            <a:r>
              <a:rPr lang="en-US" sz="300" dirty="0">
                <a:solidFill>
                  <a:srgbClr val="000000"/>
                </a:solidFill>
                <a:latin typeface="Calibri" pitchFamily="34" charset="0"/>
                <a:ea typeface="Calibri" pitchFamily="34" charset="-122"/>
                <a:cs typeface="Calibri" pitchFamily="34" charset="-120"/>
              </a:rPr>
              <a:t> </a:t>
            </a:r>
            <a:endParaRPr lang="en-US" sz="800" dirty="0"/>
          </a:p>
          <a:p>
            <a:pPr marL="0" indent="0" algn="l">
              <a:buNone/>
            </a:pPr>
            <a:r>
              <a:rPr lang="en-US" sz="800" b="1" dirty="0">
                <a:solidFill>
                  <a:srgbClr val="1A5C4A"/>
                </a:solidFill>
                <a:latin typeface="Calibri" pitchFamily="34" charset="0"/>
                <a:ea typeface="Calibri" pitchFamily="34" charset="-122"/>
                <a:cs typeface="Calibri" pitchFamily="34" charset="-120"/>
              </a:rPr>
              <a:t>Best for</a:t>
            </a:r>
            <a:endParaRPr lang="en-US" sz="800" dirty="0"/>
          </a:p>
          <a:p>
            <a:pPr marL="0" indent="0" algn="l">
              <a:buNone/>
            </a:pPr>
            <a:r>
              <a:rPr lang="en-US" sz="800" dirty="0">
                <a:solidFill>
                  <a:srgbClr val="333333"/>
                </a:solidFill>
                <a:latin typeface="Calibri" pitchFamily="34" charset="0"/>
                <a:ea typeface="Calibri" pitchFamily="34" charset="-122"/>
                <a:cs typeface="Calibri" pitchFamily="34" charset="-120"/>
              </a:rPr>
              <a:t>Mining block valuation, watershed averages, land use</a:t>
            </a:r>
            <a:endParaRPr lang="en-US" sz="800" dirty="0"/>
          </a:p>
          <a:p>
            <a:pPr marL="0" indent="0" algn="l">
              <a:buNone/>
            </a:pPr>
            <a:r>
              <a:rPr lang="en-US" sz="300" dirty="0">
                <a:solidFill>
                  <a:srgbClr val="000000"/>
                </a:solidFill>
                <a:latin typeface="Calibri" pitchFamily="34" charset="0"/>
                <a:ea typeface="Calibri" pitchFamily="34" charset="-122"/>
                <a:cs typeface="Calibri" pitchFamily="34" charset="-120"/>
              </a:rPr>
              <a:t> </a:t>
            </a:r>
            <a:endParaRPr lang="en-US" sz="800" dirty="0"/>
          </a:p>
          <a:p>
            <a:pPr marL="0" indent="0" algn="l">
              <a:buNone/>
            </a:pPr>
            <a:r>
              <a:rPr lang="en-US" sz="800" i="1" dirty="0">
                <a:solidFill>
                  <a:srgbClr val="888888"/>
                </a:solidFill>
                <a:latin typeface="Calibri" pitchFamily="34" charset="0"/>
                <a:ea typeface="Calibri" pitchFamily="34" charset="-122"/>
                <a:cs typeface="Calibri" pitchFamily="34" charset="-120"/>
              </a:rPr>
              <a:t>Lower variance than point kriging</a:t>
            </a:r>
            <a:endParaRPr lang="en-US" sz="800" dirty="0"/>
          </a:p>
        </p:txBody>
      </p:sp>
      <p:sp>
        <p:nvSpPr>
          <p:cNvPr id="29" name="Shape 27"/>
          <p:cNvSpPr/>
          <p:nvPr/>
        </p:nvSpPr>
        <p:spPr>
          <a:xfrm>
            <a:off x="276249" y="4114800"/>
            <a:ext cx="7745153" cy="329184"/>
          </a:xfrm>
          <a:prstGeom prst="rect">
            <a:avLst/>
          </a:prstGeom>
          <a:solidFill>
            <a:srgbClr val="F0EBE3"/>
          </a:solidFill>
          <a:ln w="15240">
            <a:solidFill>
              <a:srgbClr val="E8734A"/>
            </a:solidFill>
            <a:prstDash val="solid"/>
          </a:ln>
        </p:spPr>
        <p:txBody>
          <a:bodyPr/>
          <a:lstStyle/>
          <a:p>
            <a:endParaRPr lang="he-IL" sz="1200"/>
          </a:p>
        </p:txBody>
      </p:sp>
      <p:sp>
        <p:nvSpPr>
          <p:cNvPr id="30" name="Text 28"/>
          <p:cNvSpPr/>
          <p:nvPr/>
        </p:nvSpPr>
        <p:spPr>
          <a:xfrm>
            <a:off x="368452" y="4064508"/>
            <a:ext cx="7560745" cy="329184"/>
          </a:xfrm>
          <a:prstGeom prst="rect">
            <a:avLst/>
          </a:prstGeom>
          <a:noFill/>
          <a:ln/>
        </p:spPr>
        <p:txBody>
          <a:bodyPr wrap="square" lIns="0" tIns="0" rIns="0" bIns="0" rtlCol="0" anchor="ctr"/>
          <a:lstStyle/>
          <a:p>
            <a:pPr marL="0" indent="0" algn="l">
              <a:buNone/>
            </a:pPr>
            <a:r>
              <a:rPr lang="en-US" sz="800" b="1" dirty="0">
                <a:solidFill>
                  <a:srgbClr val="E8734A"/>
                </a:solidFill>
                <a:latin typeface="Calibri" pitchFamily="34" charset="0"/>
                <a:ea typeface="Calibri" pitchFamily="34" charset="-122"/>
                <a:cs typeface="Calibri" pitchFamily="34" charset="-120"/>
              </a:rPr>
              <a:t>Default choice:  </a:t>
            </a:r>
            <a:r>
              <a:rPr lang="en-US" sz="800" dirty="0">
                <a:solidFill>
                  <a:srgbClr val="444444"/>
                </a:solidFill>
                <a:latin typeface="Calibri" pitchFamily="34" charset="0"/>
                <a:ea typeface="Calibri" pitchFamily="34" charset="-122"/>
                <a:cs typeface="Calibri" pitchFamily="34" charset="-120"/>
              </a:rPr>
              <a:t>Ordinary Kriging works for most applications. Use Universal when a trend exists, Co-Kriging when a correlated secondary variable is available, Indicator Kriging for probability/risk outputs, and Block Kriging for area-averaged estimates.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E8734A"/>
          </a:solidFill>
          <a:ln w="12700">
            <a:solidFill>
              <a:srgbClr val="E8734A"/>
            </a:solidFill>
            <a:prstDash val="solid"/>
          </a:ln>
        </p:spPr>
        <p:txBody>
          <a:bodyPr/>
          <a:lstStyle/>
          <a:p>
            <a:endParaRPr lang="he-IL"/>
          </a:p>
        </p:txBody>
      </p:sp>
      <p:sp>
        <p:nvSpPr>
          <p:cNvPr id="3" name="Shape 1"/>
          <p:cNvSpPr/>
          <p:nvPr/>
        </p:nvSpPr>
        <p:spPr>
          <a:xfrm>
            <a:off x="256032" y="0"/>
            <a:ext cx="8887968" cy="1188720"/>
          </a:xfrm>
          <a:prstGeom prst="rect">
            <a:avLst/>
          </a:prstGeom>
          <a:solidFill>
            <a:srgbClr val="B54020"/>
          </a:solidFill>
          <a:ln w="12700">
            <a:solidFill>
              <a:srgbClr val="B54020"/>
            </a:solidFill>
            <a:prstDash val="solid"/>
          </a:ln>
        </p:spPr>
        <p:txBody>
          <a:bodyPr/>
          <a:lstStyle/>
          <a:p>
            <a:endParaRPr lang="he-IL" dirty="0"/>
          </a:p>
        </p:txBody>
      </p:sp>
      <p:sp>
        <p:nvSpPr>
          <p:cNvPr id="4" name="Shape 2"/>
          <p:cNvSpPr/>
          <p:nvPr/>
        </p:nvSpPr>
        <p:spPr>
          <a:xfrm>
            <a:off x="420624" y="182880"/>
            <a:ext cx="475488" cy="475488"/>
          </a:xfrm>
          <a:prstGeom prst="rect">
            <a:avLst/>
          </a:prstGeom>
          <a:solidFill>
            <a:srgbClr val="E8734A"/>
          </a:solidFill>
          <a:ln w="12700">
            <a:solidFill>
              <a:srgbClr val="E8734A"/>
            </a:solidFill>
            <a:prstDash val="solid"/>
          </a:ln>
        </p:spPr>
        <p:txBody>
          <a:bodyPr/>
          <a:lstStyle/>
          <a:p>
            <a:endParaRPr lang="he-IL"/>
          </a:p>
        </p:txBody>
      </p:sp>
      <p:sp>
        <p:nvSpPr>
          <p:cNvPr id="5" name="Text 3"/>
          <p:cNvSpPr/>
          <p:nvPr/>
        </p:nvSpPr>
        <p:spPr>
          <a:xfrm>
            <a:off x="420624" y="18288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6" name="Text 4"/>
          <p:cNvSpPr/>
          <p:nvPr/>
        </p:nvSpPr>
        <p:spPr>
          <a:xfrm>
            <a:off x="1005840" y="411644"/>
            <a:ext cx="3429000" cy="228435"/>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Ordinary Kriging</a:t>
            </a:r>
            <a:endParaRPr lang="en-US" sz="2800" dirty="0"/>
          </a:p>
        </p:txBody>
      </p:sp>
      <p:sp>
        <p:nvSpPr>
          <p:cNvPr id="7" name="Text 5"/>
          <p:cNvSpPr/>
          <p:nvPr/>
        </p:nvSpPr>
        <p:spPr>
          <a:xfrm>
            <a:off x="1005840" y="658368"/>
            <a:ext cx="6858000" cy="310896"/>
          </a:xfrm>
          <a:prstGeom prst="rect">
            <a:avLst/>
          </a:prstGeom>
          <a:noFill/>
          <a:ln/>
        </p:spPr>
        <p:txBody>
          <a:bodyPr wrap="square" lIns="0" tIns="0" rIns="0" bIns="0" rtlCol="0" anchor="ctr"/>
          <a:lstStyle/>
          <a:p>
            <a:pPr marL="0" indent="0" algn="l">
              <a:buNone/>
            </a:pPr>
            <a:r>
              <a:rPr lang="en-US" sz="1100" i="1" dirty="0">
                <a:solidFill>
                  <a:srgbClr val="F5C9A7"/>
                </a:solidFill>
                <a:latin typeface="Calibri" pitchFamily="34" charset="0"/>
                <a:ea typeface="Calibri" pitchFamily="34" charset="-122"/>
                <a:cs typeface="Calibri" pitchFamily="34" charset="-120"/>
              </a:rPr>
              <a:t>★  Default choice for most applications</a:t>
            </a:r>
            <a:endParaRPr lang="en-US" sz="1100" dirty="0"/>
          </a:p>
        </p:txBody>
      </p:sp>
      <p:sp>
        <p:nvSpPr>
          <p:cNvPr id="8" name="Shape 6"/>
          <p:cNvSpPr/>
          <p:nvPr/>
        </p:nvSpPr>
        <p:spPr>
          <a:xfrm>
            <a:off x="420624" y="1298448"/>
            <a:ext cx="2846832" cy="329184"/>
          </a:xfrm>
          <a:prstGeom prst="rect">
            <a:avLst/>
          </a:prstGeom>
          <a:solidFill>
            <a:srgbClr val="E8734A"/>
          </a:solidFill>
          <a:ln w="12700">
            <a:solidFill>
              <a:srgbClr val="E8734A"/>
            </a:solidFill>
            <a:prstDash val="solid"/>
          </a:ln>
        </p:spPr>
        <p:txBody>
          <a:bodyPr/>
          <a:lstStyle/>
          <a:p>
            <a:endParaRPr lang="he-IL"/>
          </a:p>
        </p:txBody>
      </p:sp>
      <p:sp>
        <p:nvSpPr>
          <p:cNvPr id="9" name="Text 7"/>
          <p:cNvSpPr/>
          <p:nvPr/>
        </p:nvSpPr>
        <p:spPr>
          <a:xfrm>
            <a:off x="420624"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Assumption</a:t>
            </a:r>
            <a:endParaRPr lang="en-US" sz="1150" dirty="0"/>
          </a:p>
        </p:txBody>
      </p:sp>
      <p:sp>
        <p:nvSpPr>
          <p:cNvPr id="10" name="Shape 8"/>
          <p:cNvSpPr/>
          <p:nvPr/>
        </p:nvSpPr>
        <p:spPr>
          <a:xfrm>
            <a:off x="420624" y="1627632"/>
            <a:ext cx="2846832" cy="2852928"/>
          </a:xfrm>
          <a:prstGeom prst="rect">
            <a:avLst/>
          </a:prstGeom>
          <a:solidFill>
            <a:srgbClr val="FDEBD7"/>
          </a:solidFill>
          <a:ln w="12700">
            <a:solidFill>
              <a:srgbClr val="FDEBD7"/>
            </a:solidFill>
            <a:prstDash val="solid"/>
          </a:ln>
          <a:effectLst>
            <a:outerShdw blurRad="101600" dist="38100" dir="8100000" algn="bl" rotWithShape="0">
              <a:srgbClr val="000000">
                <a:alpha val="10000"/>
              </a:srgbClr>
            </a:outerShdw>
          </a:effectLst>
        </p:spPr>
        <p:txBody>
          <a:bodyPr/>
          <a:lstStyle/>
          <a:p>
            <a:endParaRPr lang="he-IL"/>
          </a:p>
        </p:txBody>
      </p:sp>
      <p:sp>
        <p:nvSpPr>
          <p:cNvPr id="11" name="Text 9"/>
          <p:cNvSpPr/>
          <p:nvPr/>
        </p:nvSpPr>
        <p:spPr>
          <a:xfrm>
            <a:off x="512064" y="1719072"/>
            <a:ext cx="2663952" cy="2670048"/>
          </a:xfrm>
          <a:prstGeom prst="rect">
            <a:avLst/>
          </a:prstGeom>
          <a:noFill/>
          <a:ln/>
        </p:spPr>
        <p:txBody>
          <a:bodyPr wrap="square" lIns="0" tIns="0" rIns="0" bIns="0" rtlCol="0" anchor="t"/>
          <a:lstStyle/>
          <a:p>
            <a:pPr marL="0" indent="0" algn="l">
              <a:buNone/>
            </a:pPr>
            <a:r>
              <a:rPr lang="en-US" sz="1150" dirty="0">
                <a:solidFill>
                  <a:srgbClr val="333333"/>
                </a:solidFill>
                <a:latin typeface="Calibri" pitchFamily="34" charset="0"/>
                <a:ea typeface="Calibri" pitchFamily="34" charset="-122"/>
                <a:cs typeface="Calibri" pitchFamily="34" charset="-120"/>
              </a:rPr>
              <a:t>Unknown constant mean — the mean is estimated locally from the data rather than specified in advance.</a:t>
            </a:r>
            <a:endParaRPr lang="en-US" sz="1150" dirty="0"/>
          </a:p>
        </p:txBody>
      </p:sp>
      <p:sp>
        <p:nvSpPr>
          <p:cNvPr id="12" name="Shape 10"/>
          <p:cNvSpPr/>
          <p:nvPr/>
        </p:nvSpPr>
        <p:spPr>
          <a:xfrm>
            <a:off x="512064" y="2304288"/>
            <a:ext cx="2663952" cy="0"/>
          </a:xfrm>
          <a:prstGeom prst="line">
            <a:avLst/>
          </a:prstGeom>
          <a:noFill/>
          <a:ln w="10160">
            <a:solidFill>
              <a:srgbClr val="F5C9A7"/>
            </a:solidFill>
            <a:prstDash val="solid"/>
          </a:ln>
        </p:spPr>
        <p:txBody>
          <a:bodyPr/>
          <a:lstStyle/>
          <a:p>
            <a:endParaRPr lang="he-IL"/>
          </a:p>
        </p:txBody>
      </p:sp>
      <p:sp>
        <p:nvSpPr>
          <p:cNvPr id="13" name="Shape 11"/>
          <p:cNvSpPr/>
          <p:nvPr/>
        </p:nvSpPr>
        <p:spPr>
          <a:xfrm>
            <a:off x="512064" y="2414016"/>
            <a:ext cx="2663952" cy="585216"/>
          </a:xfrm>
          <a:prstGeom prst="rect">
            <a:avLst/>
          </a:prstGeom>
          <a:solidFill>
            <a:srgbClr val="F5C9A7">
              <a:alpha val="60000"/>
            </a:srgbClr>
          </a:solidFill>
          <a:ln w="12700">
            <a:solidFill>
              <a:srgbClr val="F5C9A7"/>
            </a:solidFill>
            <a:prstDash val="solid"/>
          </a:ln>
        </p:spPr>
        <p:txBody>
          <a:bodyPr/>
          <a:lstStyle/>
          <a:p>
            <a:endParaRPr lang="he-IL"/>
          </a:p>
        </p:txBody>
      </p:sp>
      <p:sp>
        <p:nvSpPr>
          <p:cNvPr id="14" name="Text 12"/>
          <p:cNvSpPr/>
          <p:nvPr/>
        </p:nvSpPr>
        <p:spPr>
          <a:xfrm>
            <a:off x="548640" y="2414016"/>
            <a:ext cx="2590800" cy="585216"/>
          </a:xfrm>
          <a:prstGeom prst="rect">
            <a:avLst/>
          </a:prstGeom>
          <a:noFill/>
          <a:ln/>
        </p:spPr>
        <p:txBody>
          <a:bodyPr wrap="square" lIns="0" tIns="0" rIns="0" bIns="0" rtlCol="0" anchor="ctr"/>
          <a:lstStyle/>
          <a:p>
            <a:pPr marL="0" indent="0" algn="ctr">
              <a:buNone/>
            </a:pPr>
            <a:r>
              <a:rPr lang="en-US" sz="950" dirty="0">
                <a:solidFill>
                  <a:srgbClr val="B54020"/>
                </a:solidFill>
                <a:latin typeface="Courier New" pitchFamily="34" charset="0"/>
                <a:ea typeface="Courier New" pitchFamily="34" charset="-122"/>
                <a:cs typeface="Courier New" pitchFamily="34" charset="-120"/>
              </a:rPr>
              <a:t>Z*(x₀) = Σ λᵢ Z(xᵢ)  with  Σ λᵢ = 1</a:t>
            </a:r>
            <a:endParaRPr lang="en-US" sz="950" dirty="0"/>
          </a:p>
        </p:txBody>
      </p:sp>
      <p:sp>
        <p:nvSpPr>
          <p:cNvPr id="15" name="Shape 13"/>
          <p:cNvSpPr/>
          <p:nvPr/>
        </p:nvSpPr>
        <p:spPr>
          <a:xfrm>
            <a:off x="3358896" y="1298448"/>
            <a:ext cx="2846832" cy="329184"/>
          </a:xfrm>
          <a:prstGeom prst="rect">
            <a:avLst/>
          </a:prstGeom>
          <a:solidFill>
            <a:srgbClr val="E8734A"/>
          </a:solidFill>
          <a:ln w="12700">
            <a:solidFill>
              <a:srgbClr val="E8734A"/>
            </a:solidFill>
            <a:prstDash val="solid"/>
          </a:ln>
        </p:spPr>
        <p:txBody>
          <a:bodyPr/>
          <a:lstStyle/>
          <a:p>
            <a:endParaRPr lang="he-IL"/>
          </a:p>
        </p:txBody>
      </p:sp>
      <p:sp>
        <p:nvSpPr>
          <p:cNvPr id="16" name="Text 14"/>
          <p:cNvSpPr/>
          <p:nvPr/>
        </p:nvSpPr>
        <p:spPr>
          <a:xfrm>
            <a:off x="3358896"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Best For</a:t>
            </a:r>
            <a:endParaRPr lang="en-US" sz="1150" dirty="0"/>
          </a:p>
        </p:txBody>
      </p:sp>
      <p:sp>
        <p:nvSpPr>
          <p:cNvPr id="17" name="Shape 15"/>
          <p:cNvSpPr/>
          <p:nvPr/>
        </p:nvSpPr>
        <p:spPr>
          <a:xfrm>
            <a:off x="3358896" y="1627632"/>
            <a:ext cx="2846832" cy="2852928"/>
          </a:xfrm>
          <a:prstGeom prst="rect">
            <a:avLst/>
          </a:prstGeom>
          <a:solidFill>
            <a:srgbClr val="FDEBD7"/>
          </a:solidFill>
          <a:ln w="12700">
            <a:solidFill>
              <a:srgbClr val="FDEBD7"/>
            </a:solidFill>
            <a:prstDash val="solid"/>
          </a:ln>
          <a:effectLst>
            <a:outerShdw blurRad="101600" dist="38100" dir="8100000" algn="bl" rotWithShape="0">
              <a:srgbClr val="000000">
                <a:alpha val="10000"/>
              </a:srgbClr>
            </a:outerShdw>
          </a:effectLst>
        </p:spPr>
        <p:txBody>
          <a:bodyPr/>
          <a:lstStyle/>
          <a:p>
            <a:endParaRPr lang="he-IL"/>
          </a:p>
        </p:txBody>
      </p:sp>
      <p:sp>
        <p:nvSpPr>
          <p:cNvPr id="18" name="Text 16"/>
          <p:cNvSpPr/>
          <p:nvPr/>
        </p:nvSpPr>
        <p:spPr>
          <a:xfrm>
            <a:off x="3450336" y="1755648"/>
            <a:ext cx="2663952" cy="2542032"/>
          </a:xfrm>
          <a:prstGeom prst="rect">
            <a:avLst/>
          </a:prstGeom>
          <a:noFill/>
          <a:ln/>
        </p:spPr>
        <p:txBody>
          <a:bodyPr wrap="square" lIns="0" tIns="0" rIns="0" bIns="0" rtlCol="0" anchor="t"/>
          <a:lstStyle/>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Most environmental and ecological datasets</a:t>
            </a:r>
            <a:endParaRPr lang="en-US" sz="1150" dirty="0"/>
          </a:p>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Soil properties, rainfall, species distribution</a:t>
            </a:r>
            <a:endParaRPr lang="en-US" sz="1150" dirty="0"/>
          </a:p>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Any application where the global mean is unknown</a:t>
            </a:r>
            <a:endParaRPr lang="en-US" sz="1150" dirty="0"/>
          </a:p>
        </p:txBody>
      </p:sp>
      <p:sp>
        <p:nvSpPr>
          <p:cNvPr id="19" name="Shape 17"/>
          <p:cNvSpPr/>
          <p:nvPr/>
        </p:nvSpPr>
        <p:spPr>
          <a:xfrm>
            <a:off x="6297168" y="1298448"/>
            <a:ext cx="2846832" cy="329184"/>
          </a:xfrm>
          <a:prstGeom prst="rect">
            <a:avLst/>
          </a:prstGeom>
          <a:solidFill>
            <a:srgbClr val="E8734A"/>
          </a:solidFill>
          <a:ln w="12700">
            <a:solidFill>
              <a:srgbClr val="E8734A"/>
            </a:solidFill>
            <a:prstDash val="solid"/>
          </a:ln>
        </p:spPr>
        <p:txBody>
          <a:bodyPr/>
          <a:lstStyle/>
          <a:p>
            <a:endParaRPr lang="he-IL"/>
          </a:p>
        </p:txBody>
      </p:sp>
      <p:sp>
        <p:nvSpPr>
          <p:cNvPr id="20" name="Text 18"/>
          <p:cNvSpPr/>
          <p:nvPr/>
        </p:nvSpPr>
        <p:spPr>
          <a:xfrm>
            <a:off x="6297168"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When to Avoid</a:t>
            </a:r>
            <a:endParaRPr lang="en-US" sz="1150" dirty="0"/>
          </a:p>
        </p:txBody>
      </p:sp>
      <p:sp>
        <p:nvSpPr>
          <p:cNvPr id="21" name="Shape 19"/>
          <p:cNvSpPr/>
          <p:nvPr/>
        </p:nvSpPr>
        <p:spPr>
          <a:xfrm>
            <a:off x="6297168" y="1627632"/>
            <a:ext cx="2846832" cy="2852928"/>
          </a:xfrm>
          <a:prstGeom prst="rect">
            <a:avLst/>
          </a:prstGeom>
          <a:solidFill>
            <a:srgbClr val="FDEBD7"/>
          </a:solidFill>
          <a:ln w="12700">
            <a:solidFill>
              <a:srgbClr val="FDEBD7"/>
            </a:solidFill>
            <a:prstDash val="solid"/>
          </a:ln>
          <a:effectLst>
            <a:outerShdw blurRad="101600" dist="38100" dir="8100000" algn="bl" rotWithShape="0">
              <a:srgbClr val="000000">
                <a:alpha val="10000"/>
              </a:srgbClr>
            </a:outerShdw>
          </a:effectLst>
        </p:spPr>
        <p:txBody>
          <a:bodyPr/>
          <a:lstStyle/>
          <a:p>
            <a:endParaRPr lang="he-IL"/>
          </a:p>
        </p:txBody>
      </p:sp>
      <p:sp>
        <p:nvSpPr>
          <p:cNvPr id="22" name="Text 20"/>
          <p:cNvSpPr/>
          <p:nvPr/>
        </p:nvSpPr>
        <p:spPr>
          <a:xfrm>
            <a:off x="6388608" y="1755648"/>
            <a:ext cx="2663952" cy="2542032"/>
          </a:xfrm>
          <a:prstGeom prst="rect">
            <a:avLst/>
          </a:prstGeom>
          <a:noFill/>
          <a:ln/>
        </p:spPr>
        <p:txBody>
          <a:bodyPr wrap="square" lIns="0" tIns="0" rIns="0" bIns="0" rtlCol="0" anchor="t"/>
          <a:lstStyle/>
          <a:p>
            <a:pPr marL="0" indent="0" algn="l">
              <a:buNone/>
            </a:pPr>
            <a:r>
              <a:rPr lang="en-US" sz="1150" dirty="0">
                <a:solidFill>
                  <a:srgbClr val="333333"/>
                </a:solidFill>
                <a:latin typeface="Calibri" pitchFamily="34" charset="0"/>
                <a:ea typeface="Calibri" pitchFamily="34" charset="-122"/>
                <a:cs typeface="Calibri" pitchFamily="34" charset="-120"/>
              </a:rPr>
              <a:t>Avoid when a strong spatial trend is present — use Universal Kriging instead.</a:t>
            </a:r>
            <a:endParaRPr lang="en-US" sz="1150" dirty="0"/>
          </a:p>
        </p:txBody>
      </p:sp>
      <p:sp>
        <p:nvSpPr>
          <p:cNvPr id="23" name="Shape 21"/>
          <p:cNvSpPr/>
          <p:nvPr/>
        </p:nvSpPr>
        <p:spPr>
          <a:xfrm>
            <a:off x="420624" y="4553712"/>
            <a:ext cx="8467344" cy="310896"/>
          </a:xfrm>
          <a:prstGeom prst="rect">
            <a:avLst/>
          </a:prstGeom>
          <a:solidFill>
            <a:srgbClr val="FDEBD7"/>
          </a:solidFill>
          <a:ln w="10160">
            <a:solidFill>
              <a:srgbClr val="F5C9A7"/>
            </a:solidFill>
            <a:prstDash val="solid"/>
          </a:ln>
        </p:spPr>
        <p:txBody>
          <a:bodyPr/>
          <a:lstStyle/>
          <a:p>
            <a:r>
              <a:rPr lang="sv-SE" sz="1100" dirty="0">
                <a:latin typeface="Calibri" panose="020F0502020204030204" pitchFamily="34" charset="0"/>
                <a:ea typeface="Calibri" panose="020F0502020204030204" pitchFamily="34" charset="0"/>
                <a:cs typeface="Calibri" panose="020F0502020204030204" pitchFamily="34" charset="0"/>
              </a:rPr>
              <a:t>https://doc.esri.com/en/arcgis-pro/latest/help/analysis/geostatistical-analyst/understanding-ordinary-kriging.html</a:t>
            </a:r>
            <a:endParaRPr lang="he-IL" sz="1100" dirty="0">
              <a:latin typeface="Calibri" panose="020F0502020204030204" pitchFamily="34" charset="0"/>
              <a:ea typeface="Calibri" panose="020F0502020204030204" pitchFamily="34" charset="0"/>
              <a:cs typeface="Calibri" panose="020F0502020204030204" pitchFamily="34" charset="0"/>
            </a:endParaRPr>
          </a:p>
        </p:txBody>
      </p:sp>
      <p:sp>
        <p:nvSpPr>
          <p:cNvPr id="24" name="Text 22"/>
          <p:cNvSpPr/>
          <p:nvPr/>
        </p:nvSpPr>
        <p:spPr>
          <a:xfrm>
            <a:off x="512064" y="4553712"/>
            <a:ext cx="8284464" cy="310896"/>
          </a:xfrm>
          <a:prstGeom prst="rect">
            <a:avLst/>
          </a:prstGeom>
          <a:noFill/>
          <a:ln/>
        </p:spPr>
        <p:txBody>
          <a:bodyPr wrap="square" lIns="0" tIns="0" rIns="0" bIns="0" rtlCol="0" anchor="ctr"/>
          <a:lstStyle/>
          <a:p>
            <a:pPr marL="0" indent="0" algn="l">
              <a:buNone/>
            </a:pPr>
            <a:endParaRPr lang="en-US" sz="850" dirty="0"/>
          </a:p>
        </p:txBody>
      </p:sp>
      <p:pic>
        <p:nvPicPr>
          <p:cNvPr id="5122" name="Picture 2" descr="Understanding ordinary kriging—ArcMap | Documentation">
            <a:extLst>
              <a:ext uri="{FF2B5EF4-FFF2-40B4-BE49-F238E27FC236}">
                <a16:creationId xmlns:a16="http://schemas.microsoft.com/office/drawing/2014/main" id="{0FF619DC-7C5A-C8FE-6549-DDF6E0EA2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833" y="3090672"/>
            <a:ext cx="2238375" cy="12547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4A9B8E"/>
          </a:solidFill>
          <a:ln w="12700">
            <a:solidFill>
              <a:srgbClr val="4A9B8E"/>
            </a:solidFill>
            <a:prstDash val="solid"/>
          </a:ln>
        </p:spPr>
        <p:txBody>
          <a:bodyPr/>
          <a:lstStyle/>
          <a:p>
            <a:endParaRPr lang="he-IL"/>
          </a:p>
        </p:txBody>
      </p:sp>
      <p:sp>
        <p:nvSpPr>
          <p:cNvPr id="3" name="Shape 1"/>
          <p:cNvSpPr/>
          <p:nvPr/>
        </p:nvSpPr>
        <p:spPr>
          <a:xfrm>
            <a:off x="256032" y="0"/>
            <a:ext cx="8887968" cy="1188720"/>
          </a:xfrm>
          <a:prstGeom prst="rect">
            <a:avLst/>
          </a:prstGeom>
          <a:solidFill>
            <a:srgbClr val="2E7268"/>
          </a:solidFill>
          <a:ln w="12700">
            <a:solidFill>
              <a:srgbClr val="2E7268"/>
            </a:solidFill>
            <a:prstDash val="solid"/>
          </a:ln>
        </p:spPr>
        <p:txBody>
          <a:bodyPr/>
          <a:lstStyle/>
          <a:p>
            <a:endParaRPr lang="he-IL"/>
          </a:p>
        </p:txBody>
      </p:sp>
      <p:sp>
        <p:nvSpPr>
          <p:cNvPr id="4" name="Shape 2"/>
          <p:cNvSpPr/>
          <p:nvPr/>
        </p:nvSpPr>
        <p:spPr>
          <a:xfrm>
            <a:off x="420624" y="182880"/>
            <a:ext cx="475488" cy="475488"/>
          </a:xfrm>
          <a:prstGeom prst="rect">
            <a:avLst/>
          </a:prstGeom>
          <a:solidFill>
            <a:srgbClr val="4A9B8E"/>
          </a:solidFill>
          <a:ln w="12700">
            <a:solidFill>
              <a:srgbClr val="4A9B8E"/>
            </a:solidFill>
            <a:prstDash val="solid"/>
          </a:ln>
        </p:spPr>
        <p:txBody>
          <a:bodyPr/>
          <a:lstStyle/>
          <a:p>
            <a:endParaRPr lang="he-IL"/>
          </a:p>
        </p:txBody>
      </p:sp>
      <p:sp>
        <p:nvSpPr>
          <p:cNvPr id="5" name="Text 3"/>
          <p:cNvSpPr/>
          <p:nvPr/>
        </p:nvSpPr>
        <p:spPr>
          <a:xfrm>
            <a:off x="420624" y="18288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6" name="Text 4"/>
          <p:cNvSpPr/>
          <p:nvPr/>
        </p:nvSpPr>
        <p:spPr>
          <a:xfrm>
            <a:off x="1005840" y="164592"/>
            <a:ext cx="685800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Simple Kriging</a:t>
            </a:r>
            <a:endParaRPr lang="en-US" sz="2800" dirty="0"/>
          </a:p>
        </p:txBody>
      </p:sp>
      <p:sp>
        <p:nvSpPr>
          <p:cNvPr id="7" name="Text 5"/>
          <p:cNvSpPr/>
          <p:nvPr/>
        </p:nvSpPr>
        <p:spPr>
          <a:xfrm>
            <a:off x="1005840" y="658368"/>
            <a:ext cx="6858000" cy="310896"/>
          </a:xfrm>
          <a:prstGeom prst="rect">
            <a:avLst/>
          </a:prstGeom>
          <a:noFill/>
          <a:ln/>
        </p:spPr>
        <p:txBody>
          <a:bodyPr wrap="square" lIns="0" tIns="0" rIns="0" bIns="0" rtlCol="0" anchor="ctr"/>
          <a:lstStyle/>
          <a:p>
            <a:pPr marL="0" indent="0" algn="l">
              <a:buNone/>
            </a:pPr>
            <a:r>
              <a:rPr lang="en-US" sz="1100" i="1" dirty="0">
                <a:solidFill>
                  <a:srgbClr val="A0D5CC"/>
                </a:solidFill>
                <a:latin typeface="Calibri" pitchFamily="34" charset="0"/>
                <a:ea typeface="Calibri" pitchFamily="34" charset="-122"/>
                <a:cs typeface="Calibri" pitchFamily="34" charset="-120"/>
              </a:rPr>
              <a:t>○  Uncommon in practice</a:t>
            </a:r>
            <a:endParaRPr lang="en-US" sz="1100" dirty="0"/>
          </a:p>
        </p:txBody>
      </p:sp>
      <p:sp>
        <p:nvSpPr>
          <p:cNvPr id="8" name="Shape 6"/>
          <p:cNvSpPr/>
          <p:nvPr/>
        </p:nvSpPr>
        <p:spPr>
          <a:xfrm>
            <a:off x="420624" y="1298448"/>
            <a:ext cx="2846832" cy="329184"/>
          </a:xfrm>
          <a:prstGeom prst="rect">
            <a:avLst/>
          </a:prstGeom>
          <a:solidFill>
            <a:srgbClr val="4A9B8E"/>
          </a:solidFill>
          <a:ln w="12700">
            <a:solidFill>
              <a:srgbClr val="4A9B8E"/>
            </a:solidFill>
            <a:prstDash val="solid"/>
          </a:ln>
        </p:spPr>
        <p:txBody>
          <a:bodyPr/>
          <a:lstStyle/>
          <a:p>
            <a:endParaRPr lang="he-IL"/>
          </a:p>
        </p:txBody>
      </p:sp>
      <p:sp>
        <p:nvSpPr>
          <p:cNvPr id="9" name="Text 7"/>
          <p:cNvSpPr/>
          <p:nvPr/>
        </p:nvSpPr>
        <p:spPr>
          <a:xfrm>
            <a:off x="420624"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Assumption</a:t>
            </a:r>
            <a:endParaRPr lang="en-US" sz="1150" dirty="0"/>
          </a:p>
        </p:txBody>
      </p:sp>
      <p:sp>
        <p:nvSpPr>
          <p:cNvPr id="10" name="Shape 8"/>
          <p:cNvSpPr/>
          <p:nvPr/>
        </p:nvSpPr>
        <p:spPr>
          <a:xfrm>
            <a:off x="420624" y="1627632"/>
            <a:ext cx="2846832" cy="2852928"/>
          </a:xfrm>
          <a:prstGeom prst="rect">
            <a:avLst/>
          </a:prstGeom>
          <a:solidFill>
            <a:srgbClr val="D5EDE9"/>
          </a:solidFill>
          <a:ln w="12700">
            <a:solidFill>
              <a:srgbClr val="D5EDE9"/>
            </a:solidFill>
            <a:prstDash val="solid"/>
          </a:ln>
          <a:effectLst>
            <a:outerShdw blurRad="101600" dist="38100" dir="8100000" algn="bl" rotWithShape="0">
              <a:srgbClr val="000000">
                <a:alpha val="10000"/>
              </a:srgbClr>
            </a:outerShdw>
          </a:effectLst>
        </p:spPr>
        <p:txBody>
          <a:bodyPr/>
          <a:lstStyle/>
          <a:p>
            <a:endParaRPr lang="he-IL"/>
          </a:p>
        </p:txBody>
      </p:sp>
      <p:sp>
        <p:nvSpPr>
          <p:cNvPr id="11" name="Text 9"/>
          <p:cNvSpPr/>
          <p:nvPr/>
        </p:nvSpPr>
        <p:spPr>
          <a:xfrm>
            <a:off x="512064" y="1719072"/>
            <a:ext cx="2663952" cy="2670048"/>
          </a:xfrm>
          <a:prstGeom prst="rect">
            <a:avLst/>
          </a:prstGeom>
          <a:noFill/>
          <a:ln/>
        </p:spPr>
        <p:txBody>
          <a:bodyPr wrap="square" lIns="0" tIns="0" rIns="0" bIns="0" rtlCol="0" anchor="t"/>
          <a:lstStyle/>
          <a:p>
            <a:pPr marL="0" indent="0" algn="l">
              <a:buNone/>
            </a:pPr>
            <a:r>
              <a:rPr lang="en-US" sz="1150" dirty="0">
                <a:solidFill>
                  <a:srgbClr val="333333"/>
                </a:solidFill>
                <a:latin typeface="Calibri" pitchFamily="34" charset="0"/>
                <a:ea typeface="Calibri" pitchFamily="34" charset="-122"/>
                <a:cs typeface="Calibri" pitchFamily="34" charset="-120"/>
              </a:rPr>
              <a:t>Known constant mean — the user supplies the mean value before interpolation begins.</a:t>
            </a:r>
            <a:endParaRPr lang="en-US" sz="1150" dirty="0"/>
          </a:p>
        </p:txBody>
      </p:sp>
      <p:sp>
        <p:nvSpPr>
          <p:cNvPr id="12" name="Shape 10"/>
          <p:cNvSpPr/>
          <p:nvPr/>
        </p:nvSpPr>
        <p:spPr>
          <a:xfrm>
            <a:off x="512064" y="2304288"/>
            <a:ext cx="2663952" cy="0"/>
          </a:xfrm>
          <a:prstGeom prst="line">
            <a:avLst/>
          </a:prstGeom>
          <a:noFill/>
          <a:ln w="10160">
            <a:solidFill>
              <a:srgbClr val="A0D5CC"/>
            </a:solidFill>
            <a:prstDash val="solid"/>
          </a:ln>
        </p:spPr>
        <p:txBody>
          <a:bodyPr/>
          <a:lstStyle/>
          <a:p>
            <a:endParaRPr lang="he-IL"/>
          </a:p>
        </p:txBody>
      </p:sp>
      <p:sp>
        <p:nvSpPr>
          <p:cNvPr id="13" name="Shape 11"/>
          <p:cNvSpPr/>
          <p:nvPr/>
        </p:nvSpPr>
        <p:spPr>
          <a:xfrm>
            <a:off x="512064" y="2414016"/>
            <a:ext cx="2663952" cy="585216"/>
          </a:xfrm>
          <a:prstGeom prst="rect">
            <a:avLst/>
          </a:prstGeom>
          <a:solidFill>
            <a:srgbClr val="A0D5CC">
              <a:alpha val="60000"/>
            </a:srgbClr>
          </a:solidFill>
          <a:ln w="12700">
            <a:solidFill>
              <a:srgbClr val="A0D5CC"/>
            </a:solidFill>
            <a:prstDash val="solid"/>
          </a:ln>
        </p:spPr>
        <p:txBody>
          <a:bodyPr/>
          <a:lstStyle/>
          <a:p>
            <a:endParaRPr lang="he-IL"/>
          </a:p>
        </p:txBody>
      </p:sp>
      <p:sp>
        <p:nvSpPr>
          <p:cNvPr id="14" name="Text 12"/>
          <p:cNvSpPr/>
          <p:nvPr/>
        </p:nvSpPr>
        <p:spPr>
          <a:xfrm>
            <a:off x="548640" y="2414016"/>
            <a:ext cx="2590800" cy="585216"/>
          </a:xfrm>
          <a:prstGeom prst="rect">
            <a:avLst/>
          </a:prstGeom>
          <a:noFill/>
          <a:ln/>
        </p:spPr>
        <p:txBody>
          <a:bodyPr wrap="square" lIns="0" tIns="0" rIns="0" bIns="0" rtlCol="0" anchor="ctr"/>
          <a:lstStyle/>
          <a:p>
            <a:pPr marL="0" indent="0" algn="ctr">
              <a:buNone/>
            </a:pPr>
            <a:r>
              <a:rPr lang="en-US" sz="950" dirty="0">
                <a:solidFill>
                  <a:srgbClr val="2E7268"/>
                </a:solidFill>
                <a:latin typeface="Courier New" pitchFamily="34" charset="0"/>
                <a:ea typeface="Courier New" pitchFamily="34" charset="-122"/>
                <a:cs typeface="Courier New" pitchFamily="34" charset="-120"/>
              </a:rPr>
              <a:t>Z*(x₀) = μ + Σ λᵢ [Z(xᵢ) − μ]</a:t>
            </a:r>
            <a:endParaRPr lang="en-US" sz="950" dirty="0"/>
          </a:p>
        </p:txBody>
      </p:sp>
      <p:sp>
        <p:nvSpPr>
          <p:cNvPr id="15" name="Shape 13"/>
          <p:cNvSpPr/>
          <p:nvPr/>
        </p:nvSpPr>
        <p:spPr>
          <a:xfrm>
            <a:off x="3358896" y="1298448"/>
            <a:ext cx="2846832" cy="329184"/>
          </a:xfrm>
          <a:prstGeom prst="rect">
            <a:avLst/>
          </a:prstGeom>
          <a:solidFill>
            <a:srgbClr val="4A9B8E"/>
          </a:solidFill>
          <a:ln w="12700">
            <a:solidFill>
              <a:srgbClr val="4A9B8E"/>
            </a:solidFill>
            <a:prstDash val="solid"/>
          </a:ln>
        </p:spPr>
        <p:txBody>
          <a:bodyPr/>
          <a:lstStyle/>
          <a:p>
            <a:endParaRPr lang="he-IL"/>
          </a:p>
        </p:txBody>
      </p:sp>
      <p:sp>
        <p:nvSpPr>
          <p:cNvPr id="16" name="Text 14"/>
          <p:cNvSpPr/>
          <p:nvPr/>
        </p:nvSpPr>
        <p:spPr>
          <a:xfrm>
            <a:off x="3358896"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Best For</a:t>
            </a:r>
            <a:endParaRPr lang="en-US" sz="1150" dirty="0"/>
          </a:p>
        </p:txBody>
      </p:sp>
      <p:sp>
        <p:nvSpPr>
          <p:cNvPr id="17" name="Shape 15"/>
          <p:cNvSpPr/>
          <p:nvPr/>
        </p:nvSpPr>
        <p:spPr>
          <a:xfrm>
            <a:off x="3358896" y="1627632"/>
            <a:ext cx="2846832" cy="2852928"/>
          </a:xfrm>
          <a:prstGeom prst="rect">
            <a:avLst/>
          </a:prstGeom>
          <a:solidFill>
            <a:srgbClr val="D5EDE9"/>
          </a:solidFill>
          <a:ln w="12700">
            <a:solidFill>
              <a:srgbClr val="D5EDE9"/>
            </a:solidFill>
            <a:prstDash val="solid"/>
          </a:ln>
          <a:effectLst>
            <a:outerShdw blurRad="101600" dist="38100" dir="8100000" algn="bl" rotWithShape="0">
              <a:srgbClr val="000000">
                <a:alpha val="10000"/>
              </a:srgbClr>
            </a:outerShdw>
          </a:effectLst>
        </p:spPr>
        <p:txBody>
          <a:bodyPr/>
          <a:lstStyle/>
          <a:p>
            <a:endParaRPr lang="he-IL"/>
          </a:p>
        </p:txBody>
      </p:sp>
      <p:sp>
        <p:nvSpPr>
          <p:cNvPr id="18" name="Text 16"/>
          <p:cNvSpPr/>
          <p:nvPr/>
        </p:nvSpPr>
        <p:spPr>
          <a:xfrm>
            <a:off x="3450336" y="1755648"/>
            <a:ext cx="2663952" cy="2542032"/>
          </a:xfrm>
          <a:prstGeom prst="rect">
            <a:avLst/>
          </a:prstGeom>
          <a:noFill/>
          <a:ln/>
        </p:spPr>
        <p:txBody>
          <a:bodyPr wrap="square" lIns="0" tIns="0" rIns="0" bIns="0" rtlCol="0" anchor="t"/>
          <a:lstStyle/>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Small, well-studied areas with a known global mean</a:t>
            </a:r>
            <a:endParaRPr lang="en-US" sz="1150" dirty="0"/>
          </a:p>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Simulated or synthetic datasets with controlled statistics</a:t>
            </a:r>
            <a:endParaRPr lang="en-US" sz="1150" dirty="0"/>
          </a:p>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Situations where the mean is determined from external data</a:t>
            </a:r>
            <a:endParaRPr lang="en-US" sz="1150" dirty="0"/>
          </a:p>
        </p:txBody>
      </p:sp>
      <p:sp>
        <p:nvSpPr>
          <p:cNvPr id="19" name="Shape 17"/>
          <p:cNvSpPr/>
          <p:nvPr/>
        </p:nvSpPr>
        <p:spPr>
          <a:xfrm>
            <a:off x="6297168" y="1298448"/>
            <a:ext cx="2846832" cy="329184"/>
          </a:xfrm>
          <a:prstGeom prst="rect">
            <a:avLst/>
          </a:prstGeom>
          <a:solidFill>
            <a:srgbClr val="4A9B8E"/>
          </a:solidFill>
          <a:ln w="12700">
            <a:solidFill>
              <a:srgbClr val="4A9B8E"/>
            </a:solidFill>
            <a:prstDash val="solid"/>
          </a:ln>
        </p:spPr>
        <p:txBody>
          <a:bodyPr/>
          <a:lstStyle/>
          <a:p>
            <a:endParaRPr lang="he-IL"/>
          </a:p>
        </p:txBody>
      </p:sp>
      <p:sp>
        <p:nvSpPr>
          <p:cNvPr id="20" name="Text 18"/>
          <p:cNvSpPr/>
          <p:nvPr/>
        </p:nvSpPr>
        <p:spPr>
          <a:xfrm>
            <a:off x="6297168"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When to Avoid</a:t>
            </a:r>
            <a:endParaRPr lang="en-US" sz="1150" dirty="0"/>
          </a:p>
        </p:txBody>
      </p:sp>
      <p:sp>
        <p:nvSpPr>
          <p:cNvPr id="21" name="Shape 19"/>
          <p:cNvSpPr/>
          <p:nvPr/>
        </p:nvSpPr>
        <p:spPr>
          <a:xfrm>
            <a:off x="6297168" y="1627632"/>
            <a:ext cx="2846832" cy="2852928"/>
          </a:xfrm>
          <a:prstGeom prst="rect">
            <a:avLst/>
          </a:prstGeom>
          <a:solidFill>
            <a:srgbClr val="D5EDE9"/>
          </a:solidFill>
          <a:ln w="12700">
            <a:solidFill>
              <a:srgbClr val="D5EDE9"/>
            </a:solidFill>
            <a:prstDash val="solid"/>
          </a:ln>
          <a:effectLst>
            <a:outerShdw blurRad="101600" dist="38100" dir="8100000" algn="bl" rotWithShape="0">
              <a:srgbClr val="000000">
                <a:alpha val="10000"/>
              </a:srgbClr>
            </a:outerShdw>
          </a:effectLst>
        </p:spPr>
        <p:txBody>
          <a:bodyPr/>
          <a:lstStyle/>
          <a:p>
            <a:endParaRPr lang="he-IL"/>
          </a:p>
        </p:txBody>
      </p:sp>
      <p:sp>
        <p:nvSpPr>
          <p:cNvPr id="22" name="Text 20"/>
          <p:cNvSpPr/>
          <p:nvPr/>
        </p:nvSpPr>
        <p:spPr>
          <a:xfrm>
            <a:off x="6388608" y="1755648"/>
            <a:ext cx="2663952" cy="2542032"/>
          </a:xfrm>
          <a:prstGeom prst="rect">
            <a:avLst/>
          </a:prstGeom>
          <a:noFill/>
          <a:ln/>
        </p:spPr>
        <p:txBody>
          <a:bodyPr wrap="square" lIns="0" tIns="0" rIns="0" bIns="0" rtlCol="0" anchor="t"/>
          <a:lstStyle/>
          <a:p>
            <a:pPr marL="0" indent="0" algn="l">
              <a:buNone/>
            </a:pPr>
            <a:r>
              <a:rPr lang="en-US" sz="1150" dirty="0">
                <a:solidFill>
                  <a:srgbClr val="333333"/>
                </a:solidFill>
                <a:latin typeface="Calibri" pitchFamily="34" charset="0"/>
                <a:ea typeface="Calibri" pitchFamily="34" charset="-122"/>
                <a:cs typeface="Calibri" pitchFamily="34" charset="-120"/>
              </a:rPr>
              <a:t>Avoid when the mean is uncertain — misspecifying it biases all predictions.</a:t>
            </a:r>
            <a:endParaRPr lang="en-US" sz="1150" dirty="0"/>
          </a:p>
        </p:txBody>
      </p:sp>
      <p:sp>
        <p:nvSpPr>
          <p:cNvPr id="23" name="Shape 21"/>
          <p:cNvSpPr/>
          <p:nvPr/>
        </p:nvSpPr>
        <p:spPr>
          <a:xfrm>
            <a:off x="420624" y="4553712"/>
            <a:ext cx="8467344" cy="310896"/>
          </a:xfrm>
          <a:prstGeom prst="rect">
            <a:avLst/>
          </a:prstGeom>
          <a:solidFill>
            <a:srgbClr val="D5EDE9"/>
          </a:solidFill>
          <a:ln w="10160">
            <a:solidFill>
              <a:srgbClr val="A0D5CC"/>
            </a:solidFill>
            <a:prstDash val="solid"/>
          </a:ln>
        </p:spPr>
        <p:txBody>
          <a:bodyPr/>
          <a:lstStyle/>
          <a:p>
            <a:r>
              <a:rPr lang="sv-SE" sz="1100" dirty="0">
                <a:latin typeface="Calibri" panose="020F0502020204030204" pitchFamily="34" charset="0"/>
                <a:ea typeface="Calibri" panose="020F0502020204030204" pitchFamily="34" charset="0"/>
                <a:cs typeface="Calibri" panose="020F0502020204030204" pitchFamily="34" charset="0"/>
              </a:rPr>
              <a:t>https://doc.esri.com/en/arcgis-pro/latest/help/analysis/geostatistical-analyst/understanding-simple-kriging.html</a:t>
            </a:r>
            <a:endParaRPr lang="he-IL" sz="1100" dirty="0">
              <a:latin typeface="Calibri" panose="020F0502020204030204" pitchFamily="34" charset="0"/>
              <a:ea typeface="Calibri" panose="020F0502020204030204" pitchFamily="34" charset="0"/>
              <a:cs typeface="Calibri" panose="020F0502020204030204" pitchFamily="34" charset="0"/>
            </a:endParaRPr>
          </a:p>
        </p:txBody>
      </p:sp>
      <p:sp>
        <p:nvSpPr>
          <p:cNvPr id="24" name="Text 22"/>
          <p:cNvSpPr/>
          <p:nvPr/>
        </p:nvSpPr>
        <p:spPr>
          <a:xfrm>
            <a:off x="512064" y="4553712"/>
            <a:ext cx="8284464" cy="310896"/>
          </a:xfrm>
          <a:prstGeom prst="rect">
            <a:avLst/>
          </a:prstGeom>
          <a:noFill/>
          <a:ln/>
        </p:spPr>
        <p:txBody>
          <a:bodyPr wrap="square" lIns="0" tIns="0" rIns="0" bIns="0" rtlCol="0" anchor="ctr"/>
          <a:lstStyle/>
          <a:p>
            <a:pPr marL="0" indent="0" algn="l">
              <a:buNone/>
            </a:pPr>
            <a:endParaRPr lang="en-US" sz="850" dirty="0"/>
          </a:p>
        </p:txBody>
      </p:sp>
      <p:pic>
        <p:nvPicPr>
          <p:cNvPr id="6146" name="Picture 2" descr="Understanding simple kriging—ArcGIS Pro | Documentation">
            <a:extLst>
              <a:ext uri="{FF2B5EF4-FFF2-40B4-BE49-F238E27FC236}">
                <a16:creationId xmlns:a16="http://schemas.microsoft.com/office/drawing/2014/main" id="{FF475ECB-F5A3-22F4-A313-048C5FD20B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40" y="3102876"/>
            <a:ext cx="1882831" cy="13207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5B7FA6"/>
          </a:solidFill>
          <a:ln w="12700">
            <a:solidFill>
              <a:srgbClr val="5B7FA6"/>
            </a:solidFill>
            <a:prstDash val="solid"/>
          </a:ln>
        </p:spPr>
        <p:txBody>
          <a:bodyPr/>
          <a:lstStyle/>
          <a:p>
            <a:endParaRPr lang="he-IL"/>
          </a:p>
        </p:txBody>
      </p:sp>
      <p:sp>
        <p:nvSpPr>
          <p:cNvPr id="3" name="Shape 1"/>
          <p:cNvSpPr/>
          <p:nvPr/>
        </p:nvSpPr>
        <p:spPr>
          <a:xfrm>
            <a:off x="256032" y="0"/>
            <a:ext cx="8887968" cy="1188720"/>
          </a:xfrm>
          <a:prstGeom prst="rect">
            <a:avLst/>
          </a:prstGeom>
          <a:solidFill>
            <a:srgbClr val="3A5F85"/>
          </a:solidFill>
          <a:ln w="12700">
            <a:solidFill>
              <a:srgbClr val="3A5F85"/>
            </a:solidFill>
            <a:prstDash val="solid"/>
          </a:ln>
        </p:spPr>
        <p:txBody>
          <a:bodyPr/>
          <a:lstStyle/>
          <a:p>
            <a:endParaRPr lang="he-IL"/>
          </a:p>
        </p:txBody>
      </p:sp>
      <p:sp>
        <p:nvSpPr>
          <p:cNvPr id="4" name="Shape 2"/>
          <p:cNvSpPr/>
          <p:nvPr/>
        </p:nvSpPr>
        <p:spPr>
          <a:xfrm>
            <a:off x="420624" y="182880"/>
            <a:ext cx="475488" cy="475488"/>
          </a:xfrm>
          <a:prstGeom prst="rect">
            <a:avLst/>
          </a:prstGeom>
          <a:solidFill>
            <a:srgbClr val="5B7FA6"/>
          </a:solidFill>
          <a:ln w="12700">
            <a:solidFill>
              <a:srgbClr val="5B7FA6"/>
            </a:solidFill>
            <a:prstDash val="solid"/>
          </a:ln>
        </p:spPr>
        <p:txBody>
          <a:bodyPr/>
          <a:lstStyle/>
          <a:p>
            <a:endParaRPr lang="he-IL"/>
          </a:p>
        </p:txBody>
      </p:sp>
      <p:sp>
        <p:nvSpPr>
          <p:cNvPr id="5" name="Text 3"/>
          <p:cNvSpPr/>
          <p:nvPr/>
        </p:nvSpPr>
        <p:spPr>
          <a:xfrm>
            <a:off x="420624" y="18288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6" name="Text 4"/>
          <p:cNvSpPr/>
          <p:nvPr/>
        </p:nvSpPr>
        <p:spPr>
          <a:xfrm>
            <a:off x="1005840" y="164592"/>
            <a:ext cx="685800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Universal Kriging</a:t>
            </a:r>
            <a:endParaRPr lang="en-US" sz="2800" dirty="0"/>
          </a:p>
        </p:txBody>
      </p:sp>
      <p:sp>
        <p:nvSpPr>
          <p:cNvPr id="7" name="Text 5"/>
          <p:cNvSpPr/>
          <p:nvPr/>
        </p:nvSpPr>
        <p:spPr>
          <a:xfrm>
            <a:off x="1005840" y="658368"/>
            <a:ext cx="6858000" cy="310896"/>
          </a:xfrm>
          <a:prstGeom prst="rect">
            <a:avLst/>
          </a:prstGeom>
          <a:noFill/>
          <a:ln/>
        </p:spPr>
        <p:txBody>
          <a:bodyPr wrap="square" lIns="0" tIns="0" rIns="0" bIns="0" rtlCol="0" anchor="ctr"/>
          <a:lstStyle/>
          <a:p>
            <a:pPr marL="0" indent="0" algn="l">
              <a:buNone/>
            </a:pPr>
            <a:r>
              <a:rPr lang="en-US" sz="1100" i="1" dirty="0">
                <a:solidFill>
                  <a:srgbClr val="A8C4E0"/>
                </a:solidFill>
                <a:latin typeface="Calibri" pitchFamily="34" charset="0"/>
                <a:ea typeface="Calibri" pitchFamily="34" charset="-122"/>
                <a:cs typeface="Calibri" pitchFamily="34" charset="-120"/>
              </a:rPr>
              <a:t>↗  Use when a spatial drift is present</a:t>
            </a:r>
            <a:endParaRPr lang="en-US" sz="1100" dirty="0"/>
          </a:p>
        </p:txBody>
      </p:sp>
      <p:sp>
        <p:nvSpPr>
          <p:cNvPr id="8" name="Shape 6"/>
          <p:cNvSpPr/>
          <p:nvPr/>
        </p:nvSpPr>
        <p:spPr>
          <a:xfrm>
            <a:off x="420624" y="1298448"/>
            <a:ext cx="2846832" cy="329184"/>
          </a:xfrm>
          <a:prstGeom prst="rect">
            <a:avLst/>
          </a:prstGeom>
          <a:solidFill>
            <a:srgbClr val="5B7FA6"/>
          </a:solidFill>
          <a:ln w="12700">
            <a:solidFill>
              <a:srgbClr val="5B7FA6"/>
            </a:solidFill>
            <a:prstDash val="solid"/>
          </a:ln>
        </p:spPr>
        <p:txBody>
          <a:bodyPr/>
          <a:lstStyle/>
          <a:p>
            <a:endParaRPr lang="he-IL"/>
          </a:p>
        </p:txBody>
      </p:sp>
      <p:sp>
        <p:nvSpPr>
          <p:cNvPr id="9" name="Text 7"/>
          <p:cNvSpPr/>
          <p:nvPr/>
        </p:nvSpPr>
        <p:spPr>
          <a:xfrm>
            <a:off x="420624"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Assumption</a:t>
            </a:r>
            <a:endParaRPr lang="en-US" sz="1150" dirty="0"/>
          </a:p>
        </p:txBody>
      </p:sp>
      <p:sp>
        <p:nvSpPr>
          <p:cNvPr id="10" name="Shape 8"/>
          <p:cNvSpPr/>
          <p:nvPr/>
        </p:nvSpPr>
        <p:spPr>
          <a:xfrm>
            <a:off x="420624" y="1627632"/>
            <a:ext cx="2846832" cy="2852928"/>
          </a:xfrm>
          <a:prstGeom prst="rect">
            <a:avLst/>
          </a:prstGeom>
          <a:solidFill>
            <a:srgbClr val="D6E4F0"/>
          </a:solidFill>
          <a:ln w="12700">
            <a:solidFill>
              <a:srgbClr val="D6E4F0"/>
            </a:solidFill>
            <a:prstDash val="solid"/>
          </a:ln>
          <a:effectLst>
            <a:outerShdw blurRad="101600" dist="38100" dir="8100000" algn="bl" rotWithShape="0">
              <a:srgbClr val="000000">
                <a:alpha val="10000"/>
              </a:srgbClr>
            </a:outerShdw>
          </a:effectLst>
        </p:spPr>
        <p:txBody>
          <a:bodyPr/>
          <a:lstStyle/>
          <a:p>
            <a:endParaRPr lang="he-IL"/>
          </a:p>
        </p:txBody>
      </p:sp>
      <p:sp>
        <p:nvSpPr>
          <p:cNvPr id="11" name="Text 9"/>
          <p:cNvSpPr/>
          <p:nvPr/>
        </p:nvSpPr>
        <p:spPr>
          <a:xfrm>
            <a:off x="512064" y="1719072"/>
            <a:ext cx="2663952" cy="2670048"/>
          </a:xfrm>
          <a:prstGeom prst="rect">
            <a:avLst/>
          </a:prstGeom>
          <a:noFill/>
          <a:ln/>
        </p:spPr>
        <p:txBody>
          <a:bodyPr wrap="square" lIns="0" tIns="0" rIns="0" bIns="0" rtlCol="0" anchor="t"/>
          <a:lstStyle/>
          <a:p>
            <a:pPr marL="0" indent="0" algn="l">
              <a:buNone/>
            </a:pPr>
            <a:r>
              <a:rPr lang="en-US" sz="1150" dirty="0">
                <a:solidFill>
                  <a:srgbClr val="333333"/>
                </a:solidFill>
                <a:latin typeface="Calibri" pitchFamily="34" charset="0"/>
                <a:ea typeface="Calibri" pitchFamily="34" charset="-122"/>
                <a:cs typeface="Calibri" pitchFamily="34" charset="-120"/>
              </a:rPr>
              <a:t>Known functional spatial trend (drift) — the mean varies systematically across space according to a known function.</a:t>
            </a:r>
            <a:endParaRPr lang="en-US" sz="1150" dirty="0"/>
          </a:p>
        </p:txBody>
      </p:sp>
      <p:sp>
        <p:nvSpPr>
          <p:cNvPr id="12" name="Shape 10"/>
          <p:cNvSpPr/>
          <p:nvPr/>
        </p:nvSpPr>
        <p:spPr>
          <a:xfrm>
            <a:off x="512064" y="2304288"/>
            <a:ext cx="2663952" cy="0"/>
          </a:xfrm>
          <a:prstGeom prst="line">
            <a:avLst/>
          </a:prstGeom>
          <a:noFill/>
          <a:ln w="10160">
            <a:solidFill>
              <a:srgbClr val="A8C4E0"/>
            </a:solidFill>
            <a:prstDash val="solid"/>
          </a:ln>
        </p:spPr>
        <p:txBody>
          <a:bodyPr/>
          <a:lstStyle/>
          <a:p>
            <a:endParaRPr lang="he-IL"/>
          </a:p>
        </p:txBody>
      </p:sp>
      <p:sp>
        <p:nvSpPr>
          <p:cNvPr id="13" name="Shape 11"/>
          <p:cNvSpPr/>
          <p:nvPr/>
        </p:nvSpPr>
        <p:spPr>
          <a:xfrm>
            <a:off x="512064" y="2414016"/>
            <a:ext cx="2663952" cy="585216"/>
          </a:xfrm>
          <a:prstGeom prst="rect">
            <a:avLst/>
          </a:prstGeom>
          <a:solidFill>
            <a:srgbClr val="A8C4E0">
              <a:alpha val="60000"/>
            </a:srgbClr>
          </a:solidFill>
          <a:ln w="12700">
            <a:solidFill>
              <a:srgbClr val="A8C4E0"/>
            </a:solidFill>
            <a:prstDash val="solid"/>
          </a:ln>
        </p:spPr>
        <p:txBody>
          <a:bodyPr/>
          <a:lstStyle/>
          <a:p>
            <a:endParaRPr lang="he-IL"/>
          </a:p>
        </p:txBody>
      </p:sp>
      <p:sp>
        <p:nvSpPr>
          <p:cNvPr id="14" name="Text 12"/>
          <p:cNvSpPr/>
          <p:nvPr/>
        </p:nvSpPr>
        <p:spPr>
          <a:xfrm>
            <a:off x="548640" y="2414016"/>
            <a:ext cx="2590800" cy="585216"/>
          </a:xfrm>
          <a:prstGeom prst="rect">
            <a:avLst/>
          </a:prstGeom>
          <a:noFill/>
          <a:ln/>
        </p:spPr>
        <p:txBody>
          <a:bodyPr wrap="square" lIns="0" tIns="0" rIns="0" bIns="0" rtlCol="0" anchor="ctr"/>
          <a:lstStyle/>
          <a:p>
            <a:pPr marL="0" indent="0" algn="ctr">
              <a:buNone/>
            </a:pPr>
            <a:r>
              <a:rPr lang="en-US" sz="950" dirty="0">
                <a:solidFill>
                  <a:srgbClr val="3A5F85"/>
                </a:solidFill>
                <a:latin typeface="Courier New" pitchFamily="34" charset="0"/>
                <a:ea typeface="Courier New" pitchFamily="34" charset="-122"/>
                <a:cs typeface="Courier New" pitchFamily="34" charset="-120"/>
              </a:rPr>
              <a:t>Z(x) = m(x) + ε(x)  where m(x) is the deterministic trend</a:t>
            </a:r>
            <a:endParaRPr lang="en-US" sz="950" dirty="0"/>
          </a:p>
        </p:txBody>
      </p:sp>
      <p:sp>
        <p:nvSpPr>
          <p:cNvPr id="15" name="Shape 13"/>
          <p:cNvSpPr/>
          <p:nvPr/>
        </p:nvSpPr>
        <p:spPr>
          <a:xfrm>
            <a:off x="3358896" y="1298448"/>
            <a:ext cx="2846832" cy="329184"/>
          </a:xfrm>
          <a:prstGeom prst="rect">
            <a:avLst/>
          </a:prstGeom>
          <a:solidFill>
            <a:srgbClr val="5B7FA6"/>
          </a:solidFill>
          <a:ln w="12700">
            <a:solidFill>
              <a:srgbClr val="5B7FA6"/>
            </a:solidFill>
            <a:prstDash val="solid"/>
          </a:ln>
        </p:spPr>
        <p:txBody>
          <a:bodyPr/>
          <a:lstStyle/>
          <a:p>
            <a:endParaRPr lang="he-IL"/>
          </a:p>
        </p:txBody>
      </p:sp>
      <p:sp>
        <p:nvSpPr>
          <p:cNvPr id="16" name="Text 14"/>
          <p:cNvSpPr/>
          <p:nvPr/>
        </p:nvSpPr>
        <p:spPr>
          <a:xfrm>
            <a:off x="3358896"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Best For</a:t>
            </a:r>
            <a:endParaRPr lang="en-US" sz="1150" dirty="0"/>
          </a:p>
        </p:txBody>
      </p:sp>
      <p:sp>
        <p:nvSpPr>
          <p:cNvPr id="17" name="Shape 15"/>
          <p:cNvSpPr/>
          <p:nvPr/>
        </p:nvSpPr>
        <p:spPr>
          <a:xfrm>
            <a:off x="3358896" y="1627632"/>
            <a:ext cx="2846832" cy="2852928"/>
          </a:xfrm>
          <a:prstGeom prst="rect">
            <a:avLst/>
          </a:prstGeom>
          <a:solidFill>
            <a:srgbClr val="D6E4F0"/>
          </a:solidFill>
          <a:ln w="12700">
            <a:solidFill>
              <a:srgbClr val="D6E4F0"/>
            </a:solidFill>
            <a:prstDash val="solid"/>
          </a:ln>
          <a:effectLst>
            <a:outerShdw blurRad="101600" dist="38100" dir="8100000" algn="bl" rotWithShape="0">
              <a:srgbClr val="000000">
                <a:alpha val="10000"/>
              </a:srgbClr>
            </a:outerShdw>
          </a:effectLst>
        </p:spPr>
        <p:txBody>
          <a:bodyPr/>
          <a:lstStyle/>
          <a:p>
            <a:endParaRPr lang="he-IL"/>
          </a:p>
        </p:txBody>
      </p:sp>
      <p:sp>
        <p:nvSpPr>
          <p:cNvPr id="18" name="Text 16"/>
          <p:cNvSpPr/>
          <p:nvPr/>
        </p:nvSpPr>
        <p:spPr>
          <a:xfrm>
            <a:off x="3450336" y="1755648"/>
            <a:ext cx="2663952" cy="2542032"/>
          </a:xfrm>
          <a:prstGeom prst="rect">
            <a:avLst/>
          </a:prstGeom>
          <a:noFill/>
          <a:ln/>
        </p:spPr>
        <p:txBody>
          <a:bodyPr wrap="square" lIns="0" tIns="0" rIns="0" bIns="0" rtlCol="0" anchor="t"/>
          <a:lstStyle/>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Pollution gradients (e.g., concentrations downwind of a source)</a:t>
            </a:r>
            <a:endParaRPr lang="en-US" sz="1150" dirty="0"/>
          </a:p>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Elevation-dependent climate variables</a:t>
            </a:r>
            <a:endParaRPr lang="en-US" sz="1150" dirty="0"/>
          </a:p>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Any variable with a clear directional or polynomial trend</a:t>
            </a:r>
            <a:endParaRPr lang="en-US" sz="1150" dirty="0"/>
          </a:p>
        </p:txBody>
      </p:sp>
      <p:sp>
        <p:nvSpPr>
          <p:cNvPr id="19" name="Shape 17"/>
          <p:cNvSpPr/>
          <p:nvPr/>
        </p:nvSpPr>
        <p:spPr>
          <a:xfrm>
            <a:off x="6297168" y="1298448"/>
            <a:ext cx="2846832" cy="329184"/>
          </a:xfrm>
          <a:prstGeom prst="rect">
            <a:avLst/>
          </a:prstGeom>
          <a:solidFill>
            <a:srgbClr val="5B7FA6"/>
          </a:solidFill>
          <a:ln w="12700">
            <a:solidFill>
              <a:srgbClr val="5B7FA6"/>
            </a:solidFill>
            <a:prstDash val="solid"/>
          </a:ln>
        </p:spPr>
        <p:txBody>
          <a:bodyPr/>
          <a:lstStyle/>
          <a:p>
            <a:endParaRPr lang="he-IL"/>
          </a:p>
        </p:txBody>
      </p:sp>
      <p:sp>
        <p:nvSpPr>
          <p:cNvPr id="20" name="Text 18"/>
          <p:cNvSpPr/>
          <p:nvPr/>
        </p:nvSpPr>
        <p:spPr>
          <a:xfrm>
            <a:off x="6297168"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When to Avoid</a:t>
            </a:r>
            <a:endParaRPr lang="en-US" sz="1150" dirty="0"/>
          </a:p>
        </p:txBody>
      </p:sp>
      <p:sp>
        <p:nvSpPr>
          <p:cNvPr id="21" name="Shape 19"/>
          <p:cNvSpPr/>
          <p:nvPr/>
        </p:nvSpPr>
        <p:spPr>
          <a:xfrm>
            <a:off x="6297168" y="1627632"/>
            <a:ext cx="2846832" cy="2852928"/>
          </a:xfrm>
          <a:prstGeom prst="rect">
            <a:avLst/>
          </a:prstGeom>
          <a:solidFill>
            <a:srgbClr val="D6E4F0"/>
          </a:solidFill>
          <a:ln w="12700">
            <a:solidFill>
              <a:srgbClr val="D6E4F0"/>
            </a:solidFill>
            <a:prstDash val="solid"/>
          </a:ln>
          <a:effectLst>
            <a:outerShdw blurRad="101600" dist="38100" dir="8100000" algn="bl" rotWithShape="0">
              <a:srgbClr val="000000">
                <a:alpha val="10000"/>
              </a:srgbClr>
            </a:outerShdw>
          </a:effectLst>
        </p:spPr>
        <p:txBody>
          <a:bodyPr/>
          <a:lstStyle/>
          <a:p>
            <a:endParaRPr lang="he-IL"/>
          </a:p>
        </p:txBody>
      </p:sp>
      <p:sp>
        <p:nvSpPr>
          <p:cNvPr id="22" name="Text 20"/>
          <p:cNvSpPr/>
          <p:nvPr/>
        </p:nvSpPr>
        <p:spPr>
          <a:xfrm>
            <a:off x="6388608" y="1755648"/>
            <a:ext cx="2663952" cy="2542032"/>
          </a:xfrm>
          <a:prstGeom prst="rect">
            <a:avLst/>
          </a:prstGeom>
          <a:noFill/>
          <a:ln/>
        </p:spPr>
        <p:txBody>
          <a:bodyPr wrap="square" lIns="0" tIns="0" rIns="0" bIns="0" rtlCol="0" anchor="t"/>
          <a:lstStyle/>
          <a:p>
            <a:pPr marL="0" indent="0" algn="l">
              <a:buNone/>
            </a:pPr>
            <a:r>
              <a:rPr lang="en-US" sz="1150" dirty="0">
                <a:solidFill>
                  <a:srgbClr val="333333"/>
                </a:solidFill>
                <a:latin typeface="Calibri" pitchFamily="34" charset="0"/>
                <a:ea typeface="Calibri" pitchFamily="34" charset="-122"/>
                <a:cs typeface="Calibri" pitchFamily="34" charset="-120"/>
              </a:rPr>
              <a:t>Avoid when no trend exists — it will overfit and produce poor cross-validation results.</a:t>
            </a:r>
            <a:endParaRPr lang="en-US" sz="1150" dirty="0"/>
          </a:p>
        </p:txBody>
      </p:sp>
      <p:sp>
        <p:nvSpPr>
          <p:cNvPr id="23" name="Shape 21"/>
          <p:cNvSpPr/>
          <p:nvPr/>
        </p:nvSpPr>
        <p:spPr>
          <a:xfrm>
            <a:off x="420624" y="4553712"/>
            <a:ext cx="8467344" cy="310896"/>
          </a:xfrm>
          <a:prstGeom prst="rect">
            <a:avLst/>
          </a:prstGeom>
          <a:solidFill>
            <a:srgbClr val="D6E4F0"/>
          </a:solidFill>
          <a:ln w="10160">
            <a:solidFill>
              <a:srgbClr val="A8C4E0"/>
            </a:solidFill>
            <a:prstDash val="solid"/>
          </a:ln>
        </p:spPr>
        <p:txBody>
          <a:bodyPr/>
          <a:lstStyle/>
          <a:p>
            <a:endParaRPr lang="he-IL"/>
          </a:p>
        </p:txBody>
      </p:sp>
      <p:sp>
        <p:nvSpPr>
          <p:cNvPr id="24" name="Text 22"/>
          <p:cNvSpPr/>
          <p:nvPr/>
        </p:nvSpPr>
        <p:spPr>
          <a:xfrm>
            <a:off x="512064" y="4553712"/>
            <a:ext cx="8284464" cy="310896"/>
          </a:xfrm>
          <a:prstGeom prst="rect">
            <a:avLst/>
          </a:prstGeom>
          <a:noFill/>
          <a:ln/>
        </p:spPr>
        <p:txBody>
          <a:bodyPr wrap="square" lIns="0" tIns="0" rIns="0" bIns="0" rtlCol="0" anchor="ctr"/>
          <a:lstStyle/>
          <a:p>
            <a:r>
              <a:rPr lang="en-US" sz="850" i="1" dirty="0">
                <a:solidFill>
                  <a:srgbClr val="3A5F85"/>
                </a:solidFill>
                <a:latin typeface="Calibri" pitchFamily="34" charset="0"/>
                <a:ea typeface="Calibri" pitchFamily="34" charset="-122"/>
                <a:cs typeface="Calibri" pitchFamily="34" charset="-120"/>
              </a:rPr>
              <a:t>https://desktop.arcgis.com/fr/arcmap/latest/extensions/geostatistical-analyst/understanding-universal-kriging.htm</a:t>
            </a:r>
            <a:endParaRPr lang="en-US" sz="850" dirty="0"/>
          </a:p>
        </p:txBody>
      </p:sp>
      <p:pic>
        <p:nvPicPr>
          <p:cNvPr id="7170" name="Picture 2" descr="Universal kriging">
            <a:extLst>
              <a:ext uri="{FF2B5EF4-FFF2-40B4-BE49-F238E27FC236}">
                <a16:creationId xmlns:a16="http://schemas.microsoft.com/office/drawing/2014/main" id="{36F56114-1733-1711-AA0A-99180A2232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484" y="3026664"/>
            <a:ext cx="2027960" cy="14101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7C6FA0"/>
          </a:solidFill>
          <a:ln w="12700">
            <a:solidFill>
              <a:srgbClr val="7C6FA0"/>
            </a:solidFill>
            <a:prstDash val="solid"/>
          </a:ln>
        </p:spPr>
        <p:txBody>
          <a:bodyPr/>
          <a:lstStyle/>
          <a:p>
            <a:endParaRPr lang="he-IL"/>
          </a:p>
        </p:txBody>
      </p:sp>
      <p:sp>
        <p:nvSpPr>
          <p:cNvPr id="3" name="Shape 1"/>
          <p:cNvSpPr/>
          <p:nvPr/>
        </p:nvSpPr>
        <p:spPr>
          <a:xfrm>
            <a:off x="256032" y="0"/>
            <a:ext cx="8887968" cy="1188720"/>
          </a:xfrm>
          <a:prstGeom prst="rect">
            <a:avLst/>
          </a:prstGeom>
          <a:solidFill>
            <a:srgbClr val="5A4E7E"/>
          </a:solidFill>
          <a:ln w="12700">
            <a:solidFill>
              <a:srgbClr val="5A4E7E"/>
            </a:solidFill>
            <a:prstDash val="solid"/>
          </a:ln>
        </p:spPr>
        <p:txBody>
          <a:bodyPr/>
          <a:lstStyle/>
          <a:p>
            <a:endParaRPr lang="he-IL"/>
          </a:p>
        </p:txBody>
      </p:sp>
      <p:sp>
        <p:nvSpPr>
          <p:cNvPr id="4" name="Shape 2"/>
          <p:cNvSpPr/>
          <p:nvPr/>
        </p:nvSpPr>
        <p:spPr>
          <a:xfrm>
            <a:off x="420624" y="182880"/>
            <a:ext cx="475488" cy="475488"/>
          </a:xfrm>
          <a:prstGeom prst="rect">
            <a:avLst/>
          </a:prstGeom>
          <a:solidFill>
            <a:srgbClr val="7C6FA0"/>
          </a:solidFill>
          <a:ln w="12700">
            <a:solidFill>
              <a:srgbClr val="7C6FA0"/>
            </a:solidFill>
            <a:prstDash val="solid"/>
          </a:ln>
        </p:spPr>
        <p:txBody>
          <a:bodyPr/>
          <a:lstStyle/>
          <a:p>
            <a:endParaRPr lang="he-IL"/>
          </a:p>
        </p:txBody>
      </p:sp>
      <p:sp>
        <p:nvSpPr>
          <p:cNvPr id="5" name="Text 3"/>
          <p:cNvSpPr/>
          <p:nvPr/>
        </p:nvSpPr>
        <p:spPr>
          <a:xfrm>
            <a:off x="420624" y="18288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6" name="Text 4"/>
          <p:cNvSpPr/>
          <p:nvPr/>
        </p:nvSpPr>
        <p:spPr>
          <a:xfrm>
            <a:off x="1005840" y="164592"/>
            <a:ext cx="685800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Co-Kriging</a:t>
            </a:r>
            <a:endParaRPr lang="en-US" sz="2800" dirty="0"/>
          </a:p>
        </p:txBody>
      </p:sp>
      <p:sp>
        <p:nvSpPr>
          <p:cNvPr id="7" name="Text 5"/>
          <p:cNvSpPr/>
          <p:nvPr/>
        </p:nvSpPr>
        <p:spPr>
          <a:xfrm>
            <a:off x="1005840" y="658368"/>
            <a:ext cx="6858000" cy="310896"/>
          </a:xfrm>
          <a:prstGeom prst="rect">
            <a:avLst/>
          </a:prstGeom>
          <a:noFill/>
          <a:ln/>
        </p:spPr>
        <p:txBody>
          <a:bodyPr wrap="square" lIns="0" tIns="0" rIns="0" bIns="0" rtlCol="0" anchor="ctr"/>
          <a:lstStyle/>
          <a:p>
            <a:pPr marL="0" indent="0" algn="l">
              <a:buNone/>
            </a:pPr>
            <a:r>
              <a:rPr lang="en-US" sz="1100" i="1" dirty="0">
                <a:solidFill>
                  <a:srgbClr val="C4BCE6"/>
                </a:solidFill>
                <a:latin typeface="Calibri" pitchFamily="34" charset="0"/>
                <a:ea typeface="Calibri" pitchFamily="34" charset="-122"/>
                <a:cs typeface="Calibri" pitchFamily="34" charset="-120"/>
              </a:rPr>
              <a:t>⊕  Leverage a correlated secondary variable</a:t>
            </a:r>
            <a:endParaRPr lang="en-US" sz="1100" dirty="0"/>
          </a:p>
        </p:txBody>
      </p:sp>
      <p:sp>
        <p:nvSpPr>
          <p:cNvPr id="8" name="Shape 6"/>
          <p:cNvSpPr/>
          <p:nvPr/>
        </p:nvSpPr>
        <p:spPr>
          <a:xfrm>
            <a:off x="420624" y="1298448"/>
            <a:ext cx="2846832" cy="329184"/>
          </a:xfrm>
          <a:prstGeom prst="rect">
            <a:avLst/>
          </a:prstGeom>
          <a:solidFill>
            <a:srgbClr val="7C6FA0"/>
          </a:solidFill>
          <a:ln w="12700">
            <a:solidFill>
              <a:srgbClr val="7C6FA0"/>
            </a:solidFill>
            <a:prstDash val="solid"/>
          </a:ln>
        </p:spPr>
        <p:txBody>
          <a:bodyPr/>
          <a:lstStyle/>
          <a:p>
            <a:endParaRPr lang="he-IL"/>
          </a:p>
        </p:txBody>
      </p:sp>
      <p:sp>
        <p:nvSpPr>
          <p:cNvPr id="9" name="Text 7"/>
          <p:cNvSpPr/>
          <p:nvPr/>
        </p:nvSpPr>
        <p:spPr>
          <a:xfrm>
            <a:off x="420624"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Assumption</a:t>
            </a:r>
            <a:endParaRPr lang="en-US" sz="1150" dirty="0"/>
          </a:p>
        </p:txBody>
      </p:sp>
      <p:sp>
        <p:nvSpPr>
          <p:cNvPr id="10" name="Shape 8"/>
          <p:cNvSpPr/>
          <p:nvPr/>
        </p:nvSpPr>
        <p:spPr>
          <a:xfrm>
            <a:off x="420624" y="1627632"/>
            <a:ext cx="2846832" cy="2852928"/>
          </a:xfrm>
          <a:prstGeom prst="rect">
            <a:avLst/>
          </a:prstGeom>
          <a:solidFill>
            <a:srgbClr val="E8E4F3"/>
          </a:solidFill>
          <a:ln w="12700">
            <a:solidFill>
              <a:srgbClr val="E8E4F3"/>
            </a:solidFill>
            <a:prstDash val="solid"/>
          </a:ln>
          <a:effectLst>
            <a:outerShdw blurRad="101600" dist="38100" dir="8100000" algn="bl" rotWithShape="0">
              <a:srgbClr val="000000">
                <a:alpha val="10000"/>
              </a:srgbClr>
            </a:outerShdw>
          </a:effectLst>
        </p:spPr>
        <p:txBody>
          <a:bodyPr/>
          <a:lstStyle/>
          <a:p>
            <a:endParaRPr lang="he-IL"/>
          </a:p>
        </p:txBody>
      </p:sp>
      <p:sp>
        <p:nvSpPr>
          <p:cNvPr id="11" name="Text 9"/>
          <p:cNvSpPr/>
          <p:nvPr/>
        </p:nvSpPr>
        <p:spPr>
          <a:xfrm>
            <a:off x="512064" y="1719072"/>
            <a:ext cx="2663952" cy="2670048"/>
          </a:xfrm>
          <a:prstGeom prst="rect">
            <a:avLst/>
          </a:prstGeom>
          <a:noFill/>
          <a:ln/>
        </p:spPr>
        <p:txBody>
          <a:bodyPr wrap="square" lIns="0" tIns="0" rIns="0" bIns="0" rtlCol="0" anchor="t"/>
          <a:lstStyle/>
          <a:p>
            <a:pPr marL="0" indent="0" algn="l">
              <a:buNone/>
            </a:pPr>
            <a:r>
              <a:rPr lang="en-US" sz="1150" dirty="0">
                <a:solidFill>
                  <a:srgbClr val="333333"/>
                </a:solidFill>
                <a:latin typeface="Calibri" pitchFamily="34" charset="0"/>
                <a:ea typeface="Calibri" pitchFamily="34" charset="-122"/>
                <a:cs typeface="Calibri" pitchFamily="34" charset="-120"/>
              </a:rPr>
              <a:t>Spatial correlation between the primary variable and one or more secondary variables that are cheaper or denser to sample.</a:t>
            </a:r>
            <a:endParaRPr lang="en-US" sz="1150" dirty="0"/>
          </a:p>
        </p:txBody>
      </p:sp>
      <p:sp>
        <p:nvSpPr>
          <p:cNvPr id="12" name="Shape 10"/>
          <p:cNvSpPr/>
          <p:nvPr/>
        </p:nvSpPr>
        <p:spPr>
          <a:xfrm>
            <a:off x="512064" y="2304288"/>
            <a:ext cx="2663952" cy="0"/>
          </a:xfrm>
          <a:prstGeom prst="line">
            <a:avLst/>
          </a:prstGeom>
          <a:noFill/>
          <a:ln w="10160">
            <a:solidFill>
              <a:srgbClr val="C4BCE6"/>
            </a:solidFill>
            <a:prstDash val="solid"/>
          </a:ln>
        </p:spPr>
        <p:txBody>
          <a:bodyPr/>
          <a:lstStyle/>
          <a:p>
            <a:endParaRPr lang="he-IL"/>
          </a:p>
        </p:txBody>
      </p:sp>
      <p:sp>
        <p:nvSpPr>
          <p:cNvPr id="13" name="Shape 11"/>
          <p:cNvSpPr/>
          <p:nvPr/>
        </p:nvSpPr>
        <p:spPr>
          <a:xfrm>
            <a:off x="512064" y="2414016"/>
            <a:ext cx="2663952" cy="585216"/>
          </a:xfrm>
          <a:prstGeom prst="rect">
            <a:avLst/>
          </a:prstGeom>
          <a:solidFill>
            <a:srgbClr val="C4BCE6">
              <a:alpha val="60000"/>
            </a:srgbClr>
          </a:solidFill>
          <a:ln w="12700">
            <a:solidFill>
              <a:srgbClr val="C4BCE6"/>
            </a:solidFill>
            <a:prstDash val="solid"/>
          </a:ln>
        </p:spPr>
        <p:txBody>
          <a:bodyPr/>
          <a:lstStyle/>
          <a:p>
            <a:endParaRPr lang="he-IL"/>
          </a:p>
        </p:txBody>
      </p:sp>
      <p:sp>
        <p:nvSpPr>
          <p:cNvPr id="14" name="Text 12"/>
          <p:cNvSpPr/>
          <p:nvPr/>
        </p:nvSpPr>
        <p:spPr>
          <a:xfrm>
            <a:off x="548640" y="2414016"/>
            <a:ext cx="2590800" cy="585216"/>
          </a:xfrm>
          <a:prstGeom prst="rect">
            <a:avLst/>
          </a:prstGeom>
          <a:noFill/>
          <a:ln/>
        </p:spPr>
        <p:txBody>
          <a:bodyPr wrap="square" lIns="0" tIns="0" rIns="0" bIns="0" rtlCol="0" anchor="ctr"/>
          <a:lstStyle/>
          <a:p>
            <a:pPr marL="0" indent="0" algn="ctr">
              <a:buNone/>
            </a:pPr>
            <a:r>
              <a:rPr lang="en-US" sz="950" dirty="0">
                <a:solidFill>
                  <a:srgbClr val="5A4E7E"/>
                </a:solidFill>
                <a:latin typeface="Courier New" pitchFamily="34" charset="0"/>
                <a:ea typeface="Courier New" pitchFamily="34" charset="-122"/>
                <a:cs typeface="Courier New" pitchFamily="34" charset="-120"/>
              </a:rPr>
              <a:t>Z*(x₀) = Σ λᵢ Z(xᵢ) + Σ μⱼ Y(xⱼ)   [Y = secondary]</a:t>
            </a:r>
            <a:endParaRPr lang="en-US" sz="950" dirty="0"/>
          </a:p>
        </p:txBody>
      </p:sp>
      <p:sp>
        <p:nvSpPr>
          <p:cNvPr id="15" name="Shape 13"/>
          <p:cNvSpPr/>
          <p:nvPr/>
        </p:nvSpPr>
        <p:spPr>
          <a:xfrm>
            <a:off x="3358896" y="1298448"/>
            <a:ext cx="2846832" cy="329184"/>
          </a:xfrm>
          <a:prstGeom prst="rect">
            <a:avLst/>
          </a:prstGeom>
          <a:solidFill>
            <a:srgbClr val="7C6FA0"/>
          </a:solidFill>
          <a:ln w="12700">
            <a:solidFill>
              <a:srgbClr val="7C6FA0"/>
            </a:solidFill>
            <a:prstDash val="solid"/>
          </a:ln>
        </p:spPr>
        <p:txBody>
          <a:bodyPr/>
          <a:lstStyle/>
          <a:p>
            <a:endParaRPr lang="he-IL"/>
          </a:p>
        </p:txBody>
      </p:sp>
      <p:sp>
        <p:nvSpPr>
          <p:cNvPr id="16" name="Text 14"/>
          <p:cNvSpPr/>
          <p:nvPr/>
        </p:nvSpPr>
        <p:spPr>
          <a:xfrm>
            <a:off x="3358896"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Best For</a:t>
            </a:r>
            <a:endParaRPr lang="en-US" sz="1150" dirty="0"/>
          </a:p>
        </p:txBody>
      </p:sp>
      <p:sp>
        <p:nvSpPr>
          <p:cNvPr id="17" name="Shape 15"/>
          <p:cNvSpPr/>
          <p:nvPr/>
        </p:nvSpPr>
        <p:spPr>
          <a:xfrm>
            <a:off x="3358896" y="1627632"/>
            <a:ext cx="2846832" cy="2852928"/>
          </a:xfrm>
          <a:prstGeom prst="rect">
            <a:avLst/>
          </a:prstGeom>
          <a:solidFill>
            <a:srgbClr val="E8E4F3"/>
          </a:solidFill>
          <a:ln w="12700">
            <a:solidFill>
              <a:srgbClr val="E8E4F3"/>
            </a:solidFill>
            <a:prstDash val="solid"/>
          </a:ln>
          <a:effectLst>
            <a:outerShdw blurRad="101600" dist="38100" dir="8100000" algn="bl" rotWithShape="0">
              <a:srgbClr val="000000">
                <a:alpha val="10000"/>
              </a:srgbClr>
            </a:outerShdw>
          </a:effectLst>
        </p:spPr>
        <p:txBody>
          <a:bodyPr/>
          <a:lstStyle/>
          <a:p>
            <a:endParaRPr lang="he-IL"/>
          </a:p>
        </p:txBody>
      </p:sp>
      <p:sp>
        <p:nvSpPr>
          <p:cNvPr id="18" name="Text 16"/>
          <p:cNvSpPr/>
          <p:nvPr/>
        </p:nvSpPr>
        <p:spPr>
          <a:xfrm>
            <a:off x="3450336" y="1755648"/>
            <a:ext cx="2663952" cy="2542032"/>
          </a:xfrm>
          <a:prstGeom prst="rect">
            <a:avLst/>
          </a:prstGeom>
          <a:noFill/>
          <a:ln/>
        </p:spPr>
        <p:txBody>
          <a:bodyPr wrap="square" lIns="0" tIns="0" rIns="0" bIns="0" rtlCol="0" anchor="t"/>
          <a:lstStyle/>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Soil carbon estimated using cheaper soil texture measurements</a:t>
            </a:r>
            <a:endParaRPr lang="en-US" sz="1150" dirty="0"/>
          </a:p>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Rainfall improved by dense elevation (DEM) data</a:t>
            </a:r>
            <a:endParaRPr lang="en-US" sz="1150" dirty="0"/>
          </a:p>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Any case where a correlated variable is more abundant</a:t>
            </a:r>
            <a:endParaRPr lang="en-US" sz="1150" dirty="0"/>
          </a:p>
        </p:txBody>
      </p:sp>
      <p:sp>
        <p:nvSpPr>
          <p:cNvPr id="19" name="Shape 17"/>
          <p:cNvSpPr/>
          <p:nvPr/>
        </p:nvSpPr>
        <p:spPr>
          <a:xfrm>
            <a:off x="6297168" y="1298448"/>
            <a:ext cx="2846832" cy="329184"/>
          </a:xfrm>
          <a:prstGeom prst="rect">
            <a:avLst/>
          </a:prstGeom>
          <a:solidFill>
            <a:srgbClr val="7C6FA0"/>
          </a:solidFill>
          <a:ln w="12700">
            <a:solidFill>
              <a:srgbClr val="7C6FA0"/>
            </a:solidFill>
            <a:prstDash val="solid"/>
          </a:ln>
        </p:spPr>
        <p:txBody>
          <a:bodyPr/>
          <a:lstStyle/>
          <a:p>
            <a:endParaRPr lang="he-IL"/>
          </a:p>
        </p:txBody>
      </p:sp>
      <p:sp>
        <p:nvSpPr>
          <p:cNvPr id="20" name="Text 18"/>
          <p:cNvSpPr/>
          <p:nvPr/>
        </p:nvSpPr>
        <p:spPr>
          <a:xfrm>
            <a:off x="6297168"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When to Avoid</a:t>
            </a:r>
            <a:endParaRPr lang="en-US" sz="1150" dirty="0"/>
          </a:p>
        </p:txBody>
      </p:sp>
      <p:sp>
        <p:nvSpPr>
          <p:cNvPr id="21" name="Shape 19"/>
          <p:cNvSpPr/>
          <p:nvPr/>
        </p:nvSpPr>
        <p:spPr>
          <a:xfrm>
            <a:off x="6297168" y="1627632"/>
            <a:ext cx="2846832" cy="2852928"/>
          </a:xfrm>
          <a:prstGeom prst="rect">
            <a:avLst/>
          </a:prstGeom>
          <a:solidFill>
            <a:srgbClr val="E8E4F3"/>
          </a:solidFill>
          <a:ln w="12700">
            <a:solidFill>
              <a:srgbClr val="E8E4F3"/>
            </a:solidFill>
            <a:prstDash val="solid"/>
          </a:ln>
          <a:effectLst>
            <a:outerShdw blurRad="101600" dist="38100" dir="8100000" algn="bl" rotWithShape="0">
              <a:srgbClr val="000000">
                <a:alpha val="10000"/>
              </a:srgbClr>
            </a:outerShdw>
          </a:effectLst>
        </p:spPr>
        <p:txBody>
          <a:bodyPr/>
          <a:lstStyle/>
          <a:p>
            <a:endParaRPr lang="he-IL"/>
          </a:p>
        </p:txBody>
      </p:sp>
      <p:sp>
        <p:nvSpPr>
          <p:cNvPr id="22" name="Text 20"/>
          <p:cNvSpPr/>
          <p:nvPr/>
        </p:nvSpPr>
        <p:spPr>
          <a:xfrm>
            <a:off x="6388608" y="1755648"/>
            <a:ext cx="2663952" cy="2542032"/>
          </a:xfrm>
          <a:prstGeom prst="rect">
            <a:avLst/>
          </a:prstGeom>
          <a:noFill/>
          <a:ln/>
        </p:spPr>
        <p:txBody>
          <a:bodyPr wrap="square" lIns="0" tIns="0" rIns="0" bIns="0" rtlCol="0" anchor="t"/>
          <a:lstStyle/>
          <a:p>
            <a:pPr marL="0" indent="0" algn="l">
              <a:buNone/>
            </a:pPr>
            <a:r>
              <a:rPr lang="en-US" sz="1150" dirty="0">
                <a:solidFill>
                  <a:srgbClr val="333333"/>
                </a:solidFill>
                <a:latin typeface="Calibri" pitchFamily="34" charset="0"/>
                <a:ea typeface="Calibri" pitchFamily="34" charset="-122"/>
                <a:cs typeface="Calibri" pitchFamily="34" charset="-120"/>
              </a:rPr>
              <a:t>Avoid when the secondary variable is weakly correlated — the added complexity won't improve accuracy.</a:t>
            </a:r>
            <a:endParaRPr lang="en-US" sz="1150" dirty="0"/>
          </a:p>
        </p:txBody>
      </p:sp>
      <p:sp>
        <p:nvSpPr>
          <p:cNvPr id="23" name="Shape 21"/>
          <p:cNvSpPr/>
          <p:nvPr/>
        </p:nvSpPr>
        <p:spPr>
          <a:xfrm>
            <a:off x="420624" y="4553712"/>
            <a:ext cx="8467344" cy="310896"/>
          </a:xfrm>
          <a:prstGeom prst="rect">
            <a:avLst/>
          </a:prstGeom>
          <a:solidFill>
            <a:srgbClr val="E8E4F3"/>
          </a:solidFill>
          <a:ln w="10160">
            <a:solidFill>
              <a:srgbClr val="C4BCE6"/>
            </a:solidFill>
            <a:prstDash val="solid"/>
          </a:ln>
        </p:spPr>
        <p:txBody>
          <a:bodyPr/>
          <a:lstStyle/>
          <a:p>
            <a:endParaRPr lang="he-IL"/>
          </a:p>
        </p:txBody>
      </p:sp>
      <p:sp>
        <p:nvSpPr>
          <p:cNvPr id="24" name="Text 22"/>
          <p:cNvSpPr/>
          <p:nvPr/>
        </p:nvSpPr>
        <p:spPr>
          <a:xfrm>
            <a:off x="512064" y="4553712"/>
            <a:ext cx="8284464" cy="310896"/>
          </a:xfrm>
          <a:prstGeom prst="rect">
            <a:avLst/>
          </a:prstGeom>
          <a:noFill/>
          <a:ln/>
        </p:spPr>
        <p:txBody>
          <a:bodyPr wrap="square" lIns="0" tIns="0" rIns="0" bIns="0" rtlCol="0" anchor="ctr"/>
          <a:lstStyle/>
          <a:p>
            <a:pPr marL="0" indent="0" algn="l">
              <a:buNone/>
            </a:pPr>
            <a:r>
              <a:rPr lang="en-US" sz="850" i="1" dirty="0">
                <a:solidFill>
                  <a:srgbClr val="5A4E7E"/>
                </a:solidFill>
                <a:latin typeface="Calibri" pitchFamily="34" charset="0"/>
                <a:ea typeface="Calibri" pitchFamily="34" charset="-122"/>
                <a:cs typeface="Calibri" pitchFamily="34" charset="-120"/>
              </a:rPr>
              <a:t>https://desktop.arcgis.com/en/arcmap/latest/extensions/geostatistical-analyst/understanding-cokriging.htm</a:t>
            </a:r>
            <a:endParaRPr lang="en-US" sz="850" dirty="0"/>
          </a:p>
        </p:txBody>
      </p:sp>
      <p:pic>
        <p:nvPicPr>
          <p:cNvPr id="8196" name="Picture 4" descr="Cokriging graph example">
            <a:extLst>
              <a:ext uri="{FF2B5EF4-FFF2-40B4-BE49-F238E27FC236}">
                <a16:creationId xmlns:a16="http://schemas.microsoft.com/office/drawing/2014/main" id="{9CF84C72-D806-A81C-BE17-BBCD7B8148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2878" y="3054096"/>
            <a:ext cx="2243138" cy="15859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C0392B"/>
          </a:solidFill>
          <a:ln w="12700">
            <a:solidFill>
              <a:srgbClr val="C0392B"/>
            </a:solidFill>
            <a:prstDash val="solid"/>
          </a:ln>
        </p:spPr>
        <p:txBody>
          <a:bodyPr/>
          <a:lstStyle/>
          <a:p>
            <a:endParaRPr lang="he-IL"/>
          </a:p>
        </p:txBody>
      </p:sp>
      <p:sp>
        <p:nvSpPr>
          <p:cNvPr id="3" name="Shape 1"/>
          <p:cNvSpPr/>
          <p:nvPr/>
        </p:nvSpPr>
        <p:spPr>
          <a:xfrm>
            <a:off x="256032" y="0"/>
            <a:ext cx="8887968" cy="1188720"/>
          </a:xfrm>
          <a:prstGeom prst="rect">
            <a:avLst/>
          </a:prstGeom>
          <a:solidFill>
            <a:srgbClr val="922B21"/>
          </a:solidFill>
          <a:ln w="12700">
            <a:solidFill>
              <a:srgbClr val="922B21"/>
            </a:solidFill>
            <a:prstDash val="solid"/>
          </a:ln>
        </p:spPr>
        <p:txBody>
          <a:bodyPr/>
          <a:lstStyle/>
          <a:p>
            <a:endParaRPr lang="he-IL"/>
          </a:p>
        </p:txBody>
      </p:sp>
      <p:sp>
        <p:nvSpPr>
          <p:cNvPr id="4" name="Shape 2"/>
          <p:cNvSpPr/>
          <p:nvPr/>
        </p:nvSpPr>
        <p:spPr>
          <a:xfrm>
            <a:off x="420624" y="182880"/>
            <a:ext cx="475488" cy="475488"/>
          </a:xfrm>
          <a:prstGeom prst="rect">
            <a:avLst/>
          </a:prstGeom>
          <a:solidFill>
            <a:srgbClr val="C0392B"/>
          </a:solidFill>
          <a:ln w="12700">
            <a:solidFill>
              <a:srgbClr val="C0392B"/>
            </a:solidFill>
            <a:prstDash val="solid"/>
          </a:ln>
        </p:spPr>
        <p:txBody>
          <a:bodyPr/>
          <a:lstStyle/>
          <a:p>
            <a:endParaRPr lang="he-IL"/>
          </a:p>
        </p:txBody>
      </p:sp>
      <p:sp>
        <p:nvSpPr>
          <p:cNvPr id="5" name="Text 3"/>
          <p:cNvSpPr/>
          <p:nvPr/>
        </p:nvSpPr>
        <p:spPr>
          <a:xfrm>
            <a:off x="420624" y="18288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6" name="Text 4"/>
          <p:cNvSpPr/>
          <p:nvPr/>
        </p:nvSpPr>
        <p:spPr>
          <a:xfrm>
            <a:off x="1005840" y="164592"/>
            <a:ext cx="685800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Indicator Kriging</a:t>
            </a:r>
            <a:endParaRPr lang="en-US" sz="2800" dirty="0"/>
          </a:p>
        </p:txBody>
      </p:sp>
      <p:sp>
        <p:nvSpPr>
          <p:cNvPr id="7" name="Text 5"/>
          <p:cNvSpPr/>
          <p:nvPr/>
        </p:nvSpPr>
        <p:spPr>
          <a:xfrm>
            <a:off x="1005840" y="658368"/>
            <a:ext cx="6858000" cy="310896"/>
          </a:xfrm>
          <a:prstGeom prst="rect">
            <a:avLst/>
          </a:prstGeom>
          <a:noFill/>
          <a:ln/>
        </p:spPr>
        <p:txBody>
          <a:bodyPr wrap="square" lIns="0" tIns="0" rIns="0" bIns="0" rtlCol="0" anchor="ctr"/>
          <a:lstStyle/>
          <a:p>
            <a:pPr marL="0" indent="0" algn="l">
              <a:buNone/>
            </a:pPr>
            <a:r>
              <a:rPr lang="en-US" sz="1100" i="1" dirty="0">
                <a:solidFill>
                  <a:srgbClr val="F0A89E"/>
                </a:solidFill>
                <a:latin typeface="Calibri" pitchFamily="34" charset="0"/>
                <a:ea typeface="Calibri" pitchFamily="34" charset="-122"/>
                <a:cs typeface="Calibri" pitchFamily="34" charset="-120"/>
              </a:rPr>
              <a:t>⚑  Maps probability, not a continuous value</a:t>
            </a:r>
            <a:endParaRPr lang="en-US" sz="1100" dirty="0"/>
          </a:p>
        </p:txBody>
      </p:sp>
      <p:sp>
        <p:nvSpPr>
          <p:cNvPr id="8" name="Shape 6"/>
          <p:cNvSpPr/>
          <p:nvPr/>
        </p:nvSpPr>
        <p:spPr>
          <a:xfrm>
            <a:off x="420624" y="1298448"/>
            <a:ext cx="2846832" cy="329184"/>
          </a:xfrm>
          <a:prstGeom prst="rect">
            <a:avLst/>
          </a:prstGeom>
          <a:solidFill>
            <a:srgbClr val="C0392B"/>
          </a:solidFill>
          <a:ln w="12700">
            <a:solidFill>
              <a:srgbClr val="C0392B"/>
            </a:solidFill>
            <a:prstDash val="solid"/>
          </a:ln>
        </p:spPr>
        <p:txBody>
          <a:bodyPr/>
          <a:lstStyle/>
          <a:p>
            <a:endParaRPr lang="he-IL"/>
          </a:p>
        </p:txBody>
      </p:sp>
      <p:sp>
        <p:nvSpPr>
          <p:cNvPr id="9" name="Text 7"/>
          <p:cNvSpPr/>
          <p:nvPr/>
        </p:nvSpPr>
        <p:spPr>
          <a:xfrm>
            <a:off x="420624"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Assumption</a:t>
            </a:r>
            <a:endParaRPr lang="en-US" sz="1150" dirty="0"/>
          </a:p>
        </p:txBody>
      </p:sp>
      <p:sp>
        <p:nvSpPr>
          <p:cNvPr id="10" name="Shape 8"/>
          <p:cNvSpPr/>
          <p:nvPr/>
        </p:nvSpPr>
        <p:spPr>
          <a:xfrm>
            <a:off x="420624" y="1627632"/>
            <a:ext cx="2846832" cy="2852928"/>
          </a:xfrm>
          <a:prstGeom prst="rect">
            <a:avLst/>
          </a:prstGeom>
          <a:solidFill>
            <a:srgbClr val="FADBD8"/>
          </a:solidFill>
          <a:ln w="12700">
            <a:solidFill>
              <a:srgbClr val="FADBD8"/>
            </a:solidFill>
            <a:prstDash val="solid"/>
          </a:ln>
          <a:effectLst>
            <a:outerShdw blurRad="101600" dist="38100" dir="8100000" algn="bl" rotWithShape="0">
              <a:srgbClr val="000000">
                <a:alpha val="10000"/>
              </a:srgbClr>
            </a:outerShdw>
          </a:effectLst>
        </p:spPr>
        <p:txBody>
          <a:bodyPr/>
          <a:lstStyle/>
          <a:p>
            <a:endParaRPr lang="he-IL"/>
          </a:p>
        </p:txBody>
      </p:sp>
      <p:sp>
        <p:nvSpPr>
          <p:cNvPr id="11" name="Text 9"/>
          <p:cNvSpPr/>
          <p:nvPr/>
        </p:nvSpPr>
        <p:spPr>
          <a:xfrm>
            <a:off x="512064" y="1719072"/>
            <a:ext cx="2663952" cy="2670048"/>
          </a:xfrm>
          <a:prstGeom prst="rect">
            <a:avLst/>
          </a:prstGeom>
          <a:noFill/>
          <a:ln/>
        </p:spPr>
        <p:txBody>
          <a:bodyPr wrap="square" lIns="0" tIns="0" rIns="0" bIns="0" rtlCol="0" anchor="t"/>
          <a:lstStyle/>
          <a:p>
            <a:pPr marL="0" indent="0" algn="l">
              <a:buNone/>
            </a:pPr>
            <a:r>
              <a:rPr lang="en-US" sz="1150" dirty="0">
                <a:solidFill>
                  <a:srgbClr val="333333"/>
                </a:solidFill>
                <a:latin typeface="Calibri" pitchFamily="34" charset="0"/>
                <a:ea typeface="Calibri" pitchFamily="34" charset="-122"/>
                <a:cs typeface="Calibri" pitchFamily="34" charset="-120"/>
              </a:rPr>
              <a:t>Data are transformed to binary indicators (1 if above a threshold, 0 if below) before kriging is applied.</a:t>
            </a:r>
            <a:endParaRPr lang="en-US" sz="1150" dirty="0"/>
          </a:p>
        </p:txBody>
      </p:sp>
      <p:sp>
        <p:nvSpPr>
          <p:cNvPr id="12" name="Shape 10"/>
          <p:cNvSpPr/>
          <p:nvPr/>
        </p:nvSpPr>
        <p:spPr>
          <a:xfrm>
            <a:off x="512064" y="2304288"/>
            <a:ext cx="2663952" cy="0"/>
          </a:xfrm>
          <a:prstGeom prst="line">
            <a:avLst/>
          </a:prstGeom>
          <a:noFill/>
          <a:ln w="10160">
            <a:solidFill>
              <a:srgbClr val="F0A89E"/>
            </a:solidFill>
            <a:prstDash val="solid"/>
          </a:ln>
        </p:spPr>
        <p:txBody>
          <a:bodyPr/>
          <a:lstStyle/>
          <a:p>
            <a:endParaRPr lang="he-IL"/>
          </a:p>
        </p:txBody>
      </p:sp>
      <p:sp>
        <p:nvSpPr>
          <p:cNvPr id="13" name="Shape 11"/>
          <p:cNvSpPr/>
          <p:nvPr/>
        </p:nvSpPr>
        <p:spPr>
          <a:xfrm>
            <a:off x="512064" y="2414016"/>
            <a:ext cx="2663952" cy="585216"/>
          </a:xfrm>
          <a:prstGeom prst="rect">
            <a:avLst/>
          </a:prstGeom>
          <a:solidFill>
            <a:srgbClr val="F0A89E">
              <a:alpha val="60000"/>
            </a:srgbClr>
          </a:solidFill>
          <a:ln w="12700">
            <a:solidFill>
              <a:srgbClr val="F0A89E"/>
            </a:solidFill>
            <a:prstDash val="solid"/>
          </a:ln>
        </p:spPr>
        <p:txBody>
          <a:bodyPr/>
          <a:lstStyle/>
          <a:p>
            <a:endParaRPr lang="he-IL"/>
          </a:p>
        </p:txBody>
      </p:sp>
      <p:sp>
        <p:nvSpPr>
          <p:cNvPr id="14" name="Text 12"/>
          <p:cNvSpPr/>
          <p:nvPr/>
        </p:nvSpPr>
        <p:spPr>
          <a:xfrm>
            <a:off x="548640" y="2414016"/>
            <a:ext cx="2590800" cy="585216"/>
          </a:xfrm>
          <a:prstGeom prst="rect">
            <a:avLst/>
          </a:prstGeom>
          <a:noFill/>
          <a:ln/>
        </p:spPr>
        <p:txBody>
          <a:bodyPr wrap="square" lIns="0" tIns="0" rIns="0" bIns="0" rtlCol="0" anchor="ctr"/>
          <a:lstStyle/>
          <a:p>
            <a:pPr marL="0" indent="0" algn="ctr">
              <a:buNone/>
            </a:pPr>
            <a:r>
              <a:rPr lang="en-US" sz="950" dirty="0">
                <a:solidFill>
                  <a:srgbClr val="922B21"/>
                </a:solidFill>
                <a:latin typeface="Courier New" pitchFamily="34" charset="0"/>
                <a:ea typeface="Courier New" pitchFamily="34" charset="-122"/>
                <a:cs typeface="Courier New" pitchFamily="34" charset="-120"/>
              </a:rPr>
              <a:t>I(x; zₖ) = 1 if Z(x) &gt; zₖ,  0 otherwise  →  P[Z(x₀) &gt; zₖ]</a:t>
            </a:r>
            <a:endParaRPr lang="en-US" sz="950" dirty="0"/>
          </a:p>
        </p:txBody>
      </p:sp>
      <p:sp>
        <p:nvSpPr>
          <p:cNvPr id="15" name="Shape 13"/>
          <p:cNvSpPr/>
          <p:nvPr/>
        </p:nvSpPr>
        <p:spPr>
          <a:xfrm>
            <a:off x="3358896" y="1298448"/>
            <a:ext cx="2846832" cy="329184"/>
          </a:xfrm>
          <a:prstGeom prst="rect">
            <a:avLst/>
          </a:prstGeom>
          <a:solidFill>
            <a:srgbClr val="C0392B"/>
          </a:solidFill>
          <a:ln w="12700">
            <a:solidFill>
              <a:srgbClr val="C0392B"/>
            </a:solidFill>
            <a:prstDash val="solid"/>
          </a:ln>
        </p:spPr>
        <p:txBody>
          <a:bodyPr/>
          <a:lstStyle/>
          <a:p>
            <a:endParaRPr lang="he-IL"/>
          </a:p>
        </p:txBody>
      </p:sp>
      <p:sp>
        <p:nvSpPr>
          <p:cNvPr id="16" name="Text 14"/>
          <p:cNvSpPr/>
          <p:nvPr/>
        </p:nvSpPr>
        <p:spPr>
          <a:xfrm>
            <a:off x="3358896"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Best For</a:t>
            </a:r>
            <a:endParaRPr lang="en-US" sz="1150" dirty="0"/>
          </a:p>
        </p:txBody>
      </p:sp>
      <p:sp>
        <p:nvSpPr>
          <p:cNvPr id="17" name="Shape 15"/>
          <p:cNvSpPr/>
          <p:nvPr/>
        </p:nvSpPr>
        <p:spPr>
          <a:xfrm>
            <a:off x="3358896" y="1627632"/>
            <a:ext cx="2846832" cy="2852928"/>
          </a:xfrm>
          <a:prstGeom prst="rect">
            <a:avLst/>
          </a:prstGeom>
          <a:solidFill>
            <a:srgbClr val="FADBD8"/>
          </a:solidFill>
          <a:ln w="12700">
            <a:solidFill>
              <a:srgbClr val="FADBD8"/>
            </a:solidFill>
            <a:prstDash val="solid"/>
          </a:ln>
          <a:effectLst>
            <a:outerShdw blurRad="101600" dist="38100" dir="8100000" algn="bl" rotWithShape="0">
              <a:srgbClr val="000000">
                <a:alpha val="10000"/>
              </a:srgbClr>
            </a:outerShdw>
          </a:effectLst>
        </p:spPr>
        <p:txBody>
          <a:bodyPr/>
          <a:lstStyle/>
          <a:p>
            <a:endParaRPr lang="he-IL"/>
          </a:p>
        </p:txBody>
      </p:sp>
      <p:sp>
        <p:nvSpPr>
          <p:cNvPr id="18" name="Text 16"/>
          <p:cNvSpPr/>
          <p:nvPr/>
        </p:nvSpPr>
        <p:spPr>
          <a:xfrm>
            <a:off x="3450336" y="1755648"/>
            <a:ext cx="2663952" cy="2542032"/>
          </a:xfrm>
          <a:prstGeom prst="rect">
            <a:avLst/>
          </a:prstGeom>
          <a:noFill/>
          <a:ln/>
        </p:spPr>
        <p:txBody>
          <a:bodyPr wrap="square" lIns="0" tIns="0" rIns="0" bIns="0" rtlCol="0" anchor="t"/>
          <a:lstStyle/>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Probability of contamination exceeding a regulatory limit</a:t>
            </a:r>
            <a:endParaRPr lang="en-US" sz="1150" dirty="0"/>
          </a:p>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Risk maps for disease incidence or flood hazard</a:t>
            </a:r>
            <a:endParaRPr lang="en-US" sz="1150" dirty="0"/>
          </a:p>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Any application where threshold exceedance probability matters</a:t>
            </a:r>
            <a:endParaRPr lang="en-US" sz="1150" dirty="0"/>
          </a:p>
        </p:txBody>
      </p:sp>
      <p:sp>
        <p:nvSpPr>
          <p:cNvPr id="19" name="Shape 17"/>
          <p:cNvSpPr/>
          <p:nvPr/>
        </p:nvSpPr>
        <p:spPr>
          <a:xfrm>
            <a:off x="6297168" y="1298448"/>
            <a:ext cx="2846832" cy="329184"/>
          </a:xfrm>
          <a:prstGeom prst="rect">
            <a:avLst/>
          </a:prstGeom>
          <a:solidFill>
            <a:srgbClr val="C0392B"/>
          </a:solidFill>
          <a:ln w="12700">
            <a:solidFill>
              <a:srgbClr val="C0392B"/>
            </a:solidFill>
            <a:prstDash val="solid"/>
          </a:ln>
        </p:spPr>
        <p:txBody>
          <a:bodyPr/>
          <a:lstStyle/>
          <a:p>
            <a:endParaRPr lang="he-IL"/>
          </a:p>
        </p:txBody>
      </p:sp>
      <p:sp>
        <p:nvSpPr>
          <p:cNvPr id="20" name="Text 18"/>
          <p:cNvSpPr/>
          <p:nvPr/>
        </p:nvSpPr>
        <p:spPr>
          <a:xfrm>
            <a:off x="6297168"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When to Avoid</a:t>
            </a:r>
            <a:endParaRPr lang="en-US" sz="1150" dirty="0"/>
          </a:p>
        </p:txBody>
      </p:sp>
      <p:sp>
        <p:nvSpPr>
          <p:cNvPr id="21" name="Shape 19"/>
          <p:cNvSpPr/>
          <p:nvPr/>
        </p:nvSpPr>
        <p:spPr>
          <a:xfrm>
            <a:off x="6297168" y="1627632"/>
            <a:ext cx="2846832" cy="2852928"/>
          </a:xfrm>
          <a:prstGeom prst="rect">
            <a:avLst/>
          </a:prstGeom>
          <a:solidFill>
            <a:srgbClr val="FADBD8"/>
          </a:solidFill>
          <a:ln w="12700">
            <a:solidFill>
              <a:srgbClr val="FADBD8"/>
            </a:solidFill>
            <a:prstDash val="solid"/>
          </a:ln>
          <a:effectLst>
            <a:outerShdw blurRad="101600" dist="38100" dir="8100000" algn="bl" rotWithShape="0">
              <a:srgbClr val="000000">
                <a:alpha val="10000"/>
              </a:srgbClr>
            </a:outerShdw>
          </a:effectLst>
        </p:spPr>
        <p:txBody>
          <a:bodyPr/>
          <a:lstStyle/>
          <a:p>
            <a:endParaRPr lang="he-IL"/>
          </a:p>
        </p:txBody>
      </p:sp>
      <p:sp>
        <p:nvSpPr>
          <p:cNvPr id="22" name="Text 20"/>
          <p:cNvSpPr/>
          <p:nvPr/>
        </p:nvSpPr>
        <p:spPr>
          <a:xfrm>
            <a:off x="6388608" y="1755648"/>
            <a:ext cx="2663952" cy="2542032"/>
          </a:xfrm>
          <a:prstGeom prst="rect">
            <a:avLst/>
          </a:prstGeom>
          <a:noFill/>
          <a:ln/>
        </p:spPr>
        <p:txBody>
          <a:bodyPr wrap="square" lIns="0" tIns="0" rIns="0" bIns="0" rtlCol="0" anchor="t"/>
          <a:lstStyle/>
          <a:p>
            <a:pPr marL="0" indent="0" algn="l">
              <a:buNone/>
            </a:pPr>
            <a:r>
              <a:rPr lang="en-US" sz="1150" dirty="0">
                <a:solidFill>
                  <a:srgbClr val="333333"/>
                </a:solidFill>
                <a:latin typeface="Calibri" pitchFamily="34" charset="0"/>
                <a:ea typeface="Calibri" pitchFamily="34" charset="-122"/>
                <a:cs typeface="Calibri" pitchFamily="34" charset="-120"/>
              </a:rPr>
              <a:t>Avoid when a continuous estimate is needed — it outputs probability, not a value.</a:t>
            </a:r>
            <a:endParaRPr lang="en-US" sz="1150" dirty="0"/>
          </a:p>
        </p:txBody>
      </p:sp>
      <p:sp>
        <p:nvSpPr>
          <p:cNvPr id="23" name="Shape 21"/>
          <p:cNvSpPr/>
          <p:nvPr/>
        </p:nvSpPr>
        <p:spPr>
          <a:xfrm>
            <a:off x="420624" y="4553712"/>
            <a:ext cx="8467344" cy="310896"/>
          </a:xfrm>
          <a:prstGeom prst="rect">
            <a:avLst/>
          </a:prstGeom>
          <a:solidFill>
            <a:srgbClr val="FADBD8"/>
          </a:solidFill>
          <a:ln w="10160">
            <a:solidFill>
              <a:srgbClr val="F0A89E"/>
            </a:solidFill>
            <a:prstDash val="solid"/>
          </a:ln>
        </p:spPr>
        <p:txBody>
          <a:bodyPr/>
          <a:lstStyle/>
          <a:p>
            <a:endParaRPr lang="he-IL"/>
          </a:p>
        </p:txBody>
      </p:sp>
      <p:sp>
        <p:nvSpPr>
          <p:cNvPr id="24" name="Text 22"/>
          <p:cNvSpPr/>
          <p:nvPr/>
        </p:nvSpPr>
        <p:spPr>
          <a:xfrm>
            <a:off x="512064" y="4553712"/>
            <a:ext cx="8284464" cy="310896"/>
          </a:xfrm>
          <a:prstGeom prst="rect">
            <a:avLst/>
          </a:prstGeom>
          <a:noFill/>
          <a:ln/>
        </p:spPr>
        <p:txBody>
          <a:bodyPr wrap="square" lIns="0" tIns="0" rIns="0" bIns="0" rtlCol="0" anchor="ctr"/>
          <a:lstStyle/>
          <a:p>
            <a:pPr marL="0" indent="0" algn="l">
              <a:buNone/>
            </a:pPr>
            <a:r>
              <a:rPr lang="en-US" sz="850" i="1" dirty="0">
                <a:solidFill>
                  <a:srgbClr val="922B21"/>
                </a:solidFill>
                <a:latin typeface="Calibri" pitchFamily="34" charset="0"/>
                <a:ea typeface="Calibri" pitchFamily="34" charset="-122"/>
                <a:cs typeface="Calibri" pitchFamily="34" charset="-120"/>
              </a:rPr>
              <a:t>Dr. Naomi Unkelos-Shpigel  ·  </a:t>
            </a:r>
            <a:r>
              <a:rPr lang="en-US" sz="850" dirty="0">
                <a:solidFill>
                  <a:srgbClr val="922B21"/>
                </a:solidFill>
                <a:latin typeface="Calibri" pitchFamily="34" charset="0"/>
                <a:ea typeface="Calibri" pitchFamily="34" charset="-122"/>
                <a:cs typeface="Calibri" pitchFamily="34" charset="-120"/>
              </a:rPr>
              <a:t>Introduction to Ecological Modeling  ·  Lec 4.2 — Spatial Statistics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2E7D6B"/>
          </a:solidFill>
          <a:ln w="12700">
            <a:solidFill>
              <a:srgbClr val="2E7D6B"/>
            </a:solidFill>
            <a:prstDash val="solid"/>
          </a:ln>
        </p:spPr>
        <p:txBody>
          <a:bodyPr/>
          <a:lstStyle/>
          <a:p>
            <a:endParaRPr lang="he-IL"/>
          </a:p>
        </p:txBody>
      </p:sp>
      <p:sp>
        <p:nvSpPr>
          <p:cNvPr id="3" name="Shape 1"/>
          <p:cNvSpPr/>
          <p:nvPr/>
        </p:nvSpPr>
        <p:spPr>
          <a:xfrm>
            <a:off x="256032" y="0"/>
            <a:ext cx="8887968" cy="1188720"/>
          </a:xfrm>
          <a:prstGeom prst="rect">
            <a:avLst/>
          </a:prstGeom>
          <a:solidFill>
            <a:srgbClr val="1A5C4A"/>
          </a:solidFill>
          <a:ln w="12700">
            <a:solidFill>
              <a:srgbClr val="1A5C4A"/>
            </a:solidFill>
            <a:prstDash val="solid"/>
          </a:ln>
        </p:spPr>
        <p:txBody>
          <a:bodyPr/>
          <a:lstStyle/>
          <a:p>
            <a:endParaRPr lang="he-IL"/>
          </a:p>
        </p:txBody>
      </p:sp>
      <p:sp>
        <p:nvSpPr>
          <p:cNvPr id="4" name="Shape 2"/>
          <p:cNvSpPr/>
          <p:nvPr/>
        </p:nvSpPr>
        <p:spPr>
          <a:xfrm>
            <a:off x="420624" y="182880"/>
            <a:ext cx="475488" cy="475488"/>
          </a:xfrm>
          <a:prstGeom prst="rect">
            <a:avLst/>
          </a:prstGeom>
          <a:solidFill>
            <a:srgbClr val="2E7D6B"/>
          </a:solidFill>
          <a:ln w="12700">
            <a:solidFill>
              <a:srgbClr val="2E7D6B"/>
            </a:solidFill>
            <a:prstDash val="solid"/>
          </a:ln>
        </p:spPr>
        <p:txBody>
          <a:bodyPr/>
          <a:lstStyle/>
          <a:p>
            <a:endParaRPr lang="he-IL"/>
          </a:p>
        </p:txBody>
      </p:sp>
      <p:sp>
        <p:nvSpPr>
          <p:cNvPr id="5" name="Text 3"/>
          <p:cNvSpPr/>
          <p:nvPr/>
        </p:nvSpPr>
        <p:spPr>
          <a:xfrm>
            <a:off x="420624" y="18288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6" name="Text 4"/>
          <p:cNvSpPr/>
          <p:nvPr/>
        </p:nvSpPr>
        <p:spPr>
          <a:xfrm>
            <a:off x="1005840" y="164592"/>
            <a:ext cx="685800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Block Kriging</a:t>
            </a:r>
            <a:endParaRPr lang="en-US" sz="2800" dirty="0"/>
          </a:p>
        </p:txBody>
      </p:sp>
      <p:sp>
        <p:nvSpPr>
          <p:cNvPr id="7" name="Text 5"/>
          <p:cNvSpPr/>
          <p:nvPr/>
        </p:nvSpPr>
        <p:spPr>
          <a:xfrm>
            <a:off x="1005840" y="658368"/>
            <a:ext cx="6858000" cy="310896"/>
          </a:xfrm>
          <a:prstGeom prst="rect">
            <a:avLst/>
          </a:prstGeom>
          <a:noFill/>
          <a:ln/>
        </p:spPr>
        <p:txBody>
          <a:bodyPr wrap="square" lIns="0" tIns="0" rIns="0" bIns="0" rtlCol="0" anchor="ctr"/>
          <a:lstStyle/>
          <a:p>
            <a:pPr marL="0" indent="0" algn="l">
              <a:buNone/>
            </a:pPr>
            <a:r>
              <a:rPr lang="en-US" sz="1100" i="1" dirty="0">
                <a:solidFill>
                  <a:srgbClr val="88CCBC"/>
                </a:solidFill>
                <a:latin typeface="Calibri" pitchFamily="34" charset="0"/>
                <a:ea typeface="Calibri" pitchFamily="34" charset="-122"/>
                <a:cs typeface="Calibri" pitchFamily="34" charset="-120"/>
              </a:rPr>
              <a:t>▦  For area-averaged estimates</a:t>
            </a:r>
            <a:endParaRPr lang="en-US" sz="1100" dirty="0"/>
          </a:p>
        </p:txBody>
      </p:sp>
      <p:sp>
        <p:nvSpPr>
          <p:cNvPr id="8" name="Shape 6"/>
          <p:cNvSpPr/>
          <p:nvPr/>
        </p:nvSpPr>
        <p:spPr>
          <a:xfrm>
            <a:off x="420624" y="1298448"/>
            <a:ext cx="2846832" cy="329184"/>
          </a:xfrm>
          <a:prstGeom prst="rect">
            <a:avLst/>
          </a:prstGeom>
          <a:solidFill>
            <a:srgbClr val="2E7D6B"/>
          </a:solidFill>
          <a:ln w="12700">
            <a:solidFill>
              <a:srgbClr val="2E7D6B"/>
            </a:solidFill>
            <a:prstDash val="solid"/>
          </a:ln>
        </p:spPr>
        <p:txBody>
          <a:bodyPr/>
          <a:lstStyle/>
          <a:p>
            <a:endParaRPr lang="he-IL"/>
          </a:p>
        </p:txBody>
      </p:sp>
      <p:sp>
        <p:nvSpPr>
          <p:cNvPr id="9" name="Text 7"/>
          <p:cNvSpPr/>
          <p:nvPr/>
        </p:nvSpPr>
        <p:spPr>
          <a:xfrm>
            <a:off x="420624"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Assumption</a:t>
            </a:r>
            <a:endParaRPr lang="en-US" sz="1150" dirty="0"/>
          </a:p>
        </p:txBody>
      </p:sp>
      <p:sp>
        <p:nvSpPr>
          <p:cNvPr id="10" name="Shape 8"/>
          <p:cNvSpPr/>
          <p:nvPr/>
        </p:nvSpPr>
        <p:spPr>
          <a:xfrm>
            <a:off x="420624" y="1627632"/>
            <a:ext cx="2846832" cy="2852928"/>
          </a:xfrm>
          <a:prstGeom prst="rect">
            <a:avLst/>
          </a:prstGeom>
          <a:solidFill>
            <a:srgbClr val="C8EDE5"/>
          </a:solidFill>
          <a:ln w="12700">
            <a:solidFill>
              <a:srgbClr val="C8EDE5"/>
            </a:solidFill>
            <a:prstDash val="solid"/>
          </a:ln>
          <a:effectLst>
            <a:outerShdw blurRad="101600" dist="38100" dir="8100000" algn="bl" rotWithShape="0">
              <a:srgbClr val="000000">
                <a:alpha val="10000"/>
              </a:srgbClr>
            </a:outerShdw>
          </a:effectLst>
        </p:spPr>
        <p:txBody>
          <a:bodyPr/>
          <a:lstStyle/>
          <a:p>
            <a:endParaRPr lang="he-IL"/>
          </a:p>
        </p:txBody>
      </p:sp>
      <p:sp>
        <p:nvSpPr>
          <p:cNvPr id="11" name="Text 9"/>
          <p:cNvSpPr/>
          <p:nvPr/>
        </p:nvSpPr>
        <p:spPr>
          <a:xfrm>
            <a:off x="512064" y="1719072"/>
            <a:ext cx="2663952" cy="2670048"/>
          </a:xfrm>
          <a:prstGeom prst="rect">
            <a:avLst/>
          </a:prstGeom>
          <a:noFill/>
          <a:ln/>
        </p:spPr>
        <p:txBody>
          <a:bodyPr wrap="square" lIns="0" tIns="0" rIns="0" bIns="0" rtlCol="0" anchor="t"/>
          <a:lstStyle/>
          <a:p>
            <a:pPr marL="0" indent="0" algn="l">
              <a:buNone/>
            </a:pPr>
            <a:r>
              <a:rPr lang="en-US" sz="1150" dirty="0">
                <a:solidFill>
                  <a:srgbClr val="333333"/>
                </a:solidFill>
                <a:latin typeface="Calibri" pitchFamily="34" charset="0"/>
                <a:ea typeface="Calibri" pitchFamily="34" charset="-122"/>
                <a:cs typeface="Calibri" pitchFamily="34" charset="-120"/>
              </a:rPr>
              <a:t>The prediction target is the average value over an area (block) rather than at a single point.</a:t>
            </a:r>
            <a:endParaRPr lang="en-US" sz="1150" dirty="0"/>
          </a:p>
        </p:txBody>
      </p:sp>
      <p:sp>
        <p:nvSpPr>
          <p:cNvPr id="12" name="Shape 10"/>
          <p:cNvSpPr/>
          <p:nvPr/>
        </p:nvSpPr>
        <p:spPr>
          <a:xfrm>
            <a:off x="512064" y="2304288"/>
            <a:ext cx="2663952" cy="0"/>
          </a:xfrm>
          <a:prstGeom prst="line">
            <a:avLst/>
          </a:prstGeom>
          <a:noFill/>
          <a:ln w="10160">
            <a:solidFill>
              <a:srgbClr val="88CCBC"/>
            </a:solidFill>
            <a:prstDash val="solid"/>
          </a:ln>
        </p:spPr>
        <p:txBody>
          <a:bodyPr/>
          <a:lstStyle/>
          <a:p>
            <a:endParaRPr lang="he-IL"/>
          </a:p>
        </p:txBody>
      </p:sp>
      <p:sp>
        <p:nvSpPr>
          <p:cNvPr id="13" name="Shape 11"/>
          <p:cNvSpPr/>
          <p:nvPr/>
        </p:nvSpPr>
        <p:spPr>
          <a:xfrm>
            <a:off x="512064" y="2414016"/>
            <a:ext cx="2663952" cy="585216"/>
          </a:xfrm>
          <a:prstGeom prst="rect">
            <a:avLst/>
          </a:prstGeom>
          <a:solidFill>
            <a:srgbClr val="88CCBC">
              <a:alpha val="60000"/>
            </a:srgbClr>
          </a:solidFill>
          <a:ln w="12700">
            <a:solidFill>
              <a:srgbClr val="88CCBC"/>
            </a:solidFill>
            <a:prstDash val="solid"/>
          </a:ln>
        </p:spPr>
        <p:txBody>
          <a:bodyPr/>
          <a:lstStyle/>
          <a:p>
            <a:endParaRPr lang="he-IL"/>
          </a:p>
        </p:txBody>
      </p:sp>
      <p:sp>
        <p:nvSpPr>
          <p:cNvPr id="14" name="Text 12"/>
          <p:cNvSpPr/>
          <p:nvPr/>
        </p:nvSpPr>
        <p:spPr>
          <a:xfrm>
            <a:off x="548640" y="2414016"/>
            <a:ext cx="2590800" cy="585216"/>
          </a:xfrm>
          <a:prstGeom prst="rect">
            <a:avLst/>
          </a:prstGeom>
          <a:noFill/>
          <a:ln/>
        </p:spPr>
        <p:txBody>
          <a:bodyPr wrap="square" lIns="0" tIns="0" rIns="0" bIns="0" rtlCol="0" anchor="ctr"/>
          <a:lstStyle/>
          <a:p>
            <a:pPr marL="0" indent="0" algn="ctr">
              <a:buNone/>
            </a:pPr>
            <a:r>
              <a:rPr lang="en-US" sz="950" dirty="0">
                <a:solidFill>
                  <a:srgbClr val="1A5C4A"/>
                </a:solidFill>
                <a:latin typeface="Courier New" pitchFamily="34" charset="0"/>
                <a:ea typeface="Courier New" pitchFamily="34" charset="-122"/>
                <a:cs typeface="Courier New" pitchFamily="34" charset="-120"/>
              </a:rPr>
              <a:t>Z*(B) = (1/|B|) ∫_B Z*(x) dx  →  lower variance than point kriging</a:t>
            </a:r>
            <a:endParaRPr lang="en-US" sz="950" dirty="0"/>
          </a:p>
        </p:txBody>
      </p:sp>
      <p:sp>
        <p:nvSpPr>
          <p:cNvPr id="15" name="Shape 13"/>
          <p:cNvSpPr/>
          <p:nvPr/>
        </p:nvSpPr>
        <p:spPr>
          <a:xfrm>
            <a:off x="3358896" y="1298448"/>
            <a:ext cx="2846832" cy="329184"/>
          </a:xfrm>
          <a:prstGeom prst="rect">
            <a:avLst/>
          </a:prstGeom>
          <a:solidFill>
            <a:srgbClr val="2E7D6B"/>
          </a:solidFill>
          <a:ln w="12700">
            <a:solidFill>
              <a:srgbClr val="2E7D6B"/>
            </a:solidFill>
            <a:prstDash val="solid"/>
          </a:ln>
        </p:spPr>
        <p:txBody>
          <a:bodyPr/>
          <a:lstStyle/>
          <a:p>
            <a:endParaRPr lang="he-IL"/>
          </a:p>
        </p:txBody>
      </p:sp>
      <p:sp>
        <p:nvSpPr>
          <p:cNvPr id="16" name="Text 14"/>
          <p:cNvSpPr/>
          <p:nvPr/>
        </p:nvSpPr>
        <p:spPr>
          <a:xfrm>
            <a:off x="3358896"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Best For</a:t>
            </a:r>
            <a:endParaRPr lang="en-US" sz="1150" dirty="0"/>
          </a:p>
        </p:txBody>
      </p:sp>
      <p:sp>
        <p:nvSpPr>
          <p:cNvPr id="17" name="Shape 15"/>
          <p:cNvSpPr/>
          <p:nvPr/>
        </p:nvSpPr>
        <p:spPr>
          <a:xfrm>
            <a:off x="3358896" y="1627632"/>
            <a:ext cx="2846832" cy="2852928"/>
          </a:xfrm>
          <a:prstGeom prst="rect">
            <a:avLst/>
          </a:prstGeom>
          <a:solidFill>
            <a:srgbClr val="C8EDE5"/>
          </a:solidFill>
          <a:ln w="12700">
            <a:solidFill>
              <a:srgbClr val="C8EDE5"/>
            </a:solidFill>
            <a:prstDash val="solid"/>
          </a:ln>
          <a:effectLst>
            <a:outerShdw blurRad="101600" dist="38100" dir="8100000" algn="bl" rotWithShape="0">
              <a:srgbClr val="000000">
                <a:alpha val="10000"/>
              </a:srgbClr>
            </a:outerShdw>
          </a:effectLst>
        </p:spPr>
        <p:txBody>
          <a:bodyPr/>
          <a:lstStyle/>
          <a:p>
            <a:endParaRPr lang="he-IL"/>
          </a:p>
        </p:txBody>
      </p:sp>
      <p:sp>
        <p:nvSpPr>
          <p:cNvPr id="18" name="Text 16"/>
          <p:cNvSpPr/>
          <p:nvPr/>
        </p:nvSpPr>
        <p:spPr>
          <a:xfrm>
            <a:off x="3450336" y="1755648"/>
            <a:ext cx="2663952" cy="2542032"/>
          </a:xfrm>
          <a:prstGeom prst="rect">
            <a:avLst/>
          </a:prstGeom>
          <a:noFill/>
          <a:ln/>
        </p:spPr>
        <p:txBody>
          <a:bodyPr wrap="square" lIns="0" tIns="0" rIns="0" bIns="0" rtlCol="0" anchor="t"/>
          <a:lstStyle/>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Mining: average ore grade within excavation blocks</a:t>
            </a:r>
            <a:endParaRPr lang="en-US" sz="1150" dirty="0"/>
          </a:p>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Watershed or catchment average nutrient loads</a:t>
            </a:r>
            <a:endParaRPr lang="en-US" sz="1150" dirty="0"/>
          </a:p>
          <a:p>
            <a:pPr marL="342900" indent="-342900" algn="l">
              <a:spcAft>
                <a:spcPts val="1400"/>
              </a:spcAft>
              <a:buSzPct val="100000"/>
              <a:buChar char="•"/>
            </a:pPr>
            <a:r>
              <a:rPr lang="en-US" sz="1150" dirty="0">
                <a:solidFill>
                  <a:srgbClr val="000000"/>
                </a:solidFill>
                <a:latin typeface="Calibri" pitchFamily="34" charset="0"/>
                <a:ea typeface="Calibri" pitchFamily="34" charset="-122"/>
                <a:cs typeface="Calibri" pitchFamily="34" charset="-120"/>
              </a:rPr>
              <a:t>Land-use planning requiring areal summaries</a:t>
            </a:r>
            <a:endParaRPr lang="en-US" sz="1150" dirty="0"/>
          </a:p>
        </p:txBody>
      </p:sp>
      <p:sp>
        <p:nvSpPr>
          <p:cNvPr id="19" name="Shape 17"/>
          <p:cNvSpPr/>
          <p:nvPr/>
        </p:nvSpPr>
        <p:spPr>
          <a:xfrm>
            <a:off x="6297168" y="1298448"/>
            <a:ext cx="2846832" cy="329184"/>
          </a:xfrm>
          <a:prstGeom prst="rect">
            <a:avLst/>
          </a:prstGeom>
          <a:solidFill>
            <a:srgbClr val="2E7D6B"/>
          </a:solidFill>
          <a:ln w="12700">
            <a:solidFill>
              <a:srgbClr val="2E7D6B"/>
            </a:solidFill>
            <a:prstDash val="solid"/>
          </a:ln>
        </p:spPr>
        <p:txBody>
          <a:bodyPr/>
          <a:lstStyle/>
          <a:p>
            <a:endParaRPr lang="he-IL"/>
          </a:p>
        </p:txBody>
      </p:sp>
      <p:sp>
        <p:nvSpPr>
          <p:cNvPr id="20" name="Text 18"/>
          <p:cNvSpPr/>
          <p:nvPr/>
        </p:nvSpPr>
        <p:spPr>
          <a:xfrm>
            <a:off x="6297168" y="1298448"/>
            <a:ext cx="2846832"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When to Avoid</a:t>
            </a:r>
            <a:endParaRPr lang="en-US" sz="1150" dirty="0"/>
          </a:p>
        </p:txBody>
      </p:sp>
      <p:sp>
        <p:nvSpPr>
          <p:cNvPr id="21" name="Shape 19"/>
          <p:cNvSpPr/>
          <p:nvPr/>
        </p:nvSpPr>
        <p:spPr>
          <a:xfrm>
            <a:off x="6297168" y="1627632"/>
            <a:ext cx="2846832" cy="2852928"/>
          </a:xfrm>
          <a:prstGeom prst="rect">
            <a:avLst/>
          </a:prstGeom>
          <a:solidFill>
            <a:srgbClr val="C8EDE5"/>
          </a:solidFill>
          <a:ln w="12700">
            <a:solidFill>
              <a:srgbClr val="C8EDE5"/>
            </a:solidFill>
            <a:prstDash val="solid"/>
          </a:ln>
          <a:effectLst>
            <a:outerShdw blurRad="101600" dist="38100" dir="8100000" algn="bl" rotWithShape="0">
              <a:srgbClr val="000000">
                <a:alpha val="10000"/>
              </a:srgbClr>
            </a:outerShdw>
          </a:effectLst>
        </p:spPr>
        <p:txBody>
          <a:bodyPr/>
          <a:lstStyle/>
          <a:p>
            <a:endParaRPr lang="he-IL"/>
          </a:p>
        </p:txBody>
      </p:sp>
      <p:sp>
        <p:nvSpPr>
          <p:cNvPr id="22" name="Text 20"/>
          <p:cNvSpPr/>
          <p:nvPr/>
        </p:nvSpPr>
        <p:spPr>
          <a:xfrm>
            <a:off x="6388608" y="1755648"/>
            <a:ext cx="2663952" cy="2542032"/>
          </a:xfrm>
          <a:prstGeom prst="rect">
            <a:avLst/>
          </a:prstGeom>
          <a:noFill/>
          <a:ln/>
        </p:spPr>
        <p:txBody>
          <a:bodyPr wrap="square" lIns="0" tIns="0" rIns="0" bIns="0" rtlCol="0" anchor="t"/>
          <a:lstStyle/>
          <a:p>
            <a:pPr marL="0" indent="0" algn="l">
              <a:buNone/>
            </a:pPr>
            <a:r>
              <a:rPr lang="en-US" sz="1150" dirty="0">
                <a:solidFill>
                  <a:srgbClr val="333333"/>
                </a:solidFill>
                <a:latin typeface="Calibri" pitchFamily="34" charset="0"/>
                <a:ea typeface="Calibri" pitchFamily="34" charset="-122"/>
                <a:cs typeface="Calibri" pitchFamily="34" charset="-120"/>
              </a:rPr>
              <a:t>Avoid when point-level precision is needed — block estimates smooth out local variability.</a:t>
            </a:r>
            <a:endParaRPr lang="en-US" sz="1150" dirty="0"/>
          </a:p>
        </p:txBody>
      </p:sp>
      <p:sp>
        <p:nvSpPr>
          <p:cNvPr id="23" name="Shape 21"/>
          <p:cNvSpPr/>
          <p:nvPr/>
        </p:nvSpPr>
        <p:spPr>
          <a:xfrm>
            <a:off x="420624" y="4553712"/>
            <a:ext cx="8467344" cy="310896"/>
          </a:xfrm>
          <a:prstGeom prst="rect">
            <a:avLst/>
          </a:prstGeom>
          <a:solidFill>
            <a:srgbClr val="C8EDE5"/>
          </a:solidFill>
          <a:ln w="10160">
            <a:solidFill>
              <a:srgbClr val="88CCBC"/>
            </a:solidFill>
            <a:prstDash val="solid"/>
          </a:ln>
        </p:spPr>
        <p:txBody>
          <a:bodyPr/>
          <a:lstStyle/>
          <a:p>
            <a:endParaRPr lang="he-IL"/>
          </a:p>
        </p:txBody>
      </p:sp>
      <p:sp>
        <p:nvSpPr>
          <p:cNvPr id="24" name="Text 22"/>
          <p:cNvSpPr/>
          <p:nvPr/>
        </p:nvSpPr>
        <p:spPr>
          <a:xfrm>
            <a:off x="512064" y="4553712"/>
            <a:ext cx="8284464" cy="310896"/>
          </a:xfrm>
          <a:prstGeom prst="rect">
            <a:avLst/>
          </a:prstGeom>
          <a:noFill/>
          <a:ln/>
        </p:spPr>
        <p:txBody>
          <a:bodyPr wrap="square" lIns="0" tIns="0" rIns="0" bIns="0" rtlCol="0" anchor="ctr"/>
          <a:lstStyle/>
          <a:p>
            <a:pPr marL="0" indent="0" algn="l">
              <a:buNone/>
            </a:pP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C0562A"/>
        </a:solidFill>
        <a:effectLst/>
      </p:bgPr>
    </p:bg>
    <p:spTree>
      <p:nvGrpSpPr>
        <p:cNvPr id="1" name="Shape 221"/>
        <p:cNvGrpSpPr/>
        <p:nvPr/>
      </p:nvGrpSpPr>
      <p:grpSpPr>
        <a:xfrm>
          <a:off x="0" y="0"/>
          <a:ext cx="0" cy="0"/>
          <a:chOff x="0" y="0"/>
          <a:chExt cx="0" cy="0"/>
        </a:xfrm>
      </p:grpSpPr>
      <p:sp>
        <p:nvSpPr>
          <p:cNvPr id="222" name="Google Shape;222;p13"/>
          <p:cNvSpPr/>
          <p:nvPr/>
        </p:nvSpPr>
        <p:spPr>
          <a:xfrm>
            <a:off x="0" y="457200"/>
            <a:ext cx="9144000" cy="4114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0"/>
              <a:buFont typeface="Calibri"/>
              <a:buNone/>
            </a:pPr>
            <a:r>
              <a:rPr lang="en-US" sz="18000" b="1" dirty="0">
                <a:solidFill>
                  <a:srgbClr val="FFFFFF"/>
                </a:solidFill>
                <a:latin typeface="Calibri"/>
                <a:ea typeface="Calibri"/>
                <a:cs typeface="Calibri"/>
                <a:sym typeface="Calibri"/>
              </a:rPr>
              <a:t>3</a:t>
            </a:r>
            <a:endParaRPr sz="18000" dirty="0">
              <a:solidFill>
                <a:schemeClr val="dk1"/>
              </a:solidFill>
              <a:latin typeface="Calibri"/>
              <a:ea typeface="Calibri"/>
              <a:cs typeface="Calibri"/>
              <a:sym typeface="Calibri"/>
            </a:endParaRPr>
          </a:p>
        </p:txBody>
      </p:sp>
      <p:sp>
        <p:nvSpPr>
          <p:cNvPr id="223" name="Google Shape;223;p13"/>
          <p:cNvSpPr/>
          <p:nvPr/>
        </p:nvSpPr>
        <p:spPr>
          <a:xfrm>
            <a:off x="0" y="4297680"/>
            <a:ext cx="91440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libri"/>
              <a:buNone/>
            </a:pPr>
            <a:r>
              <a:rPr lang="en-US" sz="1800">
                <a:solidFill>
                  <a:srgbClr val="FFFFFF"/>
                </a:solidFill>
                <a:latin typeface="Calibri"/>
                <a:ea typeface="Calibri"/>
                <a:cs typeface="Calibri"/>
                <a:sym typeface="Calibri"/>
              </a:rPr>
              <a:t>Kriging in Practice</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100"/>
        <p:cNvGrpSpPr/>
        <p:nvPr/>
      </p:nvGrpSpPr>
      <p:grpSpPr>
        <a:xfrm>
          <a:off x="0" y="0"/>
          <a:ext cx="0" cy="0"/>
          <a:chOff x="0" y="0"/>
          <a:chExt cx="0" cy="0"/>
        </a:xfrm>
      </p:grpSpPr>
      <p:sp>
        <p:nvSpPr>
          <p:cNvPr id="101" name="Google Shape;101;p8"/>
          <p:cNvSpPr/>
          <p:nvPr/>
        </p:nvSpPr>
        <p:spPr>
          <a:xfrm>
            <a:off x="365760" y="256032"/>
            <a:ext cx="201168" cy="201168"/>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8"/>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a:solidFill>
                  <a:srgbClr val="2C2C2C"/>
                </a:solidFill>
                <a:latin typeface="Calibri"/>
                <a:ea typeface="Calibri"/>
                <a:cs typeface="Calibri"/>
                <a:sym typeface="Calibri"/>
              </a:rPr>
              <a:t>Step 1: Data Exploration</a:t>
            </a:r>
            <a:endParaRPr sz="2000">
              <a:solidFill>
                <a:schemeClr val="dk1"/>
              </a:solidFill>
              <a:latin typeface="Calibri"/>
              <a:ea typeface="Calibri"/>
              <a:cs typeface="Calibri"/>
              <a:sym typeface="Calibri"/>
            </a:endParaRPr>
          </a:p>
        </p:txBody>
      </p:sp>
      <p:sp>
        <p:nvSpPr>
          <p:cNvPr id="103" name="Google Shape;103;p8"/>
          <p:cNvSpPr/>
          <p:nvPr/>
        </p:nvSpPr>
        <p:spPr>
          <a:xfrm>
            <a:off x="365760" y="658368"/>
            <a:ext cx="8412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55555"/>
              </a:buClr>
              <a:buSzPts val="1150"/>
              <a:buFont typeface="Calibri"/>
              <a:buNone/>
            </a:pPr>
            <a:r>
              <a:rPr lang="en-US" sz="1150" i="1">
                <a:solidFill>
                  <a:srgbClr val="555555"/>
                </a:solidFill>
                <a:latin typeface="Calibri"/>
                <a:ea typeface="Calibri"/>
                <a:cs typeface="Calibri"/>
                <a:sym typeface="Calibri"/>
              </a:rPr>
              <a:t>Understanding your data's distribution and spatial structure is essential before kriging.</a:t>
            </a:r>
            <a:endParaRPr sz="1150">
              <a:solidFill>
                <a:schemeClr val="dk1"/>
              </a:solidFill>
              <a:latin typeface="Calibri"/>
              <a:ea typeface="Calibri"/>
              <a:cs typeface="Calibri"/>
              <a:sym typeface="Calibri"/>
            </a:endParaRPr>
          </a:p>
        </p:txBody>
      </p:sp>
      <p:sp>
        <p:nvSpPr>
          <p:cNvPr id="104" name="Google Shape;104;p8"/>
          <p:cNvSpPr/>
          <p:nvPr/>
        </p:nvSpPr>
        <p:spPr>
          <a:xfrm>
            <a:off x="320040" y="1097280"/>
            <a:ext cx="4114800" cy="411480"/>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8"/>
          <p:cNvSpPr/>
          <p:nvPr/>
        </p:nvSpPr>
        <p:spPr>
          <a:xfrm>
            <a:off x="320040" y="1097280"/>
            <a:ext cx="411480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Exploration Tasks</a:t>
            </a:r>
            <a:endParaRPr sz="1200">
              <a:solidFill>
                <a:schemeClr val="dk1"/>
              </a:solidFill>
              <a:latin typeface="Calibri"/>
              <a:ea typeface="Calibri"/>
              <a:cs typeface="Calibri"/>
              <a:sym typeface="Calibri"/>
            </a:endParaRPr>
          </a:p>
        </p:txBody>
      </p:sp>
      <p:sp>
        <p:nvSpPr>
          <p:cNvPr id="106" name="Google Shape;106;p8"/>
          <p:cNvSpPr/>
          <p:nvPr/>
        </p:nvSpPr>
        <p:spPr>
          <a:xfrm>
            <a:off x="320040" y="1508760"/>
            <a:ext cx="4114800" cy="3200400"/>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 name="Google Shape;107;p8"/>
          <p:cNvSpPr/>
          <p:nvPr/>
        </p:nvSpPr>
        <p:spPr>
          <a:xfrm>
            <a:off x="411480" y="1600200"/>
            <a:ext cx="3931920" cy="30175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Examine the distribution of your spatial data: look for trends, outliers, and patterns.</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Check for normality. If data is skewed (e.g., pollutant concentrations), apply log or Box-Cox transformation before kriging.</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Create initial visualizations to understand spatial structure:</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Histogram and QQ-plot for normality assessment</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Map of sample locations to check coverage and clustering</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Identify spatial trends or directional effects (anisotropy) before fitting the variogram.</a:t>
            </a:r>
            <a:endParaRPr sz="1050">
              <a:solidFill>
                <a:schemeClr val="dk1"/>
              </a:solidFill>
              <a:latin typeface="Calibri"/>
              <a:ea typeface="Calibri"/>
              <a:cs typeface="Calibri"/>
              <a:sym typeface="Calibri"/>
            </a:endParaRPr>
          </a:p>
        </p:txBody>
      </p:sp>
      <p:sp>
        <p:nvSpPr>
          <p:cNvPr id="108" name="Google Shape;108;p8"/>
          <p:cNvSpPr/>
          <p:nvPr/>
        </p:nvSpPr>
        <p:spPr>
          <a:xfrm>
            <a:off x="4709160" y="1097280"/>
            <a:ext cx="4114800" cy="411480"/>
          </a:xfrm>
          <a:prstGeom prst="rect">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 name="Google Shape;109;p8"/>
          <p:cNvSpPr/>
          <p:nvPr/>
        </p:nvSpPr>
        <p:spPr>
          <a:xfrm>
            <a:off x="4709160" y="1097280"/>
            <a:ext cx="411480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Calculate Experimental Variogram</a:t>
            </a:r>
            <a:endParaRPr sz="1200">
              <a:solidFill>
                <a:schemeClr val="dk1"/>
              </a:solidFill>
              <a:latin typeface="Calibri"/>
              <a:ea typeface="Calibri"/>
              <a:cs typeface="Calibri"/>
              <a:sym typeface="Calibri"/>
            </a:endParaRPr>
          </a:p>
        </p:txBody>
      </p:sp>
      <p:sp>
        <p:nvSpPr>
          <p:cNvPr id="110" name="Google Shape;110;p8"/>
          <p:cNvSpPr/>
          <p:nvPr/>
        </p:nvSpPr>
        <p:spPr>
          <a:xfrm>
            <a:off x="4709160" y="1508760"/>
            <a:ext cx="4114800" cy="3200400"/>
          </a:xfrm>
          <a:prstGeom prst="rect">
            <a:avLst/>
          </a:prstGeom>
          <a:solidFill>
            <a:srgbClr val="D3E4FA"/>
          </a:solidFill>
          <a:ln w="12700" cap="flat" cmpd="sng">
            <a:solidFill>
              <a:srgbClr val="D3E4F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1" name="Google Shape;111;p8"/>
          <p:cNvSpPr/>
          <p:nvPr/>
        </p:nvSpPr>
        <p:spPr>
          <a:xfrm>
            <a:off x="5029200" y="1965960"/>
            <a:ext cx="3474720" cy="594360"/>
          </a:xfrm>
          <a:prstGeom prst="rect">
            <a:avLst/>
          </a:prstGeom>
          <a:solidFill>
            <a:srgbClr val="2C4A7A"/>
          </a:solidFill>
          <a:ln w="12700" cap="flat" cmpd="sng">
            <a:solidFill>
              <a:srgbClr val="2C4A7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 name="Google Shape;112;p8"/>
          <p:cNvSpPr/>
          <p:nvPr/>
        </p:nvSpPr>
        <p:spPr>
          <a:xfrm>
            <a:off x="5029200" y="1965960"/>
            <a:ext cx="3474720" cy="5943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600"/>
              <a:buFont typeface="Courier New"/>
              <a:buNone/>
            </a:pPr>
            <a:r>
              <a:rPr lang="en-US" sz="1600" b="1">
                <a:solidFill>
                  <a:srgbClr val="FFFFFF"/>
                </a:solidFill>
                <a:latin typeface="Courier New"/>
                <a:ea typeface="Courier New"/>
                <a:cs typeface="Courier New"/>
                <a:sym typeface="Courier New"/>
              </a:rPr>
              <a:t>γ(h) = (1/2n) · Σ[Z(xᵢ) − Z(xᵢ+h)]²</a:t>
            </a:r>
            <a:endParaRPr sz="1600">
              <a:solidFill>
                <a:schemeClr val="dk1"/>
              </a:solidFill>
              <a:latin typeface="Calibri"/>
              <a:ea typeface="Calibri"/>
              <a:cs typeface="Calibri"/>
              <a:sym typeface="Calibri"/>
            </a:endParaRPr>
          </a:p>
        </p:txBody>
      </p:sp>
      <p:sp>
        <p:nvSpPr>
          <p:cNvPr id="113" name="Google Shape;113;p8"/>
          <p:cNvSpPr/>
          <p:nvPr/>
        </p:nvSpPr>
        <p:spPr>
          <a:xfrm>
            <a:off x="4800600" y="2651760"/>
            <a:ext cx="3931920" cy="20116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Where:</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h   = separation distance (lag distance)</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n   = number of point pairs at distance h</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Z   = measured values at sample locations</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Compute by grouping point pairs into distance classes and averaging:</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Group pairs by distance interval (lag)</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Average squared differences within each lag class</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In Python: gs.Variogram(coordinates, values)</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In R: variogram(value~1, data=sp_object)</a:t>
            </a:r>
            <a:endParaRPr sz="105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118"/>
        <p:cNvGrpSpPr/>
        <p:nvPr/>
      </p:nvGrpSpPr>
      <p:grpSpPr>
        <a:xfrm>
          <a:off x="0" y="0"/>
          <a:ext cx="0" cy="0"/>
          <a:chOff x="0" y="0"/>
          <a:chExt cx="0" cy="0"/>
        </a:xfrm>
      </p:grpSpPr>
      <p:sp>
        <p:nvSpPr>
          <p:cNvPr id="119" name="Google Shape;119;p9"/>
          <p:cNvSpPr/>
          <p:nvPr/>
        </p:nvSpPr>
        <p:spPr>
          <a:xfrm>
            <a:off x="365760" y="256032"/>
            <a:ext cx="201168" cy="201168"/>
          </a:xfrm>
          <a:prstGeom prst="ellipse">
            <a:avLst/>
          </a:prstGeom>
          <a:solidFill>
            <a:srgbClr val="4A9B8E"/>
          </a:solidFill>
          <a:ln w="12700" cap="flat" cmpd="sng">
            <a:solidFill>
              <a:srgbClr val="4A9B8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 name="Google Shape;120;p9"/>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a:solidFill>
                  <a:srgbClr val="2C2C2C"/>
                </a:solidFill>
                <a:latin typeface="Calibri"/>
                <a:ea typeface="Calibri"/>
                <a:cs typeface="Calibri"/>
                <a:sym typeface="Calibri"/>
              </a:rPr>
              <a:t>Step 2: Fit the Theoretical Variogram</a:t>
            </a:r>
            <a:endParaRPr sz="2000">
              <a:solidFill>
                <a:schemeClr val="dk1"/>
              </a:solidFill>
              <a:latin typeface="Calibri"/>
              <a:ea typeface="Calibri"/>
              <a:cs typeface="Calibri"/>
              <a:sym typeface="Calibri"/>
            </a:endParaRPr>
          </a:p>
        </p:txBody>
      </p:sp>
      <p:sp>
        <p:nvSpPr>
          <p:cNvPr id="121" name="Google Shape;121;p9"/>
          <p:cNvSpPr/>
          <p:nvPr/>
        </p:nvSpPr>
        <p:spPr>
          <a:xfrm>
            <a:off x="365760" y="658368"/>
            <a:ext cx="8412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55555"/>
              </a:buClr>
              <a:buSzPts val="1150"/>
              <a:buFont typeface="Calibri"/>
              <a:buNone/>
            </a:pPr>
            <a:r>
              <a:rPr lang="en-US" sz="1150" i="1">
                <a:solidFill>
                  <a:srgbClr val="555555"/>
                </a:solidFill>
                <a:latin typeface="Calibri"/>
                <a:ea typeface="Calibri"/>
                <a:cs typeface="Calibri"/>
                <a:sym typeface="Calibri"/>
              </a:rPr>
              <a:t>Fitting a mathematical model to the experimental variogram defines the spatial structure used to calculate kriging weights.</a:t>
            </a:r>
            <a:endParaRPr sz="1150">
              <a:solidFill>
                <a:schemeClr val="dk1"/>
              </a:solidFill>
              <a:latin typeface="Calibri"/>
              <a:ea typeface="Calibri"/>
              <a:cs typeface="Calibri"/>
              <a:sym typeface="Calibri"/>
            </a:endParaRPr>
          </a:p>
        </p:txBody>
      </p:sp>
      <p:sp>
        <p:nvSpPr>
          <p:cNvPr id="122" name="Google Shape;122;p9"/>
          <p:cNvSpPr/>
          <p:nvPr/>
        </p:nvSpPr>
        <p:spPr>
          <a:xfrm>
            <a:off x="320040" y="1097280"/>
            <a:ext cx="4114800" cy="411480"/>
          </a:xfrm>
          <a:prstGeom prst="rect">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9"/>
          <p:cNvSpPr/>
          <p:nvPr/>
        </p:nvSpPr>
        <p:spPr>
          <a:xfrm>
            <a:off x="320040" y="1097280"/>
            <a:ext cx="411480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Model Selection</a:t>
            </a:r>
            <a:endParaRPr sz="1200">
              <a:solidFill>
                <a:schemeClr val="dk1"/>
              </a:solidFill>
              <a:latin typeface="Calibri"/>
              <a:ea typeface="Calibri"/>
              <a:cs typeface="Calibri"/>
              <a:sym typeface="Calibri"/>
            </a:endParaRPr>
          </a:p>
        </p:txBody>
      </p:sp>
      <p:sp>
        <p:nvSpPr>
          <p:cNvPr id="124" name="Google Shape;124;p9"/>
          <p:cNvSpPr/>
          <p:nvPr/>
        </p:nvSpPr>
        <p:spPr>
          <a:xfrm>
            <a:off x="320040" y="1508760"/>
            <a:ext cx="4114800" cy="3200400"/>
          </a:xfrm>
          <a:prstGeom prst="rect">
            <a:avLst/>
          </a:prstGeom>
          <a:solidFill>
            <a:srgbClr val="D5EAE0"/>
          </a:solidFill>
          <a:ln w="12700" cap="flat" cmpd="sng">
            <a:solidFill>
              <a:srgbClr val="D5EA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5" name="Google Shape;125;p9"/>
          <p:cNvSpPr/>
          <p:nvPr/>
        </p:nvSpPr>
        <p:spPr>
          <a:xfrm>
            <a:off x="411480" y="1600200"/>
            <a:ext cx="3931920" cy="30175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Choose a theoretical model that best matches the experimental variogram shape:</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Compare Spherical, Exponential, and Gaussian models visually</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Use weighted least squares — short-distance pairs are most important</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Check for anisotropy by examining directional variograms</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Estimate three key parameters: nugget (C₀), sill (C₀+C), and range (a).</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The fitted model must be positive definite to guarantee a valid kriging system.</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In ecology: soil nutrients, rainfall, and species density all show distance-dependent structure that the variogram captures.</a:t>
            </a:r>
            <a:endParaRPr sz="1050">
              <a:solidFill>
                <a:schemeClr val="dk1"/>
              </a:solidFill>
              <a:latin typeface="Calibri"/>
              <a:ea typeface="Calibri"/>
              <a:cs typeface="Calibri"/>
              <a:sym typeface="Calibri"/>
            </a:endParaRPr>
          </a:p>
        </p:txBody>
      </p:sp>
      <p:sp>
        <p:nvSpPr>
          <p:cNvPr id="126" name="Google Shape;126;p9"/>
          <p:cNvSpPr/>
          <p:nvPr/>
        </p:nvSpPr>
        <p:spPr>
          <a:xfrm>
            <a:off x="4709160" y="1097280"/>
            <a:ext cx="4114800" cy="411480"/>
          </a:xfrm>
          <a:prstGeom prst="rect">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 name="Google Shape;127;p9"/>
          <p:cNvSpPr/>
          <p:nvPr/>
        </p:nvSpPr>
        <p:spPr>
          <a:xfrm>
            <a:off x="4709160" y="1097280"/>
            <a:ext cx="411480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Spherical Model (most common)</a:t>
            </a:r>
            <a:endParaRPr sz="1200">
              <a:solidFill>
                <a:schemeClr val="dk1"/>
              </a:solidFill>
              <a:latin typeface="Calibri"/>
              <a:ea typeface="Calibri"/>
              <a:cs typeface="Calibri"/>
              <a:sym typeface="Calibri"/>
            </a:endParaRPr>
          </a:p>
        </p:txBody>
      </p:sp>
      <p:sp>
        <p:nvSpPr>
          <p:cNvPr id="128" name="Google Shape;128;p9"/>
          <p:cNvSpPr/>
          <p:nvPr/>
        </p:nvSpPr>
        <p:spPr>
          <a:xfrm>
            <a:off x="4709160" y="1508760"/>
            <a:ext cx="4114800" cy="3200400"/>
          </a:xfrm>
          <a:prstGeom prst="rect">
            <a:avLst/>
          </a:prstGeom>
          <a:solidFill>
            <a:srgbClr val="D3E4FA"/>
          </a:solidFill>
          <a:ln w="12700" cap="flat" cmpd="sng">
            <a:solidFill>
              <a:srgbClr val="D3E4F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 name="Google Shape;129;p9"/>
          <p:cNvSpPr/>
          <p:nvPr/>
        </p:nvSpPr>
        <p:spPr>
          <a:xfrm>
            <a:off x="5029200" y="1828800"/>
            <a:ext cx="3474720" cy="594360"/>
          </a:xfrm>
          <a:prstGeom prst="rect">
            <a:avLst/>
          </a:prstGeom>
          <a:solidFill>
            <a:srgbClr val="2C4A7A"/>
          </a:solidFill>
          <a:ln w="12700" cap="flat" cmpd="sng">
            <a:solidFill>
              <a:srgbClr val="2C4A7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 name="Google Shape;130;p9"/>
          <p:cNvSpPr/>
          <p:nvPr/>
        </p:nvSpPr>
        <p:spPr>
          <a:xfrm>
            <a:off x="5029200" y="1828800"/>
            <a:ext cx="3474720" cy="5943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ourier New"/>
              <a:buNone/>
            </a:pPr>
            <a:r>
              <a:rPr lang="en-US" sz="1300" b="1">
                <a:solidFill>
                  <a:srgbClr val="FFFFFF"/>
                </a:solidFill>
                <a:latin typeface="Courier New"/>
                <a:ea typeface="Courier New"/>
                <a:cs typeface="Courier New"/>
                <a:sym typeface="Courier New"/>
              </a:rPr>
              <a:t>γ(h) = C₀ + C·[1.5(h/a) − 0.5(h/a)³]   for h ≤ a</a:t>
            </a:r>
            <a:endParaRPr sz="1300">
              <a:solidFill>
                <a:schemeClr val="dk1"/>
              </a:solidFill>
              <a:latin typeface="Calibri"/>
              <a:ea typeface="Calibri"/>
              <a:cs typeface="Calibri"/>
              <a:sym typeface="Calibri"/>
            </a:endParaRPr>
          </a:p>
        </p:txBody>
      </p:sp>
      <p:sp>
        <p:nvSpPr>
          <p:cNvPr id="131" name="Google Shape;131;p9"/>
          <p:cNvSpPr/>
          <p:nvPr/>
        </p:nvSpPr>
        <p:spPr>
          <a:xfrm>
            <a:off x="4800600" y="2514600"/>
            <a:ext cx="3931920" cy="21031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γ(h) = C₀ + C   for h &gt; a</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Parameters estimated from data:</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C₀ = nugget (y-intercept at lag zero)</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C  = partial sill (structured variance)</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a  = range (distance where sill is reached)</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Cross-validation (leave-one-out):</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Mean Standardized Error should be ≈ 0 (unbiased)</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RMSSE (Root Mean Square Standardized Error) should be ≈ 1</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In Python: gs.fit_variogram(variogram, model)</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In R: fit.variogram(v, model=vgm("Sph"))</a:t>
            </a:r>
            <a:endParaRPr sz="105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136"/>
        <p:cNvGrpSpPr/>
        <p:nvPr/>
      </p:nvGrpSpPr>
      <p:grpSpPr>
        <a:xfrm>
          <a:off x="0" y="0"/>
          <a:ext cx="0" cy="0"/>
          <a:chOff x="0" y="0"/>
          <a:chExt cx="0" cy="0"/>
        </a:xfrm>
      </p:grpSpPr>
      <p:sp>
        <p:nvSpPr>
          <p:cNvPr id="137" name="Google Shape;137;p10"/>
          <p:cNvSpPr/>
          <p:nvPr/>
        </p:nvSpPr>
        <p:spPr>
          <a:xfrm>
            <a:off x="365760" y="256032"/>
            <a:ext cx="201168" cy="201168"/>
          </a:xfrm>
          <a:prstGeom prst="ellipse">
            <a:avLst/>
          </a:prstGeom>
          <a:solidFill>
            <a:srgbClr val="7C6FA0"/>
          </a:solidFill>
          <a:ln w="12700" cap="flat" cmpd="sng">
            <a:solidFill>
              <a:srgbClr val="7C6F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 name="Google Shape;138;p10"/>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a:solidFill>
                  <a:srgbClr val="2C2C2C"/>
                </a:solidFill>
                <a:latin typeface="Calibri"/>
                <a:ea typeface="Calibri"/>
                <a:cs typeface="Calibri"/>
                <a:sym typeface="Calibri"/>
              </a:rPr>
              <a:t>Step 3: Solve the Kriging Equations</a:t>
            </a:r>
            <a:endParaRPr sz="2000">
              <a:solidFill>
                <a:schemeClr val="dk1"/>
              </a:solidFill>
              <a:latin typeface="Calibri"/>
              <a:ea typeface="Calibri"/>
              <a:cs typeface="Calibri"/>
              <a:sym typeface="Calibri"/>
            </a:endParaRPr>
          </a:p>
        </p:txBody>
      </p:sp>
      <p:sp>
        <p:nvSpPr>
          <p:cNvPr id="139" name="Google Shape;139;p10"/>
          <p:cNvSpPr/>
          <p:nvPr/>
        </p:nvSpPr>
        <p:spPr>
          <a:xfrm>
            <a:off x="365760" y="658368"/>
            <a:ext cx="8412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55555"/>
              </a:buClr>
              <a:buSzPts val="1150"/>
              <a:buFont typeface="Calibri"/>
              <a:buNone/>
            </a:pPr>
            <a:r>
              <a:rPr lang="en-US" sz="1150" i="1">
                <a:solidFill>
                  <a:srgbClr val="555555"/>
                </a:solidFill>
                <a:latin typeface="Calibri"/>
                <a:ea typeface="Calibri"/>
                <a:cs typeface="Calibri"/>
                <a:sym typeface="Calibri"/>
              </a:rPr>
              <a:t>The kriging prediction at any location is a weighted average of nearby observations — weights are derived from the variogram.</a:t>
            </a:r>
            <a:endParaRPr sz="1150">
              <a:solidFill>
                <a:schemeClr val="dk1"/>
              </a:solidFill>
              <a:latin typeface="Calibri"/>
              <a:ea typeface="Calibri"/>
              <a:cs typeface="Calibri"/>
              <a:sym typeface="Calibri"/>
            </a:endParaRPr>
          </a:p>
        </p:txBody>
      </p:sp>
      <p:sp>
        <p:nvSpPr>
          <p:cNvPr id="140" name="Google Shape;140;p10"/>
          <p:cNvSpPr/>
          <p:nvPr/>
        </p:nvSpPr>
        <p:spPr>
          <a:xfrm>
            <a:off x="1828800" y="1051560"/>
            <a:ext cx="5486400" cy="685800"/>
          </a:xfrm>
          <a:prstGeom prst="rect">
            <a:avLst/>
          </a:prstGeom>
          <a:solidFill>
            <a:srgbClr val="2C2C5A"/>
          </a:solidFill>
          <a:ln w="12700" cap="flat" cmpd="sng">
            <a:solidFill>
              <a:srgbClr val="2C2C5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1" name="Google Shape;141;p10"/>
          <p:cNvSpPr/>
          <p:nvPr/>
        </p:nvSpPr>
        <p:spPr>
          <a:xfrm>
            <a:off x="1828800" y="1051560"/>
            <a:ext cx="5486400" cy="685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600"/>
              <a:buFont typeface="Courier New"/>
              <a:buNone/>
            </a:pPr>
            <a:r>
              <a:rPr lang="en-US" sz="2600" b="1">
                <a:solidFill>
                  <a:srgbClr val="FFFFFF"/>
                </a:solidFill>
                <a:latin typeface="Courier New"/>
                <a:ea typeface="Courier New"/>
                <a:cs typeface="Courier New"/>
                <a:sym typeface="Courier New"/>
              </a:rPr>
              <a:t>Z*(x₀) = Σ λᵢ Z(xᵢ)</a:t>
            </a:r>
            <a:endParaRPr sz="2600">
              <a:solidFill>
                <a:schemeClr val="dk1"/>
              </a:solidFill>
              <a:latin typeface="Calibri"/>
              <a:ea typeface="Calibri"/>
              <a:cs typeface="Calibri"/>
              <a:sym typeface="Calibri"/>
            </a:endParaRPr>
          </a:p>
        </p:txBody>
      </p:sp>
      <p:sp>
        <p:nvSpPr>
          <p:cNvPr id="142" name="Google Shape;142;p10"/>
          <p:cNvSpPr/>
          <p:nvPr/>
        </p:nvSpPr>
        <p:spPr>
          <a:xfrm>
            <a:off x="320040" y="1920240"/>
            <a:ext cx="2834640" cy="365760"/>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10"/>
          <p:cNvSpPr/>
          <p:nvPr/>
        </p:nvSpPr>
        <p:spPr>
          <a:xfrm>
            <a:off x="320040" y="1920240"/>
            <a:ext cx="283464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Prediction Formula</a:t>
            </a:r>
            <a:endParaRPr sz="1100">
              <a:solidFill>
                <a:schemeClr val="dk1"/>
              </a:solidFill>
              <a:latin typeface="Calibri"/>
              <a:ea typeface="Calibri"/>
              <a:cs typeface="Calibri"/>
              <a:sym typeface="Calibri"/>
            </a:endParaRPr>
          </a:p>
        </p:txBody>
      </p:sp>
      <p:sp>
        <p:nvSpPr>
          <p:cNvPr id="144" name="Google Shape;144;p10"/>
          <p:cNvSpPr/>
          <p:nvPr/>
        </p:nvSpPr>
        <p:spPr>
          <a:xfrm>
            <a:off x="320040" y="2286000"/>
            <a:ext cx="2834640" cy="2514600"/>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10"/>
          <p:cNvSpPr/>
          <p:nvPr/>
        </p:nvSpPr>
        <p:spPr>
          <a:xfrm>
            <a:off x="411480" y="2377440"/>
            <a:ext cx="2651760" cy="23317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Z*(x₀) is the predicted value at unsampled location x₀.</a:t>
            </a:r>
            <a:endParaRPr sz="1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00"/>
              <a:buFont typeface="Calibri"/>
              <a:buNone/>
            </a:pP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Z(xᵢ) are the known values at nearby sampling locations.</a:t>
            </a:r>
            <a:endParaRPr sz="1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00"/>
              <a:buFont typeface="Calibri"/>
              <a:buNone/>
            </a:pP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λᵢ are the weights, determined by solving the variogram-based system of equations.</a:t>
            </a:r>
            <a:endParaRPr sz="1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00"/>
              <a:buFont typeface="Calibri"/>
              <a:buNone/>
            </a:pP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Unlike IDW (which uses 1/distance), kriging derives weights from the actual measured spatial structure.</a:t>
            </a:r>
            <a:endParaRPr sz="1000">
              <a:solidFill>
                <a:schemeClr val="dk1"/>
              </a:solidFill>
              <a:latin typeface="Calibri"/>
              <a:ea typeface="Calibri"/>
              <a:cs typeface="Calibri"/>
              <a:sym typeface="Calibri"/>
            </a:endParaRPr>
          </a:p>
        </p:txBody>
      </p:sp>
      <p:sp>
        <p:nvSpPr>
          <p:cNvPr id="146" name="Google Shape;146;p10"/>
          <p:cNvSpPr/>
          <p:nvPr/>
        </p:nvSpPr>
        <p:spPr>
          <a:xfrm>
            <a:off x="3246120" y="1920240"/>
            <a:ext cx="2834640" cy="365760"/>
          </a:xfrm>
          <a:prstGeom prst="rect">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7" name="Google Shape;147;p10"/>
          <p:cNvSpPr/>
          <p:nvPr/>
        </p:nvSpPr>
        <p:spPr>
          <a:xfrm>
            <a:off x="3246120" y="1920240"/>
            <a:ext cx="283464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Weight Determination (Ordinary Kriging)</a:t>
            </a:r>
            <a:endParaRPr sz="1100">
              <a:solidFill>
                <a:schemeClr val="dk1"/>
              </a:solidFill>
              <a:latin typeface="Calibri"/>
              <a:ea typeface="Calibri"/>
              <a:cs typeface="Calibri"/>
              <a:sym typeface="Calibri"/>
            </a:endParaRPr>
          </a:p>
        </p:txBody>
      </p:sp>
      <p:sp>
        <p:nvSpPr>
          <p:cNvPr id="148" name="Google Shape;148;p10"/>
          <p:cNvSpPr/>
          <p:nvPr/>
        </p:nvSpPr>
        <p:spPr>
          <a:xfrm>
            <a:off x="3246120" y="2286000"/>
            <a:ext cx="2834640" cy="2514600"/>
          </a:xfrm>
          <a:prstGeom prst="rect">
            <a:avLst/>
          </a:prstGeom>
          <a:solidFill>
            <a:srgbClr val="D5EAE0"/>
          </a:solidFill>
          <a:ln w="12700" cap="flat" cmpd="sng">
            <a:solidFill>
              <a:srgbClr val="D5EA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9" name="Google Shape;149;p10"/>
          <p:cNvSpPr/>
          <p:nvPr/>
        </p:nvSpPr>
        <p:spPr>
          <a:xfrm>
            <a:off x="3337560" y="2377440"/>
            <a:ext cx="2651760" cy="23317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Weights are found by solving this constrained system:</a:t>
            </a:r>
            <a:endParaRPr sz="1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00"/>
              <a:buFont typeface="Calibri"/>
              <a:buNone/>
            </a:pP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Σ λⱼ γ(xᵢ, xⱼ) + μ = γ(xᵢ, x₀)   for all i</a:t>
            </a:r>
            <a:endParaRPr sz="1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00"/>
              <a:buFont typeface="Calibri"/>
              <a:buNone/>
            </a:pP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Σ λᵢ = 1   (unbiasedness constraint)</a:t>
            </a:r>
            <a:endParaRPr sz="1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00"/>
              <a:buFont typeface="Calibri"/>
              <a:buNone/>
            </a:pP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μ = Lagrange multiplier ensuring predictions are unbiased.</a:t>
            </a:r>
            <a:endParaRPr sz="1000">
              <a:solidFill>
                <a:schemeClr val="dk1"/>
              </a:solidFill>
              <a:latin typeface="Calibri"/>
              <a:ea typeface="Calibri"/>
              <a:cs typeface="Calibri"/>
              <a:sym typeface="Calibri"/>
            </a:endParaRPr>
          </a:p>
        </p:txBody>
      </p:sp>
      <p:sp>
        <p:nvSpPr>
          <p:cNvPr id="150" name="Google Shape;150;p10"/>
          <p:cNvSpPr/>
          <p:nvPr/>
        </p:nvSpPr>
        <p:spPr>
          <a:xfrm>
            <a:off x="6172200" y="1920240"/>
            <a:ext cx="2834640" cy="365760"/>
          </a:xfrm>
          <a:prstGeom prst="rect">
            <a:avLst/>
          </a:prstGeom>
          <a:solidFill>
            <a:srgbClr val="7C6FA0"/>
          </a:solidFill>
          <a:ln w="12700" cap="flat" cmpd="sng">
            <a:solidFill>
              <a:srgbClr val="7C6F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1" name="Google Shape;151;p10"/>
          <p:cNvSpPr/>
          <p:nvPr/>
        </p:nvSpPr>
        <p:spPr>
          <a:xfrm>
            <a:off x="6172200" y="1920240"/>
            <a:ext cx="283464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Kriging Variance</a:t>
            </a:r>
            <a:endParaRPr sz="1100">
              <a:solidFill>
                <a:schemeClr val="dk1"/>
              </a:solidFill>
              <a:latin typeface="Calibri"/>
              <a:ea typeface="Calibri"/>
              <a:cs typeface="Calibri"/>
              <a:sym typeface="Calibri"/>
            </a:endParaRPr>
          </a:p>
        </p:txBody>
      </p:sp>
      <p:sp>
        <p:nvSpPr>
          <p:cNvPr id="152" name="Google Shape;152;p10"/>
          <p:cNvSpPr/>
          <p:nvPr/>
        </p:nvSpPr>
        <p:spPr>
          <a:xfrm>
            <a:off x="6172200" y="2286000"/>
            <a:ext cx="2834640" cy="2514600"/>
          </a:xfrm>
          <a:prstGeom prst="rect">
            <a:avLst/>
          </a:prstGeom>
          <a:solidFill>
            <a:srgbClr val="E8D5FA"/>
          </a:solidFill>
          <a:ln w="12700" cap="flat" cmpd="sng">
            <a:solidFill>
              <a:srgbClr val="E8D5F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3" name="Google Shape;153;p10"/>
          <p:cNvSpPr/>
          <p:nvPr/>
        </p:nvSpPr>
        <p:spPr>
          <a:xfrm>
            <a:off x="6263640" y="2377440"/>
            <a:ext cx="2651760" cy="23317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Prediction uncertainty is calculated simultaneously:</a:t>
            </a:r>
            <a:endParaRPr sz="1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00"/>
              <a:buFont typeface="Calibri"/>
              <a:buNone/>
            </a:pP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σ²(x₀) = Σ λᵢ γ(xᵢ, x₀) + μ</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 Variance = 0 at sample points (exact interpolator)</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 Variance increases with distance from sample points</a:t>
            </a: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 Depends only on sample geometry, not on measured values</a:t>
            </a:r>
            <a:endParaRPr sz="1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00"/>
              <a:buFont typeface="Calibri"/>
              <a:buNone/>
            </a:pP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This provides a statistical basis for confidence intervals around every prediction.</a:t>
            </a:r>
            <a:endParaRPr sz="10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158"/>
        <p:cNvGrpSpPr/>
        <p:nvPr/>
      </p:nvGrpSpPr>
      <p:grpSpPr>
        <a:xfrm>
          <a:off x="0" y="0"/>
          <a:ext cx="0" cy="0"/>
          <a:chOff x="0" y="0"/>
          <a:chExt cx="0" cy="0"/>
        </a:xfrm>
      </p:grpSpPr>
      <p:sp>
        <p:nvSpPr>
          <p:cNvPr id="159" name="Google Shape;159;p11"/>
          <p:cNvSpPr/>
          <p:nvPr/>
        </p:nvSpPr>
        <p:spPr>
          <a:xfrm>
            <a:off x="365760" y="256032"/>
            <a:ext cx="201168" cy="201168"/>
          </a:xfrm>
          <a:prstGeom prst="ellipse">
            <a:avLst/>
          </a:prstGeom>
          <a:solidFill>
            <a:srgbClr val="E05A5A"/>
          </a:solidFill>
          <a:ln w="12700" cap="flat" cmpd="sng">
            <a:solidFill>
              <a:srgbClr val="E05A5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11"/>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a:solidFill>
                  <a:srgbClr val="2C2C2C"/>
                </a:solidFill>
                <a:latin typeface="Calibri"/>
                <a:ea typeface="Calibri"/>
                <a:cs typeface="Calibri"/>
                <a:sym typeface="Calibri"/>
              </a:rPr>
              <a:t>Steps 4 &amp; 5: Generate Predictions &amp; Uncertainty Maps</a:t>
            </a:r>
            <a:endParaRPr sz="2000">
              <a:solidFill>
                <a:schemeClr val="dk1"/>
              </a:solidFill>
              <a:latin typeface="Calibri"/>
              <a:ea typeface="Calibri"/>
              <a:cs typeface="Calibri"/>
              <a:sym typeface="Calibri"/>
            </a:endParaRPr>
          </a:p>
        </p:txBody>
      </p:sp>
      <p:sp>
        <p:nvSpPr>
          <p:cNvPr id="161" name="Google Shape;161;p11"/>
          <p:cNvSpPr/>
          <p:nvPr/>
        </p:nvSpPr>
        <p:spPr>
          <a:xfrm>
            <a:off x="365760" y="658368"/>
            <a:ext cx="8412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55555"/>
              </a:buClr>
              <a:buSzPts val="1150"/>
              <a:buFont typeface="Calibri"/>
              <a:buNone/>
            </a:pPr>
            <a:r>
              <a:rPr lang="en-US" sz="1150" i="1">
                <a:solidFill>
                  <a:srgbClr val="555555"/>
                </a:solidFill>
                <a:latin typeface="Calibri"/>
                <a:ea typeface="Calibri"/>
                <a:cs typeface="Calibri"/>
                <a:sym typeface="Calibri"/>
              </a:rPr>
              <a:t>The final steps apply the fitted kriging model across a full prediction grid and visualize both estimates and their uncertainty.</a:t>
            </a:r>
            <a:endParaRPr sz="1150">
              <a:solidFill>
                <a:schemeClr val="dk1"/>
              </a:solidFill>
              <a:latin typeface="Calibri"/>
              <a:ea typeface="Calibri"/>
              <a:cs typeface="Calibri"/>
              <a:sym typeface="Calibri"/>
            </a:endParaRPr>
          </a:p>
        </p:txBody>
      </p:sp>
      <p:sp>
        <p:nvSpPr>
          <p:cNvPr id="162" name="Google Shape;162;p11"/>
          <p:cNvSpPr/>
          <p:nvPr/>
        </p:nvSpPr>
        <p:spPr>
          <a:xfrm>
            <a:off x="320040" y="1097280"/>
            <a:ext cx="4114800" cy="411480"/>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3" name="Google Shape;163;p11"/>
          <p:cNvSpPr/>
          <p:nvPr/>
        </p:nvSpPr>
        <p:spPr>
          <a:xfrm>
            <a:off x="320040" y="1097280"/>
            <a:ext cx="411480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Step 4: Generate the Prediction Surface</a:t>
            </a:r>
            <a:endParaRPr sz="1200">
              <a:solidFill>
                <a:schemeClr val="dk1"/>
              </a:solidFill>
              <a:latin typeface="Calibri"/>
              <a:ea typeface="Calibri"/>
              <a:cs typeface="Calibri"/>
              <a:sym typeface="Calibri"/>
            </a:endParaRPr>
          </a:p>
        </p:txBody>
      </p:sp>
      <p:sp>
        <p:nvSpPr>
          <p:cNvPr id="164" name="Google Shape;164;p11"/>
          <p:cNvSpPr/>
          <p:nvPr/>
        </p:nvSpPr>
        <p:spPr>
          <a:xfrm>
            <a:off x="320040" y="1508760"/>
            <a:ext cx="4114800" cy="3200400"/>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5" name="Google Shape;165;p11"/>
          <p:cNvSpPr/>
          <p:nvPr/>
        </p:nvSpPr>
        <p:spPr>
          <a:xfrm>
            <a:off x="411480" y="1600200"/>
            <a:ext cx="3931920" cy="30175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Apply the kriging equations to every node in a regular prediction grid.</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Each grid node receives a predicted value Z*(x₀) calculated from surrounding sample points within the variogram range.</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Grid resolution considerations:</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Finer grid = smoother surface but higher computation time</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Resolution should be consistent with the variogram range</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Avoid extrapolating beyond the convex hull of sample points</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Example: 60 soil samples over 500 acres → 100×100 prediction grid using Ordinary Kriging with spherical variogram.</a:t>
            </a:r>
            <a:endParaRPr sz="1050">
              <a:solidFill>
                <a:schemeClr val="dk1"/>
              </a:solidFill>
              <a:latin typeface="Calibri"/>
              <a:ea typeface="Calibri"/>
              <a:cs typeface="Calibri"/>
              <a:sym typeface="Calibri"/>
            </a:endParaRPr>
          </a:p>
        </p:txBody>
      </p:sp>
      <p:sp>
        <p:nvSpPr>
          <p:cNvPr id="166" name="Google Shape;166;p11"/>
          <p:cNvSpPr/>
          <p:nvPr/>
        </p:nvSpPr>
        <p:spPr>
          <a:xfrm>
            <a:off x="4709160" y="1097280"/>
            <a:ext cx="4114800" cy="411480"/>
          </a:xfrm>
          <a:prstGeom prst="rect">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7" name="Google Shape;167;p11"/>
          <p:cNvSpPr/>
          <p:nvPr/>
        </p:nvSpPr>
        <p:spPr>
          <a:xfrm>
            <a:off x="4709160" y="1097280"/>
            <a:ext cx="411480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Step 5: Create Uncertainty Maps</a:t>
            </a:r>
            <a:endParaRPr sz="1200">
              <a:solidFill>
                <a:schemeClr val="dk1"/>
              </a:solidFill>
              <a:latin typeface="Calibri"/>
              <a:ea typeface="Calibri"/>
              <a:cs typeface="Calibri"/>
              <a:sym typeface="Calibri"/>
            </a:endParaRPr>
          </a:p>
        </p:txBody>
      </p:sp>
      <p:sp>
        <p:nvSpPr>
          <p:cNvPr id="168" name="Google Shape;168;p11"/>
          <p:cNvSpPr/>
          <p:nvPr/>
        </p:nvSpPr>
        <p:spPr>
          <a:xfrm>
            <a:off x="4709160" y="1508760"/>
            <a:ext cx="4114800" cy="3200400"/>
          </a:xfrm>
          <a:prstGeom prst="rect">
            <a:avLst/>
          </a:prstGeom>
          <a:solidFill>
            <a:srgbClr val="D3E4FA"/>
          </a:solidFill>
          <a:ln w="12700" cap="flat" cmpd="sng">
            <a:solidFill>
              <a:srgbClr val="D3E4F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9" name="Google Shape;169;p11"/>
          <p:cNvSpPr/>
          <p:nvPr/>
        </p:nvSpPr>
        <p:spPr>
          <a:xfrm>
            <a:off x="5029200" y="1828800"/>
            <a:ext cx="3474720" cy="594360"/>
          </a:xfrm>
          <a:prstGeom prst="rect">
            <a:avLst/>
          </a:prstGeom>
          <a:solidFill>
            <a:srgbClr val="2C4A7A"/>
          </a:solidFill>
          <a:ln w="12700" cap="flat" cmpd="sng">
            <a:solidFill>
              <a:srgbClr val="2C4A7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0" name="Google Shape;170;p11"/>
          <p:cNvSpPr/>
          <p:nvPr/>
        </p:nvSpPr>
        <p:spPr>
          <a:xfrm>
            <a:off x="5029200" y="1828800"/>
            <a:ext cx="3474720" cy="5943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ourier New"/>
              <a:buNone/>
            </a:pPr>
            <a:r>
              <a:rPr lang="en-US" sz="1800" b="1">
                <a:solidFill>
                  <a:srgbClr val="FFFFFF"/>
                </a:solidFill>
                <a:latin typeface="Courier New"/>
                <a:ea typeface="Courier New"/>
                <a:cs typeface="Courier New"/>
                <a:sym typeface="Courier New"/>
              </a:rPr>
              <a:t>σ²(x₀) = Σ λᵢ γ(xᵢ, x₀) + μ</a:t>
            </a:r>
            <a:endParaRPr sz="1800">
              <a:solidFill>
                <a:schemeClr val="dk1"/>
              </a:solidFill>
              <a:latin typeface="Calibri"/>
              <a:ea typeface="Calibri"/>
              <a:cs typeface="Calibri"/>
              <a:sym typeface="Calibri"/>
            </a:endParaRPr>
          </a:p>
        </p:txBody>
      </p:sp>
      <p:sp>
        <p:nvSpPr>
          <p:cNvPr id="171" name="Google Shape;171;p11"/>
          <p:cNvSpPr/>
          <p:nvPr/>
        </p:nvSpPr>
        <p:spPr>
          <a:xfrm>
            <a:off x="4800600" y="2514600"/>
            <a:ext cx="3931920" cy="21488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The kriging variance map shows prediction confidence across the entire study area.</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High variance zones = far from samples or sparse sampling density.</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Uncertainty maps are used to:</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Guide additional sampling campaigns</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Build 95% confidence intervals around predictions</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Identify areas requiring remediation vs. continued monitoring</a:t>
            </a:r>
            <a:endParaRPr sz="105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050"/>
              <a:buFont typeface="Calibri"/>
              <a:buNone/>
            </a:pP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In Python: ok = OrdinaryKriging(x, y, z, variogram_model="spherical")</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           z_pred, ss = ok.execute("grid", gridx, gridy)</a:t>
            </a:r>
            <a:endParaRPr sz="10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50"/>
              <a:buFont typeface="Calibri"/>
              <a:buNone/>
            </a:pPr>
            <a:r>
              <a:rPr lang="en-US" sz="1050">
                <a:solidFill>
                  <a:srgbClr val="2C2C2C"/>
                </a:solidFill>
                <a:latin typeface="Calibri"/>
                <a:ea typeface="Calibri"/>
                <a:cs typeface="Calibri"/>
                <a:sym typeface="Calibri"/>
              </a:rPr>
              <a:t>In R: krige(value~1, data=sp, newdata=grid, model=fit)</a:t>
            </a:r>
            <a:endParaRPr sz="105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176"/>
        <p:cNvGrpSpPr/>
        <p:nvPr/>
      </p:nvGrpSpPr>
      <p:grpSpPr>
        <a:xfrm>
          <a:off x="0" y="0"/>
          <a:ext cx="0" cy="0"/>
          <a:chOff x="0" y="0"/>
          <a:chExt cx="0" cy="0"/>
        </a:xfrm>
      </p:grpSpPr>
      <p:sp>
        <p:nvSpPr>
          <p:cNvPr id="177" name="Google Shape;177;p12"/>
          <p:cNvSpPr/>
          <p:nvPr/>
        </p:nvSpPr>
        <p:spPr>
          <a:xfrm>
            <a:off x="365760" y="256032"/>
            <a:ext cx="201168" cy="201168"/>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8" name="Google Shape;178;p12"/>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a:solidFill>
                  <a:srgbClr val="2C2C2C"/>
                </a:solidFill>
                <a:latin typeface="Calibri"/>
                <a:ea typeface="Calibri"/>
                <a:cs typeface="Calibri"/>
                <a:sym typeface="Calibri"/>
              </a:rPr>
              <a:t>Kriging Workflow Summary</a:t>
            </a:r>
            <a:endParaRPr sz="2000">
              <a:solidFill>
                <a:schemeClr val="dk1"/>
              </a:solidFill>
              <a:latin typeface="Calibri"/>
              <a:ea typeface="Calibri"/>
              <a:cs typeface="Calibri"/>
              <a:sym typeface="Calibri"/>
            </a:endParaRPr>
          </a:p>
        </p:txBody>
      </p:sp>
      <p:sp>
        <p:nvSpPr>
          <p:cNvPr id="179" name="Google Shape;179;p12"/>
          <p:cNvSpPr/>
          <p:nvPr/>
        </p:nvSpPr>
        <p:spPr>
          <a:xfrm>
            <a:off x="822960" y="685800"/>
            <a:ext cx="640080" cy="640080"/>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12"/>
          <p:cNvSpPr/>
          <p:nvPr/>
        </p:nvSpPr>
        <p:spPr>
          <a:xfrm>
            <a:off x="822960" y="685800"/>
            <a:ext cx="6400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1</a:t>
            </a:r>
            <a:endParaRPr sz="2200">
              <a:solidFill>
                <a:schemeClr val="dk1"/>
              </a:solidFill>
              <a:latin typeface="Calibri"/>
              <a:ea typeface="Calibri"/>
              <a:cs typeface="Calibri"/>
              <a:sym typeface="Calibri"/>
            </a:endParaRPr>
          </a:p>
        </p:txBody>
      </p:sp>
      <p:sp>
        <p:nvSpPr>
          <p:cNvPr id="181" name="Google Shape;181;p12"/>
          <p:cNvSpPr/>
          <p:nvPr/>
        </p:nvSpPr>
        <p:spPr>
          <a:xfrm>
            <a:off x="1828800" y="960120"/>
            <a:ext cx="530352" cy="73152"/>
          </a:xfrm>
          <a:prstGeom prst="rect">
            <a:avLst/>
          </a:prstGeom>
          <a:solidFill>
            <a:srgbClr val="AAAAAA"/>
          </a:solidFill>
          <a:ln w="12700" cap="flat" cmpd="sng">
            <a:solidFill>
              <a:srgbClr val="AAAAA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2" name="Google Shape;182;p12"/>
          <p:cNvSpPr/>
          <p:nvPr/>
        </p:nvSpPr>
        <p:spPr>
          <a:xfrm>
            <a:off x="320040" y="1463040"/>
            <a:ext cx="1627632" cy="347472"/>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3" name="Google Shape;183;p12"/>
          <p:cNvSpPr/>
          <p:nvPr/>
        </p:nvSpPr>
        <p:spPr>
          <a:xfrm>
            <a:off x="320040" y="1463040"/>
            <a:ext cx="1627632"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Explore</a:t>
            </a:r>
            <a:endParaRPr sz="1000">
              <a:solidFill>
                <a:schemeClr val="dk1"/>
              </a:solidFill>
              <a:latin typeface="Calibri"/>
              <a:ea typeface="Calibri"/>
              <a:cs typeface="Calibri"/>
              <a:sym typeface="Calibri"/>
            </a:endParaRPr>
          </a:p>
        </p:txBody>
      </p:sp>
      <p:sp>
        <p:nvSpPr>
          <p:cNvPr id="184" name="Google Shape;184;p12"/>
          <p:cNvSpPr/>
          <p:nvPr/>
        </p:nvSpPr>
        <p:spPr>
          <a:xfrm>
            <a:off x="320040" y="1810512"/>
            <a:ext cx="1627632" cy="1280160"/>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5" name="Google Shape;185;p12"/>
          <p:cNvSpPr/>
          <p:nvPr/>
        </p:nvSpPr>
        <p:spPr>
          <a:xfrm>
            <a:off x="393192" y="1901952"/>
            <a:ext cx="1463040" cy="10972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Check normality, outliers, spatial trends</a:t>
            </a:r>
            <a:endParaRPr sz="950">
              <a:solidFill>
                <a:schemeClr val="dk1"/>
              </a:solidFill>
              <a:latin typeface="Calibri"/>
              <a:ea typeface="Calibri"/>
              <a:cs typeface="Calibri"/>
              <a:sym typeface="Calibri"/>
            </a:endParaRPr>
          </a:p>
        </p:txBody>
      </p:sp>
      <p:sp>
        <p:nvSpPr>
          <p:cNvPr id="186" name="Google Shape;186;p12"/>
          <p:cNvSpPr/>
          <p:nvPr/>
        </p:nvSpPr>
        <p:spPr>
          <a:xfrm>
            <a:off x="2542032" y="685800"/>
            <a:ext cx="640080" cy="640080"/>
          </a:xfrm>
          <a:prstGeom prst="ellipse">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7" name="Google Shape;187;p12"/>
          <p:cNvSpPr/>
          <p:nvPr/>
        </p:nvSpPr>
        <p:spPr>
          <a:xfrm>
            <a:off x="2542032" y="685800"/>
            <a:ext cx="6400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2</a:t>
            </a:r>
            <a:endParaRPr sz="2200">
              <a:solidFill>
                <a:schemeClr val="dk1"/>
              </a:solidFill>
              <a:latin typeface="Calibri"/>
              <a:ea typeface="Calibri"/>
              <a:cs typeface="Calibri"/>
              <a:sym typeface="Calibri"/>
            </a:endParaRPr>
          </a:p>
        </p:txBody>
      </p:sp>
      <p:sp>
        <p:nvSpPr>
          <p:cNvPr id="188" name="Google Shape;188;p12"/>
          <p:cNvSpPr/>
          <p:nvPr/>
        </p:nvSpPr>
        <p:spPr>
          <a:xfrm>
            <a:off x="3547872" y="960120"/>
            <a:ext cx="530352" cy="73152"/>
          </a:xfrm>
          <a:prstGeom prst="rect">
            <a:avLst/>
          </a:prstGeom>
          <a:solidFill>
            <a:srgbClr val="AAAAAA"/>
          </a:solidFill>
          <a:ln w="12700" cap="flat" cmpd="sng">
            <a:solidFill>
              <a:srgbClr val="AAAAA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9" name="Google Shape;189;p12"/>
          <p:cNvSpPr/>
          <p:nvPr/>
        </p:nvSpPr>
        <p:spPr>
          <a:xfrm>
            <a:off x="2039112" y="1463040"/>
            <a:ext cx="1627632" cy="347472"/>
          </a:xfrm>
          <a:prstGeom prst="rect">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12"/>
          <p:cNvSpPr/>
          <p:nvPr/>
        </p:nvSpPr>
        <p:spPr>
          <a:xfrm>
            <a:off x="2039112" y="1463040"/>
            <a:ext cx="1627632"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Experimental</a:t>
            </a:r>
            <a:endParaRPr sz="100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Variogram</a:t>
            </a:r>
            <a:endParaRPr sz="1000">
              <a:solidFill>
                <a:schemeClr val="dk1"/>
              </a:solidFill>
              <a:latin typeface="Calibri"/>
              <a:ea typeface="Calibri"/>
              <a:cs typeface="Calibri"/>
              <a:sym typeface="Calibri"/>
            </a:endParaRPr>
          </a:p>
        </p:txBody>
      </p:sp>
      <p:sp>
        <p:nvSpPr>
          <p:cNvPr id="191" name="Google Shape;191;p12"/>
          <p:cNvSpPr/>
          <p:nvPr/>
        </p:nvSpPr>
        <p:spPr>
          <a:xfrm>
            <a:off x="2039112" y="1810512"/>
            <a:ext cx="1627632" cy="1280160"/>
          </a:xfrm>
          <a:prstGeom prst="rect">
            <a:avLst/>
          </a:prstGeom>
          <a:solidFill>
            <a:srgbClr val="D5EAE0"/>
          </a:solidFill>
          <a:ln w="12700" cap="flat" cmpd="sng">
            <a:solidFill>
              <a:srgbClr val="D5EA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2" name="Google Shape;192;p12"/>
          <p:cNvSpPr/>
          <p:nvPr/>
        </p:nvSpPr>
        <p:spPr>
          <a:xfrm>
            <a:off x="2112264" y="1901952"/>
            <a:ext cx="1463040" cy="10972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Calculate average squared differences by distance</a:t>
            </a:r>
            <a:endParaRPr sz="950">
              <a:solidFill>
                <a:schemeClr val="dk1"/>
              </a:solidFill>
              <a:latin typeface="Calibri"/>
              <a:ea typeface="Calibri"/>
              <a:cs typeface="Calibri"/>
              <a:sym typeface="Calibri"/>
            </a:endParaRPr>
          </a:p>
        </p:txBody>
      </p:sp>
      <p:sp>
        <p:nvSpPr>
          <p:cNvPr id="193" name="Google Shape;193;p12"/>
          <p:cNvSpPr/>
          <p:nvPr/>
        </p:nvSpPr>
        <p:spPr>
          <a:xfrm>
            <a:off x="4261104" y="685800"/>
            <a:ext cx="640080" cy="640080"/>
          </a:xfrm>
          <a:prstGeom prst="ellipse">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 name="Google Shape;194;p12"/>
          <p:cNvSpPr/>
          <p:nvPr/>
        </p:nvSpPr>
        <p:spPr>
          <a:xfrm>
            <a:off x="4261104" y="685800"/>
            <a:ext cx="6400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3</a:t>
            </a:r>
            <a:endParaRPr sz="2200">
              <a:solidFill>
                <a:schemeClr val="dk1"/>
              </a:solidFill>
              <a:latin typeface="Calibri"/>
              <a:ea typeface="Calibri"/>
              <a:cs typeface="Calibri"/>
              <a:sym typeface="Calibri"/>
            </a:endParaRPr>
          </a:p>
        </p:txBody>
      </p:sp>
      <p:sp>
        <p:nvSpPr>
          <p:cNvPr id="195" name="Google Shape;195;p12"/>
          <p:cNvSpPr/>
          <p:nvPr/>
        </p:nvSpPr>
        <p:spPr>
          <a:xfrm>
            <a:off x="5266944" y="960120"/>
            <a:ext cx="530352" cy="73152"/>
          </a:xfrm>
          <a:prstGeom prst="rect">
            <a:avLst/>
          </a:prstGeom>
          <a:solidFill>
            <a:srgbClr val="AAAAAA"/>
          </a:solidFill>
          <a:ln w="12700" cap="flat" cmpd="sng">
            <a:solidFill>
              <a:srgbClr val="AAAAA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p12"/>
          <p:cNvSpPr/>
          <p:nvPr/>
        </p:nvSpPr>
        <p:spPr>
          <a:xfrm>
            <a:off x="3758184" y="1463040"/>
            <a:ext cx="1627632" cy="347472"/>
          </a:xfrm>
          <a:prstGeom prst="rect">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7" name="Google Shape;197;p12"/>
          <p:cNvSpPr/>
          <p:nvPr/>
        </p:nvSpPr>
        <p:spPr>
          <a:xfrm>
            <a:off x="3758184" y="1463040"/>
            <a:ext cx="1627632"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Fit</a:t>
            </a:r>
            <a:endParaRPr sz="100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Model</a:t>
            </a:r>
            <a:endParaRPr sz="1000">
              <a:solidFill>
                <a:schemeClr val="dk1"/>
              </a:solidFill>
              <a:latin typeface="Calibri"/>
              <a:ea typeface="Calibri"/>
              <a:cs typeface="Calibri"/>
              <a:sym typeface="Calibri"/>
            </a:endParaRPr>
          </a:p>
        </p:txBody>
      </p:sp>
      <p:sp>
        <p:nvSpPr>
          <p:cNvPr id="198" name="Google Shape;198;p12"/>
          <p:cNvSpPr/>
          <p:nvPr/>
        </p:nvSpPr>
        <p:spPr>
          <a:xfrm>
            <a:off x="3758184" y="1810512"/>
            <a:ext cx="1627632" cy="1280160"/>
          </a:xfrm>
          <a:prstGeom prst="rect">
            <a:avLst/>
          </a:prstGeom>
          <a:solidFill>
            <a:srgbClr val="D3E4FA"/>
          </a:solidFill>
          <a:ln w="12700" cap="flat" cmpd="sng">
            <a:solidFill>
              <a:srgbClr val="D3E4F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9" name="Google Shape;199;p12"/>
          <p:cNvSpPr/>
          <p:nvPr/>
        </p:nvSpPr>
        <p:spPr>
          <a:xfrm>
            <a:off x="3831336" y="1901952"/>
            <a:ext cx="1463040" cy="10972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Select spherical/exponential/Gaussian model</a:t>
            </a:r>
            <a:endParaRPr sz="950">
              <a:solidFill>
                <a:schemeClr val="dk1"/>
              </a:solidFill>
              <a:latin typeface="Calibri"/>
              <a:ea typeface="Calibri"/>
              <a:cs typeface="Calibri"/>
              <a:sym typeface="Calibri"/>
            </a:endParaRPr>
          </a:p>
        </p:txBody>
      </p:sp>
      <p:sp>
        <p:nvSpPr>
          <p:cNvPr id="200" name="Google Shape;200;p12"/>
          <p:cNvSpPr/>
          <p:nvPr/>
        </p:nvSpPr>
        <p:spPr>
          <a:xfrm>
            <a:off x="5980176" y="685800"/>
            <a:ext cx="640080" cy="640080"/>
          </a:xfrm>
          <a:prstGeom prst="ellipse">
            <a:avLst/>
          </a:prstGeom>
          <a:solidFill>
            <a:srgbClr val="7C6FA0"/>
          </a:solidFill>
          <a:ln w="12700" cap="flat" cmpd="sng">
            <a:solidFill>
              <a:srgbClr val="7C6F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1" name="Google Shape;201;p12"/>
          <p:cNvSpPr/>
          <p:nvPr/>
        </p:nvSpPr>
        <p:spPr>
          <a:xfrm>
            <a:off x="5980176" y="685800"/>
            <a:ext cx="6400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4</a:t>
            </a:r>
            <a:endParaRPr sz="2200">
              <a:solidFill>
                <a:schemeClr val="dk1"/>
              </a:solidFill>
              <a:latin typeface="Calibri"/>
              <a:ea typeface="Calibri"/>
              <a:cs typeface="Calibri"/>
              <a:sym typeface="Calibri"/>
            </a:endParaRPr>
          </a:p>
        </p:txBody>
      </p:sp>
      <p:sp>
        <p:nvSpPr>
          <p:cNvPr id="202" name="Google Shape;202;p12"/>
          <p:cNvSpPr/>
          <p:nvPr/>
        </p:nvSpPr>
        <p:spPr>
          <a:xfrm>
            <a:off x="6986016" y="960120"/>
            <a:ext cx="530352" cy="73152"/>
          </a:xfrm>
          <a:prstGeom prst="rect">
            <a:avLst/>
          </a:prstGeom>
          <a:solidFill>
            <a:srgbClr val="AAAAAA"/>
          </a:solidFill>
          <a:ln w="12700" cap="flat" cmpd="sng">
            <a:solidFill>
              <a:srgbClr val="AAAAA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12"/>
          <p:cNvSpPr/>
          <p:nvPr/>
        </p:nvSpPr>
        <p:spPr>
          <a:xfrm>
            <a:off x="5477256" y="1463040"/>
            <a:ext cx="1627632" cy="347472"/>
          </a:xfrm>
          <a:prstGeom prst="rect">
            <a:avLst/>
          </a:prstGeom>
          <a:solidFill>
            <a:srgbClr val="7C6FA0"/>
          </a:solidFill>
          <a:ln w="12700" cap="flat" cmpd="sng">
            <a:solidFill>
              <a:srgbClr val="7C6F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4" name="Google Shape;204;p12"/>
          <p:cNvSpPr/>
          <p:nvPr/>
        </p:nvSpPr>
        <p:spPr>
          <a:xfrm>
            <a:off x="5477256" y="1463040"/>
            <a:ext cx="1627632"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Cross-</a:t>
            </a:r>
            <a:endParaRPr sz="100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Validate</a:t>
            </a:r>
            <a:endParaRPr sz="1000">
              <a:solidFill>
                <a:schemeClr val="dk1"/>
              </a:solidFill>
              <a:latin typeface="Calibri"/>
              <a:ea typeface="Calibri"/>
              <a:cs typeface="Calibri"/>
              <a:sym typeface="Calibri"/>
            </a:endParaRPr>
          </a:p>
        </p:txBody>
      </p:sp>
      <p:sp>
        <p:nvSpPr>
          <p:cNvPr id="205" name="Google Shape;205;p12"/>
          <p:cNvSpPr/>
          <p:nvPr/>
        </p:nvSpPr>
        <p:spPr>
          <a:xfrm>
            <a:off x="5477256" y="1810512"/>
            <a:ext cx="1627632" cy="1280160"/>
          </a:xfrm>
          <a:prstGeom prst="rect">
            <a:avLst/>
          </a:prstGeom>
          <a:solidFill>
            <a:srgbClr val="E8D5FA"/>
          </a:solidFill>
          <a:ln w="12700" cap="flat" cmpd="sng">
            <a:solidFill>
              <a:srgbClr val="E8D5F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12"/>
          <p:cNvSpPr/>
          <p:nvPr/>
        </p:nvSpPr>
        <p:spPr>
          <a:xfrm>
            <a:off x="5550408" y="1901952"/>
            <a:ext cx="1463040" cy="10972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Test model via leave-one-out validation</a:t>
            </a:r>
            <a:endParaRPr sz="950">
              <a:solidFill>
                <a:schemeClr val="dk1"/>
              </a:solidFill>
              <a:latin typeface="Calibri"/>
              <a:ea typeface="Calibri"/>
              <a:cs typeface="Calibri"/>
              <a:sym typeface="Calibri"/>
            </a:endParaRPr>
          </a:p>
        </p:txBody>
      </p:sp>
      <p:sp>
        <p:nvSpPr>
          <p:cNvPr id="207" name="Google Shape;207;p12"/>
          <p:cNvSpPr/>
          <p:nvPr/>
        </p:nvSpPr>
        <p:spPr>
          <a:xfrm>
            <a:off x="7699248" y="685800"/>
            <a:ext cx="640080" cy="640080"/>
          </a:xfrm>
          <a:prstGeom prst="ellipse">
            <a:avLst/>
          </a:prstGeom>
          <a:solidFill>
            <a:srgbClr val="C0562A"/>
          </a:solidFill>
          <a:ln w="12700" cap="flat" cmpd="sng">
            <a:solidFill>
              <a:srgbClr val="C056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8" name="Google Shape;208;p12"/>
          <p:cNvSpPr/>
          <p:nvPr/>
        </p:nvSpPr>
        <p:spPr>
          <a:xfrm>
            <a:off x="7699248" y="685800"/>
            <a:ext cx="64008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5</a:t>
            </a:r>
            <a:endParaRPr sz="2200">
              <a:solidFill>
                <a:schemeClr val="dk1"/>
              </a:solidFill>
              <a:latin typeface="Calibri"/>
              <a:ea typeface="Calibri"/>
              <a:cs typeface="Calibri"/>
              <a:sym typeface="Calibri"/>
            </a:endParaRPr>
          </a:p>
        </p:txBody>
      </p:sp>
      <p:sp>
        <p:nvSpPr>
          <p:cNvPr id="209" name="Google Shape;209;p12"/>
          <p:cNvSpPr/>
          <p:nvPr/>
        </p:nvSpPr>
        <p:spPr>
          <a:xfrm>
            <a:off x="7196328" y="1463040"/>
            <a:ext cx="1627632" cy="347472"/>
          </a:xfrm>
          <a:prstGeom prst="rect">
            <a:avLst/>
          </a:prstGeom>
          <a:solidFill>
            <a:srgbClr val="C0562A"/>
          </a:solidFill>
          <a:ln w="12700" cap="flat" cmpd="sng">
            <a:solidFill>
              <a:srgbClr val="C056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0" name="Google Shape;210;p12"/>
          <p:cNvSpPr/>
          <p:nvPr/>
        </p:nvSpPr>
        <p:spPr>
          <a:xfrm>
            <a:off x="7196328" y="1463040"/>
            <a:ext cx="1627632"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Krige</a:t>
            </a:r>
            <a:endParaRPr sz="100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&amp; Map</a:t>
            </a:r>
            <a:endParaRPr sz="1000">
              <a:solidFill>
                <a:schemeClr val="dk1"/>
              </a:solidFill>
              <a:latin typeface="Calibri"/>
              <a:ea typeface="Calibri"/>
              <a:cs typeface="Calibri"/>
              <a:sym typeface="Calibri"/>
            </a:endParaRPr>
          </a:p>
        </p:txBody>
      </p:sp>
      <p:sp>
        <p:nvSpPr>
          <p:cNvPr id="211" name="Google Shape;211;p12"/>
          <p:cNvSpPr/>
          <p:nvPr/>
        </p:nvSpPr>
        <p:spPr>
          <a:xfrm>
            <a:off x="7196328" y="1810512"/>
            <a:ext cx="1627632" cy="1280160"/>
          </a:xfrm>
          <a:prstGeom prst="rect">
            <a:avLst/>
          </a:prstGeom>
          <a:solidFill>
            <a:srgbClr val="FAD5C3"/>
          </a:solidFill>
          <a:ln w="12700" cap="flat" cmpd="sng">
            <a:solidFill>
              <a:srgbClr val="FAD5C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2" name="Google Shape;212;p12"/>
          <p:cNvSpPr/>
          <p:nvPr/>
        </p:nvSpPr>
        <p:spPr>
          <a:xfrm>
            <a:off x="7269480" y="1901952"/>
            <a:ext cx="1463040" cy="10972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Predict values and variance across full grid</a:t>
            </a:r>
            <a:endParaRPr sz="950">
              <a:solidFill>
                <a:schemeClr val="dk1"/>
              </a:solidFill>
              <a:latin typeface="Calibri"/>
              <a:ea typeface="Calibri"/>
              <a:cs typeface="Calibri"/>
              <a:sym typeface="Calibri"/>
            </a:endParaRPr>
          </a:p>
        </p:txBody>
      </p:sp>
      <p:sp>
        <p:nvSpPr>
          <p:cNvPr id="213" name="Google Shape;213;p12"/>
          <p:cNvSpPr/>
          <p:nvPr/>
        </p:nvSpPr>
        <p:spPr>
          <a:xfrm>
            <a:off x="320040" y="3246120"/>
            <a:ext cx="8503920" cy="1554480"/>
          </a:xfrm>
          <a:prstGeom prst="rect">
            <a:avLst/>
          </a:prstGeom>
          <a:solidFill>
            <a:srgbClr val="2C2C3E"/>
          </a:solidFill>
          <a:ln w="12700" cap="flat" cmpd="sng">
            <a:solidFill>
              <a:srgbClr val="2C2C3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12"/>
          <p:cNvSpPr/>
          <p:nvPr/>
        </p:nvSpPr>
        <p:spPr>
          <a:xfrm>
            <a:off x="320040" y="3246120"/>
            <a:ext cx="73152" cy="1554480"/>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5" name="Google Shape;215;p12"/>
          <p:cNvSpPr/>
          <p:nvPr/>
        </p:nvSpPr>
        <p:spPr>
          <a:xfrm>
            <a:off x="502920" y="3310128"/>
            <a:ext cx="27432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734A"/>
              </a:buClr>
              <a:buSzPts val="1000"/>
              <a:buFont typeface="Calibri"/>
              <a:buNone/>
            </a:pPr>
            <a:r>
              <a:rPr lang="en-US" sz="1000" b="1">
                <a:solidFill>
                  <a:srgbClr val="E8734A"/>
                </a:solidFill>
                <a:latin typeface="Calibri"/>
                <a:ea typeface="Calibri"/>
                <a:cs typeface="Calibri"/>
                <a:sym typeface="Calibri"/>
              </a:rPr>
              <a:t>Python Implementation</a:t>
            </a:r>
            <a:endParaRPr sz="1000">
              <a:solidFill>
                <a:schemeClr val="dk1"/>
              </a:solidFill>
              <a:latin typeface="Calibri"/>
              <a:ea typeface="Calibri"/>
              <a:cs typeface="Calibri"/>
              <a:sym typeface="Calibri"/>
            </a:endParaRPr>
          </a:p>
        </p:txBody>
      </p:sp>
      <p:sp>
        <p:nvSpPr>
          <p:cNvPr id="216" name="Google Shape;216;p12"/>
          <p:cNvSpPr/>
          <p:nvPr/>
        </p:nvSpPr>
        <p:spPr>
          <a:xfrm>
            <a:off x="502920" y="3611880"/>
            <a:ext cx="822960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CDDFF"/>
              </a:buClr>
              <a:buSzPts val="950"/>
              <a:buFont typeface="Courier New"/>
              <a:buNone/>
            </a:pPr>
            <a:r>
              <a:rPr lang="en-US" sz="950" dirty="0">
                <a:solidFill>
                  <a:srgbClr val="CCDDFF"/>
                </a:solidFill>
                <a:latin typeface="Courier New"/>
                <a:ea typeface="Courier New"/>
                <a:cs typeface="Courier New"/>
                <a:sym typeface="Courier New"/>
              </a:rPr>
              <a:t>import </a:t>
            </a:r>
            <a:r>
              <a:rPr lang="en-US" sz="950" dirty="0" err="1">
                <a:solidFill>
                  <a:srgbClr val="CCDDFF"/>
                </a:solidFill>
                <a:latin typeface="Courier New"/>
                <a:ea typeface="Courier New"/>
                <a:cs typeface="Courier New"/>
                <a:sym typeface="Courier New"/>
              </a:rPr>
              <a:t>numpy</a:t>
            </a:r>
            <a:r>
              <a:rPr lang="en-US" sz="950" dirty="0">
                <a:solidFill>
                  <a:srgbClr val="CCDDFF"/>
                </a:solidFill>
                <a:latin typeface="Courier New"/>
                <a:ea typeface="Courier New"/>
                <a:cs typeface="Courier New"/>
                <a:sym typeface="Courier New"/>
              </a:rPr>
              <a:t> as np</a:t>
            </a:r>
          </a:p>
          <a:p>
            <a:pPr marL="0" marR="0" lvl="0" indent="0" algn="l" rtl="0">
              <a:spcBef>
                <a:spcPts val="0"/>
              </a:spcBef>
              <a:spcAft>
                <a:spcPts val="0"/>
              </a:spcAft>
              <a:buClr>
                <a:srgbClr val="CCDDFF"/>
              </a:buClr>
              <a:buSzPts val="950"/>
              <a:buFont typeface="Courier New"/>
              <a:buNone/>
            </a:pPr>
            <a:r>
              <a:rPr lang="en-US" sz="950" dirty="0">
                <a:solidFill>
                  <a:srgbClr val="CCDDFF"/>
                </a:solidFill>
                <a:latin typeface="Courier New"/>
                <a:ea typeface="Courier New"/>
                <a:cs typeface="Courier New"/>
                <a:sym typeface="Courier New"/>
              </a:rPr>
              <a:t>import </a:t>
            </a:r>
            <a:r>
              <a:rPr lang="en-US" sz="950" dirty="0" err="1">
                <a:solidFill>
                  <a:srgbClr val="CCDDFF"/>
                </a:solidFill>
                <a:latin typeface="Courier New"/>
                <a:ea typeface="Courier New"/>
                <a:cs typeface="Courier New"/>
                <a:sym typeface="Courier New"/>
              </a:rPr>
              <a:t>matplotlib.pyplot</a:t>
            </a:r>
            <a:r>
              <a:rPr lang="en-US" sz="950" dirty="0">
                <a:solidFill>
                  <a:srgbClr val="CCDDFF"/>
                </a:solidFill>
                <a:latin typeface="Courier New"/>
                <a:ea typeface="Courier New"/>
                <a:cs typeface="Courier New"/>
                <a:sym typeface="Courier New"/>
              </a:rPr>
              <a:t> as </a:t>
            </a:r>
            <a:r>
              <a:rPr lang="en-US" sz="950" dirty="0" err="1">
                <a:solidFill>
                  <a:srgbClr val="CCDDFF"/>
                </a:solidFill>
                <a:latin typeface="Courier New"/>
                <a:ea typeface="Courier New"/>
                <a:cs typeface="Courier New"/>
                <a:sym typeface="Courier New"/>
              </a:rPr>
              <a:t>plt</a:t>
            </a:r>
            <a:endParaRPr lang="en-US" sz="950" dirty="0">
              <a:solidFill>
                <a:srgbClr val="CCDDFF"/>
              </a:solidFill>
              <a:latin typeface="Courier New"/>
              <a:ea typeface="Courier New"/>
              <a:cs typeface="Courier New"/>
              <a:sym typeface="Courier New"/>
            </a:endParaRPr>
          </a:p>
          <a:p>
            <a:pPr marL="0" marR="0" lvl="0" indent="0" algn="l" rtl="0">
              <a:spcBef>
                <a:spcPts val="0"/>
              </a:spcBef>
              <a:spcAft>
                <a:spcPts val="0"/>
              </a:spcAft>
              <a:buClr>
                <a:srgbClr val="CCDDFF"/>
              </a:buClr>
              <a:buSzPts val="950"/>
              <a:buFont typeface="Courier New"/>
              <a:buNone/>
            </a:pPr>
            <a:r>
              <a:rPr lang="en-US" sz="950" dirty="0">
                <a:solidFill>
                  <a:srgbClr val="CCDDFF"/>
                </a:solidFill>
                <a:latin typeface="Courier New"/>
                <a:ea typeface="Courier New"/>
                <a:cs typeface="Courier New"/>
                <a:sym typeface="Courier New"/>
              </a:rPr>
              <a:t>from </a:t>
            </a:r>
            <a:r>
              <a:rPr lang="en-US" sz="950" dirty="0" err="1">
                <a:solidFill>
                  <a:srgbClr val="CCDDFF"/>
                </a:solidFill>
                <a:latin typeface="Courier New"/>
                <a:ea typeface="Courier New"/>
                <a:cs typeface="Courier New"/>
                <a:sym typeface="Courier New"/>
              </a:rPr>
              <a:t>pykrige.ok</a:t>
            </a:r>
            <a:r>
              <a:rPr lang="en-US" sz="950" dirty="0">
                <a:solidFill>
                  <a:srgbClr val="CCDDFF"/>
                </a:solidFill>
                <a:latin typeface="Courier New"/>
                <a:ea typeface="Courier New"/>
                <a:cs typeface="Courier New"/>
                <a:sym typeface="Courier New"/>
              </a:rPr>
              <a:t> import </a:t>
            </a:r>
            <a:r>
              <a:rPr lang="en-US" sz="950" dirty="0" err="1">
                <a:solidFill>
                  <a:srgbClr val="CCDDFF"/>
                </a:solidFill>
                <a:latin typeface="Courier New"/>
                <a:ea typeface="Courier New"/>
                <a:cs typeface="Courier New"/>
                <a:sym typeface="Courier New"/>
              </a:rPr>
              <a:t>OrdinaryKriging</a:t>
            </a:r>
            <a:endParaRPr lang="en-US" sz="950" dirty="0">
              <a:solidFill>
                <a:srgbClr val="CCDDFF"/>
              </a:solidFill>
              <a:latin typeface="Courier New"/>
              <a:ea typeface="Courier New"/>
              <a:cs typeface="Courier New"/>
              <a:sym typeface="Courier New"/>
            </a:endParaRPr>
          </a:p>
          <a:p>
            <a:pPr marL="0" marR="0" lvl="0" indent="0" algn="l" rtl="0">
              <a:spcBef>
                <a:spcPts val="0"/>
              </a:spcBef>
              <a:spcAft>
                <a:spcPts val="0"/>
              </a:spcAft>
              <a:buClr>
                <a:srgbClr val="CCDDFF"/>
              </a:buClr>
              <a:buSzPts val="950"/>
              <a:buFont typeface="Courier New"/>
              <a:buNone/>
            </a:pPr>
            <a:r>
              <a:rPr lang="en-US" sz="950" dirty="0">
                <a:solidFill>
                  <a:srgbClr val="CCDDFF"/>
                </a:solidFill>
                <a:latin typeface="Courier New"/>
                <a:ea typeface="Courier New"/>
                <a:cs typeface="Courier New"/>
                <a:sym typeface="Courier New"/>
              </a:rPr>
              <a:t>from pykrige.uk import </a:t>
            </a:r>
            <a:r>
              <a:rPr lang="en-US" sz="950" dirty="0" err="1">
                <a:solidFill>
                  <a:srgbClr val="CCDDFF"/>
                </a:solidFill>
                <a:latin typeface="Courier New"/>
                <a:ea typeface="Courier New"/>
                <a:cs typeface="Courier New"/>
                <a:sym typeface="Courier New"/>
              </a:rPr>
              <a:t>UniversalKriging</a:t>
            </a:r>
            <a:endParaRPr lang="en-US" sz="950" dirty="0">
              <a:solidFill>
                <a:srgbClr val="CCDDFF"/>
              </a:solidFill>
              <a:latin typeface="Courier New"/>
              <a:ea typeface="Courier New"/>
              <a:cs typeface="Courier New"/>
              <a:sym typeface="Courier New"/>
            </a:endParaRPr>
          </a:p>
          <a:p>
            <a:pPr marL="0" marR="0" lvl="0" indent="0" algn="l" rtl="0">
              <a:spcBef>
                <a:spcPts val="0"/>
              </a:spcBef>
              <a:spcAft>
                <a:spcPts val="0"/>
              </a:spcAft>
              <a:buClr>
                <a:srgbClr val="CCDDFF"/>
              </a:buClr>
              <a:buSzPts val="950"/>
              <a:buFont typeface="Courier New"/>
              <a:buNone/>
            </a:pPr>
            <a:r>
              <a:rPr lang="en-US" sz="950" dirty="0">
                <a:solidFill>
                  <a:srgbClr val="CCDDFF"/>
                </a:solidFill>
                <a:latin typeface="Courier New"/>
                <a:ea typeface="Courier New"/>
                <a:cs typeface="Courier New"/>
                <a:sym typeface="Courier New"/>
              </a:rPr>
              <a:t>from matplotlib import cm</a:t>
            </a:r>
            <a:endParaRPr lang="en-US" sz="950" dirty="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C0562A"/>
        </a:solidFill>
        <a:effectLst/>
      </p:bgPr>
    </p:bg>
    <p:spTree>
      <p:nvGrpSpPr>
        <p:cNvPr id="1" name="Shape 221">
          <a:extLst>
            <a:ext uri="{FF2B5EF4-FFF2-40B4-BE49-F238E27FC236}">
              <a16:creationId xmlns:a16="http://schemas.microsoft.com/office/drawing/2014/main" id="{914CDD0C-7CD8-3C2E-E06A-514AF954620E}"/>
            </a:ext>
          </a:extLst>
        </p:cNvPr>
        <p:cNvGrpSpPr/>
        <p:nvPr/>
      </p:nvGrpSpPr>
      <p:grpSpPr>
        <a:xfrm>
          <a:off x="0" y="0"/>
          <a:ext cx="0" cy="0"/>
          <a:chOff x="0" y="0"/>
          <a:chExt cx="0" cy="0"/>
        </a:xfrm>
      </p:grpSpPr>
      <p:sp>
        <p:nvSpPr>
          <p:cNvPr id="222" name="Google Shape;222;p13">
            <a:extLst>
              <a:ext uri="{FF2B5EF4-FFF2-40B4-BE49-F238E27FC236}">
                <a16:creationId xmlns:a16="http://schemas.microsoft.com/office/drawing/2014/main" id="{B6847D1C-F61A-A1E0-B9B1-26E0340D16A5}"/>
              </a:ext>
            </a:extLst>
          </p:cNvPr>
          <p:cNvSpPr/>
          <p:nvPr/>
        </p:nvSpPr>
        <p:spPr>
          <a:xfrm>
            <a:off x="0" y="457200"/>
            <a:ext cx="9144000" cy="4114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0"/>
              <a:buFont typeface="Calibri"/>
              <a:buNone/>
            </a:pPr>
            <a:r>
              <a:rPr lang="en-US" sz="18000" b="1" dirty="0">
                <a:solidFill>
                  <a:srgbClr val="FFFFFF"/>
                </a:solidFill>
                <a:latin typeface="Calibri"/>
                <a:ea typeface="Calibri"/>
                <a:cs typeface="Calibri"/>
                <a:sym typeface="Calibri"/>
              </a:rPr>
              <a:t>4</a:t>
            </a:r>
            <a:endParaRPr sz="18000" dirty="0">
              <a:solidFill>
                <a:schemeClr val="dk1"/>
              </a:solidFill>
              <a:latin typeface="Calibri"/>
              <a:ea typeface="Calibri"/>
              <a:cs typeface="Calibri"/>
              <a:sym typeface="Calibri"/>
            </a:endParaRPr>
          </a:p>
        </p:txBody>
      </p:sp>
      <p:sp>
        <p:nvSpPr>
          <p:cNvPr id="223" name="Google Shape;223;p13">
            <a:extLst>
              <a:ext uri="{FF2B5EF4-FFF2-40B4-BE49-F238E27FC236}">
                <a16:creationId xmlns:a16="http://schemas.microsoft.com/office/drawing/2014/main" id="{1CE77F40-5E5C-C5B4-FF9F-1D3A7F72500E}"/>
              </a:ext>
            </a:extLst>
          </p:cNvPr>
          <p:cNvSpPr/>
          <p:nvPr/>
        </p:nvSpPr>
        <p:spPr>
          <a:xfrm>
            <a:off x="0" y="4297680"/>
            <a:ext cx="91440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libri"/>
              <a:buNone/>
            </a:pPr>
            <a:r>
              <a:rPr lang="en-US" sz="1800" dirty="0">
                <a:solidFill>
                  <a:srgbClr val="FFFFFF"/>
                </a:solidFill>
                <a:latin typeface="Calibri"/>
                <a:ea typeface="Calibri"/>
                <a:cs typeface="Calibri"/>
                <a:sym typeface="Calibri"/>
              </a:rPr>
              <a:t>Kriging case studies</a:t>
            </a: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71644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4"/>
          <p:cNvSpPr/>
          <p:nvPr/>
        </p:nvSpPr>
        <p:spPr>
          <a:xfrm>
            <a:off x="365760" y="256032"/>
            <a:ext cx="201168" cy="201168"/>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0" name="Google Shape;230;p14"/>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dirty="0">
                <a:solidFill>
                  <a:srgbClr val="2C2C2C"/>
                </a:solidFill>
                <a:latin typeface="Calibri"/>
                <a:ea typeface="Calibri"/>
                <a:cs typeface="Calibri"/>
                <a:sym typeface="Calibri"/>
              </a:rPr>
              <a:t>Case Study: Soil Contamination Mapping</a:t>
            </a:r>
            <a:endParaRPr sz="2000" dirty="0">
              <a:solidFill>
                <a:schemeClr val="dk1"/>
              </a:solidFill>
              <a:latin typeface="Calibri"/>
              <a:ea typeface="Calibri"/>
              <a:cs typeface="Calibri"/>
              <a:sym typeface="Calibri"/>
            </a:endParaRPr>
          </a:p>
        </p:txBody>
      </p:sp>
      <p:sp>
        <p:nvSpPr>
          <p:cNvPr id="231" name="Google Shape;231;p14"/>
          <p:cNvSpPr/>
          <p:nvPr/>
        </p:nvSpPr>
        <p:spPr>
          <a:xfrm>
            <a:off x="365760" y="658368"/>
            <a:ext cx="8412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55555"/>
              </a:buClr>
              <a:buSzPts val="1150"/>
              <a:buFont typeface="Calibri"/>
              <a:buNone/>
            </a:pPr>
            <a:r>
              <a:rPr lang="en-US" sz="1150" i="1">
                <a:solidFill>
                  <a:srgbClr val="555555"/>
                </a:solidFill>
                <a:latin typeface="Calibri"/>
                <a:ea typeface="Calibri"/>
                <a:cs typeface="Calibri"/>
                <a:sym typeface="Calibri"/>
              </a:rPr>
              <a:t>60 soil samples across a 500-acre former industrial site → kriged map of lead contamination.</a:t>
            </a:r>
            <a:endParaRPr sz="1150">
              <a:solidFill>
                <a:schemeClr val="dk1"/>
              </a:solidFill>
              <a:latin typeface="Calibri"/>
              <a:ea typeface="Calibri"/>
              <a:cs typeface="Calibri"/>
              <a:sym typeface="Calibri"/>
            </a:endParaRPr>
          </a:p>
        </p:txBody>
      </p:sp>
      <p:sp>
        <p:nvSpPr>
          <p:cNvPr id="232" name="Google Shape;232;p14"/>
          <p:cNvSpPr/>
          <p:nvPr/>
        </p:nvSpPr>
        <p:spPr>
          <a:xfrm>
            <a:off x="320040" y="1051560"/>
            <a:ext cx="4114800" cy="365760"/>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14"/>
          <p:cNvSpPr/>
          <p:nvPr/>
        </p:nvSpPr>
        <p:spPr>
          <a:xfrm>
            <a:off x="320040" y="1051560"/>
            <a:ext cx="41148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50"/>
              <a:buFont typeface="Calibri"/>
              <a:buNone/>
            </a:pPr>
            <a:r>
              <a:rPr lang="en-US" sz="1150" b="1">
                <a:solidFill>
                  <a:srgbClr val="FFFFFF"/>
                </a:solidFill>
                <a:latin typeface="Calibri"/>
                <a:ea typeface="Calibri"/>
                <a:cs typeface="Calibri"/>
                <a:sym typeface="Calibri"/>
              </a:rPr>
              <a:t>Project Background</a:t>
            </a:r>
            <a:endParaRPr sz="1150">
              <a:solidFill>
                <a:schemeClr val="dk1"/>
              </a:solidFill>
              <a:latin typeface="Calibri"/>
              <a:ea typeface="Calibri"/>
              <a:cs typeface="Calibri"/>
              <a:sym typeface="Calibri"/>
            </a:endParaRPr>
          </a:p>
        </p:txBody>
      </p:sp>
      <p:sp>
        <p:nvSpPr>
          <p:cNvPr id="234" name="Google Shape;234;p14"/>
          <p:cNvSpPr/>
          <p:nvPr/>
        </p:nvSpPr>
        <p:spPr>
          <a:xfrm>
            <a:off x="320040" y="1417320"/>
            <a:ext cx="4114800" cy="3383280"/>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5" name="Google Shape;235;p14"/>
          <p:cNvSpPr/>
          <p:nvPr/>
        </p:nvSpPr>
        <p:spPr>
          <a:xfrm>
            <a:off x="411480" y="1508760"/>
            <a:ext cx="594360" cy="256032"/>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6" name="Google Shape;236;p14"/>
          <p:cNvSpPr/>
          <p:nvPr/>
        </p:nvSpPr>
        <p:spPr>
          <a:xfrm>
            <a:off x="411480" y="1508760"/>
            <a:ext cx="594360"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850"/>
              <a:buFont typeface="Calibri"/>
              <a:buNone/>
            </a:pPr>
            <a:r>
              <a:rPr lang="en-US" sz="850" b="1">
                <a:solidFill>
                  <a:srgbClr val="FFFFFF"/>
                </a:solidFill>
                <a:latin typeface="Calibri"/>
                <a:ea typeface="Calibri"/>
                <a:cs typeface="Calibri"/>
                <a:sym typeface="Calibri"/>
              </a:rPr>
              <a:t>Sample</a:t>
            </a:r>
            <a:endParaRPr sz="850">
              <a:solidFill>
                <a:schemeClr val="dk1"/>
              </a:solidFill>
              <a:latin typeface="Calibri"/>
              <a:ea typeface="Calibri"/>
              <a:cs typeface="Calibri"/>
              <a:sym typeface="Calibri"/>
            </a:endParaRPr>
          </a:p>
        </p:txBody>
      </p:sp>
      <p:sp>
        <p:nvSpPr>
          <p:cNvPr id="237" name="Google Shape;237;p14"/>
          <p:cNvSpPr/>
          <p:nvPr/>
        </p:nvSpPr>
        <p:spPr>
          <a:xfrm>
            <a:off x="1024128" y="1508760"/>
            <a:ext cx="475488" cy="256032"/>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8" name="Google Shape;238;p14"/>
          <p:cNvSpPr/>
          <p:nvPr/>
        </p:nvSpPr>
        <p:spPr>
          <a:xfrm>
            <a:off x="1024128" y="1508760"/>
            <a:ext cx="475488"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850"/>
              <a:buFont typeface="Calibri"/>
              <a:buNone/>
            </a:pPr>
            <a:r>
              <a:rPr lang="en-US" sz="850" b="1">
                <a:solidFill>
                  <a:srgbClr val="FFFFFF"/>
                </a:solidFill>
                <a:latin typeface="Calibri"/>
                <a:ea typeface="Calibri"/>
                <a:cs typeface="Calibri"/>
                <a:sym typeface="Calibri"/>
              </a:rPr>
              <a:t>Easting</a:t>
            </a:r>
            <a:endParaRPr sz="850">
              <a:solidFill>
                <a:schemeClr val="dk1"/>
              </a:solidFill>
              <a:latin typeface="Calibri"/>
              <a:ea typeface="Calibri"/>
              <a:cs typeface="Calibri"/>
              <a:sym typeface="Calibri"/>
            </a:endParaRPr>
          </a:p>
        </p:txBody>
      </p:sp>
      <p:sp>
        <p:nvSpPr>
          <p:cNvPr id="239" name="Google Shape;239;p14"/>
          <p:cNvSpPr/>
          <p:nvPr/>
        </p:nvSpPr>
        <p:spPr>
          <a:xfrm>
            <a:off x="1517904" y="1508760"/>
            <a:ext cx="475488" cy="256032"/>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0" name="Google Shape;240;p14"/>
          <p:cNvSpPr/>
          <p:nvPr/>
        </p:nvSpPr>
        <p:spPr>
          <a:xfrm>
            <a:off x="1517904" y="1508760"/>
            <a:ext cx="475488"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850"/>
              <a:buFont typeface="Calibri"/>
              <a:buNone/>
            </a:pPr>
            <a:r>
              <a:rPr lang="en-US" sz="850" b="1">
                <a:solidFill>
                  <a:srgbClr val="FFFFFF"/>
                </a:solidFill>
                <a:latin typeface="Calibri"/>
                <a:ea typeface="Calibri"/>
                <a:cs typeface="Calibri"/>
                <a:sym typeface="Calibri"/>
              </a:rPr>
              <a:t>Northing</a:t>
            </a:r>
            <a:endParaRPr sz="850">
              <a:solidFill>
                <a:schemeClr val="dk1"/>
              </a:solidFill>
              <a:latin typeface="Calibri"/>
              <a:ea typeface="Calibri"/>
              <a:cs typeface="Calibri"/>
              <a:sym typeface="Calibri"/>
            </a:endParaRPr>
          </a:p>
        </p:txBody>
      </p:sp>
      <p:sp>
        <p:nvSpPr>
          <p:cNvPr id="241" name="Google Shape;241;p14"/>
          <p:cNvSpPr/>
          <p:nvPr/>
        </p:nvSpPr>
        <p:spPr>
          <a:xfrm>
            <a:off x="2011680" y="1508760"/>
            <a:ext cx="475488" cy="256032"/>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2" name="Google Shape;242;p14"/>
          <p:cNvSpPr/>
          <p:nvPr/>
        </p:nvSpPr>
        <p:spPr>
          <a:xfrm>
            <a:off x="2011680" y="1508760"/>
            <a:ext cx="475488"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850"/>
              <a:buFont typeface="Calibri"/>
              <a:buNone/>
            </a:pPr>
            <a:r>
              <a:rPr lang="en-US" sz="850" b="1">
                <a:solidFill>
                  <a:srgbClr val="FFFFFF"/>
                </a:solidFill>
                <a:latin typeface="Calibri"/>
                <a:ea typeface="Calibri"/>
                <a:cs typeface="Calibri"/>
                <a:sym typeface="Calibri"/>
              </a:rPr>
              <a:t>Pb mg/kg</a:t>
            </a:r>
            <a:endParaRPr sz="850">
              <a:solidFill>
                <a:schemeClr val="dk1"/>
              </a:solidFill>
              <a:latin typeface="Calibri"/>
              <a:ea typeface="Calibri"/>
              <a:cs typeface="Calibri"/>
              <a:sym typeface="Calibri"/>
            </a:endParaRPr>
          </a:p>
        </p:txBody>
      </p:sp>
      <p:sp>
        <p:nvSpPr>
          <p:cNvPr id="243" name="Google Shape;243;p14"/>
          <p:cNvSpPr/>
          <p:nvPr/>
        </p:nvSpPr>
        <p:spPr>
          <a:xfrm>
            <a:off x="2505456" y="1508760"/>
            <a:ext cx="475488" cy="256032"/>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4" name="Google Shape;244;p14"/>
          <p:cNvSpPr/>
          <p:nvPr/>
        </p:nvSpPr>
        <p:spPr>
          <a:xfrm>
            <a:off x="2505456" y="1508760"/>
            <a:ext cx="475488"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850"/>
              <a:buFont typeface="Calibri"/>
              <a:buNone/>
            </a:pPr>
            <a:r>
              <a:rPr lang="en-US" sz="850" b="1">
                <a:solidFill>
                  <a:srgbClr val="FFFFFF"/>
                </a:solidFill>
                <a:latin typeface="Calibri"/>
                <a:ea typeface="Calibri"/>
                <a:cs typeface="Calibri"/>
                <a:sym typeface="Calibri"/>
              </a:rPr>
              <a:t>log(Pb)</a:t>
            </a:r>
            <a:endParaRPr sz="850">
              <a:solidFill>
                <a:schemeClr val="dk1"/>
              </a:solidFill>
              <a:latin typeface="Calibri"/>
              <a:ea typeface="Calibri"/>
              <a:cs typeface="Calibri"/>
              <a:sym typeface="Calibri"/>
            </a:endParaRPr>
          </a:p>
        </p:txBody>
      </p:sp>
      <p:sp>
        <p:nvSpPr>
          <p:cNvPr id="245" name="Google Shape;245;p14"/>
          <p:cNvSpPr/>
          <p:nvPr/>
        </p:nvSpPr>
        <p:spPr>
          <a:xfrm>
            <a:off x="2999232" y="1508760"/>
            <a:ext cx="384048" cy="256032"/>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14"/>
          <p:cNvSpPr/>
          <p:nvPr/>
        </p:nvSpPr>
        <p:spPr>
          <a:xfrm>
            <a:off x="2999232" y="1508760"/>
            <a:ext cx="384048"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850"/>
              <a:buFont typeface="Calibri"/>
              <a:buNone/>
            </a:pPr>
            <a:r>
              <a:rPr lang="en-US" sz="850" b="1">
                <a:solidFill>
                  <a:srgbClr val="FFFFFF"/>
                </a:solidFill>
                <a:latin typeface="Calibri"/>
                <a:ea typeface="Calibri"/>
                <a:cs typeface="Calibri"/>
                <a:sym typeface="Calibri"/>
              </a:rPr>
              <a:t>...</a:t>
            </a:r>
            <a:endParaRPr sz="850">
              <a:solidFill>
                <a:schemeClr val="dk1"/>
              </a:solidFill>
              <a:latin typeface="Calibri"/>
              <a:ea typeface="Calibri"/>
              <a:cs typeface="Calibri"/>
              <a:sym typeface="Calibri"/>
            </a:endParaRPr>
          </a:p>
        </p:txBody>
      </p:sp>
      <p:sp>
        <p:nvSpPr>
          <p:cNvPr id="247" name="Google Shape;247;p14"/>
          <p:cNvSpPr/>
          <p:nvPr/>
        </p:nvSpPr>
        <p:spPr>
          <a:xfrm>
            <a:off x="411480" y="1764792"/>
            <a:ext cx="594360"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14"/>
          <p:cNvSpPr/>
          <p:nvPr/>
        </p:nvSpPr>
        <p:spPr>
          <a:xfrm>
            <a:off x="411480" y="1764792"/>
            <a:ext cx="594360"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S-01</a:t>
            </a:r>
            <a:endParaRPr sz="800">
              <a:solidFill>
                <a:schemeClr val="dk1"/>
              </a:solidFill>
              <a:latin typeface="Calibri"/>
              <a:ea typeface="Calibri"/>
              <a:cs typeface="Calibri"/>
              <a:sym typeface="Calibri"/>
            </a:endParaRPr>
          </a:p>
        </p:txBody>
      </p:sp>
      <p:sp>
        <p:nvSpPr>
          <p:cNvPr id="249" name="Google Shape;249;p14"/>
          <p:cNvSpPr/>
          <p:nvPr/>
        </p:nvSpPr>
        <p:spPr>
          <a:xfrm>
            <a:off x="1024128" y="1764792"/>
            <a:ext cx="47548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0" name="Google Shape;250;p14"/>
          <p:cNvSpPr/>
          <p:nvPr/>
        </p:nvSpPr>
        <p:spPr>
          <a:xfrm>
            <a:off x="1024128" y="1764792"/>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312</a:t>
            </a:r>
            <a:endParaRPr sz="800">
              <a:solidFill>
                <a:schemeClr val="dk1"/>
              </a:solidFill>
              <a:latin typeface="Calibri"/>
              <a:ea typeface="Calibri"/>
              <a:cs typeface="Calibri"/>
              <a:sym typeface="Calibri"/>
            </a:endParaRPr>
          </a:p>
        </p:txBody>
      </p:sp>
      <p:sp>
        <p:nvSpPr>
          <p:cNvPr id="251" name="Google Shape;251;p14"/>
          <p:cNvSpPr/>
          <p:nvPr/>
        </p:nvSpPr>
        <p:spPr>
          <a:xfrm>
            <a:off x="1517904" y="1764792"/>
            <a:ext cx="47548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2" name="Google Shape;252;p14"/>
          <p:cNvSpPr/>
          <p:nvPr/>
        </p:nvSpPr>
        <p:spPr>
          <a:xfrm>
            <a:off x="1517904" y="1764792"/>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487</a:t>
            </a:r>
            <a:endParaRPr sz="800">
              <a:solidFill>
                <a:schemeClr val="dk1"/>
              </a:solidFill>
              <a:latin typeface="Calibri"/>
              <a:ea typeface="Calibri"/>
              <a:cs typeface="Calibri"/>
              <a:sym typeface="Calibri"/>
            </a:endParaRPr>
          </a:p>
        </p:txBody>
      </p:sp>
      <p:sp>
        <p:nvSpPr>
          <p:cNvPr id="253" name="Google Shape;253;p14"/>
          <p:cNvSpPr/>
          <p:nvPr/>
        </p:nvSpPr>
        <p:spPr>
          <a:xfrm>
            <a:off x="2011680" y="1764792"/>
            <a:ext cx="47548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4" name="Google Shape;254;p14"/>
          <p:cNvSpPr/>
          <p:nvPr/>
        </p:nvSpPr>
        <p:spPr>
          <a:xfrm>
            <a:off x="2011680" y="1764792"/>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145</a:t>
            </a:r>
            <a:endParaRPr sz="800">
              <a:solidFill>
                <a:schemeClr val="dk1"/>
              </a:solidFill>
              <a:latin typeface="Calibri"/>
              <a:ea typeface="Calibri"/>
              <a:cs typeface="Calibri"/>
              <a:sym typeface="Calibri"/>
            </a:endParaRPr>
          </a:p>
        </p:txBody>
      </p:sp>
      <p:sp>
        <p:nvSpPr>
          <p:cNvPr id="255" name="Google Shape;255;p14"/>
          <p:cNvSpPr/>
          <p:nvPr/>
        </p:nvSpPr>
        <p:spPr>
          <a:xfrm>
            <a:off x="2505456" y="1764792"/>
            <a:ext cx="47548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6" name="Google Shape;256;p14"/>
          <p:cNvSpPr/>
          <p:nvPr/>
        </p:nvSpPr>
        <p:spPr>
          <a:xfrm>
            <a:off x="2505456" y="1764792"/>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5.0</a:t>
            </a:r>
            <a:endParaRPr sz="800">
              <a:solidFill>
                <a:schemeClr val="dk1"/>
              </a:solidFill>
              <a:latin typeface="Calibri"/>
              <a:ea typeface="Calibri"/>
              <a:cs typeface="Calibri"/>
              <a:sym typeface="Calibri"/>
            </a:endParaRPr>
          </a:p>
        </p:txBody>
      </p:sp>
      <p:sp>
        <p:nvSpPr>
          <p:cNvPr id="257" name="Google Shape;257;p14"/>
          <p:cNvSpPr/>
          <p:nvPr/>
        </p:nvSpPr>
        <p:spPr>
          <a:xfrm>
            <a:off x="2999232" y="1764792"/>
            <a:ext cx="38404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8" name="Google Shape;258;p14"/>
          <p:cNvSpPr/>
          <p:nvPr/>
        </p:nvSpPr>
        <p:spPr>
          <a:xfrm>
            <a:off x="2999232" y="1764792"/>
            <a:ext cx="38404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
        <p:nvSpPr>
          <p:cNvPr id="259" name="Google Shape;259;p14"/>
          <p:cNvSpPr/>
          <p:nvPr/>
        </p:nvSpPr>
        <p:spPr>
          <a:xfrm>
            <a:off x="411480" y="2020824"/>
            <a:ext cx="594360" cy="246888"/>
          </a:xfrm>
          <a:prstGeom prst="rect">
            <a:avLst/>
          </a:prstGeom>
          <a:solidFill>
            <a:srgbClr val="FFFFFF"/>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14"/>
          <p:cNvSpPr/>
          <p:nvPr/>
        </p:nvSpPr>
        <p:spPr>
          <a:xfrm>
            <a:off x="411480" y="2020824"/>
            <a:ext cx="594360"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S-02</a:t>
            </a:r>
            <a:endParaRPr sz="800">
              <a:solidFill>
                <a:schemeClr val="dk1"/>
              </a:solidFill>
              <a:latin typeface="Calibri"/>
              <a:ea typeface="Calibri"/>
              <a:cs typeface="Calibri"/>
              <a:sym typeface="Calibri"/>
            </a:endParaRPr>
          </a:p>
        </p:txBody>
      </p:sp>
      <p:sp>
        <p:nvSpPr>
          <p:cNvPr id="261" name="Google Shape;261;p14"/>
          <p:cNvSpPr/>
          <p:nvPr/>
        </p:nvSpPr>
        <p:spPr>
          <a:xfrm>
            <a:off x="1024128" y="2020824"/>
            <a:ext cx="475488" cy="246888"/>
          </a:xfrm>
          <a:prstGeom prst="rect">
            <a:avLst/>
          </a:prstGeom>
          <a:solidFill>
            <a:srgbClr val="FFFFFF"/>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2" name="Google Shape;262;p14"/>
          <p:cNvSpPr/>
          <p:nvPr/>
        </p:nvSpPr>
        <p:spPr>
          <a:xfrm>
            <a:off x="1024128" y="2020824"/>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455</a:t>
            </a:r>
            <a:endParaRPr sz="800">
              <a:solidFill>
                <a:schemeClr val="dk1"/>
              </a:solidFill>
              <a:latin typeface="Calibri"/>
              <a:ea typeface="Calibri"/>
              <a:cs typeface="Calibri"/>
              <a:sym typeface="Calibri"/>
            </a:endParaRPr>
          </a:p>
        </p:txBody>
      </p:sp>
      <p:sp>
        <p:nvSpPr>
          <p:cNvPr id="263" name="Google Shape;263;p14"/>
          <p:cNvSpPr/>
          <p:nvPr/>
        </p:nvSpPr>
        <p:spPr>
          <a:xfrm>
            <a:off x="1517904" y="2020824"/>
            <a:ext cx="475488" cy="246888"/>
          </a:xfrm>
          <a:prstGeom prst="rect">
            <a:avLst/>
          </a:prstGeom>
          <a:solidFill>
            <a:srgbClr val="FFFFFF"/>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4" name="Google Shape;264;p14"/>
          <p:cNvSpPr/>
          <p:nvPr/>
        </p:nvSpPr>
        <p:spPr>
          <a:xfrm>
            <a:off x="1517904" y="2020824"/>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502</a:t>
            </a:r>
            <a:endParaRPr sz="800">
              <a:solidFill>
                <a:schemeClr val="dk1"/>
              </a:solidFill>
              <a:latin typeface="Calibri"/>
              <a:ea typeface="Calibri"/>
              <a:cs typeface="Calibri"/>
              <a:sym typeface="Calibri"/>
            </a:endParaRPr>
          </a:p>
        </p:txBody>
      </p:sp>
      <p:sp>
        <p:nvSpPr>
          <p:cNvPr id="265" name="Google Shape;265;p14"/>
          <p:cNvSpPr/>
          <p:nvPr/>
        </p:nvSpPr>
        <p:spPr>
          <a:xfrm>
            <a:off x="2011680" y="2020824"/>
            <a:ext cx="475488" cy="246888"/>
          </a:xfrm>
          <a:prstGeom prst="rect">
            <a:avLst/>
          </a:prstGeom>
          <a:solidFill>
            <a:srgbClr val="FFFFFF"/>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6" name="Google Shape;266;p14"/>
          <p:cNvSpPr/>
          <p:nvPr/>
        </p:nvSpPr>
        <p:spPr>
          <a:xfrm>
            <a:off x="2011680" y="2020824"/>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890</a:t>
            </a:r>
            <a:endParaRPr sz="800">
              <a:solidFill>
                <a:schemeClr val="dk1"/>
              </a:solidFill>
              <a:latin typeface="Calibri"/>
              <a:ea typeface="Calibri"/>
              <a:cs typeface="Calibri"/>
              <a:sym typeface="Calibri"/>
            </a:endParaRPr>
          </a:p>
        </p:txBody>
      </p:sp>
      <p:sp>
        <p:nvSpPr>
          <p:cNvPr id="267" name="Google Shape;267;p14"/>
          <p:cNvSpPr/>
          <p:nvPr/>
        </p:nvSpPr>
        <p:spPr>
          <a:xfrm>
            <a:off x="2505456" y="2020824"/>
            <a:ext cx="475488" cy="246888"/>
          </a:xfrm>
          <a:prstGeom prst="rect">
            <a:avLst/>
          </a:prstGeom>
          <a:solidFill>
            <a:srgbClr val="FFFFFF"/>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8" name="Google Shape;268;p14"/>
          <p:cNvSpPr/>
          <p:nvPr/>
        </p:nvSpPr>
        <p:spPr>
          <a:xfrm>
            <a:off x="2505456" y="2020824"/>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6.8</a:t>
            </a:r>
            <a:endParaRPr sz="800">
              <a:solidFill>
                <a:schemeClr val="dk1"/>
              </a:solidFill>
              <a:latin typeface="Calibri"/>
              <a:ea typeface="Calibri"/>
              <a:cs typeface="Calibri"/>
              <a:sym typeface="Calibri"/>
            </a:endParaRPr>
          </a:p>
        </p:txBody>
      </p:sp>
      <p:sp>
        <p:nvSpPr>
          <p:cNvPr id="269" name="Google Shape;269;p14"/>
          <p:cNvSpPr/>
          <p:nvPr/>
        </p:nvSpPr>
        <p:spPr>
          <a:xfrm>
            <a:off x="2999232" y="2020824"/>
            <a:ext cx="384048" cy="246888"/>
          </a:xfrm>
          <a:prstGeom prst="rect">
            <a:avLst/>
          </a:prstGeom>
          <a:solidFill>
            <a:srgbClr val="FFFFFF"/>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0" name="Google Shape;270;p14"/>
          <p:cNvSpPr/>
          <p:nvPr/>
        </p:nvSpPr>
        <p:spPr>
          <a:xfrm>
            <a:off x="2999232" y="2020824"/>
            <a:ext cx="38404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
        <p:nvSpPr>
          <p:cNvPr id="271" name="Google Shape;271;p14"/>
          <p:cNvSpPr/>
          <p:nvPr/>
        </p:nvSpPr>
        <p:spPr>
          <a:xfrm>
            <a:off x="411480" y="2276856"/>
            <a:ext cx="594360"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2" name="Google Shape;272;p14"/>
          <p:cNvSpPr/>
          <p:nvPr/>
        </p:nvSpPr>
        <p:spPr>
          <a:xfrm>
            <a:off x="411480" y="2276856"/>
            <a:ext cx="594360"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S-03</a:t>
            </a:r>
            <a:endParaRPr sz="800">
              <a:solidFill>
                <a:schemeClr val="dk1"/>
              </a:solidFill>
              <a:latin typeface="Calibri"/>
              <a:ea typeface="Calibri"/>
              <a:cs typeface="Calibri"/>
              <a:sym typeface="Calibri"/>
            </a:endParaRPr>
          </a:p>
        </p:txBody>
      </p:sp>
      <p:sp>
        <p:nvSpPr>
          <p:cNvPr id="273" name="Google Shape;273;p14"/>
          <p:cNvSpPr/>
          <p:nvPr/>
        </p:nvSpPr>
        <p:spPr>
          <a:xfrm>
            <a:off x="1024128" y="2276856"/>
            <a:ext cx="47548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4" name="Google Shape;274;p14"/>
          <p:cNvSpPr/>
          <p:nvPr/>
        </p:nvSpPr>
        <p:spPr>
          <a:xfrm>
            <a:off x="1024128" y="2276856"/>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5.0</a:t>
            </a:r>
            <a:endParaRPr sz="800">
              <a:solidFill>
                <a:schemeClr val="dk1"/>
              </a:solidFill>
              <a:latin typeface="Calibri"/>
              <a:ea typeface="Calibri"/>
              <a:cs typeface="Calibri"/>
              <a:sym typeface="Calibri"/>
            </a:endParaRPr>
          </a:p>
        </p:txBody>
      </p:sp>
      <p:sp>
        <p:nvSpPr>
          <p:cNvPr id="275" name="Google Shape;275;p14"/>
          <p:cNvSpPr/>
          <p:nvPr/>
        </p:nvSpPr>
        <p:spPr>
          <a:xfrm>
            <a:off x="1517904" y="2276856"/>
            <a:ext cx="47548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14"/>
          <p:cNvSpPr/>
          <p:nvPr/>
        </p:nvSpPr>
        <p:spPr>
          <a:xfrm>
            <a:off x="1517904" y="2276856"/>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623</a:t>
            </a:r>
            <a:endParaRPr sz="800">
              <a:solidFill>
                <a:schemeClr val="dk1"/>
              </a:solidFill>
              <a:latin typeface="Calibri"/>
              <a:ea typeface="Calibri"/>
              <a:cs typeface="Calibri"/>
              <a:sym typeface="Calibri"/>
            </a:endParaRPr>
          </a:p>
        </p:txBody>
      </p:sp>
      <p:sp>
        <p:nvSpPr>
          <p:cNvPr id="277" name="Google Shape;277;p14"/>
          <p:cNvSpPr/>
          <p:nvPr/>
        </p:nvSpPr>
        <p:spPr>
          <a:xfrm>
            <a:off x="2011680" y="2276856"/>
            <a:ext cx="47548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8" name="Google Shape;278;p14"/>
          <p:cNvSpPr/>
          <p:nvPr/>
        </p:nvSpPr>
        <p:spPr>
          <a:xfrm>
            <a:off x="2011680" y="2276856"/>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34</a:t>
            </a:r>
            <a:endParaRPr sz="800">
              <a:solidFill>
                <a:schemeClr val="dk1"/>
              </a:solidFill>
              <a:latin typeface="Calibri"/>
              <a:ea typeface="Calibri"/>
              <a:cs typeface="Calibri"/>
              <a:sym typeface="Calibri"/>
            </a:endParaRPr>
          </a:p>
        </p:txBody>
      </p:sp>
      <p:sp>
        <p:nvSpPr>
          <p:cNvPr id="279" name="Google Shape;279;p14"/>
          <p:cNvSpPr/>
          <p:nvPr/>
        </p:nvSpPr>
        <p:spPr>
          <a:xfrm>
            <a:off x="2505456" y="2276856"/>
            <a:ext cx="47548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0" name="Google Shape;280;p14"/>
          <p:cNvSpPr/>
          <p:nvPr/>
        </p:nvSpPr>
        <p:spPr>
          <a:xfrm>
            <a:off x="2505456" y="2276856"/>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3.5</a:t>
            </a:r>
            <a:endParaRPr sz="800">
              <a:solidFill>
                <a:schemeClr val="dk1"/>
              </a:solidFill>
              <a:latin typeface="Calibri"/>
              <a:ea typeface="Calibri"/>
              <a:cs typeface="Calibri"/>
              <a:sym typeface="Calibri"/>
            </a:endParaRPr>
          </a:p>
        </p:txBody>
      </p:sp>
      <p:sp>
        <p:nvSpPr>
          <p:cNvPr id="281" name="Google Shape;281;p14"/>
          <p:cNvSpPr/>
          <p:nvPr/>
        </p:nvSpPr>
        <p:spPr>
          <a:xfrm>
            <a:off x="2999232" y="2276856"/>
            <a:ext cx="38404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2" name="Google Shape;282;p14"/>
          <p:cNvSpPr/>
          <p:nvPr/>
        </p:nvSpPr>
        <p:spPr>
          <a:xfrm>
            <a:off x="2999232" y="2276856"/>
            <a:ext cx="38404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
        <p:nvSpPr>
          <p:cNvPr id="283" name="Google Shape;283;p14"/>
          <p:cNvSpPr/>
          <p:nvPr/>
        </p:nvSpPr>
        <p:spPr>
          <a:xfrm>
            <a:off x="411480" y="2532888"/>
            <a:ext cx="594360" cy="246888"/>
          </a:xfrm>
          <a:prstGeom prst="rect">
            <a:avLst/>
          </a:prstGeom>
          <a:solidFill>
            <a:srgbClr val="FFFFFF"/>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4" name="Google Shape;284;p14"/>
          <p:cNvSpPr/>
          <p:nvPr/>
        </p:nvSpPr>
        <p:spPr>
          <a:xfrm>
            <a:off x="411480" y="2532888"/>
            <a:ext cx="594360"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dirty="0">
                <a:solidFill>
                  <a:srgbClr val="2C2C2C"/>
                </a:solidFill>
                <a:latin typeface="Calibri"/>
                <a:ea typeface="Calibri"/>
                <a:cs typeface="Calibri"/>
                <a:sym typeface="Calibri"/>
              </a:rPr>
              <a:t>S-04</a:t>
            </a:r>
            <a:endParaRPr sz="800" dirty="0">
              <a:solidFill>
                <a:schemeClr val="dk1"/>
              </a:solidFill>
              <a:latin typeface="Calibri"/>
              <a:ea typeface="Calibri"/>
              <a:cs typeface="Calibri"/>
              <a:sym typeface="Calibri"/>
            </a:endParaRPr>
          </a:p>
        </p:txBody>
      </p:sp>
      <p:sp>
        <p:nvSpPr>
          <p:cNvPr id="285" name="Google Shape;285;p14"/>
          <p:cNvSpPr/>
          <p:nvPr/>
        </p:nvSpPr>
        <p:spPr>
          <a:xfrm>
            <a:off x="1024128" y="2532888"/>
            <a:ext cx="475488" cy="246888"/>
          </a:xfrm>
          <a:prstGeom prst="rect">
            <a:avLst/>
          </a:prstGeom>
          <a:solidFill>
            <a:srgbClr val="FFFFFF"/>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6" name="Google Shape;286;p14"/>
          <p:cNvSpPr/>
          <p:nvPr/>
        </p:nvSpPr>
        <p:spPr>
          <a:xfrm>
            <a:off x="1024128" y="2532888"/>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290</a:t>
            </a:r>
            <a:endParaRPr sz="800">
              <a:solidFill>
                <a:schemeClr val="dk1"/>
              </a:solidFill>
              <a:latin typeface="Calibri"/>
              <a:ea typeface="Calibri"/>
              <a:cs typeface="Calibri"/>
              <a:sym typeface="Calibri"/>
            </a:endParaRPr>
          </a:p>
        </p:txBody>
      </p:sp>
      <p:sp>
        <p:nvSpPr>
          <p:cNvPr id="287" name="Google Shape;287;p14"/>
          <p:cNvSpPr/>
          <p:nvPr/>
        </p:nvSpPr>
        <p:spPr>
          <a:xfrm>
            <a:off x="1517904" y="2532888"/>
            <a:ext cx="475488" cy="246888"/>
          </a:xfrm>
          <a:prstGeom prst="rect">
            <a:avLst/>
          </a:prstGeom>
          <a:solidFill>
            <a:srgbClr val="FFFFFF"/>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8" name="Google Shape;288;p14"/>
          <p:cNvSpPr/>
          <p:nvPr/>
        </p:nvSpPr>
        <p:spPr>
          <a:xfrm>
            <a:off x="1517904" y="2532888"/>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418</a:t>
            </a:r>
            <a:endParaRPr sz="800">
              <a:solidFill>
                <a:schemeClr val="dk1"/>
              </a:solidFill>
              <a:latin typeface="Calibri"/>
              <a:ea typeface="Calibri"/>
              <a:cs typeface="Calibri"/>
              <a:sym typeface="Calibri"/>
            </a:endParaRPr>
          </a:p>
        </p:txBody>
      </p:sp>
      <p:sp>
        <p:nvSpPr>
          <p:cNvPr id="289" name="Google Shape;289;p14"/>
          <p:cNvSpPr/>
          <p:nvPr/>
        </p:nvSpPr>
        <p:spPr>
          <a:xfrm>
            <a:off x="2011680" y="2532888"/>
            <a:ext cx="475488" cy="246888"/>
          </a:xfrm>
          <a:prstGeom prst="rect">
            <a:avLst/>
          </a:prstGeom>
          <a:solidFill>
            <a:srgbClr val="FFFFFF"/>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0" name="Google Shape;290;p14"/>
          <p:cNvSpPr/>
          <p:nvPr/>
        </p:nvSpPr>
        <p:spPr>
          <a:xfrm>
            <a:off x="2011680" y="2532888"/>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2100</a:t>
            </a:r>
            <a:endParaRPr sz="800">
              <a:solidFill>
                <a:schemeClr val="dk1"/>
              </a:solidFill>
              <a:latin typeface="Calibri"/>
              <a:ea typeface="Calibri"/>
              <a:cs typeface="Calibri"/>
              <a:sym typeface="Calibri"/>
            </a:endParaRPr>
          </a:p>
        </p:txBody>
      </p:sp>
      <p:sp>
        <p:nvSpPr>
          <p:cNvPr id="291" name="Google Shape;291;p14"/>
          <p:cNvSpPr/>
          <p:nvPr/>
        </p:nvSpPr>
        <p:spPr>
          <a:xfrm>
            <a:off x="2505456" y="2532888"/>
            <a:ext cx="475488" cy="246888"/>
          </a:xfrm>
          <a:prstGeom prst="rect">
            <a:avLst/>
          </a:prstGeom>
          <a:solidFill>
            <a:srgbClr val="FFFFFF"/>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2" name="Google Shape;292;p14"/>
          <p:cNvSpPr/>
          <p:nvPr/>
        </p:nvSpPr>
        <p:spPr>
          <a:xfrm>
            <a:off x="2505456" y="2532888"/>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7.6</a:t>
            </a:r>
            <a:endParaRPr sz="800">
              <a:solidFill>
                <a:schemeClr val="dk1"/>
              </a:solidFill>
              <a:latin typeface="Calibri"/>
              <a:ea typeface="Calibri"/>
              <a:cs typeface="Calibri"/>
              <a:sym typeface="Calibri"/>
            </a:endParaRPr>
          </a:p>
        </p:txBody>
      </p:sp>
      <p:sp>
        <p:nvSpPr>
          <p:cNvPr id="293" name="Google Shape;293;p14"/>
          <p:cNvSpPr/>
          <p:nvPr/>
        </p:nvSpPr>
        <p:spPr>
          <a:xfrm>
            <a:off x="2999232" y="2532888"/>
            <a:ext cx="384048" cy="246888"/>
          </a:xfrm>
          <a:prstGeom prst="rect">
            <a:avLst/>
          </a:prstGeom>
          <a:solidFill>
            <a:srgbClr val="FFFFFF"/>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4" name="Google Shape;294;p14"/>
          <p:cNvSpPr/>
          <p:nvPr/>
        </p:nvSpPr>
        <p:spPr>
          <a:xfrm>
            <a:off x="2999232" y="2532888"/>
            <a:ext cx="38404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
        <p:nvSpPr>
          <p:cNvPr id="295" name="Google Shape;295;p14"/>
          <p:cNvSpPr/>
          <p:nvPr/>
        </p:nvSpPr>
        <p:spPr>
          <a:xfrm>
            <a:off x="411480" y="2788920"/>
            <a:ext cx="594360"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14"/>
          <p:cNvSpPr/>
          <p:nvPr/>
        </p:nvSpPr>
        <p:spPr>
          <a:xfrm>
            <a:off x="411480" y="2788920"/>
            <a:ext cx="594360"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
        <p:nvSpPr>
          <p:cNvPr id="297" name="Google Shape;297;p14"/>
          <p:cNvSpPr/>
          <p:nvPr/>
        </p:nvSpPr>
        <p:spPr>
          <a:xfrm>
            <a:off x="1024128" y="2788920"/>
            <a:ext cx="47548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8" name="Google Shape;298;p14"/>
          <p:cNvSpPr/>
          <p:nvPr/>
        </p:nvSpPr>
        <p:spPr>
          <a:xfrm>
            <a:off x="1024128" y="2788920"/>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
        <p:nvSpPr>
          <p:cNvPr id="299" name="Google Shape;299;p14"/>
          <p:cNvSpPr/>
          <p:nvPr/>
        </p:nvSpPr>
        <p:spPr>
          <a:xfrm>
            <a:off x="1517904" y="2788920"/>
            <a:ext cx="47548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0" name="Google Shape;300;p14"/>
          <p:cNvSpPr/>
          <p:nvPr/>
        </p:nvSpPr>
        <p:spPr>
          <a:xfrm>
            <a:off x="1517904" y="2788920"/>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
        <p:nvSpPr>
          <p:cNvPr id="301" name="Google Shape;301;p14"/>
          <p:cNvSpPr/>
          <p:nvPr/>
        </p:nvSpPr>
        <p:spPr>
          <a:xfrm>
            <a:off x="2011680" y="2788920"/>
            <a:ext cx="47548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2" name="Google Shape;302;p14"/>
          <p:cNvSpPr/>
          <p:nvPr/>
        </p:nvSpPr>
        <p:spPr>
          <a:xfrm>
            <a:off x="2011680" y="2788920"/>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
        <p:nvSpPr>
          <p:cNvPr id="303" name="Google Shape;303;p14"/>
          <p:cNvSpPr/>
          <p:nvPr/>
        </p:nvSpPr>
        <p:spPr>
          <a:xfrm>
            <a:off x="2505456" y="2788920"/>
            <a:ext cx="47548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4" name="Google Shape;304;p14"/>
          <p:cNvSpPr/>
          <p:nvPr/>
        </p:nvSpPr>
        <p:spPr>
          <a:xfrm>
            <a:off x="2505456" y="2788920"/>
            <a:ext cx="47548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
        <p:nvSpPr>
          <p:cNvPr id="305" name="Google Shape;305;p14"/>
          <p:cNvSpPr/>
          <p:nvPr/>
        </p:nvSpPr>
        <p:spPr>
          <a:xfrm>
            <a:off x="2999232" y="2788920"/>
            <a:ext cx="384048" cy="246888"/>
          </a:xfrm>
          <a:prstGeom prst="rect">
            <a:avLst/>
          </a:prstGeom>
          <a:solidFill>
            <a:srgbClr val="FFF0E6"/>
          </a:solidFill>
          <a:ln w="12700"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6" name="Google Shape;306;p14"/>
          <p:cNvSpPr/>
          <p:nvPr/>
        </p:nvSpPr>
        <p:spPr>
          <a:xfrm>
            <a:off x="2999232" y="2788920"/>
            <a:ext cx="384048" cy="2468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2C2C2C"/>
              </a:buClr>
              <a:buSzPts val="800"/>
              <a:buFont typeface="Calibri"/>
              <a:buNone/>
            </a:pPr>
            <a:r>
              <a:rPr lang="en-US" sz="800">
                <a:solidFill>
                  <a:srgbClr val="2C2C2C"/>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
        <p:nvSpPr>
          <p:cNvPr id="307" name="Google Shape;307;p14"/>
          <p:cNvSpPr/>
          <p:nvPr/>
        </p:nvSpPr>
        <p:spPr>
          <a:xfrm>
            <a:off x="411480" y="3843230"/>
            <a:ext cx="3931920" cy="8842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1000"/>
              <a:buFont typeface="Calibri"/>
              <a:buNone/>
            </a:pPr>
            <a:r>
              <a:rPr lang="en-US" sz="1000" dirty="0">
                <a:solidFill>
                  <a:srgbClr val="2C2C2C"/>
                </a:solidFill>
                <a:latin typeface="Calibri"/>
                <a:ea typeface="Calibri"/>
                <a:cs typeface="Calibri"/>
                <a:sym typeface="Calibri"/>
              </a:rPr>
              <a:t>60 samples, log-transformed Pb concentrations</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dirty="0">
                <a:solidFill>
                  <a:srgbClr val="2C2C2C"/>
                </a:solidFill>
                <a:latin typeface="Calibri"/>
                <a:ea typeface="Calibri"/>
                <a:cs typeface="Calibri"/>
                <a:sym typeface="Calibri"/>
              </a:rPr>
              <a:t>Directional variograms revealed anisotropy:</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dirty="0">
                <a:solidFill>
                  <a:srgbClr val="2C2C2C"/>
                </a:solidFill>
                <a:latin typeface="Calibri"/>
                <a:ea typeface="Calibri"/>
                <a:cs typeface="Calibri"/>
                <a:sym typeface="Calibri"/>
              </a:rPr>
              <a:t>Stronger correlation east-west (historical transport)</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dirty="0">
                <a:solidFill>
                  <a:srgbClr val="2C2C2C"/>
                </a:solidFill>
                <a:latin typeface="Calibri"/>
                <a:ea typeface="Calibri"/>
                <a:cs typeface="Calibri"/>
                <a:sym typeface="Calibri"/>
              </a:rPr>
              <a:t>Range: 180m (E-W) vs 110m (N-S)</a:t>
            </a:r>
            <a:endParaRPr sz="1000" dirty="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1000"/>
              <a:buFont typeface="Calibri"/>
              <a:buNone/>
            </a:pPr>
            <a:r>
              <a:rPr lang="en-US" sz="1000" dirty="0">
                <a:solidFill>
                  <a:srgbClr val="2C2C2C"/>
                </a:solidFill>
                <a:latin typeface="Calibri"/>
                <a:ea typeface="Calibri"/>
                <a:cs typeface="Calibri"/>
                <a:sym typeface="Calibri"/>
              </a:rPr>
              <a:t>Spherical anisotropic variogram fitted</a:t>
            </a:r>
            <a:endParaRPr sz="1000" dirty="0">
              <a:solidFill>
                <a:schemeClr val="dk1"/>
              </a:solidFill>
              <a:latin typeface="Calibri"/>
              <a:ea typeface="Calibri"/>
              <a:cs typeface="Calibri"/>
              <a:sym typeface="Calibri"/>
            </a:endParaRPr>
          </a:p>
        </p:txBody>
      </p:sp>
      <p:sp>
        <p:nvSpPr>
          <p:cNvPr id="308" name="Google Shape;308;p14"/>
          <p:cNvSpPr/>
          <p:nvPr/>
        </p:nvSpPr>
        <p:spPr>
          <a:xfrm>
            <a:off x="4709160" y="1051560"/>
            <a:ext cx="4114800" cy="365760"/>
          </a:xfrm>
          <a:prstGeom prst="rect">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9" name="Google Shape;309;p14"/>
          <p:cNvSpPr/>
          <p:nvPr/>
        </p:nvSpPr>
        <p:spPr>
          <a:xfrm>
            <a:off x="4709160" y="1051560"/>
            <a:ext cx="41148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50"/>
              <a:buFont typeface="Calibri"/>
              <a:buNone/>
            </a:pPr>
            <a:r>
              <a:rPr lang="en-US" sz="1150" b="1" dirty="0">
                <a:solidFill>
                  <a:srgbClr val="FFFFFF"/>
                </a:solidFill>
                <a:latin typeface="Calibri"/>
                <a:ea typeface="Calibri"/>
                <a:cs typeface="Calibri"/>
                <a:sym typeface="Calibri"/>
              </a:rPr>
              <a:t>Results and Impact</a:t>
            </a:r>
            <a:endParaRPr sz="1150" dirty="0">
              <a:solidFill>
                <a:schemeClr val="dk1"/>
              </a:solidFill>
              <a:latin typeface="Calibri"/>
              <a:ea typeface="Calibri"/>
              <a:cs typeface="Calibri"/>
              <a:sym typeface="Calibri"/>
            </a:endParaRPr>
          </a:p>
        </p:txBody>
      </p:sp>
      <p:sp>
        <p:nvSpPr>
          <p:cNvPr id="310" name="Google Shape;310;p14"/>
          <p:cNvSpPr/>
          <p:nvPr/>
        </p:nvSpPr>
        <p:spPr>
          <a:xfrm>
            <a:off x="4709160" y="1417320"/>
            <a:ext cx="4114800" cy="3383280"/>
          </a:xfrm>
          <a:prstGeom prst="rect">
            <a:avLst/>
          </a:prstGeom>
          <a:solidFill>
            <a:srgbClr val="D5EAE0"/>
          </a:solidFill>
          <a:ln w="12700" cap="flat" cmpd="sng">
            <a:solidFill>
              <a:srgbClr val="D5EA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1" name="Google Shape;311;p14"/>
          <p:cNvSpPr/>
          <p:nvPr/>
        </p:nvSpPr>
        <p:spPr>
          <a:xfrm>
            <a:off x="4846320" y="1572768"/>
            <a:ext cx="3749040" cy="256032"/>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2" name="Google Shape;312;p14"/>
          <p:cNvSpPr/>
          <p:nvPr/>
        </p:nvSpPr>
        <p:spPr>
          <a:xfrm>
            <a:off x="4846320" y="1572768"/>
            <a:ext cx="3749040"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50"/>
              <a:buFont typeface="Calibri"/>
              <a:buNone/>
            </a:pPr>
            <a:r>
              <a:rPr lang="en-US" sz="950" b="1" dirty="0">
                <a:solidFill>
                  <a:srgbClr val="FFFFFF"/>
                </a:solidFill>
                <a:latin typeface="Calibri"/>
                <a:ea typeface="Calibri"/>
                <a:cs typeface="Calibri"/>
                <a:sym typeface="Calibri"/>
              </a:rPr>
              <a:t>Prediction Surface</a:t>
            </a:r>
            <a:endParaRPr sz="950" dirty="0">
              <a:solidFill>
                <a:schemeClr val="dk1"/>
              </a:solidFill>
              <a:latin typeface="Calibri"/>
              <a:ea typeface="Calibri"/>
              <a:cs typeface="Calibri"/>
              <a:sym typeface="Calibri"/>
            </a:endParaRPr>
          </a:p>
        </p:txBody>
      </p:sp>
      <p:sp>
        <p:nvSpPr>
          <p:cNvPr id="313" name="Google Shape;313;p14"/>
          <p:cNvSpPr/>
          <p:nvPr/>
        </p:nvSpPr>
        <p:spPr>
          <a:xfrm>
            <a:off x="4846320" y="1847088"/>
            <a:ext cx="374904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Continuous Pb surface across 500 acres from 60 sample points</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95% confidence upper-bound map guided conservative remediation</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High-uncertainty zones targeted for additional sampling</a:t>
            </a:r>
            <a:endParaRPr sz="950">
              <a:solidFill>
                <a:schemeClr val="dk1"/>
              </a:solidFill>
              <a:latin typeface="Calibri"/>
              <a:ea typeface="Calibri"/>
              <a:cs typeface="Calibri"/>
              <a:sym typeface="Calibri"/>
            </a:endParaRPr>
          </a:p>
        </p:txBody>
      </p:sp>
      <p:sp>
        <p:nvSpPr>
          <p:cNvPr id="314" name="Google Shape;314;p14"/>
          <p:cNvSpPr/>
          <p:nvPr/>
        </p:nvSpPr>
        <p:spPr>
          <a:xfrm>
            <a:off x="4846320" y="2606040"/>
            <a:ext cx="3749040" cy="256032"/>
          </a:xfrm>
          <a:prstGeom prst="rect">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5" name="Google Shape;315;p14"/>
          <p:cNvSpPr/>
          <p:nvPr/>
        </p:nvSpPr>
        <p:spPr>
          <a:xfrm>
            <a:off x="4846320" y="2606040"/>
            <a:ext cx="3749040"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50"/>
              <a:buFont typeface="Calibri"/>
              <a:buNone/>
            </a:pPr>
            <a:r>
              <a:rPr lang="en-US" sz="950" b="1">
                <a:solidFill>
                  <a:srgbClr val="FFFFFF"/>
                </a:solidFill>
                <a:latin typeface="Calibri"/>
                <a:ea typeface="Calibri"/>
                <a:cs typeface="Calibri"/>
                <a:sym typeface="Calibri"/>
              </a:rPr>
              <a:t>Cost Savings</a:t>
            </a:r>
            <a:endParaRPr sz="950">
              <a:solidFill>
                <a:schemeClr val="dk1"/>
              </a:solidFill>
              <a:latin typeface="Calibri"/>
              <a:ea typeface="Calibri"/>
              <a:cs typeface="Calibri"/>
              <a:sym typeface="Calibri"/>
            </a:endParaRPr>
          </a:p>
        </p:txBody>
      </p:sp>
      <p:sp>
        <p:nvSpPr>
          <p:cNvPr id="316" name="Google Shape;316;p14"/>
          <p:cNvSpPr/>
          <p:nvPr/>
        </p:nvSpPr>
        <p:spPr>
          <a:xfrm>
            <a:off x="4846320" y="2880360"/>
            <a:ext cx="374904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30% cost reduction vs. traditional grid-based sampling approach</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Better risk management through quantified prediction uncertainty</a:t>
            </a:r>
            <a:endParaRPr sz="950">
              <a:solidFill>
                <a:schemeClr val="dk1"/>
              </a:solidFill>
              <a:latin typeface="Calibri"/>
              <a:ea typeface="Calibri"/>
              <a:cs typeface="Calibri"/>
              <a:sym typeface="Calibri"/>
            </a:endParaRPr>
          </a:p>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Defensible regulatory compliance documentation produced</a:t>
            </a:r>
            <a:endParaRPr sz="950">
              <a:solidFill>
                <a:schemeClr val="dk1"/>
              </a:solidFill>
              <a:latin typeface="Calibri"/>
              <a:ea typeface="Calibri"/>
              <a:cs typeface="Calibri"/>
              <a:sym typeface="Calibri"/>
            </a:endParaRPr>
          </a:p>
        </p:txBody>
      </p:sp>
      <p:sp>
        <p:nvSpPr>
          <p:cNvPr id="318" name="Google Shape;318;p14"/>
          <p:cNvSpPr/>
          <p:nvPr/>
        </p:nvSpPr>
        <p:spPr>
          <a:xfrm>
            <a:off x="4846320" y="3794760"/>
            <a:ext cx="3749040" cy="8686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950"/>
              <a:buFont typeface="Calibri"/>
              <a:buNone/>
            </a:pPr>
            <a:r>
              <a:rPr lang="en-US" sz="950" i="1" dirty="0">
                <a:solidFill>
                  <a:srgbClr val="2C2C2C"/>
                </a:solidFill>
                <a:latin typeface="Calibri"/>
                <a:ea typeface="Calibri"/>
                <a:cs typeface="Calibri"/>
                <a:sym typeface="Calibri"/>
              </a:rPr>
              <a:t>Result: Kriging transformed 60 discrete soil samples into a comprehensive decision support tool for site remediation planning, achieving a 30% cost reduction while improving risk assessment quality.</a:t>
            </a:r>
            <a:endParaRPr sz="950" dirty="0">
              <a:solidFill>
                <a:schemeClr val="dk1"/>
              </a:solidFill>
              <a:latin typeface="Calibri"/>
              <a:ea typeface="Calibri"/>
              <a:cs typeface="Calibri"/>
              <a:sym typeface="Calibri"/>
            </a:endParaRPr>
          </a:p>
        </p:txBody>
      </p:sp>
      <p:pic>
        <p:nvPicPr>
          <p:cNvPr id="2" name="Google Shape;425;p49">
            <a:extLst>
              <a:ext uri="{FF2B5EF4-FFF2-40B4-BE49-F238E27FC236}">
                <a16:creationId xmlns:a16="http://schemas.microsoft.com/office/drawing/2014/main" id="{F8D0F53B-B02F-9AEE-1AE3-D4EC970B7DF0}"/>
              </a:ext>
            </a:extLst>
          </p:cNvPr>
          <p:cNvPicPr preferRelativeResize="0"/>
          <p:nvPr/>
        </p:nvPicPr>
        <p:blipFill rotWithShape="1">
          <a:blip r:embed="rId3">
            <a:alphaModFix/>
          </a:blip>
          <a:srcRect/>
          <a:stretch/>
        </p:blipFill>
        <p:spPr>
          <a:xfrm>
            <a:off x="7854387" y="0"/>
            <a:ext cx="923853" cy="98923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47472" y="173736"/>
            <a:ext cx="182880" cy="182880"/>
          </a:xfrm>
          <a:prstGeom prst="ellipse">
            <a:avLst/>
          </a:prstGeom>
          <a:solidFill>
            <a:srgbClr val="4A9B8E"/>
          </a:solidFill>
          <a:ln w="12700">
            <a:solidFill>
              <a:srgbClr val="4A9B8E"/>
            </a:solidFill>
            <a:prstDash val="solid"/>
          </a:ln>
        </p:spPr>
        <p:txBody>
          <a:bodyPr/>
          <a:lstStyle/>
          <a:p>
            <a:endParaRPr lang="he-IL"/>
          </a:p>
        </p:txBody>
      </p:sp>
      <p:sp>
        <p:nvSpPr>
          <p:cNvPr id="3" name="Text 1"/>
          <p:cNvSpPr/>
          <p:nvPr/>
        </p:nvSpPr>
        <p:spPr>
          <a:xfrm>
            <a:off x="594360" y="118872"/>
            <a:ext cx="8229600" cy="329184"/>
          </a:xfrm>
          <a:prstGeom prst="rect">
            <a:avLst/>
          </a:prstGeom>
          <a:noFill/>
          <a:ln/>
        </p:spPr>
        <p:txBody>
          <a:bodyPr wrap="square" lIns="0" tIns="0" rIns="0" bIns="0" rtlCol="0" anchor="ctr"/>
          <a:lstStyle/>
          <a:p>
            <a:pPr marL="0" indent="0" algn="l">
              <a:buNone/>
            </a:pPr>
            <a:r>
              <a:rPr lang="en-US" sz="2200" b="1" dirty="0">
                <a:solidFill>
                  <a:srgbClr val="2D3142"/>
                </a:solidFill>
                <a:latin typeface="Calibri" pitchFamily="34" charset="0"/>
                <a:ea typeface="Calibri" pitchFamily="34" charset="-122"/>
                <a:cs typeface="Calibri" pitchFamily="34" charset="-120"/>
              </a:rPr>
              <a:t>Applications: Environmental Science</a:t>
            </a:r>
            <a:endParaRPr lang="en-US" sz="2200" dirty="0"/>
          </a:p>
        </p:txBody>
      </p:sp>
      <p:sp>
        <p:nvSpPr>
          <p:cNvPr id="4" name="Text 2"/>
          <p:cNvSpPr/>
          <p:nvPr/>
        </p:nvSpPr>
        <p:spPr>
          <a:xfrm>
            <a:off x="594360" y="457200"/>
            <a:ext cx="8229600" cy="201168"/>
          </a:xfrm>
          <a:prstGeom prst="rect">
            <a:avLst/>
          </a:prstGeom>
          <a:noFill/>
          <a:ln/>
        </p:spPr>
        <p:txBody>
          <a:bodyPr wrap="square" lIns="0" tIns="0" rIns="0" bIns="0" rtlCol="0" anchor="t"/>
          <a:lstStyle/>
          <a:p>
            <a:pPr marL="0" indent="0" algn="l">
              <a:buNone/>
            </a:pPr>
            <a:r>
              <a:rPr lang="en-US" sz="1050" i="1" dirty="0">
                <a:solidFill>
                  <a:srgbClr val="555555"/>
                </a:solidFill>
                <a:latin typeface="Calibri" pitchFamily="34" charset="0"/>
                <a:ea typeface="Calibri" pitchFamily="34" charset="-122"/>
                <a:cs typeface="Calibri" pitchFamily="34" charset="-120"/>
              </a:rPr>
              <a:t>Kriging enables continuous mapping of pollution, water, and climate variables from sparse monitoring networks.</a:t>
            </a:r>
            <a:endParaRPr lang="en-US" sz="1050" dirty="0"/>
          </a:p>
        </p:txBody>
      </p:sp>
      <p:sp>
        <p:nvSpPr>
          <p:cNvPr id="5" name="Shape 3"/>
          <p:cNvSpPr/>
          <p:nvPr/>
        </p:nvSpPr>
        <p:spPr>
          <a:xfrm>
            <a:off x="347472" y="731520"/>
            <a:ext cx="2670048" cy="274320"/>
          </a:xfrm>
          <a:prstGeom prst="rect">
            <a:avLst/>
          </a:prstGeom>
          <a:solidFill>
            <a:srgbClr val="5B7FA6"/>
          </a:solidFill>
          <a:ln w="12700">
            <a:solidFill>
              <a:srgbClr val="5B7FA6"/>
            </a:solidFill>
            <a:prstDash val="solid"/>
          </a:ln>
        </p:spPr>
        <p:txBody>
          <a:bodyPr/>
          <a:lstStyle/>
          <a:p>
            <a:endParaRPr lang="he-IL"/>
          </a:p>
        </p:txBody>
      </p:sp>
      <p:sp>
        <p:nvSpPr>
          <p:cNvPr id="6" name="Text 4"/>
          <p:cNvSpPr/>
          <p:nvPr/>
        </p:nvSpPr>
        <p:spPr>
          <a:xfrm>
            <a:off x="347472" y="731520"/>
            <a:ext cx="2670048"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Pollution Mapping</a:t>
            </a:r>
            <a:endParaRPr lang="en-US" sz="1100" dirty="0"/>
          </a:p>
        </p:txBody>
      </p:sp>
      <p:sp>
        <p:nvSpPr>
          <p:cNvPr id="7" name="Shape 5"/>
          <p:cNvSpPr/>
          <p:nvPr/>
        </p:nvSpPr>
        <p:spPr>
          <a:xfrm>
            <a:off x="347472" y="1005840"/>
            <a:ext cx="2670048" cy="3273552"/>
          </a:xfrm>
          <a:prstGeom prst="rect">
            <a:avLst/>
          </a:prstGeom>
          <a:solidFill>
            <a:srgbClr val="D6E4F0"/>
          </a:solidFill>
          <a:ln w="12700">
            <a:solidFill>
              <a:srgbClr val="D6E4F0"/>
            </a:solidFill>
            <a:prstDash val="solid"/>
          </a:ln>
          <a:effectLst>
            <a:outerShdw blurRad="88900" dist="25400" dir="8100000" algn="bl" rotWithShape="0">
              <a:srgbClr val="000000">
                <a:alpha val="9000"/>
              </a:srgbClr>
            </a:outerShdw>
          </a:effectLst>
        </p:spPr>
        <p:txBody>
          <a:bodyPr/>
          <a:lstStyle/>
          <a:p>
            <a:endParaRPr lang="he-IL"/>
          </a:p>
        </p:txBody>
      </p:sp>
      <p:sp>
        <p:nvSpPr>
          <p:cNvPr id="8" name="Text 6"/>
          <p:cNvSpPr/>
          <p:nvPr/>
        </p:nvSpPr>
        <p:spPr>
          <a:xfrm>
            <a:off x="438912" y="1078992"/>
            <a:ext cx="2487168" cy="1645920"/>
          </a:xfrm>
          <a:prstGeom prst="rect">
            <a:avLst/>
          </a:prstGeom>
          <a:noFill/>
          <a:ln/>
        </p:spPr>
        <p:txBody>
          <a:bodyPr wrap="square" lIns="0" tIns="0" rIns="0" bIns="0" rtlCol="0" anchor="t"/>
          <a:lstStyle/>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Continuous contamination surfaces from discrete monitoring stations</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Identifies hotspots invisible in raw point data</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Guides remediation and assesses regulatory compliance</a:t>
            </a:r>
            <a:endParaRPr lang="en-US" sz="1000" dirty="0"/>
          </a:p>
        </p:txBody>
      </p:sp>
      <p:sp>
        <p:nvSpPr>
          <p:cNvPr id="9" name="Shape 7"/>
          <p:cNvSpPr/>
          <p:nvPr/>
        </p:nvSpPr>
        <p:spPr>
          <a:xfrm>
            <a:off x="438912" y="2816352"/>
            <a:ext cx="2487168" cy="0"/>
          </a:xfrm>
          <a:prstGeom prst="line">
            <a:avLst/>
          </a:prstGeom>
          <a:noFill/>
          <a:ln w="6350">
            <a:solidFill>
              <a:srgbClr val="5B7FA6"/>
            </a:solidFill>
            <a:prstDash val="solid"/>
          </a:ln>
        </p:spPr>
        <p:txBody>
          <a:bodyPr/>
          <a:lstStyle/>
          <a:p>
            <a:endParaRPr lang="he-IL"/>
          </a:p>
        </p:txBody>
      </p:sp>
      <p:sp>
        <p:nvSpPr>
          <p:cNvPr id="10" name="Text 8"/>
          <p:cNvSpPr/>
          <p:nvPr/>
        </p:nvSpPr>
        <p:spPr>
          <a:xfrm>
            <a:off x="438912" y="2889504"/>
            <a:ext cx="2487168" cy="182880"/>
          </a:xfrm>
          <a:prstGeom prst="rect">
            <a:avLst/>
          </a:prstGeom>
          <a:noFill/>
          <a:ln/>
        </p:spPr>
        <p:txBody>
          <a:bodyPr wrap="square" lIns="0" tIns="0" rIns="0" bIns="0" rtlCol="0" anchor="t"/>
          <a:lstStyle/>
          <a:p>
            <a:pPr marL="0" indent="0" algn="l">
              <a:buNone/>
            </a:pPr>
            <a:r>
              <a:rPr lang="en-US" sz="850" b="1" dirty="0">
                <a:solidFill>
                  <a:srgbClr val="5B7FA6"/>
                </a:solidFill>
                <a:latin typeface="Calibri" pitchFamily="34" charset="0"/>
                <a:ea typeface="Calibri" pitchFamily="34" charset="-122"/>
                <a:cs typeface="Calibri" pitchFamily="34" charset="-120"/>
              </a:rPr>
              <a:t>Key References</a:t>
            </a:r>
            <a:endParaRPr lang="en-US" sz="850" dirty="0"/>
          </a:p>
        </p:txBody>
      </p:sp>
      <p:sp>
        <p:nvSpPr>
          <p:cNvPr id="11" name="Text 9"/>
          <p:cNvSpPr/>
          <p:nvPr/>
        </p:nvSpPr>
        <p:spPr>
          <a:xfrm>
            <a:off x="438912" y="3090672"/>
            <a:ext cx="2487168" cy="932688"/>
          </a:xfrm>
          <a:prstGeom prst="rect">
            <a:avLst/>
          </a:prstGeom>
          <a:noFill/>
          <a:ln/>
        </p:spPr>
        <p:txBody>
          <a:bodyPr wrap="square" lIns="0" tIns="0" rIns="0" bIns="0" rtlCol="0" anchor="t"/>
          <a:lstStyle/>
          <a:p>
            <a:pPr marL="0" indent="0" algn="l">
              <a:buNone/>
            </a:pPr>
            <a:r>
              <a:rPr lang="en-US" sz="750" i="1" dirty="0">
                <a:solidFill>
                  <a:srgbClr val="555555"/>
                </a:solidFill>
                <a:latin typeface="Calibri" pitchFamily="34" charset="0"/>
                <a:ea typeface="Calibri" pitchFamily="34" charset="-122"/>
                <a:cs typeface="Calibri" pitchFamily="34" charset="-120"/>
              </a:rPr>
              <a:t>[1] Goovaerts (1997). Geostatistics for Natural Resources Evaluation. Oxford UP.</a:t>
            </a:r>
            <a:endParaRPr lang="en-US" sz="750" dirty="0"/>
          </a:p>
          <a:p>
            <a:pPr marL="0" indent="0" algn="l">
              <a:buNone/>
            </a:pPr>
            <a:r>
              <a:rPr lang="en-US" sz="750" i="1" dirty="0">
                <a:solidFill>
                  <a:srgbClr val="555555"/>
                </a:solidFill>
                <a:latin typeface="Calibri" pitchFamily="34" charset="0"/>
                <a:ea typeface="Calibri" pitchFamily="34" charset="-122"/>
                <a:cs typeface="Calibri" pitchFamily="34" charset="-120"/>
              </a:rPr>
              <a:t>[2] Oliver &amp; Webster (2014). Tutorial guide to geostatistics. Catena, 113, 56–69.</a:t>
            </a:r>
            <a:endParaRPr lang="en-US" sz="750" dirty="0"/>
          </a:p>
        </p:txBody>
      </p:sp>
      <p:sp>
        <p:nvSpPr>
          <p:cNvPr id="12" name="Shape 10"/>
          <p:cNvSpPr/>
          <p:nvPr/>
        </p:nvSpPr>
        <p:spPr>
          <a:xfrm>
            <a:off x="3108960" y="731520"/>
            <a:ext cx="2670048" cy="274320"/>
          </a:xfrm>
          <a:prstGeom prst="rect">
            <a:avLst/>
          </a:prstGeom>
          <a:solidFill>
            <a:srgbClr val="4A9B8E"/>
          </a:solidFill>
          <a:ln w="12700">
            <a:solidFill>
              <a:srgbClr val="4A9B8E"/>
            </a:solidFill>
            <a:prstDash val="solid"/>
          </a:ln>
        </p:spPr>
        <p:txBody>
          <a:bodyPr/>
          <a:lstStyle/>
          <a:p>
            <a:endParaRPr lang="he-IL"/>
          </a:p>
        </p:txBody>
      </p:sp>
      <p:sp>
        <p:nvSpPr>
          <p:cNvPr id="13" name="Text 11"/>
          <p:cNvSpPr/>
          <p:nvPr/>
        </p:nvSpPr>
        <p:spPr>
          <a:xfrm>
            <a:off x="3108960" y="731520"/>
            <a:ext cx="2670048"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Groundwater Monitoring</a:t>
            </a:r>
            <a:endParaRPr lang="en-US" sz="1100" dirty="0"/>
          </a:p>
        </p:txBody>
      </p:sp>
      <p:sp>
        <p:nvSpPr>
          <p:cNvPr id="14" name="Shape 12"/>
          <p:cNvSpPr/>
          <p:nvPr/>
        </p:nvSpPr>
        <p:spPr>
          <a:xfrm>
            <a:off x="3108960" y="1005840"/>
            <a:ext cx="2670048" cy="3273552"/>
          </a:xfrm>
          <a:prstGeom prst="rect">
            <a:avLst/>
          </a:prstGeom>
          <a:solidFill>
            <a:srgbClr val="D5EDE9"/>
          </a:solidFill>
          <a:ln w="12700">
            <a:solidFill>
              <a:srgbClr val="D5EDE9"/>
            </a:solidFill>
            <a:prstDash val="solid"/>
          </a:ln>
          <a:effectLst>
            <a:outerShdw blurRad="88900" dist="25400" dir="8100000" algn="bl" rotWithShape="0">
              <a:srgbClr val="000000">
                <a:alpha val="9000"/>
              </a:srgbClr>
            </a:outerShdw>
          </a:effectLst>
        </p:spPr>
        <p:txBody>
          <a:bodyPr/>
          <a:lstStyle/>
          <a:p>
            <a:endParaRPr lang="he-IL"/>
          </a:p>
        </p:txBody>
      </p:sp>
      <p:sp>
        <p:nvSpPr>
          <p:cNvPr id="15" name="Text 13"/>
          <p:cNvSpPr/>
          <p:nvPr/>
        </p:nvSpPr>
        <p:spPr>
          <a:xfrm>
            <a:off x="3200400" y="1078992"/>
            <a:ext cx="2487168" cy="1645920"/>
          </a:xfrm>
          <a:prstGeom prst="rect">
            <a:avLst/>
          </a:prstGeom>
          <a:noFill/>
          <a:ln/>
        </p:spPr>
        <p:txBody>
          <a:bodyPr wrap="square" lIns="0" tIns="0" rIns="0" bIns="0" rtlCol="0" anchor="t"/>
          <a:lstStyle/>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Maps water table levels and contaminant plumes from well networks</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Predicts contamination spread for remediation system design</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Uncertainty maps prioritise new monitoring wells</a:t>
            </a:r>
            <a:endParaRPr lang="en-US" sz="1000" dirty="0"/>
          </a:p>
        </p:txBody>
      </p:sp>
      <p:sp>
        <p:nvSpPr>
          <p:cNvPr id="16" name="Shape 14"/>
          <p:cNvSpPr/>
          <p:nvPr/>
        </p:nvSpPr>
        <p:spPr>
          <a:xfrm>
            <a:off x="3200400" y="2816352"/>
            <a:ext cx="2487168" cy="0"/>
          </a:xfrm>
          <a:prstGeom prst="line">
            <a:avLst/>
          </a:prstGeom>
          <a:noFill/>
          <a:ln w="6350">
            <a:solidFill>
              <a:srgbClr val="4A9B8E"/>
            </a:solidFill>
            <a:prstDash val="solid"/>
          </a:ln>
        </p:spPr>
        <p:txBody>
          <a:bodyPr/>
          <a:lstStyle/>
          <a:p>
            <a:endParaRPr lang="he-IL"/>
          </a:p>
        </p:txBody>
      </p:sp>
      <p:sp>
        <p:nvSpPr>
          <p:cNvPr id="17" name="Text 15"/>
          <p:cNvSpPr/>
          <p:nvPr/>
        </p:nvSpPr>
        <p:spPr>
          <a:xfrm>
            <a:off x="3200400" y="2889504"/>
            <a:ext cx="2487168" cy="182880"/>
          </a:xfrm>
          <a:prstGeom prst="rect">
            <a:avLst/>
          </a:prstGeom>
          <a:noFill/>
          <a:ln/>
        </p:spPr>
        <p:txBody>
          <a:bodyPr wrap="square" lIns="0" tIns="0" rIns="0" bIns="0" rtlCol="0" anchor="t"/>
          <a:lstStyle/>
          <a:p>
            <a:pPr marL="0" indent="0" algn="l">
              <a:buNone/>
            </a:pPr>
            <a:r>
              <a:rPr lang="en-US" sz="850" b="1" dirty="0">
                <a:solidFill>
                  <a:srgbClr val="4A9B8E"/>
                </a:solidFill>
                <a:latin typeface="Calibri" pitchFamily="34" charset="0"/>
                <a:ea typeface="Calibri" pitchFamily="34" charset="-122"/>
                <a:cs typeface="Calibri" pitchFamily="34" charset="-120"/>
              </a:rPr>
              <a:t>Key References</a:t>
            </a:r>
            <a:endParaRPr lang="en-US" sz="850" dirty="0"/>
          </a:p>
        </p:txBody>
      </p:sp>
      <p:sp>
        <p:nvSpPr>
          <p:cNvPr id="18" name="Text 16"/>
          <p:cNvSpPr/>
          <p:nvPr/>
        </p:nvSpPr>
        <p:spPr>
          <a:xfrm>
            <a:off x="3200400" y="3090672"/>
            <a:ext cx="2487168" cy="932688"/>
          </a:xfrm>
          <a:prstGeom prst="rect">
            <a:avLst/>
          </a:prstGeom>
          <a:noFill/>
          <a:ln/>
        </p:spPr>
        <p:txBody>
          <a:bodyPr wrap="square" lIns="0" tIns="0" rIns="0" bIns="0" rtlCol="0" anchor="t"/>
          <a:lstStyle/>
          <a:p>
            <a:pPr marL="0" indent="0" algn="l">
              <a:buNone/>
            </a:pPr>
            <a:r>
              <a:rPr lang="en-US" sz="750" i="1" dirty="0">
                <a:solidFill>
                  <a:srgbClr val="555555"/>
                </a:solidFill>
                <a:latin typeface="Calibri" pitchFamily="34" charset="0"/>
                <a:ea typeface="Calibri" pitchFamily="34" charset="-122"/>
                <a:cs typeface="Calibri" pitchFamily="34" charset="-120"/>
              </a:rPr>
              <a:t>[3] Ahmadi &amp; Sedghamiz (2007). Geostatistical analysis of groundwater. Env. Monitor. Assess., 129, 277–285.</a:t>
            </a:r>
            <a:endParaRPr lang="en-US" sz="750" dirty="0"/>
          </a:p>
          <a:p>
            <a:pPr marL="0" indent="0" algn="l">
              <a:buNone/>
            </a:pPr>
            <a:r>
              <a:rPr lang="en-US" sz="750" i="1" dirty="0">
                <a:solidFill>
                  <a:srgbClr val="555555"/>
                </a:solidFill>
                <a:latin typeface="Calibri" pitchFamily="34" charset="0"/>
                <a:ea typeface="Calibri" pitchFamily="34" charset="-122"/>
                <a:cs typeface="Calibri" pitchFamily="34" charset="-120"/>
              </a:rPr>
              <a:t>[4] Delhomme (1978). Kriging in the hydrosciences. Adv. Water Resources, 1(5), 251–266.</a:t>
            </a:r>
            <a:endParaRPr lang="en-US" sz="750" dirty="0"/>
          </a:p>
        </p:txBody>
      </p:sp>
      <p:sp>
        <p:nvSpPr>
          <p:cNvPr id="19" name="Shape 17"/>
          <p:cNvSpPr/>
          <p:nvPr/>
        </p:nvSpPr>
        <p:spPr>
          <a:xfrm>
            <a:off x="5870448" y="731520"/>
            <a:ext cx="2670048" cy="274320"/>
          </a:xfrm>
          <a:prstGeom prst="rect">
            <a:avLst/>
          </a:prstGeom>
          <a:solidFill>
            <a:srgbClr val="E8734A"/>
          </a:solidFill>
          <a:ln w="12700">
            <a:solidFill>
              <a:srgbClr val="E8734A"/>
            </a:solidFill>
            <a:prstDash val="solid"/>
          </a:ln>
        </p:spPr>
        <p:txBody>
          <a:bodyPr/>
          <a:lstStyle/>
          <a:p>
            <a:endParaRPr lang="he-IL"/>
          </a:p>
        </p:txBody>
      </p:sp>
      <p:sp>
        <p:nvSpPr>
          <p:cNvPr id="20" name="Text 18"/>
          <p:cNvSpPr/>
          <p:nvPr/>
        </p:nvSpPr>
        <p:spPr>
          <a:xfrm>
            <a:off x="5870448" y="731520"/>
            <a:ext cx="2670048"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Climate Interpolation</a:t>
            </a:r>
            <a:endParaRPr lang="en-US" sz="1100" dirty="0"/>
          </a:p>
        </p:txBody>
      </p:sp>
      <p:sp>
        <p:nvSpPr>
          <p:cNvPr id="21" name="Shape 19"/>
          <p:cNvSpPr/>
          <p:nvPr/>
        </p:nvSpPr>
        <p:spPr>
          <a:xfrm>
            <a:off x="5870448" y="1005840"/>
            <a:ext cx="2670048" cy="3273552"/>
          </a:xfrm>
          <a:prstGeom prst="rect">
            <a:avLst/>
          </a:prstGeom>
          <a:solidFill>
            <a:srgbClr val="FDEBD7"/>
          </a:solidFill>
          <a:ln w="12700">
            <a:solidFill>
              <a:srgbClr val="FDEBD7"/>
            </a:solidFill>
            <a:prstDash val="solid"/>
          </a:ln>
          <a:effectLst>
            <a:outerShdw blurRad="88900" dist="25400" dir="8100000" algn="bl" rotWithShape="0">
              <a:srgbClr val="000000">
                <a:alpha val="9000"/>
              </a:srgbClr>
            </a:outerShdw>
          </a:effectLst>
        </p:spPr>
        <p:txBody>
          <a:bodyPr/>
          <a:lstStyle/>
          <a:p>
            <a:endParaRPr lang="he-IL"/>
          </a:p>
        </p:txBody>
      </p:sp>
      <p:sp>
        <p:nvSpPr>
          <p:cNvPr id="22" name="Text 20"/>
          <p:cNvSpPr/>
          <p:nvPr/>
        </p:nvSpPr>
        <p:spPr>
          <a:xfrm>
            <a:off x="5961888" y="1078992"/>
            <a:ext cx="2487168" cy="1645920"/>
          </a:xfrm>
          <a:prstGeom prst="rect">
            <a:avLst/>
          </a:prstGeom>
          <a:noFill/>
          <a:ln/>
        </p:spPr>
        <p:txBody>
          <a:bodyPr wrap="square" lIns="0" tIns="0" rIns="0" bIns="0" rtlCol="0" anchor="t"/>
          <a:lstStyle/>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Interpolates temperature and rainfall between sparse weather stations</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Produces gridded climate surfaces for ecological models</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Universal Kriging incorporates elevation as external drift variable</a:t>
            </a:r>
            <a:endParaRPr lang="en-US" sz="1000" dirty="0"/>
          </a:p>
        </p:txBody>
      </p:sp>
      <p:sp>
        <p:nvSpPr>
          <p:cNvPr id="23" name="Shape 21"/>
          <p:cNvSpPr/>
          <p:nvPr/>
        </p:nvSpPr>
        <p:spPr>
          <a:xfrm>
            <a:off x="5961888" y="2816352"/>
            <a:ext cx="2487168" cy="0"/>
          </a:xfrm>
          <a:prstGeom prst="line">
            <a:avLst/>
          </a:prstGeom>
          <a:noFill/>
          <a:ln w="6350">
            <a:solidFill>
              <a:srgbClr val="E8734A"/>
            </a:solidFill>
            <a:prstDash val="solid"/>
          </a:ln>
        </p:spPr>
        <p:txBody>
          <a:bodyPr/>
          <a:lstStyle/>
          <a:p>
            <a:endParaRPr lang="he-IL"/>
          </a:p>
        </p:txBody>
      </p:sp>
      <p:sp>
        <p:nvSpPr>
          <p:cNvPr id="24" name="Text 22"/>
          <p:cNvSpPr/>
          <p:nvPr/>
        </p:nvSpPr>
        <p:spPr>
          <a:xfrm>
            <a:off x="5961888" y="2889504"/>
            <a:ext cx="2487168" cy="182880"/>
          </a:xfrm>
          <a:prstGeom prst="rect">
            <a:avLst/>
          </a:prstGeom>
          <a:noFill/>
          <a:ln/>
        </p:spPr>
        <p:txBody>
          <a:bodyPr wrap="square" lIns="0" tIns="0" rIns="0" bIns="0" rtlCol="0" anchor="t"/>
          <a:lstStyle/>
          <a:p>
            <a:pPr marL="0" indent="0" algn="l">
              <a:buNone/>
            </a:pPr>
            <a:r>
              <a:rPr lang="en-US" sz="850" b="1" dirty="0">
                <a:solidFill>
                  <a:srgbClr val="E8734A"/>
                </a:solidFill>
                <a:latin typeface="Calibri" pitchFamily="34" charset="0"/>
                <a:ea typeface="Calibri" pitchFamily="34" charset="-122"/>
                <a:cs typeface="Calibri" pitchFamily="34" charset="-120"/>
              </a:rPr>
              <a:t>Key References</a:t>
            </a:r>
            <a:endParaRPr lang="en-US" sz="850" dirty="0"/>
          </a:p>
        </p:txBody>
      </p:sp>
      <p:sp>
        <p:nvSpPr>
          <p:cNvPr id="25" name="Text 23"/>
          <p:cNvSpPr/>
          <p:nvPr/>
        </p:nvSpPr>
        <p:spPr>
          <a:xfrm>
            <a:off x="5961888" y="3090672"/>
            <a:ext cx="2487168" cy="932688"/>
          </a:xfrm>
          <a:prstGeom prst="rect">
            <a:avLst/>
          </a:prstGeom>
          <a:noFill/>
          <a:ln/>
        </p:spPr>
        <p:txBody>
          <a:bodyPr wrap="square" lIns="0" tIns="0" rIns="0" bIns="0" rtlCol="0" anchor="t"/>
          <a:lstStyle/>
          <a:p>
            <a:pPr marL="0" indent="0" algn="l">
              <a:buNone/>
            </a:pPr>
            <a:r>
              <a:rPr lang="en-US" sz="750" i="1" dirty="0">
                <a:solidFill>
                  <a:srgbClr val="555555"/>
                </a:solidFill>
                <a:latin typeface="Calibri" pitchFamily="34" charset="0"/>
                <a:ea typeface="Calibri" pitchFamily="34" charset="-122"/>
                <a:cs typeface="Calibri" pitchFamily="34" charset="-120"/>
              </a:rPr>
              <a:t>[5] Ly et al. (2013). Geostatistical interpolation of daily rainfall. J. Hydrology, 498, 60–73.</a:t>
            </a:r>
            <a:endParaRPr lang="en-US" sz="750" dirty="0"/>
          </a:p>
          <a:p>
            <a:pPr marL="0" indent="0" algn="l">
              <a:buNone/>
            </a:pPr>
            <a:r>
              <a:rPr lang="en-US" sz="750" i="1" dirty="0">
                <a:solidFill>
                  <a:srgbClr val="555555"/>
                </a:solidFill>
                <a:latin typeface="Calibri" pitchFamily="34" charset="0"/>
                <a:ea typeface="Calibri" pitchFamily="34" charset="-122"/>
                <a:cs typeface="Calibri" pitchFamily="34" charset="-120"/>
              </a:rPr>
              <a:t>[6] Lloyd (2005). Integrating elevation into kriging for rainfall. Hydrol. Processes, 19, 1235–1252.</a:t>
            </a:r>
            <a:endParaRPr lang="en-US" sz="750" dirty="0"/>
          </a:p>
        </p:txBody>
      </p:sp>
      <p:sp>
        <p:nvSpPr>
          <p:cNvPr id="26" name="Shape 24"/>
          <p:cNvSpPr/>
          <p:nvPr/>
        </p:nvSpPr>
        <p:spPr>
          <a:xfrm>
            <a:off x="347472" y="4828032"/>
            <a:ext cx="8449056" cy="201168"/>
          </a:xfrm>
          <a:prstGeom prst="rect">
            <a:avLst/>
          </a:prstGeom>
          <a:solidFill>
            <a:srgbClr val="EDE8E0"/>
          </a:solidFill>
          <a:ln w="12700">
            <a:solidFill>
              <a:srgbClr val="D0C8BC"/>
            </a:solidFill>
            <a:prstDash val="solid"/>
          </a:ln>
        </p:spPr>
        <p:txBody>
          <a:bodyPr/>
          <a:lstStyle/>
          <a:p>
            <a:endParaRPr lang="he-IL"/>
          </a:p>
        </p:txBody>
      </p:sp>
      <p:sp>
        <p:nvSpPr>
          <p:cNvPr id="27" name="Text 25"/>
          <p:cNvSpPr/>
          <p:nvPr/>
        </p:nvSpPr>
        <p:spPr>
          <a:xfrm>
            <a:off x="438912" y="4828032"/>
            <a:ext cx="8266176" cy="201168"/>
          </a:xfrm>
          <a:prstGeom prst="rect">
            <a:avLst/>
          </a:prstGeom>
          <a:noFill/>
          <a:ln/>
        </p:spPr>
        <p:txBody>
          <a:bodyPr wrap="square" lIns="0" tIns="0" rIns="0" bIns="0" rtlCol="0" anchor="ctr"/>
          <a:lstStyle/>
          <a:p>
            <a:pPr marL="0" indent="0" algn="l">
              <a:buNone/>
            </a:pP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47472" y="173736"/>
            <a:ext cx="182880" cy="182880"/>
          </a:xfrm>
          <a:prstGeom prst="ellipse">
            <a:avLst/>
          </a:prstGeom>
          <a:solidFill>
            <a:srgbClr val="2E7D6B"/>
          </a:solidFill>
          <a:ln w="12700">
            <a:solidFill>
              <a:srgbClr val="2E7D6B"/>
            </a:solidFill>
            <a:prstDash val="solid"/>
          </a:ln>
        </p:spPr>
        <p:txBody>
          <a:bodyPr/>
          <a:lstStyle/>
          <a:p>
            <a:endParaRPr lang="he-IL"/>
          </a:p>
        </p:txBody>
      </p:sp>
      <p:sp>
        <p:nvSpPr>
          <p:cNvPr id="3" name="Text 1"/>
          <p:cNvSpPr/>
          <p:nvPr/>
        </p:nvSpPr>
        <p:spPr>
          <a:xfrm>
            <a:off x="594360" y="118872"/>
            <a:ext cx="8229600" cy="329184"/>
          </a:xfrm>
          <a:prstGeom prst="rect">
            <a:avLst/>
          </a:prstGeom>
          <a:noFill/>
          <a:ln/>
        </p:spPr>
        <p:txBody>
          <a:bodyPr wrap="square" lIns="0" tIns="0" rIns="0" bIns="0" rtlCol="0" anchor="ctr"/>
          <a:lstStyle/>
          <a:p>
            <a:pPr marL="0" indent="0" algn="l">
              <a:buNone/>
            </a:pPr>
            <a:r>
              <a:rPr lang="en-US" sz="2200" b="1" dirty="0">
                <a:solidFill>
                  <a:srgbClr val="2D3142"/>
                </a:solidFill>
                <a:latin typeface="Calibri" pitchFamily="34" charset="0"/>
                <a:ea typeface="Calibri" pitchFamily="34" charset="-122"/>
                <a:cs typeface="Calibri" pitchFamily="34" charset="-120"/>
              </a:rPr>
              <a:t>Applications: Ecology &amp; Conservation</a:t>
            </a:r>
            <a:endParaRPr lang="en-US" sz="2200" dirty="0"/>
          </a:p>
        </p:txBody>
      </p:sp>
      <p:sp>
        <p:nvSpPr>
          <p:cNvPr id="4" name="Text 2"/>
          <p:cNvSpPr/>
          <p:nvPr/>
        </p:nvSpPr>
        <p:spPr>
          <a:xfrm>
            <a:off x="594360" y="457200"/>
            <a:ext cx="8229600" cy="201168"/>
          </a:xfrm>
          <a:prstGeom prst="rect">
            <a:avLst/>
          </a:prstGeom>
          <a:noFill/>
          <a:ln/>
        </p:spPr>
        <p:txBody>
          <a:bodyPr wrap="square" lIns="0" tIns="0" rIns="0" bIns="0" rtlCol="0" anchor="t"/>
          <a:lstStyle/>
          <a:p>
            <a:pPr marL="0" indent="0" algn="l">
              <a:buNone/>
            </a:pPr>
            <a:r>
              <a:rPr lang="en-US" sz="1050" i="1" dirty="0">
                <a:solidFill>
                  <a:srgbClr val="555555"/>
                </a:solidFill>
                <a:latin typeface="Calibri" pitchFamily="34" charset="0"/>
                <a:ea typeface="Calibri" pitchFamily="34" charset="-122"/>
                <a:cs typeface="Calibri" pitchFamily="34" charset="-120"/>
              </a:rPr>
              <a:t>Spatial interpolation supports habitat modelling, species management, and conservation planning across landscapes.</a:t>
            </a:r>
            <a:endParaRPr lang="en-US" sz="1050" dirty="0"/>
          </a:p>
        </p:txBody>
      </p:sp>
      <p:sp>
        <p:nvSpPr>
          <p:cNvPr id="5" name="Shape 3"/>
          <p:cNvSpPr/>
          <p:nvPr/>
        </p:nvSpPr>
        <p:spPr>
          <a:xfrm>
            <a:off x="347472" y="731520"/>
            <a:ext cx="2670048" cy="274320"/>
          </a:xfrm>
          <a:prstGeom prst="rect">
            <a:avLst/>
          </a:prstGeom>
          <a:solidFill>
            <a:srgbClr val="2E7D6B"/>
          </a:solidFill>
          <a:ln w="12700">
            <a:solidFill>
              <a:srgbClr val="2E7D6B"/>
            </a:solidFill>
            <a:prstDash val="solid"/>
          </a:ln>
        </p:spPr>
        <p:txBody>
          <a:bodyPr/>
          <a:lstStyle/>
          <a:p>
            <a:endParaRPr lang="he-IL"/>
          </a:p>
        </p:txBody>
      </p:sp>
      <p:sp>
        <p:nvSpPr>
          <p:cNvPr id="6" name="Text 4"/>
          <p:cNvSpPr/>
          <p:nvPr/>
        </p:nvSpPr>
        <p:spPr>
          <a:xfrm>
            <a:off x="347472" y="731520"/>
            <a:ext cx="2670048"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Critical Habitat Identification</a:t>
            </a:r>
            <a:endParaRPr lang="en-US" sz="1100" dirty="0"/>
          </a:p>
        </p:txBody>
      </p:sp>
      <p:sp>
        <p:nvSpPr>
          <p:cNvPr id="7" name="Shape 5"/>
          <p:cNvSpPr/>
          <p:nvPr/>
        </p:nvSpPr>
        <p:spPr>
          <a:xfrm>
            <a:off x="347472" y="1005840"/>
            <a:ext cx="2670048" cy="3273552"/>
          </a:xfrm>
          <a:prstGeom prst="rect">
            <a:avLst/>
          </a:prstGeom>
          <a:solidFill>
            <a:srgbClr val="C8EDE5"/>
          </a:solidFill>
          <a:ln w="12700">
            <a:solidFill>
              <a:srgbClr val="C8EDE5"/>
            </a:solidFill>
            <a:prstDash val="solid"/>
          </a:ln>
          <a:effectLst>
            <a:outerShdw blurRad="88900" dist="25400" dir="8100000" algn="bl" rotWithShape="0">
              <a:srgbClr val="000000">
                <a:alpha val="9000"/>
              </a:srgbClr>
            </a:outerShdw>
          </a:effectLst>
        </p:spPr>
        <p:txBody>
          <a:bodyPr/>
          <a:lstStyle/>
          <a:p>
            <a:endParaRPr lang="he-IL"/>
          </a:p>
        </p:txBody>
      </p:sp>
      <p:sp>
        <p:nvSpPr>
          <p:cNvPr id="8" name="Text 6"/>
          <p:cNvSpPr/>
          <p:nvPr/>
        </p:nvSpPr>
        <p:spPr>
          <a:xfrm>
            <a:off x="438912" y="1078992"/>
            <a:ext cx="2487168" cy="1645920"/>
          </a:xfrm>
          <a:prstGeom prst="rect">
            <a:avLst/>
          </a:prstGeom>
          <a:noFill/>
          <a:ln/>
        </p:spPr>
        <p:txBody>
          <a:bodyPr wrap="square" lIns="0" tIns="0" rIns="0" bIns="0" rtlCol="0" anchor="t"/>
          <a:lstStyle/>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Kriged species-density surfaces identify core habitat from sparse survey data</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Uncertainty maps guide prioritisation of field surveys</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Combined with SDMs for multi-species reserve design</a:t>
            </a:r>
            <a:endParaRPr lang="en-US" sz="1000" dirty="0"/>
          </a:p>
        </p:txBody>
      </p:sp>
      <p:sp>
        <p:nvSpPr>
          <p:cNvPr id="9" name="Shape 7"/>
          <p:cNvSpPr/>
          <p:nvPr/>
        </p:nvSpPr>
        <p:spPr>
          <a:xfrm>
            <a:off x="438912" y="2816352"/>
            <a:ext cx="2487168" cy="0"/>
          </a:xfrm>
          <a:prstGeom prst="line">
            <a:avLst/>
          </a:prstGeom>
          <a:noFill/>
          <a:ln w="6350">
            <a:solidFill>
              <a:srgbClr val="2E7D6B"/>
            </a:solidFill>
            <a:prstDash val="solid"/>
          </a:ln>
        </p:spPr>
        <p:txBody>
          <a:bodyPr/>
          <a:lstStyle/>
          <a:p>
            <a:endParaRPr lang="he-IL"/>
          </a:p>
        </p:txBody>
      </p:sp>
      <p:sp>
        <p:nvSpPr>
          <p:cNvPr id="10" name="Text 8"/>
          <p:cNvSpPr/>
          <p:nvPr/>
        </p:nvSpPr>
        <p:spPr>
          <a:xfrm>
            <a:off x="438912" y="2889504"/>
            <a:ext cx="2487168" cy="182880"/>
          </a:xfrm>
          <a:prstGeom prst="rect">
            <a:avLst/>
          </a:prstGeom>
          <a:noFill/>
          <a:ln/>
        </p:spPr>
        <p:txBody>
          <a:bodyPr wrap="square" lIns="0" tIns="0" rIns="0" bIns="0" rtlCol="0" anchor="t"/>
          <a:lstStyle/>
          <a:p>
            <a:pPr marL="0" indent="0" algn="l">
              <a:buNone/>
            </a:pPr>
            <a:r>
              <a:rPr lang="en-US" sz="850" b="1" dirty="0">
                <a:solidFill>
                  <a:srgbClr val="2E7D6B"/>
                </a:solidFill>
                <a:latin typeface="Calibri" pitchFamily="34" charset="0"/>
                <a:ea typeface="Calibri" pitchFamily="34" charset="-122"/>
                <a:cs typeface="Calibri" pitchFamily="34" charset="-120"/>
              </a:rPr>
              <a:t>Key References</a:t>
            </a:r>
            <a:endParaRPr lang="en-US" sz="850" dirty="0"/>
          </a:p>
        </p:txBody>
      </p:sp>
      <p:sp>
        <p:nvSpPr>
          <p:cNvPr id="11" name="Text 9"/>
          <p:cNvSpPr/>
          <p:nvPr/>
        </p:nvSpPr>
        <p:spPr>
          <a:xfrm>
            <a:off x="438912" y="3090672"/>
            <a:ext cx="2487168" cy="932688"/>
          </a:xfrm>
          <a:prstGeom prst="rect">
            <a:avLst/>
          </a:prstGeom>
          <a:noFill/>
          <a:ln/>
        </p:spPr>
        <p:txBody>
          <a:bodyPr wrap="square" lIns="0" tIns="0" rIns="0" bIns="0" rtlCol="0" anchor="t"/>
          <a:lstStyle/>
          <a:p>
            <a:pPr marL="0" indent="0" algn="l">
              <a:buNone/>
            </a:pPr>
            <a:r>
              <a:rPr lang="en-US" sz="750" i="1" dirty="0">
                <a:solidFill>
                  <a:srgbClr val="555555"/>
                </a:solidFill>
                <a:latin typeface="Calibri" pitchFamily="34" charset="0"/>
                <a:ea typeface="Calibri" pitchFamily="34" charset="-122"/>
                <a:cs typeface="Calibri" pitchFamily="34" charset="-120"/>
              </a:rPr>
              <a:t>[7] Guisan &amp; Zimmermann (2000). Predictive habitat distribution models. Ecol. Modelling, 135, 147–186.</a:t>
            </a:r>
            <a:endParaRPr lang="en-US" sz="750" dirty="0"/>
          </a:p>
          <a:p>
            <a:pPr marL="0" indent="0" algn="l">
              <a:buNone/>
            </a:pPr>
            <a:r>
              <a:rPr lang="en-US" sz="750" i="1" dirty="0">
                <a:solidFill>
                  <a:srgbClr val="555555"/>
                </a:solidFill>
                <a:latin typeface="Calibri" pitchFamily="34" charset="0"/>
                <a:ea typeface="Calibri" pitchFamily="34" charset="-122"/>
                <a:cs typeface="Calibri" pitchFamily="34" charset="-120"/>
              </a:rPr>
              <a:t>[8] Kerr &amp; Ostrovsky (2003). From space to species. Trends Ecol. Evol., 18, 299–305.</a:t>
            </a:r>
            <a:endParaRPr lang="en-US" sz="750" dirty="0"/>
          </a:p>
        </p:txBody>
      </p:sp>
      <p:sp>
        <p:nvSpPr>
          <p:cNvPr id="12" name="Shape 10"/>
          <p:cNvSpPr/>
          <p:nvPr/>
        </p:nvSpPr>
        <p:spPr>
          <a:xfrm>
            <a:off x="3108960" y="731520"/>
            <a:ext cx="2670048" cy="274320"/>
          </a:xfrm>
          <a:prstGeom prst="rect">
            <a:avLst/>
          </a:prstGeom>
          <a:solidFill>
            <a:srgbClr val="4A9B8E"/>
          </a:solidFill>
          <a:ln w="12700">
            <a:solidFill>
              <a:srgbClr val="4A9B8E"/>
            </a:solidFill>
            <a:prstDash val="solid"/>
          </a:ln>
        </p:spPr>
        <p:txBody>
          <a:bodyPr/>
          <a:lstStyle/>
          <a:p>
            <a:endParaRPr lang="he-IL"/>
          </a:p>
        </p:txBody>
      </p:sp>
      <p:sp>
        <p:nvSpPr>
          <p:cNvPr id="13" name="Text 11"/>
          <p:cNvSpPr/>
          <p:nvPr/>
        </p:nvSpPr>
        <p:spPr>
          <a:xfrm>
            <a:off x="3108960" y="731520"/>
            <a:ext cx="2670048"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Wildlife Corridor Design</a:t>
            </a:r>
            <a:endParaRPr lang="en-US" sz="1100" dirty="0"/>
          </a:p>
        </p:txBody>
      </p:sp>
      <p:sp>
        <p:nvSpPr>
          <p:cNvPr id="14" name="Shape 12"/>
          <p:cNvSpPr/>
          <p:nvPr/>
        </p:nvSpPr>
        <p:spPr>
          <a:xfrm>
            <a:off x="3108960" y="1005840"/>
            <a:ext cx="2670048" cy="3273552"/>
          </a:xfrm>
          <a:prstGeom prst="rect">
            <a:avLst/>
          </a:prstGeom>
          <a:solidFill>
            <a:srgbClr val="D5EDE9"/>
          </a:solidFill>
          <a:ln w="12700">
            <a:solidFill>
              <a:srgbClr val="D5EDE9"/>
            </a:solidFill>
            <a:prstDash val="solid"/>
          </a:ln>
          <a:effectLst>
            <a:outerShdw blurRad="88900" dist="25400" dir="8100000" algn="bl" rotWithShape="0">
              <a:srgbClr val="000000">
                <a:alpha val="9000"/>
              </a:srgbClr>
            </a:outerShdw>
          </a:effectLst>
        </p:spPr>
        <p:txBody>
          <a:bodyPr/>
          <a:lstStyle/>
          <a:p>
            <a:endParaRPr lang="he-IL"/>
          </a:p>
        </p:txBody>
      </p:sp>
      <p:sp>
        <p:nvSpPr>
          <p:cNvPr id="15" name="Text 13"/>
          <p:cNvSpPr/>
          <p:nvPr/>
        </p:nvSpPr>
        <p:spPr>
          <a:xfrm>
            <a:off x="3200400" y="1078992"/>
            <a:ext cx="2487168" cy="1645920"/>
          </a:xfrm>
          <a:prstGeom prst="rect">
            <a:avLst/>
          </a:prstGeom>
          <a:noFill/>
          <a:ln/>
        </p:spPr>
        <p:txBody>
          <a:bodyPr wrap="square" lIns="0" tIns="0" rIns="0" bIns="0" rtlCol="0" anchor="t"/>
          <a:lstStyle/>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Interpolates landscape resistance surfaces from field-sampled variables</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Identifies least-cost movement paths between habitat patches</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Designs corridors that maintain genetic connectivity</a:t>
            </a:r>
            <a:endParaRPr lang="en-US" sz="1000" dirty="0"/>
          </a:p>
        </p:txBody>
      </p:sp>
      <p:sp>
        <p:nvSpPr>
          <p:cNvPr id="16" name="Shape 14"/>
          <p:cNvSpPr/>
          <p:nvPr/>
        </p:nvSpPr>
        <p:spPr>
          <a:xfrm>
            <a:off x="3200400" y="2816352"/>
            <a:ext cx="2487168" cy="0"/>
          </a:xfrm>
          <a:prstGeom prst="line">
            <a:avLst/>
          </a:prstGeom>
          <a:noFill/>
          <a:ln w="6350">
            <a:solidFill>
              <a:srgbClr val="4A9B8E"/>
            </a:solidFill>
            <a:prstDash val="solid"/>
          </a:ln>
        </p:spPr>
        <p:txBody>
          <a:bodyPr/>
          <a:lstStyle/>
          <a:p>
            <a:endParaRPr lang="he-IL"/>
          </a:p>
        </p:txBody>
      </p:sp>
      <p:sp>
        <p:nvSpPr>
          <p:cNvPr id="17" name="Text 15"/>
          <p:cNvSpPr/>
          <p:nvPr/>
        </p:nvSpPr>
        <p:spPr>
          <a:xfrm>
            <a:off x="3200400" y="2889504"/>
            <a:ext cx="2487168" cy="182880"/>
          </a:xfrm>
          <a:prstGeom prst="rect">
            <a:avLst/>
          </a:prstGeom>
          <a:noFill/>
          <a:ln/>
        </p:spPr>
        <p:txBody>
          <a:bodyPr wrap="square" lIns="0" tIns="0" rIns="0" bIns="0" rtlCol="0" anchor="t"/>
          <a:lstStyle/>
          <a:p>
            <a:pPr marL="0" indent="0" algn="l">
              <a:buNone/>
            </a:pPr>
            <a:r>
              <a:rPr lang="en-US" sz="850" b="1" dirty="0">
                <a:solidFill>
                  <a:srgbClr val="4A9B8E"/>
                </a:solidFill>
                <a:latin typeface="Calibri" pitchFamily="34" charset="0"/>
                <a:ea typeface="Calibri" pitchFamily="34" charset="-122"/>
                <a:cs typeface="Calibri" pitchFamily="34" charset="-120"/>
              </a:rPr>
              <a:t>Key References</a:t>
            </a:r>
            <a:endParaRPr lang="en-US" sz="850" dirty="0"/>
          </a:p>
        </p:txBody>
      </p:sp>
      <p:sp>
        <p:nvSpPr>
          <p:cNvPr id="18" name="Text 16"/>
          <p:cNvSpPr/>
          <p:nvPr/>
        </p:nvSpPr>
        <p:spPr>
          <a:xfrm>
            <a:off x="3200400" y="3090672"/>
            <a:ext cx="2487168" cy="932688"/>
          </a:xfrm>
          <a:prstGeom prst="rect">
            <a:avLst/>
          </a:prstGeom>
          <a:noFill/>
          <a:ln/>
        </p:spPr>
        <p:txBody>
          <a:bodyPr wrap="square" lIns="0" tIns="0" rIns="0" bIns="0" rtlCol="0" anchor="t"/>
          <a:lstStyle/>
          <a:p>
            <a:pPr marL="0" indent="0" algn="l">
              <a:buNone/>
            </a:pPr>
            <a:r>
              <a:rPr lang="en-US" sz="750" i="1" dirty="0">
                <a:solidFill>
                  <a:srgbClr val="555555"/>
                </a:solidFill>
                <a:latin typeface="Calibri" pitchFamily="34" charset="0"/>
                <a:ea typeface="Calibri" pitchFamily="34" charset="-122"/>
                <a:cs typeface="Calibri" pitchFamily="34" charset="-120"/>
              </a:rPr>
              <a:t>Berardi, D., </a:t>
            </a:r>
            <a:r>
              <a:rPr lang="en-US" sz="750" i="1" dirty="0" err="1">
                <a:solidFill>
                  <a:srgbClr val="555555"/>
                </a:solidFill>
                <a:latin typeface="Calibri" pitchFamily="34" charset="0"/>
                <a:ea typeface="Calibri" pitchFamily="34" charset="-122"/>
                <a:cs typeface="Calibri" pitchFamily="34" charset="-120"/>
              </a:rPr>
              <a:t>Galuppi</a:t>
            </a:r>
            <a:r>
              <a:rPr lang="en-US" sz="750" i="1" dirty="0">
                <a:solidFill>
                  <a:srgbClr val="555555"/>
                </a:solidFill>
                <a:latin typeface="Calibri" pitchFamily="34" charset="0"/>
                <a:ea typeface="Calibri" pitchFamily="34" charset="-122"/>
                <a:cs typeface="Calibri" pitchFamily="34" charset="-120"/>
              </a:rPr>
              <a:t>, M., Proietti, P., Libertà, A., &amp; Lombardi, M. (2026). Geostatistical modeling of meteorological condition for a decision support system in wildfire resilience management. Natural Hazards, 122(7), 274.</a:t>
            </a:r>
            <a:endParaRPr lang="en-US" sz="750" dirty="0"/>
          </a:p>
        </p:txBody>
      </p:sp>
      <p:sp>
        <p:nvSpPr>
          <p:cNvPr id="19" name="Shape 17"/>
          <p:cNvSpPr/>
          <p:nvPr/>
        </p:nvSpPr>
        <p:spPr>
          <a:xfrm>
            <a:off x="5870448" y="731520"/>
            <a:ext cx="2670048" cy="274320"/>
          </a:xfrm>
          <a:prstGeom prst="rect">
            <a:avLst/>
          </a:prstGeom>
          <a:solidFill>
            <a:srgbClr val="7C6FA0"/>
          </a:solidFill>
          <a:ln w="12700">
            <a:solidFill>
              <a:srgbClr val="7C6FA0"/>
            </a:solidFill>
            <a:prstDash val="solid"/>
          </a:ln>
        </p:spPr>
        <p:txBody>
          <a:bodyPr/>
          <a:lstStyle/>
          <a:p>
            <a:endParaRPr lang="he-IL"/>
          </a:p>
        </p:txBody>
      </p:sp>
      <p:sp>
        <p:nvSpPr>
          <p:cNvPr id="20" name="Text 18"/>
          <p:cNvSpPr/>
          <p:nvPr/>
        </p:nvSpPr>
        <p:spPr>
          <a:xfrm>
            <a:off x="5870448" y="731520"/>
            <a:ext cx="2670048"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Invasive Species Management</a:t>
            </a:r>
            <a:endParaRPr lang="en-US" sz="1100" dirty="0"/>
          </a:p>
        </p:txBody>
      </p:sp>
      <p:sp>
        <p:nvSpPr>
          <p:cNvPr id="21" name="Shape 19"/>
          <p:cNvSpPr/>
          <p:nvPr/>
        </p:nvSpPr>
        <p:spPr>
          <a:xfrm>
            <a:off x="5870448" y="1005840"/>
            <a:ext cx="2670048" cy="3273552"/>
          </a:xfrm>
          <a:prstGeom prst="rect">
            <a:avLst/>
          </a:prstGeom>
          <a:solidFill>
            <a:srgbClr val="E8E4F3"/>
          </a:solidFill>
          <a:ln w="12700">
            <a:solidFill>
              <a:srgbClr val="E8E4F3"/>
            </a:solidFill>
            <a:prstDash val="solid"/>
          </a:ln>
          <a:effectLst>
            <a:outerShdw blurRad="88900" dist="25400" dir="8100000" algn="bl" rotWithShape="0">
              <a:srgbClr val="000000">
                <a:alpha val="9000"/>
              </a:srgbClr>
            </a:outerShdw>
          </a:effectLst>
        </p:spPr>
        <p:txBody>
          <a:bodyPr/>
          <a:lstStyle/>
          <a:p>
            <a:endParaRPr lang="he-IL"/>
          </a:p>
        </p:txBody>
      </p:sp>
      <p:sp>
        <p:nvSpPr>
          <p:cNvPr id="22" name="Text 20"/>
          <p:cNvSpPr/>
          <p:nvPr/>
        </p:nvSpPr>
        <p:spPr>
          <a:xfrm>
            <a:off x="5961888" y="1078992"/>
            <a:ext cx="2487168" cy="1645920"/>
          </a:xfrm>
          <a:prstGeom prst="rect">
            <a:avLst/>
          </a:prstGeom>
          <a:noFill/>
          <a:ln/>
        </p:spPr>
        <p:txBody>
          <a:bodyPr wrap="square" lIns="0" tIns="0" rIns="0" bIns="0" rtlCol="0" anchor="t"/>
          <a:lstStyle/>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Indicator Kriging maps probability of presence exceeding a density threshold</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Spread-front predictions from interpolated occurrence data</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Guides allocation of control resources to high-risk areas</a:t>
            </a:r>
            <a:endParaRPr lang="en-US" sz="1000" dirty="0"/>
          </a:p>
        </p:txBody>
      </p:sp>
      <p:sp>
        <p:nvSpPr>
          <p:cNvPr id="23" name="Shape 21"/>
          <p:cNvSpPr/>
          <p:nvPr/>
        </p:nvSpPr>
        <p:spPr>
          <a:xfrm>
            <a:off x="5961888" y="2816352"/>
            <a:ext cx="2487168" cy="0"/>
          </a:xfrm>
          <a:prstGeom prst="line">
            <a:avLst/>
          </a:prstGeom>
          <a:noFill/>
          <a:ln w="6350">
            <a:solidFill>
              <a:srgbClr val="7C6FA0"/>
            </a:solidFill>
            <a:prstDash val="solid"/>
          </a:ln>
        </p:spPr>
        <p:txBody>
          <a:bodyPr/>
          <a:lstStyle/>
          <a:p>
            <a:endParaRPr lang="he-IL"/>
          </a:p>
        </p:txBody>
      </p:sp>
      <p:sp>
        <p:nvSpPr>
          <p:cNvPr id="24" name="Text 22"/>
          <p:cNvSpPr/>
          <p:nvPr/>
        </p:nvSpPr>
        <p:spPr>
          <a:xfrm>
            <a:off x="5961888" y="2889504"/>
            <a:ext cx="2487168" cy="182880"/>
          </a:xfrm>
          <a:prstGeom prst="rect">
            <a:avLst/>
          </a:prstGeom>
          <a:noFill/>
          <a:ln/>
        </p:spPr>
        <p:txBody>
          <a:bodyPr wrap="square" lIns="0" tIns="0" rIns="0" bIns="0" rtlCol="0" anchor="t"/>
          <a:lstStyle/>
          <a:p>
            <a:pPr marL="0" indent="0" algn="l">
              <a:buNone/>
            </a:pPr>
            <a:r>
              <a:rPr lang="en-US" sz="850" b="1" dirty="0">
                <a:solidFill>
                  <a:srgbClr val="7C6FA0"/>
                </a:solidFill>
                <a:latin typeface="Calibri" pitchFamily="34" charset="0"/>
                <a:ea typeface="Calibri" pitchFamily="34" charset="-122"/>
                <a:cs typeface="Calibri" pitchFamily="34" charset="-120"/>
              </a:rPr>
              <a:t>Key References</a:t>
            </a:r>
            <a:endParaRPr lang="en-US" sz="850" dirty="0"/>
          </a:p>
        </p:txBody>
      </p:sp>
      <p:sp>
        <p:nvSpPr>
          <p:cNvPr id="25" name="Text 23"/>
          <p:cNvSpPr/>
          <p:nvPr/>
        </p:nvSpPr>
        <p:spPr>
          <a:xfrm>
            <a:off x="5961888" y="3090672"/>
            <a:ext cx="2487168" cy="932688"/>
          </a:xfrm>
          <a:prstGeom prst="rect">
            <a:avLst/>
          </a:prstGeom>
          <a:noFill/>
          <a:ln/>
        </p:spPr>
        <p:txBody>
          <a:bodyPr wrap="square" lIns="0" tIns="0" rIns="0" bIns="0" rtlCol="0" anchor="t"/>
          <a:lstStyle/>
          <a:p>
            <a:pPr marL="0" indent="0" algn="l">
              <a:buNone/>
            </a:pPr>
            <a:r>
              <a:rPr lang="en-US" sz="750" i="1" dirty="0">
                <a:solidFill>
                  <a:srgbClr val="555555"/>
                </a:solidFill>
                <a:latin typeface="Calibri" pitchFamily="34" charset="0"/>
                <a:ea typeface="Calibri" pitchFamily="34" charset="-122"/>
                <a:cs typeface="Calibri" pitchFamily="34" charset="-120"/>
              </a:rPr>
              <a:t>[11] Elith &amp; Leathwick (2009). Species distribution models. Annu. Rev. Ecol. Evol. Syst., 40, 677–697.</a:t>
            </a:r>
            <a:endParaRPr lang="en-US" sz="750" dirty="0"/>
          </a:p>
          <a:p>
            <a:pPr marL="0" indent="0" algn="l">
              <a:buNone/>
            </a:pPr>
            <a:r>
              <a:rPr lang="en-US" sz="750" i="1" dirty="0">
                <a:solidFill>
                  <a:srgbClr val="555555"/>
                </a:solidFill>
                <a:latin typeface="Calibri" pitchFamily="34" charset="0"/>
                <a:ea typeface="Calibri" pitchFamily="34" charset="-122"/>
                <a:cs typeface="Calibri" pitchFamily="34" charset="-120"/>
              </a:rPr>
              <a:t>[12] Pebesma (2004). Multivariable geostatistics in S: gstat. Computers &amp; Geosci., 30, 683–691.</a:t>
            </a:r>
            <a:endParaRPr lang="en-US" sz="750" dirty="0"/>
          </a:p>
        </p:txBody>
      </p:sp>
      <p:sp>
        <p:nvSpPr>
          <p:cNvPr id="26" name="Shape 24"/>
          <p:cNvSpPr/>
          <p:nvPr/>
        </p:nvSpPr>
        <p:spPr>
          <a:xfrm>
            <a:off x="347472" y="4828032"/>
            <a:ext cx="8449056" cy="201168"/>
          </a:xfrm>
          <a:prstGeom prst="rect">
            <a:avLst/>
          </a:prstGeom>
          <a:solidFill>
            <a:srgbClr val="EDE8E0"/>
          </a:solidFill>
          <a:ln w="12700">
            <a:solidFill>
              <a:srgbClr val="D0C8BC"/>
            </a:solidFill>
            <a:prstDash val="solid"/>
          </a:ln>
        </p:spPr>
        <p:txBody>
          <a:bodyPr/>
          <a:lstStyle/>
          <a:p>
            <a:endParaRPr lang="he-IL"/>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47472" y="173736"/>
            <a:ext cx="182880" cy="182880"/>
          </a:xfrm>
          <a:prstGeom prst="ellipse">
            <a:avLst/>
          </a:prstGeom>
          <a:solidFill>
            <a:srgbClr val="C0392B"/>
          </a:solidFill>
          <a:ln w="12700">
            <a:solidFill>
              <a:srgbClr val="C0392B"/>
            </a:solidFill>
            <a:prstDash val="solid"/>
          </a:ln>
        </p:spPr>
        <p:txBody>
          <a:bodyPr/>
          <a:lstStyle/>
          <a:p>
            <a:endParaRPr lang="he-IL"/>
          </a:p>
        </p:txBody>
      </p:sp>
      <p:sp>
        <p:nvSpPr>
          <p:cNvPr id="3" name="Text 1"/>
          <p:cNvSpPr/>
          <p:nvPr/>
        </p:nvSpPr>
        <p:spPr>
          <a:xfrm>
            <a:off x="594360" y="118872"/>
            <a:ext cx="8229600" cy="329184"/>
          </a:xfrm>
          <a:prstGeom prst="rect">
            <a:avLst/>
          </a:prstGeom>
          <a:noFill/>
          <a:ln/>
        </p:spPr>
        <p:txBody>
          <a:bodyPr wrap="square" lIns="0" tIns="0" rIns="0" bIns="0" rtlCol="0" anchor="ctr"/>
          <a:lstStyle/>
          <a:p>
            <a:pPr marL="0" indent="0" algn="l">
              <a:buNone/>
            </a:pPr>
            <a:r>
              <a:rPr lang="en-US" sz="2200" b="1" dirty="0">
                <a:solidFill>
                  <a:srgbClr val="2D3142"/>
                </a:solidFill>
                <a:latin typeface="Calibri" pitchFamily="34" charset="0"/>
                <a:ea typeface="Calibri" pitchFamily="34" charset="-122"/>
                <a:cs typeface="Calibri" pitchFamily="34" charset="-120"/>
              </a:rPr>
              <a:t>Applications: Mining, Petroleum &amp; Public Health</a:t>
            </a:r>
            <a:endParaRPr lang="en-US" sz="2200" dirty="0"/>
          </a:p>
        </p:txBody>
      </p:sp>
      <p:sp>
        <p:nvSpPr>
          <p:cNvPr id="4" name="Text 2"/>
          <p:cNvSpPr/>
          <p:nvPr/>
        </p:nvSpPr>
        <p:spPr>
          <a:xfrm>
            <a:off x="594360" y="457200"/>
            <a:ext cx="8229600" cy="201168"/>
          </a:xfrm>
          <a:prstGeom prst="rect">
            <a:avLst/>
          </a:prstGeom>
          <a:noFill/>
          <a:ln/>
        </p:spPr>
        <p:txBody>
          <a:bodyPr wrap="square" lIns="0" tIns="0" rIns="0" bIns="0" rtlCol="0" anchor="t"/>
          <a:lstStyle/>
          <a:p>
            <a:pPr marL="0" indent="0" algn="l">
              <a:buNone/>
            </a:pPr>
            <a:r>
              <a:rPr lang="en-US" sz="1050" i="1" dirty="0">
                <a:solidFill>
                  <a:srgbClr val="555555"/>
                </a:solidFill>
                <a:latin typeface="Calibri" pitchFamily="34" charset="0"/>
                <a:ea typeface="Calibri" pitchFamily="34" charset="-122"/>
                <a:cs typeface="Calibri" pitchFamily="34" charset="-120"/>
              </a:rPr>
              <a:t>Kriging originated in mining and has since expanded to resource estimation, reservoir modelling, and epidemiology.</a:t>
            </a:r>
            <a:endParaRPr lang="en-US" sz="1050" dirty="0"/>
          </a:p>
        </p:txBody>
      </p:sp>
      <p:sp>
        <p:nvSpPr>
          <p:cNvPr id="5" name="Shape 3"/>
          <p:cNvSpPr/>
          <p:nvPr/>
        </p:nvSpPr>
        <p:spPr>
          <a:xfrm>
            <a:off x="347472" y="731520"/>
            <a:ext cx="2670048" cy="274320"/>
          </a:xfrm>
          <a:prstGeom prst="rect">
            <a:avLst/>
          </a:prstGeom>
          <a:solidFill>
            <a:srgbClr val="C0392B"/>
          </a:solidFill>
          <a:ln w="12700">
            <a:solidFill>
              <a:srgbClr val="C0392B"/>
            </a:solidFill>
            <a:prstDash val="solid"/>
          </a:ln>
        </p:spPr>
        <p:txBody>
          <a:bodyPr/>
          <a:lstStyle/>
          <a:p>
            <a:endParaRPr lang="he-IL"/>
          </a:p>
        </p:txBody>
      </p:sp>
      <p:sp>
        <p:nvSpPr>
          <p:cNvPr id="6" name="Text 4"/>
          <p:cNvSpPr/>
          <p:nvPr/>
        </p:nvSpPr>
        <p:spPr>
          <a:xfrm>
            <a:off x="347472" y="731520"/>
            <a:ext cx="2670048"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Ore Grade Estimation</a:t>
            </a:r>
            <a:endParaRPr lang="en-US" sz="1100" dirty="0"/>
          </a:p>
        </p:txBody>
      </p:sp>
      <p:sp>
        <p:nvSpPr>
          <p:cNvPr id="7" name="Shape 5"/>
          <p:cNvSpPr/>
          <p:nvPr/>
        </p:nvSpPr>
        <p:spPr>
          <a:xfrm>
            <a:off x="347472" y="1005840"/>
            <a:ext cx="2670048" cy="3273552"/>
          </a:xfrm>
          <a:prstGeom prst="rect">
            <a:avLst/>
          </a:prstGeom>
          <a:solidFill>
            <a:srgbClr val="FADBD8"/>
          </a:solidFill>
          <a:ln w="12700">
            <a:solidFill>
              <a:srgbClr val="FADBD8"/>
            </a:solidFill>
            <a:prstDash val="solid"/>
          </a:ln>
          <a:effectLst>
            <a:outerShdw blurRad="88900" dist="25400" dir="8100000" algn="bl" rotWithShape="0">
              <a:srgbClr val="000000">
                <a:alpha val="9000"/>
              </a:srgbClr>
            </a:outerShdw>
          </a:effectLst>
        </p:spPr>
        <p:txBody>
          <a:bodyPr/>
          <a:lstStyle/>
          <a:p>
            <a:endParaRPr lang="he-IL"/>
          </a:p>
        </p:txBody>
      </p:sp>
      <p:sp>
        <p:nvSpPr>
          <p:cNvPr id="8" name="Text 6"/>
          <p:cNvSpPr/>
          <p:nvPr/>
        </p:nvSpPr>
        <p:spPr>
          <a:xfrm>
            <a:off x="438912" y="1078992"/>
            <a:ext cx="2487168" cy="1645920"/>
          </a:xfrm>
          <a:prstGeom prst="rect">
            <a:avLst/>
          </a:prstGeom>
          <a:noFill/>
          <a:ln/>
        </p:spPr>
        <p:txBody>
          <a:bodyPr wrap="square" lIns="0" tIns="0" rIns="0" bIns="0" rtlCol="0" anchor="t"/>
          <a:lstStyle/>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Original application — estimating mineral concentrations from drill cores</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Block Kriging provides average grade per excavation block for mine planning</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Probabilistic resource estimation quantifies investment risk</a:t>
            </a:r>
            <a:endParaRPr lang="en-US" sz="1000" dirty="0"/>
          </a:p>
        </p:txBody>
      </p:sp>
      <p:sp>
        <p:nvSpPr>
          <p:cNvPr id="9" name="Shape 7"/>
          <p:cNvSpPr/>
          <p:nvPr/>
        </p:nvSpPr>
        <p:spPr>
          <a:xfrm>
            <a:off x="438912" y="2816352"/>
            <a:ext cx="2487168" cy="0"/>
          </a:xfrm>
          <a:prstGeom prst="line">
            <a:avLst/>
          </a:prstGeom>
          <a:noFill/>
          <a:ln w="6350">
            <a:solidFill>
              <a:srgbClr val="C0392B"/>
            </a:solidFill>
            <a:prstDash val="solid"/>
          </a:ln>
        </p:spPr>
        <p:txBody>
          <a:bodyPr/>
          <a:lstStyle/>
          <a:p>
            <a:endParaRPr lang="he-IL"/>
          </a:p>
        </p:txBody>
      </p:sp>
      <p:sp>
        <p:nvSpPr>
          <p:cNvPr id="10" name="Text 8"/>
          <p:cNvSpPr/>
          <p:nvPr/>
        </p:nvSpPr>
        <p:spPr>
          <a:xfrm>
            <a:off x="438912" y="2889504"/>
            <a:ext cx="2487168" cy="182880"/>
          </a:xfrm>
          <a:prstGeom prst="rect">
            <a:avLst/>
          </a:prstGeom>
          <a:noFill/>
          <a:ln/>
        </p:spPr>
        <p:txBody>
          <a:bodyPr wrap="square" lIns="0" tIns="0" rIns="0" bIns="0" rtlCol="0" anchor="t"/>
          <a:lstStyle/>
          <a:p>
            <a:pPr marL="0" indent="0" algn="l">
              <a:buNone/>
            </a:pPr>
            <a:r>
              <a:rPr lang="en-US" sz="850" b="1" dirty="0">
                <a:solidFill>
                  <a:srgbClr val="C0392B"/>
                </a:solidFill>
                <a:latin typeface="Calibri" pitchFamily="34" charset="0"/>
                <a:ea typeface="Calibri" pitchFamily="34" charset="-122"/>
                <a:cs typeface="Calibri" pitchFamily="34" charset="-120"/>
              </a:rPr>
              <a:t>Key References</a:t>
            </a:r>
            <a:endParaRPr lang="en-US" sz="850" dirty="0"/>
          </a:p>
        </p:txBody>
      </p:sp>
      <p:sp>
        <p:nvSpPr>
          <p:cNvPr id="11" name="Text 9"/>
          <p:cNvSpPr/>
          <p:nvPr/>
        </p:nvSpPr>
        <p:spPr>
          <a:xfrm>
            <a:off x="438912" y="3090672"/>
            <a:ext cx="2487168" cy="932688"/>
          </a:xfrm>
          <a:prstGeom prst="rect">
            <a:avLst/>
          </a:prstGeom>
          <a:noFill/>
          <a:ln/>
        </p:spPr>
        <p:txBody>
          <a:bodyPr wrap="square" lIns="0" tIns="0" rIns="0" bIns="0" rtlCol="0" anchor="t"/>
          <a:lstStyle/>
          <a:p>
            <a:pPr marL="0" indent="0" algn="l">
              <a:buNone/>
            </a:pPr>
            <a:r>
              <a:rPr lang="en-US" sz="750" i="1" dirty="0">
                <a:solidFill>
                  <a:srgbClr val="555555"/>
                </a:solidFill>
                <a:latin typeface="Calibri" pitchFamily="34" charset="0"/>
                <a:ea typeface="Calibri" pitchFamily="34" charset="-122"/>
                <a:cs typeface="Calibri" pitchFamily="34" charset="-120"/>
              </a:rPr>
              <a:t>[13] Krige (1951). Statistical approach to mine valuation. J. Chem. Metall. Min. Soc. S. Afr., 52(6), 119–139.</a:t>
            </a:r>
            <a:endParaRPr lang="en-US" sz="750" dirty="0"/>
          </a:p>
          <a:p>
            <a:pPr marL="0" indent="0" algn="l">
              <a:buNone/>
            </a:pPr>
            <a:r>
              <a:rPr lang="en-US" sz="750" i="1" dirty="0">
                <a:solidFill>
                  <a:srgbClr val="555555"/>
                </a:solidFill>
                <a:latin typeface="Calibri" pitchFamily="34" charset="0"/>
                <a:ea typeface="Calibri" pitchFamily="34" charset="-122"/>
                <a:cs typeface="Calibri" pitchFamily="34" charset="-120"/>
              </a:rPr>
              <a:t>[14] Matheron (1963). Principles of geostatistics. Economic Geology, 58(8), 1246–1266.</a:t>
            </a:r>
            <a:endParaRPr lang="en-US" sz="750" dirty="0"/>
          </a:p>
        </p:txBody>
      </p:sp>
      <p:sp>
        <p:nvSpPr>
          <p:cNvPr id="12" name="Shape 10"/>
          <p:cNvSpPr/>
          <p:nvPr/>
        </p:nvSpPr>
        <p:spPr>
          <a:xfrm>
            <a:off x="3108960" y="731520"/>
            <a:ext cx="2670048" cy="274320"/>
          </a:xfrm>
          <a:prstGeom prst="rect">
            <a:avLst/>
          </a:prstGeom>
          <a:solidFill>
            <a:srgbClr val="E8734A"/>
          </a:solidFill>
          <a:ln w="12700">
            <a:solidFill>
              <a:srgbClr val="E8734A"/>
            </a:solidFill>
            <a:prstDash val="solid"/>
          </a:ln>
        </p:spPr>
        <p:txBody>
          <a:bodyPr/>
          <a:lstStyle/>
          <a:p>
            <a:endParaRPr lang="he-IL"/>
          </a:p>
        </p:txBody>
      </p:sp>
      <p:sp>
        <p:nvSpPr>
          <p:cNvPr id="13" name="Text 11"/>
          <p:cNvSpPr/>
          <p:nvPr/>
        </p:nvSpPr>
        <p:spPr>
          <a:xfrm>
            <a:off x="3108960" y="731520"/>
            <a:ext cx="2670048"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Reservoir Characterisation</a:t>
            </a:r>
            <a:endParaRPr lang="en-US" sz="1100" dirty="0"/>
          </a:p>
        </p:txBody>
      </p:sp>
      <p:sp>
        <p:nvSpPr>
          <p:cNvPr id="14" name="Shape 12"/>
          <p:cNvSpPr/>
          <p:nvPr/>
        </p:nvSpPr>
        <p:spPr>
          <a:xfrm>
            <a:off x="3108960" y="1005840"/>
            <a:ext cx="2670048" cy="3273552"/>
          </a:xfrm>
          <a:prstGeom prst="rect">
            <a:avLst/>
          </a:prstGeom>
          <a:solidFill>
            <a:srgbClr val="FDEBD7"/>
          </a:solidFill>
          <a:ln w="12700">
            <a:solidFill>
              <a:srgbClr val="FDEBD7"/>
            </a:solidFill>
            <a:prstDash val="solid"/>
          </a:ln>
          <a:effectLst>
            <a:outerShdw blurRad="88900" dist="25400" dir="8100000" algn="bl" rotWithShape="0">
              <a:srgbClr val="000000">
                <a:alpha val="9000"/>
              </a:srgbClr>
            </a:outerShdw>
          </a:effectLst>
        </p:spPr>
        <p:txBody>
          <a:bodyPr/>
          <a:lstStyle/>
          <a:p>
            <a:endParaRPr lang="he-IL"/>
          </a:p>
        </p:txBody>
      </p:sp>
      <p:sp>
        <p:nvSpPr>
          <p:cNvPr id="15" name="Text 13"/>
          <p:cNvSpPr/>
          <p:nvPr/>
        </p:nvSpPr>
        <p:spPr>
          <a:xfrm>
            <a:off x="3200400" y="1078992"/>
            <a:ext cx="2487168" cy="1645920"/>
          </a:xfrm>
          <a:prstGeom prst="rect">
            <a:avLst/>
          </a:prstGeom>
          <a:noFill/>
          <a:ln/>
        </p:spPr>
        <p:txBody>
          <a:bodyPr wrap="square" lIns="0" tIns="0" rIns="0" bIns="0" rtlCol="0" anchor="t"/>
          <a:lstStyle/>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Co-Kriging maps porosity and permeability using seismic data as secondary variable</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Reduces uncertainty in reservoir volume estimates</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Guides well placement and production strategy in oil/gas fields</a:t>
            </a:r>
            <a:endParaRPr lang="en-US" sz="1000" dirty="0"/>
          </a:p>
        </p:txBody>
      </p:sp>
      <p:sp>
        <p:nvSpPr>
          <p:cNvPr id="16" name="Shape 14"/>
          <p:cNvSpPr/>
          <p:nvPr/>
        </p:nvSpPr>
        <p:spPr>
          <a:xfrm>
            <a:off x="3200400" y="2816352"/>
            <a:ext cx="2487168" cy="0"/>
          </a:xfrm>
          <a:prstGeom prst="line">
            <a:avLst/>
          </a:prstGeom>
          <a:noFill/>
          <a:ln w="6350">
            <a:solidFill>
              <a:srgbClr val="E8734A"/>
            </a:solidFill>
            <a:prstDash val="solid"/>
          </a:ln>
        </p:spPr>
        <p:txBody>
          <a:bodyPr/>
          <a:lstStyle/>
          <a:p>
            <a:endParaRPr lang="he-IL"/>
          </a:p>
        </p:txBody>
      </p:sp>
      <p:sp>
        <p:nvSpPr>
          <p:cNvPr id="17" name="Text 15"/>
          <p:cNvSpPr/>
          <p:nvPr/>
        </p:nvSpPr>
        <p:spPr>
          <a:xfrm>
            <a:off x="3200400" y="2889504"/>
            <a:ext cx="2487168" cy="182880"/>
          </a:xfrm>
          <a:prstGeom prst="rect">
            <a:avLst/>
          </a:prstGeom>
          <a:noFill/>
          <a:ln/>
        </p:spPr>
        <p:txBody>
          <a:bodyPr wrap="square" lIns="0" tIns="0" rIns="0" bIns="0" rtlCol="0" anchor="t"/>
          <a:lstStyle/>
          <a:p>
            <a:pPr marL="0" indent="0" algn="l">
              <a:buNone/>
            </a:pPr>
            <a:r>
              <a:rPr lang="en-US" sz="850" b="1" dirty="0">
                <a:solidFill>
                  <a:srgbClr val="E8734A"/>
                </a:solidFill>
                <a:latin typeface="Calibri" pitchFamily="34" charset="0"/>
                <a:ea typeface="Calibri" pitchFamily="34" charset="-122"/>
                <a:cs typeface="Calibri" pitchFamily="34" charset="-120"/>
              </a:rPr>
              <a:t>Key References</a:t>
            </a:r>
            <a:endParaRPr lang="en-US" sz="850" dirty="0"/>
          </a:p>
        </p:txBody>
      </p:sp>
      <p:sp>
        <p:nvSpPr>
          <p:cNvPr id="18" name="Text 16"/>
          <p:cNvSpPr/>
          <p:nvPr/>
        </p:nvSpPr>
        <p:spPr>
          <a:xfrm>
            <a:off x="3200400" y="3090672"/>
            <a:ext cx="2487168" cy="932688"/>
          </a:xfrm>
          <a:prstGeom prst="rect">
            <a:avLst/>
          </a:prstGeom>
          <a:noFill/>
          <a:ln/>
        </p:spPr>
        <p:txBody>
          <a:bodyPr wrap="square" lIns="0" tIns="0" rIns="0" bIns="0" rtlCol="0" anchor="t"/>
          <a:lstStyle/>
          <a:p>
            <a:pPr marL="0" indent="0" algn="l">
              <a:buNone/>
            </a:pPr>
            <a:r>
              <a:rPr lang="en-US" sz="750" i="1" dirty="0">
                <a:solidFill>
                  <a:srgbClr val="555555"/>
                </a:solidFill>
                <a:latin typeface="Calibri" pitchFamily="34" charset="0"/>
                <a:ea typeface="Calibri" pitchFamily="34" charset="-122"/>
                <a:cs typeface="Calibri" pitchFamily="34" charset="-120"/>
              </a:rPr>
              <a:t>[15] Deutsch &amp; Journel (1998). GSLIB: Geostatistical Software Library (2nd ed.). Oxford UP.</a:t>
            </a:r>
            <a:endParaRPr lang="en-US" sz="750" dirty="0"/>
          </a:p>
          <a:p>
            <a:pPr marL="0" indent="0" algn="l">
              <a:buNone/>
            </a:pPr>
            <a:r>
              <a:rPr lang="en-US" sz="750" i="1" dirty="0">
                <a:solidFill>
                  <a:srgbClr val="555555"/>
                </a:solidFill>
                <a:latin typeface="Calibri" pitchFamily="34" charset="0"/>
                <a:ea typeface="Calibri" pitchFamily="34" charset="-122"/>
                <a:cs typeface="Calibri" pitchFamily="34" charset="-120"/>
              </a:rPr>
              <a:t>[16] Journel &amp; Huijbregts (1978). Mining Geostatistics. Academic Press.</a:t>
            </a:r>
            <a:endParaRPr lang="en-US" sz="750" dirty="0"/>
          </a:p>
        </p:txBody>
      </p:sp>
      <p:sp>
        <p:nvSpPr>
          <p:cNvPr id="19" name="Shape 17"/>
          <p:cNvSpPr/>
          <p:nvPr/>
        </p:nvSpPr>
        <p:spPr>
          <a:xfrm>
            <a:off x="5870448" y="731520"/>
            <a:ext cx="2670048" cy="274320"/>
          </a:xfrm>
          <a:prstGeom prst="rect">
            <a:avLst/>
          </a:prstGeom>
          <a:solidFill>
            <a:srgbClr val="5B7FA6"/>
          </a:solidFill>
          <a:ln w="12700">
            <a:solidFill>
              <a:srgbClr val="5B7FA6"/>
            </a:solidFill>
            <a:prstDash val="solid"/>
          </a:ln>
        </p:spPr>
        <p:txBody>
          <a:bodyPr/>
          <a:lstStyle/>
          <a:p>
            <a:endParaRPr lang="he-IL"/>
          </a:p>
        </p:txBody>
      </p:sp>
      <p:sp>
        <p:nvSpPr>
          <p:cNvPr id="20" name="Text 18"/>
          <p:cNvSpPr/>
          <p:nvPr/>
        </p:nvSpPr>
        <p:spPr>
          <a:xfrm>
            <a:off x="5870448" y="731520"/>
            <a:ext cx="2670048"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Disease Risk Mapping</a:t>
            </a:r>
            <a:endParaRPr lang="en-US" sz="1100" dirty="0"/>
          </a:p>
        </p:txBody>
      </p:sp>
      <p:sp>
        <p:nvSpPr>
          <p:cNvPr id="21" name="Shape 19"/>
          <p:cNvSpPr/>
          <p:nvPr/>
        </p:nvSpPr>
        <p:spPr>
          <a:xfrm>
            <a:off x="5870448" y="1005840"/>
            <a:ext cx="2670048" cy="3273552"/>
          </a:xfrm>
          <a:prstGeom prst="rect">
            <a:avLst/>
          </a:prstGeom>
          <a:solidFill>
            <a:srgbClr val="D6E4F0"/>
          </a:solidFill>
          <a:ln w="12700">
            <a:solidFill>
              <a:srgbClr val="D6E4F0"/>
            </a:solidFill>
            <a:prstDash val="solid"/>
          </a:ln>
          <a:effectLst>
            <a:outerShdw blurRad="88900" dist="25400" dir="8100000" algn="bl" rotWithShape="0">
              <a:srgbClr val="000000">
                <a:alpha val="9000"/>
              </a:srgbClr>
            </a:outerShdw>
          </a:effectLst>
        </p:spPr>
        <p:txBody>
          <a:bodyPr/>
          <a:lstStyle/>
          <a:p>
            <a:endParaRPr lang="he-IL"/>
          </a:p>
        </p:txBody>
      </p:sp>
      <p:sp>
        <p:nvSpPr>
          <p:cNvPr id="22" name="Text 20"/>
          <p:cNvSpPr/>
          <p:nvPr/>
        </p:nvSpPr>
        <p:spPr>
          <a:xfrm>
            <a:off x="5961888" y="1078992"/>
            <a:ext cx="2487168" cy="1645920"/>
          </a:xfrm>
          <a:prstGeom prst="rect">
            <a:avLst/>
          </a:prstGeom>
          <a:noFill/>
          <a:ln/>
        </p:spPr>
        <p:txBody>
          <a:bodyPr wrap="square" lIns="0" tIns="0" rIns="0" bIns="0" rtlCol="0" anchor="t"/>
          <a:lstStyle/>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Kriging interpolates disease incidence rates from surveillance data</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Indicator Kriging maps probability of exceeding epidemic thresholds</a:t>
            </a:r>
            <a:endParaRPr lang="en-US" sz="1000" dirty="0"/>
          </a:p>
          <a:p>
            <a:pPr marL="342900" indent="-342900" algn="l">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Exposure surfaces used to assess environmental health risks</a:t>
            </a:r>
            <a:endParaRPr lang="en-US" sz="1000" dirty="0"/>
          </a:p>
        </p:txBody>
      </p:sp>
      <p:sp>
        <p:nvSpPr>
          <p:cNvPr id="23" name="Shape 21"/>
          <p:cNvSpPr/>
          <p:nvPr/>
        </p:nvSpPr>
        <p:spPr>
          <a:xfrm>
            <a:off x="5961888" y="2816352"/>
            <a:ext cx="2487168" cy="0"/>
          </a:xfrm>
          <a:prstGeom prst="line">
            <a:avLst/>
          </a:prstGeom>
          <a:noFill/>
          <a:ln w="6350">
            <a:solidFill>
              <a:srgbClr val="5B7FA6"/>
            </a:solidFill>
            <a:prstDash val="solid"/>
          </a:ln>
        </p:spPr>
        <p:txBody>
          <a:bodyPr/>
          <a:lstStyle/>
          <a:p>
            <a:endParaRPr lang="he-IL"/>
          </a:p>
        </p:txBody>
      </p:sp>
      <p:sp>
        <p:nvSpPr>
          <p:cNvPr id="24" name="Text 22"/>
          <p:cNvSpPr/>
          <p:nvPr/>
        </p:nvSpPr>
        <p:spPr>
          <a:xfrm>
            <a:off x="5961888" y="2889504"/>
            <a:ext cx="2487168" cy="182880"/>
          </a:xfrm>
          <a:prstGeom prst="rect">
            <a:avLst/>
          </a:prstGeom>
          <a:noFill/>
          <a:ln/>
        </p:spPr>
        <p:txBody>
          <a:bodyPr wrap="square" lIns="0" tIns="0" rIns="0" bIns="0" rtlCol="0" anchor="t"/>
          <a:lstStyle/>
          <a:p>
            <a:pPr marL="0" indent="0" algn="l">
              <a:buNone/>
            </a:pPr>
            <a:r>
              <a:rPr lang="en-US" sz="850" b="1" dirty="0">
                <a:solidFill>
                  <a:srgbClr val="5B7FA6"/>
                </a:solidFill>
                <a:latin typeface="Calibri" pitchFamily="34" charset="0"/>
                <a:ea typeface="Calibri" pitchFamily="34" charset="-122"/>
                <a:cs typeface="Calibri" pitchFamily="34" charset="-120"/>
              </a:rPr>
              <a:t>Key References</a:t>
            </a:r>
            <a:endParaRPr lang="en-US" sz="850" dirty="0"/>
          </a:p>
        </p:txBody>
      </p:sp>
      <p:sp>
        <p:nvSpPr>
          <p:cNvPr id="25" name="Text 23"/>
          <p:cNvSpPr/>
          <p:nvPr/>
        </p:nvSpPr>
        <p:spPr>
          <a:xfrm>
            <a:off x="5961888" y="3090672"/>
            <a:ext cx="2487168" cy="932688"/>
          </a:xfrm>
          <a:prstGeom prst="rect">
            <a:avLst/>
          </a:prstGeom>
          <a:noFill/>
          <a:ln/>
        </p:spPr>
        <p:txBody>
          <a:bodyPr wrap="square" lIns="0" tIns="0" rIns="0" bIns="0" rtlCol="0" anchor="t"/>
          <a:lstStyle/>
          <a:p>
            <a:pPr marL="0" indent="0" algn="l">
              <a:buNone/>
            </a:pPr>
            <a:r>
              <a:rPr lang="en-US" sz="750" i="1" dirty="0">
                <a:solidFill>
                  <a:srgbClr val="555555"/>
                </a:solidFill>
                <a:latin typeface="Calibri" pitchFamily="34" charset="0"/>
                <a:ea typeface="Calibri" pitchFamily="34" charset="-122"/>
                <a:cs typeface="Calibri" pitchFamily="34" charset="-120"/>
              </a:rPr>
              <a:t>[17] Diggle et al. (1998). Model-based geostatistics. Appl. Statistics, 47, 299–350.</a:t>
            </a:r>
            <a:endParaRPr lang="en-US" sz="750" dirty="0"/>
          </a:p>
          <a:p>
            <a:pPr marL="0" indent="0" algn="l">
              <a:buNone/>
            </a:pPr>
            <a:r>
              <a:rPr lang="en-US" sz="750" i="1" dirty="0">
                <a:solidFill>
                  <a:srgbClr val="555555"/>
                </a:solidFill>
                <a:latin typeface="Calibri" pitchFamily="34" charset="0"/>
                <a:ea typeface="Calibri" pitchFamily="34" charset="-122"/>
                <a:cs typeface="Calibri" pitchFamily="34" charset="-120"/>
              </a:rPr>
              <a:t>[18] Gething et al. (2011). New world malaria map: P. falciparum. Malaria J., 10, 378.</a:t>
            </a:r>
            <a:endParaRPr lang="en-US" sz="750" dirty="0"/>
          </a:p>
        </p:txBody>
      </p:sp>
      <p:sp>
        <p:nvSpPr>
          <p:cNvPr id="26" name="Shape 24"/>
          <p:cNvSpPr/>
          <p:nvPr/>
        </p:nvSpPr>
        <p:spPr>
          <a:xfrm>
            <a:off x="347472" y="4828032"/>
            <a:ext cx="8449056" cy="201168"/>
          </a:xfrm>
          <a:prstGeom prst="rect">
            <a:avLst/>
          </a:prstGeom>
          <a:solidFill>
            <a:srgbClr val="EDE8E0"/>
          </a:solidFill>
          <a:ln w="12700">
            <a:solidFill>
              <a:srgbClr val="D0C8BC"/>
            </a:solidFill>
            <a:prstDash val="solid"/>
          </a:ln>
        </p:spPr>
        <p:txBody>
          <a:bodyPr/>
          <a:lstStyle/>
          <a:p>
            <a:endParaRPr lang="he-IL"/>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650"/>
        <p:cNvGrpSpPr/>
        <p:nvPr/>
      </p:nvGrpSpPr>
      <p:grpSpPr>
        <a:xfrm>
          <a:off x="0" y="0"/>
          <a:ext cx="0" cy="0"/>
          <a:chOff x="0" y="0"/>
          <a:chExt cx="0" cy="0"/>
        </a:xfrm>
      </p:grpSpPr>
      <p:sp>
        <p:nvSpPr>
          <p:cNvPr id="651" name="Google Shape;651;p21"/>
          <p:cNvSpPr/>
          <p:nvPr/>
        </p:nvSpPr>
        <p:spPr>
          <a:xfrm>
            <a:off x="365760" y="256032"/>
            <a:ext cx="201168" cy="201168"/>
          </a:xfrm>
          <a:prstGeom prst="ellipse">
            <a:avLst/>
          </a:prstGeom>
          <a:solidFill>
            <a:srgbClr val="7C6FA0"/>
          </a:solidFill>
          <a:ln w="12700" cap="flat" cmpd="sng">
            <a:solidFill>
              <a:srgbClr val="7C6F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2" name="Google Shape;652;p21"/>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dirty="0">
                <a:solidFill>
                  <a:srgbClr val="2C2C2C"/>
                </a:solidFill>
                <a:latin typeface="Calibri"/>
                <a:ea typeface="Calibri"/>
                <a:cs typeface="Calibri"/>
                <a:sym typeface="Calibri"/>
              </a:rPr>
              <a:t>Exercise</a:t>
            </a:r>
            <a:endParaRPr sz="2000" dirty="0">
              <a:solidFill>
                <a:schemeClr val="dk1"/>
              </a:solidFill>
              <a:latin typeface="Calibri"/>
              <a:ea typeface="Calibri"/>
              <a:cs typeface="Calibri"/>
              <a:sym typeface="Calibri"/>
            </a:endParaRPr>
          </a:p>
        </p:txBody>
      </p:sp>
      <p:sp>
        <p:nvSpPr>
          <p:cNvPr id="5" name="TextBox 4">
            <a:extLst>
              <a:ext uri="{FF2B5EF4-FFF2-40B4-BE49-F238E27FC236}">
                <a16:creationId xmlns:a16="http://schemas.microsoft.com/office/drawing/2014/main" id="{59653B22-8879-47D0-CA1B-698E7F4A19CB}"/>
              </a:ext>
            </a:extLst>
          </p:cNvPr>
          <p:cNvSpPr txBox="1"/>
          <p:nvPr/>
        </p:nvSpPr>
        <p:spPr>
          <a:xfrm>
            <a:off x="201168" y="838419"/>
            <a:ext cx="4572000" cy="523220"/>
          </a:xfrm>
          <a:prstGeom prst="rect">
            <a:avLst/>
          </a:prstGeom>
          <a:noFill/>
        </p:spPr>
        <p:txBody>
          <a:bodyPr wrap="square">
            <a:spAutoFit/>
          </a:bodyPr>
          <a:lstStyle/>
          <a:p>
            <a:r>
              <a:rPr lang="he-IL" dirty="0"/>
              <a:t>https://drive.google.com/drive/folders/1ExuDQkC2TDyESGstQCtYFKsMUgGknUe6?usp=sharing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650">
          <a:extLst>
            <a:ext uri="{FF2B5EF4-FFF2-40B4-BE49-F238E27FC236}">
              <a16:creationId xmlns:a16="http://schemas.microsoft.com/office/drawing/2014/main" id="{3099F812-16DB-DF8F-C72F-922659BC59B5}"/>
            </a:ext>
          </a:extLst>
        </p:cNvPr>
        <p:cNvGrpSpPr/>
        <p:nvPr/>
      </p:nvGrpSpPr>
      <p:grpSpPr>
        <a:xfrm>
          <a:off x="0" y="0"/>
          <a:ext cx="0" cy="0"/>
          <a:chOff x="0" y="0"/>
          <a:chExt cx="0" cy="0"/>
        </a:xfrm>
      </p:grpSpPr>
      <p:sp>
        <p:nvSpPr>
          <p:cNvPr id="651" name="Google Shape;651;p21">
            <a:extLst>
              <a:ext uri="{FF2B5EF4-FFF2-40B4-BE49-F238E27FC236}">
                <a16:creationId xmlns:a16="http://schemas.microsoft.com/office/drawing/2014/main" id="{7332BFD1-C7FD-3FD0-5E91-973F8AECE24D}"/>
              </a:ext>
            </a:extLst>
          </p:cNvPr>
          <p:cNvSpPr/>
          <p:nvPr/>
        </p:nvSpPr>
        <p:spPr>
          <a:xfrm>
            <a:off x="365760" y="256032"/>
            <a:ext cx="201168" cy="201168"/>
          </a:xfrm>
          <a:prstGeom prst="ellipse">
            <a:avLst/>
          </a:prstGeom>
          <a:solidFill>
            <a:srgbClr val="7C6FA0"/>
          </a:solidFill>
          <a:ln w="12700" cap="flat" cmpd="sng">
            <a:solidFill>
              <a:srgbClr val="7C6F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2" name="Google Shape;652;p21">
            <a:extLst>
              <a:ext uri="{FF2B5EF4-FFF2-40B4-BE49-F238E27FC236}">
                <a16:creationId xmlns:a16="http://schemas.microsoft.com/office/drawing/2014/main" id="{2CB11888-393C-029C-0698-9E64F978027A}"/>
              </a:ext>
            </a:extLst>
          </p:cNvPr>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dirty="0">
                <a:solidFill>
                  <a:srgbClr val="2C2C2C"/>
                </a:solidFill>
                <a:latin typeface="Calibri"/>
                <a:ea typeface="Calibri"/>
                <a:cs typeface="Calibri"/>
                <a:sym typeface="Calibri"/>
              </a:rPr>
              <a:t>Resources for </a:t>
            </a:r>
            <a:r>
              <a:rPr lang="en-US" sz="2000" b="1" dirty="0" err="1">
                <a:solidFill>
                  <a:srgbClr val="2C2C2C"/>
                </a:solidFill>
                <a:latin typeface="Calibri"/>
                <a:ea typeface="Calibri"/>
                <a:cs typeface="Calibri"/>
                <a:sym typeface="Calibri"/>
              </a:rPr>
              <a:t>Geostatistics</a:t>
            </a:r>
            <a:r>
              <a:rPr lang="en-US" sz="2000" b="1" dirty="0">
                <a:solidFill>
                  <a:srgbClr val="2C2C2C"/>
                </a:solidFill>
                <a:latin typeface="Calibri"/>
                <a:ea typeface="Calibri"/>
                <a:cs typeface="Calibri"/>
                <a:sym typeface="Calibri"/>
              </a:rPr>
              <a:t> &amp; Kriging</a:t>
            </a:r>
            <a:endParaRPr sz="2000" dirty="0">
              <a:solidFill>
                <a:schemeClr val="dk1"/>
              </a:solidFill>
              <a:latin typeface="Calibri"/>
              <a:ea typeface="Calibri"/>
              <a:cs typeface="Calibri"/>
              <a:sym typeface="Calibri"/>
            </a:endParaRPr>
          </a:p>
        </p:txBody>
      </p:sp>
      <p:sp>
        <p:nvSpPr>
          <p:cNvPr id="653" name="Google Shape;653;p21">
            <a:extLst>
              <a:ext uri="{FF2B5EF4-FFF2-40B4-BE49-F238E27FC236}">
                <a16:creationId xmlns:a16="http://schemas.microsoft.com/office/drawing/2014/main" id="{F6DB047E-8738-2B44-0826-7D6339482E7B}"/>
              </a:ext>
            </a:extLst>
          </p:cNvPr>
          <p:cNvSpPr/>
          <p:nvPr/>
        </p:nvSpPr>
        <p:spPr>
          <a:xfrm>
            <a:off x="320040" y="731520"/>
            <a:ext cx="2816352" cy="365760"/>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4" name="Google Shape;654;p21">
            <a:extLst>
              <a:ext uri="{FF2B5EF4-FFF2-40B4-BE49-F238E27FC236}">
                <a16:creationId xmlns:a16="http://schemas.microsoft.com/office/drawing/2014/main" id="{B5C42725-F575-AE75-B54C-8CB4F8F876E4}"/>
              </a:ext>
            </a:extLst>
          </p:cNvPr>
          <p:cNvSpPr/>
          <p:nvPr/>
        </p:nvSpPr>
        <p:spPr>
          <a:xfrm>
            <a:off x="320040" y="731520"/>
            <a:ext cx="2816352"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dirty="0">
                <a:solidFill>
                  <a:srgbClr val="FFFFFF"/>
                </a:solidFill>
                <a:latin typeface="Calibri"/>
                <a:ea typeface="Calibri"/>
                <a:cs typeface="Calibri"/>
                <a:sym typeface="Calibri"/>
              </a:rPr>
              <a:t>Programming Libraries</a:t>
            </a:r>
            <a:endParaRPr sz="1100" dirty="0">
              <a:solidFill>
                <a:schemeClr val="dk1"/>
              </a:solidFill>
              <a:latin typeface="Calibri"/>
              <a:ea typeface="Calibri"/>
              <a:cs typeface="Calibri"/>
              <a:sym typeface="Calibri"/>
            </a:endParaRPr>
          </a:p>
        </p:txBody>
      </p:sp>
      <p:sp>
        <p:nvSpPr>
          <p:cNvPr id="655" name="Google Shape;655;p21">
            <a:extLst>
              <a:ext uri="{FF2B5EF4-FFF2-40B4-BE49-F238E27FC236}">
                <a16:creationId xmlns:a16="http://schemas.microsoft.com/office/drawing/2014/main" id="{3D89DDEB-4CC0-B827-7B05-09677BCDA468}"/>
              </a:ext>
            </a:extLst>
          </p:cNvPr>
          <p:cNvSpPr/>
          <p:nvPr/>
        </p:nvSpPr>
        <p:spPr>
          <a:xfrm>
            <a:off x="320040" y="1097280"/>
            <a:ext cx="2816352" cy="3794760"/>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6" name="Google Shape;656;p21">
            <a:extLst>
              <a:ext uri="{FF2B5EF4-FFF2-40B4-BE49-F238E27FC236}">
                <a16:creationId xmlns:a16="http://schemas.microsoft.com/office/drawing/2014/main" id="{0A5D7C80-D9FD-2382-7E85-8086BB110B98}"/>
              </a:ext>
            </a:extLst>
          </p:cNvPr>
          <p:cNvSpPr/>
          <p:nvPr/>
        </p:nvSpPr>
        <p:spPr>
          <a:xfrm>
            <a:off x="429768" y="1243584"/>
            <a:ext cx="128016" cy="128016"/>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7" name="Google Shape;657;p21">
            <a:extLst>
              <a:ext uri="{FF2B5EF4-FFF2-40B4-BE49-F238E27FC236}">
                <a16:creationId xmlns:a16="http://schemas.microsoft.com/office/drawing/2014/main" id="{8CACD1F9-F990-BD2A-7CB9-C41A0119D318}"/>
              </a:ext>
            </a:extLst>
          </p:cNvPr>
          <p:cNvSpPr/>
          <p:nvPr/>
        </p:nvSpPr>
        <p:spPr>
          <a:xfrm>
            <a:off x="612648" y="1188720"/>
            <a:ext cx="242316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dirty="0">
                <a:solidFill>
                  <a:srgbClr val="2C2C2C"/>
                </a:solidFill>
                <a:latin typeface="Calibri"/>
                <a:ea typeface="Calibri"/>
                <a:cs typeface="Calibri"/>
                <a:sym typeface="Calibri"/>
              </a:rPr>
              <a:t>R: </a:t>
            </a:r>
            <a:r>
              <a:rPr lang="en-US" sz="950" dirty="0" err="1">
                <a:solidFill>
                  <a:srgbClr val="2C2C2C"/>
                </a:solidFill>
                <a:latin typeface="Calibri"/>
                <a:ea typeface="Calibri"/>
                <a:cs typeface="Calibri"/>
                <a:sym typeface="Calibri"/>
              </a:rPr>
              <a:t>gstat</a:t>
            </a:r>
            <a:r>
              <a:rPr lang="en-US" sz="950" dirty="0">
                <a:solidFill>
                  <a:srgbClr val="2C2C2C"/>
                </a:solidFill>
                <a:latin typeface="Calibri"/>
                <a:ea typeface="Calibri"/>
                <a:cs typeface="Calibri"/>
                <a:sym typeface="Calibri"/>
              </a:rPr>
              <a:t>, </a:t>
            </a:r>
            <a:r>
              <a:rPr lang="en-US" sz="950" dirty="0" err="1">
                <a:solidFill>
                  <a:srgbClr val="2C2C2C"/>
                </a:solidFill>
                <a:latin typeface="Calibri"/>
                <a:ea typeface="Calibri"/>
                <a:cs typeface="Calibri"/>
                <a:sym typeface="Calibri"/>
              </a:rPr>
              <a:t>geoR</a:t>
            </a:r>
            <a:r>
              <a:rPr lang="en-US" sz="950" dirty="0">
                <a:solidFill>
                  <a:srgbClr val="2C2C2C"/>
                </a:solidFill>
                <a:latin typeface="Calibri"/>
                <a:ea typeface="Calibri"/>
                <a:cs typeface="Calibri"/>
                <a:sym typeface="Calibri"/>
              </a:rPr>
              <a:t>, </a:t>
            </a:r>
            <a:r>
              <a:rPr lang="en-US" sz="950" dirty="0" err="1">
                <a:solidFill>
                  <a:srgbClr val="2C2C2C"/>
                </a:solidFill>
                <a:latin typeface="Calibri"/>
                <a:ea typeface="Calibri"/>
                <a:cs typeface="Calibri"/>
                <a:sym typeface="Calibri"/>
              </a:rPr>
              <a:t>sp</a:t>
            </a:r>
            <a:r>
              <a:rPr lang="en-US" sz="950" dirty="0">
                <a:solidFill>
                  <a:srgbClr val="2C2C2C"/>
                </a:solidFill>
                <a:latin typeface="Calibri"/>
                <a:ea typeface="Calibri"/>
                <a:cs typeface="Calibri"/>
                <a:sym typeface="Calibri"/>
              </a:rPr>
              <a:t>, sf, terra, </a:t>
            </a:r>
            <a:r>
              <a:rPr lang="en-US" sz="950" dirty="0" err="1">
                <a:solidFill>
                  <a:srgbClr val="2C2C2C"/>
                </a:solidFill>
                <a:latin typeface="Calibri"/>
                <a:ea typeface="Calibri"/>
                <a:cs typeface="Calibri"/>
                <a:sym typeface="Calibri"/>
              </a:rPr>
              <a:t>automap</a:t>
            </a:r>
            <a:endParaRPr sz="950" dirty="0">
              <a:solidFill>
                <a:schemeClr val="dk1"/>
              </a:solidFill>
              <a:latin typeface="Calibri"/>
              <a:ea typeface="Calibri"/>
              <a:cs typeface="Calibri"/>
              <a:sym typeface="Calibri"/>
            </a:endParaRPr>
          </a:p>
        </p:txBody>
      </p:sp>
      <p:sp>
        <p:nvSpPr>
          <p:cNvPr id="658" name="Google Shape;658;p21">
            <a:extLst>
              <a:ext uri="{FF2B5EF4-FFF2-40B4-BE49-F238E27FC236}">
                <a16:creationId xmlns:a16="http://schemas.microsoft.com/office/drawing/2014/main" id="{E1B7BBEA-FA96-DC5E-F6B8-2C6564D75DD9}"/>
              </a:ext>
            </a:extLst>
          </p:cNvPr>
          <p:cNvSpPr/>
          <p:nvPr/>
        </p:nvSpPr>
        <p:spPr>
          <a:xfrm>
            <a:off x="429768" y="1947672"/>
            <a:ext cx="128016" cy="128016"/>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9" name="Google Shape;659;p21">
            <a:extLst>
              <a:ext uri="{FF2B5EF4-FFF2-40B4-BE49-F238E27FC236}">
                <a16:creationId xmlns:a16="http://schemas.microsoft.com/office/drawing/2014/main" id="{52AE498D-9C99-10B3-95A2-7FB767B72FB5}"/>
              </a:ext>
            </a:extLst>
          </p:cNvPr>
          <p:cNvSpPr/>
          <p:nvPr/>
        </p:nvSpPr>
        <p:spPr>
          <a:xfrm>
            <a:off x="612648" y="1892808"/>
            <a:ext cx="242316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Python: PyKrige, scikit-gstat, gstools, scipy</a:t>
            </a:r>
            <a:endParaRPr sz="950">
              <a:solidFill>
                <a:schemeClr val="dk1"/>
              </a:solidFill>
              <a:latin typeface="Calibri"/>
              <a:ea typeface="Calibri"/>
              <a:cs typeface="Calibri"/>
              <a:sym typeface="Calibri"/>
            </a:endParaRPr>
          </a:p>
        </p:txBody>
      </p:sp>
      <p:sp>
        <p:nvSpPr>
          <p:cNvPr id="660" name="Google Shape;660;p21">
            <a:extLst>
              <a:ext uri="{FF2B5EF4-FFF2-40B4-BE49-F238E27FC236}">
                <a16:creationId xmlns:a16="http://schemas.microsoft.com/office/drawing/2014/main" id="{331074AF-2AC2-8FC7-1B32-50D7B044B728}"/>
              </a:ext>
            </a:extLst>
          </p:cNvPr>
          <p:cNvSpPr/>
          <p:nvPr/>
        </p:nvSpPr>
        <p:spPr>
          <a:xfrm>
            <a:off x="429768" y="2651760"/>
            <a:ext cx="128016" cy="128016"/>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1" name="Google Shape;661;p21">
            <a:extLst>
              <a:ext uri="{FF2B5EF4-FFF2-40B4-BE49-F238E27FC236}">
                <a16:creationId xmlns:a16="http://schemas.microsoft.com/office/drawing/2014/main" id="{48F39A7D-5B42-5021-849F-07FE16485113}"/>
              </a:ext>
            </a:extLst>
          </p:cNvPr>
          <p:cNvSpPr/>
          <p:nvPr/>
        </p:nvSpPr>
        <p:spPr>
          <a:xfrm>
            <a:off x="612648" y="2596896"/>
            <a:ext cx="242316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ArcGIS Geostatistical Analyst — GUI-based kriging with visualization</a:t>
            </a:r>
            <a:endParaRPr sz="950">
              <a:solidFill>
                <a:schemeClr val="dk1"/>
              </a:solidFill>
              <a:latin typeface="Calibri"/>
              <a:ea typeface="Calibri"/>
              <a:cs typeface="Calibri"/>
              <a:sym typeface="Calibri"/>
            </a:endParaRPr>
          </a:p>
        </p:txBody>
      </p:sp>
      <p:sp>
        <p:nvSpPr>
          <p:cNvPr id="662" name="Google Shape;662;p21">
            <a:extLst>
              <a:ext uri="{FF2B5EF4-FFF2-40B4-BE49-F238E27FC236}">
                <a16:creationId xmlns:a16="http://schemas.microsoft.com/office/drawing/2014/main" id="{B5358156-E565-5E21-EA41-6C7D5E5B54A0}"/>
              </a:ext>
            </a:extLst>
          </p:cNvPr>
          <p:cNvSpPr/>
          <p:nvPr/>
        </p:nvSpPr>
        <p:spPr>
          <a:xfrm>
            <a:off x="429768" y="3355848"/>
            <a:ext cx="128016" cy="128016"/>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3" name="Google Shape;663;p21">
            <a:extLst>
              <a:ext uri="{FF2B5EF4-FFF2-40B4-BE49-F238E27FC236}">
                <a16:creationId xmlns:a16="http://schemas.microsoft.com/office/drawing/2014/main" id="{B1F8C1CC-9597-3A49-77AA-DB572FCC490D}"/>
              </a:ext>
            </a:extLst>
          </p:cNvPr>
          <p:cNvSpPr/>
          <p:nvPr/>
        </p:nvSpPr>
        <p:spPr>
          <a:xfrm>
            <a:off x="612648" y="3300984"/>
            <a:ext cx="242316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GSLIB — Geostatistical Software Library (Deutsch &amp; Journel)</a:t>
            </a:r>
            <a:endParaRPr sz="950">
              <a:solidFill>
                <a:schemeClr val="dk1"/>
              </a:solidFill>
              <a:latin typeface="Calibri"/>
              <a:ea typeface="Calibri"/>
              <a:cs typeface="Calibri"/>
              <a:sym typeface="Calibri"/>
            </a:endParaRPr>
          </a:p>
        </p:txBody>
      </p:sp>
      <p:sp>
        <p:nvSpPr>
          <p:cNvPr id="664" name="Google Shape;664;p21">
            <a:extLst>
              <a:ext uri="{FF2B5EF4-FFF2-40B4-BE49-F238E27FC236}">
                <a16:creationId xmlns:a16="http://schemas.microsoft.com/office/drawing/2014/main" id="{54F69938-D9B9-DC4B-EBA1-79A6AF04E94E}"/>
              </a:ext>
            </a:extLst>
          </p:cNvPr>
          <p:cNvSpPr/>
          <p:nvPr/>
        </p:nvSpPr>
        <p:spPr>
          <a:xfrm>
            <a:off x="429768" y="4059936"/>
            <a:ext cx="128016" cy="128016"/>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5" name="Google Shape;665;p21">
            <a:extLst>
              <a:ext uri="{FF2B5EF4-FFF2-40B4-BE49-F238E27FC236}">
                <a16:creationId xmlns:a16="http://schemas.microsoft.com/office/drawing/2014/main" id="{0D29E5A4-84AE-3376-F4A8-45AD64CE0B62}"/>
              </a:ext>
            </a:extLst>
          </p:cNvPr>
          <p:cNvSpPr/>
          <p:nvPr/>
        </p:nvSpPr>
        <p:spPr>
          <a:xfrm>
            <a:off x="612648" y="4005072"/>
            <a:ext cx="242316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Surfer (Golden Software) — dedicated kriging and contouring tool</a:t>
            </a:r>
            <a:endParaRPr sz="950">
              <a:solidFill>
                <a:schemeClr val="dk1"/>
              </a:solidFill>
              <a:latin typeface="Calibri"/>
              <a:ea typeface="Calibri"/>
              <a:cs typeface="Calibri"/>
              <a:sym typeface="Calibri"/>
            </a:endParaRPr>
          </a:p>
        </p:txBody>
      </p:sp>
      <p:sp>
        <p:nvSpPr>
          <p:cNvPr id="666" name="Google Shape;666;p21">
            <a:extLst>
              <a:ext uri="{FF2B5EF4-FFF2-40B4-BE49-F238E27FC236}">
                <a16:creationId xmlns:a16="http://schemas.microsoft.com/office/drawing/2014/main" id="{6192F136-2A50-37C5-8F1C-34300FB79A9B}"/>
              </a:ext>
            </a:extLst>
          </p:cNvPr>
          <p:cNvSpPr/>
          <p:nvPr/>
        </p:nvSpPr>
        <p:spPr>
          <a:xfrm>
            <a:off x="3227832" y="731520"/>
            <a:ext cx="2816352" cy="365760"/>
          </a:xfrm>
          <a:prstGeom prst="rect">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7" name="Google Shape;667;p21">
            <a:extLst>
              <a:ext uri="{FF2B5EF4-FFF2-40B4-BE49-F238E27FC236}">
                <a16:creationId xmlns:a16="http://schemas.microsoft.com/office/drawing/2014/main" id="{47CA5675-CD00-0889-6DF7-9279995F9CF0}"/>
              </a:ext>
            </a:extLst>
          </p:cNvPr>
          <p:cNvSpPr/>
          <p:nvPr/>
        </p:nvSpPr>
        <p:spPr>
          <a:xfrm>
            <a:off x="3227832" y="731520"/>
            <a:ext cx="2816352"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Key Texts</a:t>
            </a:r>
            <a:endParaRPr sz="1100">
              <a:solidFill>
                <a:schemeClr val="dk1"/>
              </a:solidFill>
              <a:latin typeface="Calibri"/>
              <a:ea typeface="Calibri"/>
              <a:cs typeface="Calibri"/>
              <a:sym typeface="Calibri"/>
            </a:endParaRPr>
          </a:p>
        </p:txBody>
      </p:sp>
      <p:sp>
        <p:nvSpPr>
          <p:cNvPr id="668" name="Google Shape;668;p21">
            <a:extLst>
              <a:ext uri="{FF2B5EF4-FFF2-40B4-BE49-F238E27FC236}">
                <a16:creationId xmlns:a16="http://schemas.microsoft.com/office/drawing/2014/main" id="{6EDF6B7E-3D1D-04A7-16A5-D4E9F28D57BF}"/>
              </a:ext>
            </a:extLst>
          </p:cNvPr>
          <p:cNvSpPr/>
          <p:nvPr/>
        </p:nvSpPr>
        <p:spPr>
          <a:xfrm>
            <a:off x="3227832" y="1097280"/>
            <a:ext cx="2816352" cy="3794760"/>
          </a:xfrm>
          <a:prstGeom prst="rect">
            <a:avLst/>
          </a:prstGeom>
          <a:solidFill>
            <a:srgbClr val="D5EAE0"/>
          </a:solidFill>
          <a:ln w="12700" cap="flat" cmpd="sng">
            <a:solidFill>
              <a:srgbClr val="D5EA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9" name="Google Shape;669;p21">
            <a:extLst>
              <a:ext uri="{FF2B5EF4-FFF2-40B4-BE49-F238E27FC236}">
                <a16:creationId xmlns:a16="http://schemas.microsoft.com/office/drawing/2014/main" id="{88A037A6-1C4D-1803-951F-122275E3E03A}"/>
              </a:ext>
            </a:extLst>
          </p:cNvPr>
          <p:cNvSpPr/>
          <p:nvPr/>
        </p:nvSpPr>
        <p:spPr>
          <a:xfrm>
            <a:off x="3337560" y="1243584"/>
            <a:ext cx="128016" cy="128016"/>
          </a:xfrm>
          <a:prstGeom prst="ellipse">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0" name="Google Shape;670;p21">
            <a:extLst>
              <a:ext uri="{FF2B5EF4-FFF2-40B4-BE49-F238E27FC236}">
                <a16:creationId xmlns:a16="http://schemas.microsoft.com/office/drawing/2014/main" id="{314FD812-F140-B52C-B831-A2202D681F41}"/>
              </a:ext>
            </a:extLst>
          </p:cNvPr>
          <p:cNvSpPr/>
          <p:nvPr/>
        </p:nvSpPr>
        <p:spPr>
          <a:xfrm>
            <a:off x="3520440" y="1188720"/>
            <a:ext cx="242316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dirty="0">
                <a:solidFill>
                  <a:srgbClr val="2C2C2C"/>
                </a:solidFill>
                <a:latin typeface="Calibri"/>
                <a:ea typeface="Calibri"/>
                <a:cs typeface="Calibri"/>
                <a:sym typeface="Calibri"/>
              </a:rPr>
              <a:t>Webster &amp; Oliver (2007). </a:t>
            </a:r>
            <a:r>
              <a:rPr lang="en-US" sz="950" dirty="0" err="1">
                <a:solidFill>
                  <a:srgbClr val="2C2C2C"/>
                </a:solidFill>
                <a:latin typeface="Calibri"/>
                <a:ea typeface="Calibri"/>
                <a:cs typeface="Calibri"/>
                <a:sym typeface="Calibri"/>
              </a:rPr>
              <a:t>Geostatistics</a:t>
            </a:r>
            <a:r>
              <a:rPr lang="en-US" sz="950" dirty="0">
                <a:solidFill>
                  <a:srgbClr val="2C2C2C"/>
                </a:solidFill>
                <a:latin typeface="Calibri"/>
                <a:ea typeface="Calibri"/>
                <a:cs typeface="Calibri"/>
                <a:sym typeface="Calibri"/>
              </a:rPr>
              <a:t> for Environmental Scientists. Wiley.</a:t>
            </a:r>
            <a:endParaRPr sz="950" dirty="0">
              <a:solidFill>
                <a:schemeClr val="dk1"/>
              </a:solidFill>
              <a:latin typeface="Calibri"/>
              <a:ea typeface="Calibri"/>
              <a:cs typeface="Calibri"/>
              <a:sym typeface="Calibri"/>
            </a:endParaRPr>
          </a:p>
        </p:txBody>
      </p:sp>
      <p:sp>
        <p:nvSpPr>
          <p:cNvPr id="671" name="Google Shape;671;p21">
            <a:extLst>
              <a:ext uri="{FF2B5EF4-FFF2-40B4-BE49-F238E27FC236}">
                <a16:creationId xmlns:a16="http://schemas.microsoft.com/office/drawing/2014/main" id="{04AE93CF-141F-FE91-04D8-6924C27A2088}"/>
              </a:ext>
            </a:extLst>
          </p:cNvPr>
          <p:cNvSpPr/>
          <p:nvPr/>
        </p:nvSpPr>
        <p:spPr>
          <a:xfrm>
            <a:off x="3337560" y="1947672"/>
            <a:ext cx="128016" cy="128016"/>
          </a:xfrm>
          <a:prstGeom prst="ellipse">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2" name="Google Shape;672;p21">
            <a:extLst>
              <a:ext uri="{FF2B5EF4-FFF2-40B4-BE49-F238E27FC236}">
                <a16:creationId xmlns:a16="http://schemas.microsoft.com/office/drawing/2014/main" id="{1303089F-22B4-A6F1-0A68-E9FD59699C3E}"/>
              </a:ext>
            </a:extLst>
          </p:cNvPr>
          <p:cNvSpPr/>
          <p:nvPr/>
        </p:nvSpPr>
        <p:spPr>
          <a:xfrm>
            <a:off x="3520440" y="1892808"/>
            <a:ext cx="2423160" cy="640080"/>
          </a:xfrm>
          <a:prstGeom prst="rect">
            <a:avLst/>
          </a:prstGeom>
          <a:noFill/>
          <a:ln>
            <a:noFill/>
          </a:ln>
        </p:spPr>
        <p:txBody>
          <a:bodyPr spcFirstLastPara="1" wrap="square" lIns="91425" tIns="45700" rIns="91425" bIns="45700" anchor="t" anchorCtr="0">
            <a:noAutofit/>
          </a:bodyPr>
          <a:lstStyle/>
          <a:p>
            <a:pPr lvl="0">
              <a:buClr>
                <a:srgbClr val="2C2C2C"/>
              </a:buClr>
              <a:buSzPts val="950"/>
            </a:pPr>
            <a:r>
              <a:rPr lang="en-US" sz="950" dirty="0">
                <a:solidFill>
                  <a:srgbClr val="2C2C2C"/>
                </a:solidFill>
                <a:latin typeface="Calibri"/>
                <a:ea typeface="Calibri"/>
                <a:cs typeface="Calibri"/>
                <a:sym typeface="Calibri"/>
              </a:rPr>
              <a:t>https://manuals.pqstat.pl/en:przestrzenpl:autocorpl:gmoranpl</a:t>
            </a:r>
            <a:endParaRPr sz="950" dirty="0">
              <a:solidFill>
                <a:schemeClr val="dk1"/>
              </a:solidFill>
              <a:latin typeface="Calibri"/>
              <a:ea typeface="Calibri"/>
              <a:cs typeface="Calibri"/>
              <a:sym typeface="Calibri"/>
            </a:endParaRPr>
          </a:p>
        </p:txBody>
      </p:sp>
      <p:sp>
        <p:nvSpPr>
          <p:cNvPr id="673" name="Google Shape;673;p21">
            <a:extLst>
              <a:ext uri="{FF2B5EF4-FFF2-40B4-BE49-F238E27FC236}">
                <a16:creationId xmlns:a16="http://schemas.microsoft.com/office/drawing/2014/main" id="{C6464527-9089-CDA3-5748-991B10C94BBF}"/>
              </a:ext>
            </a:extLst>
          </p:cNvPr>
          <p:cNvSpPr/>
          <p:nvPr/>
        </p:nvSpPr>
        <p:spPr>
          <a:xfrm>
            <a:off x="3337560" y="2651760"/>
            <a:ext cx="128016" cy="128016"/>
          </a:xfrm>
          <a:prstGeom prst="ellipse">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4" name="Google Shape;674;p21">
            <a:extLst>
              <a:ext uri="{FF2B5EF4-FFF2-40B4-BE49-F238E27FC236}">
                <a16:creationId xmlns:a16="http://schemas.microsoft.com/office/drawing/2014/main" id="{A4B7C617-8695-A53D-5A08-ED5737DBA324}"/>
              </a:ext>
            </a:extLst>
          </p:cNvPr>
          <p:cNvSpPr/>
          <p:nvPr/>
        </p:nvSpPr>
        <p:spPr>
          <a:xfrm>
            <a:off x="3520440" y="2596896"/>
            <a:ext cx="242316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dirty="0">
                <a:solidFill>
                  <a:srgbClr val="2C2C2C"/>
                </a:solidFill>
                <a:latin typeface="Calibri"/>
                <a:ea typeface="Calibri"/>
                <a:cs typeface="Calibri"/>
                <a:sym typeface="Calibri"/>
              </a:rPr>
              <a:t>Cressie, N. (1993). Statistics for Spatial Data. Wiley.</a:t>
            </a:r>
            <a:endParaRPr sz="950" dirty="0">
              <a:solidFill>
                <a:schemeClr val="dk1"/>
              </a:solidFill>
              <a:latin typeface="Calibri"/>
              <a:ea typeface="Calibri"/>
              <a:cs typeface="Calibri"/>
              <a:sym typeface="Calibri"/>
            </a:endParaRPr>
          </a:p>
        </p:txBody>
      </p:sp>
      <p:sp>
        <p:nvSpPr>
          <p:cNvPr id="675" name="Google Shape;675;p21">
            <a:extLst>
              <a:ext uri="{FF2B5EF4-FFF2-40B4-BE49-F238E27FC236}">
                <a16:creationId xmlns:a16="http://schemas.microsoft.com/office/drawing/2014/main" id="{DDD12E02-2B3A-D3CA-8A26-DFDA31C56060}"/>
              </a:ext>
            </a:extLst>
          </p:cNvPr>
          <p:cNvSpPr/>
          <p:nvPr/>
        </p:nvSpPr>
        <p:spPr>
          <a:xfrm>
            <a:off x="3337560" y="3355848"/>
            <a:ext cx="128016" cy="128016"/>
          </a:xfrm>
          <a:prstGeom prst="ellipse">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6" name="Google Shape;676;p21">
            <a:extLst>
              <a:ext uri="{FF2B5EF4-FFF2-40B4-BE49-F238E27FC236}">
                <a16:creationId xmlns:a16="http://schemas.microsoft.com/office/drawing/2014/main" id="{DB7A9AF8-A812-9846-55FF-C8E81D4E89A4}"/>
              </a:ext>
            </a:extLst>
          </p:cNvPr>
          <p:cNvSpPr/>
          <p:nvPr/>
        </p:nvSpPr>
        <p:spPr>
          <a:xfrm>
            <a:off x="3520440" y="3300984"/>
            <a:ext cx="242316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Wackernagel, H. (2003). Multivariate Geostatistics. Springer.</a:t>
            </a:r>
            <a:endParaRPr sz="950">
              <a:solidFill>
                <a:schemeClr val="dk1"/>
              </a:solidFill>
              <a:latin typeface="Calibri"/>
              <a:ea typeface="Calibri"/>
              <a:cs typeface="Calibri"/>
              <a:sym typeface="Calibri"/>
            </a:endParaRPr>
          </a:p>
        </p:txBody>
      </p:sp>
      <p:sp>
        <p:nvSpPr>
          <p:cNvPr id="677" name="Google Shape;677;p21">
            <a:extLst>
              <a:ext uri="{FF2B5EF4-FFF2-40B4-BE49-F238E27FC236}">
                <a16:creationId xmlns:a16="http://schemas.microsoft.com/office/drawing/2014/main" id="{34919707-DEB4-FDB5-B42D-FDA54BA77DA1}"/>
              </a:ext>
            </a:extLst>
          </p:cNvPr>
          <p:cNvSpPr/>
          <p:nvPr/>
        </p:nvSpPr>
        <p:spPr>
          <a:xfrm>
            <a:off x="3337560" y="4059936"/>
            <a:ext cx="128016" cy="128016"/>
          </a:xfrm>
          <a:prstGeom prst="ellipse">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8" name="Google Shape;678;p21">
            <a:extLst>
              <a:ext uri="{FF2B5EF4-FFF2-40B4-BE49-F238E27FC236}">
                <a16:creationId xmlns:a16="http://schemas.microsoft.com/office/drawing/2014/main" id="{A4254A97-D65E-AC17-9B1E-76C3FA9285EE}"/>
              </a:ext>
            </a:extLst>
          </p:cNvPr>
          <p:cNvSpPr/>
          <p:nvPr/>
        </p:nvSpPr>
        <p:spPr>
          <a:xfrm>
            <a:off x="3520440" y="4005072"/>
            <a:ext cx="242316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dirty="0" err="1">
                <a:solidFill>
                  <a:srgbClr val="2C2C2C"/>
                </a:solidFill>
                <a:latin typeface="Calibri"/>
                <a:ea typeface="Calibri"/>
                <a:cs typeface="Calibri"/>
                <a:sym typeface="Calibri"/>
              </a:rPr>
              <a:t>Matheron</a:t>
            </a:r>
            <a:r>
              <a:rPr lang="en-US" sz="950" dirty="0">
                <a:solidFill>
                  <a:srgbClr val="2C2C2C"/>
                </a:solidFill>
                <a:latin typeface="Calibri"/>
                <a:ea typeface="Calibri"/>
                <a:cs typeface="Calibri"/>
                <a:sym typeface="Calibri"/>
              </a:rPr>
              <a:t>, G. (1963). Principles of </a:t>
            </a:r>
            <a:r>
              <a:rPr lang="en-US" sz="950" dirty="0" err="1">
                <a:solidFill>
                  <a:srgbClr val="2C2C2C"/>
                </a:solidFill>
                <a:latin typeface="Calibri"/>
                <a:ea typeface="Calibri"/>
                <a:cs typeface="Calibri"/>
                <a:sym typeface="Calibri"/>
              </a:rPr>
              <a:t>geostatistics</a:t>
            </a:r>
            <a:r>
              <a:rPr lang="en-US" sz="950" dirty="0">
                <a:solidFill>
                  <a:srgbClr val="2C2C2C"/>
                </a:solidFill>
                <a:latin typeface="Calibri"/>
                <a:ea typeface="Calibri"/>
                <a:cs typeface="Calibri"/>
                <a:sym typeface="Calibri"/>
              </a:rPr>
              <a:t>. Economic Geology.</a:t>
            </a:r>
          </a:p>
          <a:p>
            <a:pPr marL="0" marR="0" lvl="0" indent="0" algn="l" rtl="0">
              <a:spcBef>
                <a:spcPts val="0"/>
              </a:spcBef>
              <a:spcAft>
                <a:spcPts val="0"/>
              </a:spcAft>
              <a:buClr>
                <a:srgbClr val="2C2C2C"/>
              </a:buClr>
              <a:buSzPts val="950"/>
              <a:buFont typeface="Calibri"/>
              <a:buNone/>
            </a:pPr>
            <a:endParaRPr sz="950" dirty="0">
              <a:solidFill>
                <a:schemeClr val="dk1"/>
              </a:solidFill>
              <a:latin typeface="Calibri"/>
              <a:ea typeface="Calibri"/>
              <a:cs typeface="Calibri"/>
              <a:sym typeface="Calibri"/>
            </a:endParaRPr>
          </a:p>
        </p:txBody>
      </p:sp>
      <p:sp>
        <p:nvSpPr>
          <p:cNvPr id="679" name="Google Shape;679;p21">
            <a:extLst>
              <a:ext uri="{FF2B5EF4-FFF2-40B4-BE49-F238E27FC236}">
                <a16:creationId xmlns:a16="http://schemas.microsoft.com/office/drawing/2014/main" id="{EDE5FA24-49B4-2760-AAE5-32831291B0B0}"/>
              </a:ext>
            </a:extLst>
          </p:cNvPr>
          <p:cNvSpPr/>
          <p:nvPr/>
        </p:nvSpPr>
        <p:spPr>
          <a:xfrm>
            <a:off x="6135624" y="731520"/>
            <a:ext cx="2816352" cy="365760"/>
          </a:xfrm>
          <a:prstGeom prst="rect">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0" name="Google Shape;680;p21">
            <a:extLst>
              <a:ext uri="{FF2B5EF4-FFF2-40B4-BE49-F238E27FC236}">
                <a16:creationId xmlns:a16="http://schemas.microsoft.com/office/drawing/2014/main" id="{3697A256-2B14-88BA-1BA5-37D1213D6183}"/>
              </a:ext>
            </a:extLst>
          </p:cNvPr>
          <p:cNvSpPr/>
          <p:nvPr/>
        </p:nvSpPr>
        <p:spPr>
          <a:xfrm>
            <a:off x="6135624" y="731520"/>
            <a:ext cx="2816352"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Online Resources</a:t>
            </a:r>
            <a:endParaRPr sz="1100">
              <a:solidFill>
                <a:schemeClr val="dk1"/>
              </a:solidFill>
              <a:latin typeface="Calibri"/>
              <a:ea typeface="Calibri"/>
              <a:cs typeface="Calibri"/>
              <a:sym typeface="Calibri"/>
            </a:endParaRPr>
          </a:p>
        </p:txBody>
      </p:sp>
      <p:sp>
        <p:nvSpPr>
          <p:cNvPr id="681" name="Google Shape;681;p21">
            <a:extLst>
              <a:ext uri="{FF2B5EF4-FFF2-40B4-BE49-F238E27FC236}">
                <a16:creationId xmlns:a16="http://schemas.microsoft.com/office/drawing/2014/main" id="{EAFCB751-ADA1-0A0D-A911-B90CA01D2AAF}"/>
              </a:ext>
            </a:extLst>
          </p:cNvPr>
          <p:cNvSpPr/>
          <p:nvPr/>
        </p:nvSpPr>
        <p:spPr>
          <a:xfrm>
            <a:off x="6135624" y="1097280"/>
            <a:ext cx="2816352" cy="3794760"/>
          </a:xfrm>
          <a:prstGeom prst="rect">
            <a:avLst/>
          </a:prstGeom>
          <a:solidFill>
            <a:srgbClr val="D3E4FA"/>
          </a:solidFill>
          <a:ln w="12700" cap="flat" cmpd="sng">
            <a:solidFill>
              <a:srgbClr val="D3E4FA"/>
            </a:solidFill>
            <a:prstDash val="solid"/>
            <a:round/>
            <a:headEnd type="none" w="sm" len="sm"/>
            <a:tailEnd type="none" w="sm" len="sm"/>
          </a:ln>
        </p:spPr>
        <p:txBody>
          <a:bodyPr spcFirstLastPara="1" wrap="square" lIns="91425" tIns="45700" rIns="91425" bIns="45700" anchor="t" anchorCtr="0">
            <a:noAutofit/>
          </a:bodyPr>
          <a:lstStyle/>
          <a:p>
            <a:pPr lvl="0"/>
            <a:endParaRPr lang="sv-SE" sz="1050" dirty="0">
              <a:solidFill>
                <a:schemeClr val="dk1"/>
              </a:solidFill>
              <a:latin typeface="Calibri"/>
              <a:ea typeface="Calibri"/>
              <a:cs typeface="Calibri"/>
              <a:sym typeface="Calibri"/>
            </a:endParaRPr>
          </a:p>
          <a:p>
            <a:pPr lvl="0"/>
            <a:endParaRPr lang="sv-SE" sz="1050" dirty="0">
              <a:solidFill>
                <a:schemeClr val="dk1"/>
              </a:solidFill>
              <a:latin typeface="Calibri"/>
              <a:ea typeface="Calibri"/>
              <a:cs typeface="Calibri"/>
              <a:sym typeface="Calibri"/>
            </a:endParaRPr>
          </a:p>
          <a:p>
            <a:pPr lvl="0"/>
            <a:endParaRPr lang="sv-SE" sz="1050" dirty="0">
              <a:solidFill>
                <a:schemeClr val="dk1"/>
              </a:solidFill>
              <a:latin typeface="Calibri"/>
              <a:ea typeface="Calibri"/>
              <a:cs typeface="Calibri"/>
              <a:sym typeface="Calibri"/>
            </a:endParaRPr>
          </a:p>
          <a:p>
            <a:pPr lvl="0"/>
            <a:endParaRPr lang="sv-SE" sz="1050" dirty="0">
              <a:solidFill>
                <a:schemeClr val="dk1"/>
              </a:solidFill>
              <a:latin typeface="Calibri"/>
              <a:ea typeface="Calibri"/>
              <a:cs typeface="Calibri"/>
              <a:sym typeface="Calibri"/>
            </a:endParaRPr>
          </a:p>
          <a:p>
            <a:pPr lvl="0"/>
            <a:endParaRPr lang="sv-SE" sz="1050" dirty="0">
              <a:solidFill>
                <a:schemeClr val="dk1"/>
              </a:solidFill>
              <a:latin typeface="Calibri"/>
              <a:ea typeface="Calibri"/>
              <a:cs typeface="Calibri"/>
              <a:sym typeface="Calibri"/>
            </a:endParaRPr>
          </a:p>
          <a:p>
            <a:pPr lvl="0"/>
            <a:r>
              <a:rPr lang="sv-SE" sz="1050" dirty="0">
                <a:solidFill>
                  <a:schemeClr val="dk1"/>
                </a:solidFill>
                <a:latin typeface="Calibri"/>
                <a:ea typeface="Calibri"/>
                <a:cs typeface="Calibri"/>
                <a:sym typeface="Calibri"/>
              </a:rPr>
              <a:t>	https://desktop.arcgis.com/en/arcmap/latest/extensions/geostatistical-analyst/kriging-in-geostatistical-analyst.htm</a:t>
            </a:r>
            <a:endParaRPr sz="1050" dirty="0">
              <a:solidFill>
                <a:schemeClr val="dk1"/>
              </a:solidFill>
              <a:latin typeface="Calibri"/>
              <a:ea typeface="Calibri"/>
              <a:cs typeface="Calibri"/>
              <a:sym typeface="Calibri"/>
            </a:endParaRPr>
          </a:p>
        </p:txBody>
      </p:sp>
      <p:sp>
        <p:nvSpPr>
          <p:cNvPr id="682" name="Google Shape;682;p21">
            <a:extLst>
              <a:ext uri="{FF2B5EF4-FFF2-40B4-BE49-F238E27FC236}">
                <a16:creationId xmlns:a16="http://schemas.microsoft.com/office/drawing/2014/main" id="{1FC54B83-85CE-CC29-BBD0-2186147AAFE7}"/>
              </a:ext>
            </a:extLst>
          </p:cNvPr>
          <p:cNvSpPr/>
          <p:nvPr/>
        </p:nvSpPr>
        <p:spPr>
          <a:xfrm>
            <a:off x="6245352" y="1243584"/>
            <a:ext cx="128016" cy="128016"/>
          </a:xfrm>
          <a:prstGeom prst="ellipse">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3" name="Google Shape;683;p21">
            <a:extLst>
              <a:ext uri="{FF2B5EF4-FFF2-40B4-BE49-F238E27FC236}">
                <a16:creationId xmlns:a16="http://schemas.microsoft.com/office/drawing/2014/main" id="{C3A26127-0FB8-BCC9-D32B-B2FA890DF352}"/>
              </a:ext>
            </a:extLst>
          </p:cNvPr>
          <p:cNvSpPr/>
          <p:nvPr/>
        </p:nvSpPr>
        <p:spPr>
          <a:xfrm>
            <a:off x="6428232" y="1188720"/>
            <a:ext cx="2423160" cy="640080"/>
          </a:xfrm>
          <a:prstGeom prst="rect">
            <a:avLst/>
          </a:prstGeom>
          <a:noFill/>
          <a:ln>
            <a:noFill/>
          </a:ln>
        </p:spPr>
        <p:txBody>
          <a:bodyPr spcFirstLastPara="1" wrap="square" lIns="91425" tIns="45700" rIns="91425" bIns="45700" anchor="t" anchorCtr="0">
            <a:noAutofit/>
          </a:bodyPr>
          <a:lstStyle/>
          <a:p>
            <a:pPr lvl="0">
              <a:buClr>
                <a:srgbClr val="2C2C2C"/>
              </a:buClr>
              <a:buSzPts val="950"/>
            </a:pPr>
            <a:r>
              <a:rPr lang="en-US" sz="950" dirty="0">
                <a:solidFill>
                  <a:srgbClr val="2C2C2C"/>
                </a:solidFill>
                <a:latin typeface="Calibri"/>
                <a:ea typeface="Calibri"/>
                <a:cs typeface="Calibri"/>
                <a:sym typeface="Calibri"/>
              </a:rPr>
              <a:t>https://en.wikipedia.org/wiki/Geary%27s_C</a:t>
            </a:r>
            <a:endParaRPr sz="950" dirty="0">
              <a:solidFill>
                <a:schemeClr val="dk1"/>
              </a:solidFill>
              <a:latin typeface="Calibri"/>
              <a:ea typeface="Calibri"/>
              <a:cs typeface="Calibri"/>
              <a:sym typeface="Calibri"/>
            </a:endParaRPr>
          </a:p>
        </p:txBody>
      </p:sp>
      <p:sp>
        <p:nvSpPr>
          <p:cNvPr id="684" name="Google Shape;684;p21">
            <a:extLst>
              <a:ext uri="{FF2B5EF4-FFF2-40B4-BE49-F238E27FC236}">
                <a16:creationId xmlns:a16="http://schemas.microsoft.com/office/drawing/2014/main" id="{60B64E31-5178-D5AB-165A-B383D074CBCD}"/>
              </a:ext>
            </a:extLst>
          </p:cNvPr>
          <p:cNvSpPr/>
          <p:nvPr/>
        </p:nvSpPr>
        <p:spPr>
          <a:xfrm>
            <a:off x="6245352" y="1947672"/>
            <a:ext cx="128016" cy="128016"/>
          </a:xfrm>
          <a:prstGeom prst="ellipse">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6" name="Google Shape;686;p21">
            <a:extLst>
              <a:ext uri="{FF2B5EF4-FFF2-40B4-BE49-F238E27FC236}">
                <a16:creationId xmlns:a16="http://schemas.microsoft.com/office/drawing/2014/main" id="{5D830432-42FD-0D65-0BEE-19F18699038A}"/>
              </a:ext>
            </a:extLst>
          </p:cNvPr>
          <p:cNvSpPr/>
          <p:nvPr/>
        </p:nvSpPr>
        <p:spPr>
          <a:xfrm>
            <a:off x="6245352" y="2651760"/>
            <a:ext cx="128016" cy="128016"/>
          </a:xfrm>
          <a:prstGeom prst="ellipse">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7" name="Google Shape;687;p21">
            <a:extLst>
              <a:ext uri="{FF2B5EF4-FFF2-40B4-BE49-F238E27FC236}">
                <a16:creationId xmlns:a16="http://schemas.microsoft.com/office/drawing/2014/main" id="{45A955B3-28C9-CC73-6D7B-45B26C4CE774}"/>
              </a:ext>
            </a:extLst>
          </p:cNvPr>
          <p:cNvSpPr/>
          <p:nvPr/>
        </p:nvSpPr>
        <p:spPr>
          <a:xfrm>
            <a:off x="6428232" y="2596896"/>
            <a:ext cx="242316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ESRI Learn: Introduction to Kriging — esri.com</a:t>
            </a:r>
            <a:endParaRPr sz="950">
              <a:solidFill>
                <a:schemeClr val="dk1"/>
              </a:solidFill>
              <a:latin typeface="Calibri"/>
              <a:ea typeface="Calibri"/>
              <a:cs typeface="Calibri"/>
              <a:sym typeface="Calibri"/>
            </a:endParaRPr>
          </a:p>
        </p:txBody>
      </p:sp>
      <p:sp>
        <p:nvSpPr>
          <p:cNvPr id="688" name="Google Shape;688;p21">
            <a:extLst>
              <a:ext uri="{FF2B5EF4-FFF2-40B4-BE49-F238E27FC236}">
                <a16:creationId xmlns:a16="http://schemas.microsoft.com/office/drawing/2014/main" id="{DCF0F2FF-62EF-3411-5A28-5B636AC2C30D}"/>
              </a:ext>
            </a:extLst>
          </p:cNvPr>
          <p:cNvSpPr/>
          <p:nvPr/>
        </p:nvSpPr>
        <p:spPr>
          <a:xfrm>
            <a:off x="6245352" y="3355848"/>
            <a:ext cx="128016" cy="128016"/>
          </a:xfrm>
          <a:prstGeom prst="ellipse">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9" name="Google Shape;689;p21">
            <a:extLst>
              <a:ext uri="{FF2B5EF4-FFF2-40B4-BE49-F238E27FC236}">
                <a16:creationId xmlns:a16="http://schemas.microsoft.com/office/drawing/2014/main" id="{2B719C90-81C2-A968-70EB-05CA58310239}"/>
              </a:ext>
            </a:extLst>
          </p:cNvPr>
          <p:cNvSpPr/>
          <p:nvPr/>
        </p:nvSpPr>
        <p:spPr>
          <a:xfrm>
            <a:off x="6428232" y="3300984"/>
            <a:ext cx="2423160" cy="640080"/>
          </a:xfrm>
          <a:prstGeom prst="rect">
            <a:avLst/>
          </a:prstGeom>
          <a:noFill/>
          <a:ln>
            <a:noFill/>
          </a:ln>
        </p:spPr>
        <p:txBody>
          <a:bodyPr spcFirstLastPara="1" wrap="square" lIns="91425" tIns="45700" rIns="91425" bIns="45700" anchor="t" anchorCtr="0">
            <a:noAutofit/>
          </a:bodyPr>
          <a:lstStyle/>
          <a:p>
            <a:pPr lvl="0">
              <a:buClr>
                <a:srgbClr val="2C2C2C"/>
              </a:buClr>
              <a:buSzPts val="950"/>
            </a:pPr>
            <a:r>
              <a:rPr lang="en-US" sz="950" dirty="0">
                <a:solidFill>
                  <a:srgbClr val="2C2C2C"/>
                </a:solidFill>
                <a:latin typeface="Calibri"/>
                <a:ea typeface="Calibri"/>
                <a:cs typeface="Calibri"/>
                <a:sym typeface="Calibri"/>
              </a:rPr>
              <a:t>https://doc.esri.com/en/arcgis-pro/latest/help/analysis/geostatistical-analyst/how-inverse-distance-weighted-interpolation-works.html</a:t>
            </a:r>
            <a:endParaRPr sz="950" dirty="0">
              <a:solidFill>
                <a:schemeClr val="dk1"/>
              </a:solidFill>
              <a:latin typeface="Calibri"/>
              <a:ea typeface="Calibri"/>
              <a:cs typeface="Calibri"/>
              <a:sym typeface="Calibri"/>
            </a:endParaRPr>
          </a:p>
        </p:txBody>
      </p:sp>
      <p:sp>
        <p:nvSpPr>
          <p:cNvPr id="690" name="Google Shape;690;p21">
            <a:extLst>
              <a:ext uri="{FF2B5EF4-FFF2-40B4-BE49-F238E27FC236}">
                <a16:creationId xmlns:a16="http://schemas.microsoft.com/office/drawing/2014/main" id="{CD40AAC0-30F4-BE93-A849-91105D640771}"/>
              </a:ext>
            </a:extLst>
          </p:cNvPr>
          <p:cNvSpPr/>
          <p:nvPr/>
        </p:nvSpPr>
        <p:spPr>
          <a:xfrm>
            <a:off x="6245352" y="4059936"/>
            <a:ext cx="128016" cy="128016"/>
          </a:xfrm>
          <a:prstGeom prst="ellipse">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1" name="Google Shape;691;p21">
            <a:extLst>
              <a:ext uri="{FF2B5EF4-FFF2-40B4-BE49-F238E27FC236}">
                <a16:creationId xmlns:a16="http://schemas.microsoft.com/office/drawing/2014/main" id="{39894957-2C85-F231-C11E-DFC7CA6904FD}"/>
              </a:ext>
            </a:extLst>
          </p:cNvPr>
          <p:cNvSpPr/>
          <p:nvPr/>
        </p:nvSpPr>
        <p:spPr>
          <a:xfrm>
            <a:off x="6428232" y="4005072"/>
            <a:ext cx="242316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Pebesma (2004). Multivariable geostatistics in S. Computers &amp; Geosciences.</a:t>
            </a:r>
            <a:endParaRPr sz="95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354863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58;p56">
            <a:extLst>
              <a:ext uri="{FF2B5EF4-FFF2-40B4-BE49-F238E27FC236}">
                <a16:creationId xmlns:a16="http://schemas.microsoft.com/office/drawing/2014/main" id="{E0962471-1AF4-C1C4-4453-8287A54198B1}"/>
              </a:ext>
            </a:extLst>
          </p:cNvPr>
          <p:cNvSpPr/>
          <p:nvPr/>
        </p:nvSpPr>
        <p:spPr>
          <a:xfrm>
            <a:off x="469552" y="1079153"/>
            <a:ext cx="301800" cy="301800"/>
          </a:xfrm>
          <a:prstGeom prst="roundRect">
            <a:avLst>
              <a:gd name="adj" fmla="val 18671"/>
            </a:avLst>
          </a:prstGeom>
          <a:solidFill>
            <a:srgbClr val="D5DCF6"/>
          </a:solidFill>
          <a:ln w="9525" cap="flat" cmpd="sng">
            <a:solidFill>
              <a:srgbClr val="BBC2D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latin typeface="Calibri" panose="020F0502020204030204" pitchFamily="34" charset="0"/>
              <a:ea typeface="Calibri" panose="020F0502020204030204" pitchFamily="34" charset="0"/>
              <a:cs typeface="Calibri" panose="020F0502020204030204" pitchFamily="34" charset="0"/>
            </a:endParaRPr>
          </a:p>
        </p:txBody>
      </p:sp>
      <p:pic>
        <p:nvPicPr>
          <p:cNvPr id="3" name="Google Shape;559;p56" descr="preencoded.png">
            <a:extLst>
              <a:ext uri="{FF2B5EF4-FFF2-40B4-BE49-F238E27FC236}">
                <a16:creationId xmlns:a16="http://schemas.microsoft.com/office/drawing/2014/main" id="{1C0DC9BC-3563-40E1-05EC-759FF7390B85}"/>
              </a:ext>
            </a:extLst>
          </p:cNvPr>
          <p:cNvPicPr preferRelativeResize="0"/>
          <p:nvPr/>
        </p:nvPicPr>
        <p:blipFill rotWithShape="1">
          <a:blip r:embed="rId2">
            <a:alphaModFix/>
          </a:blip>
          <a:srcRect/>
          <a:stretch/>
        </p:blipFill>
        <p:spPr>
          <a:xfrm>
            <a:off x="514573" y="1097682"/>
            <a:ext cx="211783" cy="264765"/>
          </a:xfrm>
          <a:prstGeom prst="rect">
            <a:avLst/>
          </a:prstGeom>
          <a:noFill/>
          <a:ln>
            <a:noFill/>
          </a:ln>
        </p:spPr>
      </p:pic>
      <p:sp>
        <p:nvSpPr>
          <p:cNvPr id="4" name="Google Shape;560;p56">
            <a:extLst>
              <a:ext uri="{FF2B5EF4-FFF2-40B4-BE49-F238E27FC236}">
                <a16:creationId xmlns:a16="http://schemas.microsoft.com/office/drawing/2014/main" id="{50328D7C-0844-4102-7917-B31ED3068B87}"/>
              </a:ext>
            </a:extLst>
          </p:cNvPr>
          <p:cNvSpPr/>
          <p:nvPr/>
        </p:nvSpPr>
        <p:spPr>
          <a:xfrm>
            <a:off x="905545" y="1125215"/>
            <a:ext cx="2187300" cy="441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B3535"/>
              </a:buClr>
              <a:buSzPts val="1400"/>
              <a:buFont typeface="DM Sans"/>
              <a:buNone/>
            </a:pPr>
            <a:r>
              <a:rPr lang="en" sz="1400" b="0" i="0" u="none" strike="noStrike" cap="none">
                <a:solidFill>
                  <a:srgbClr val="3B3535"/>
                </a:solidFill>
                <a:latin typeface="Calibri" panose="020F0502020204030204" pitchFamily="34" charset="0"/>
                <a:ea typeface="Calibri" panose="020F0502020204030204" pitchFamily="34" charset="0"/>
                <a:cs typeface="Calibri" panose="020F0502020204030204" pitchFamily="34" charset="0"/>
                <a:sym typeface="DM Sans"/>
              </a:rPr>
              <a:t>Remote Sensing Integration</a:t>
            </a:r>
            <a:endParaRPr sz="1400" b="0" i="0" u="none" strike="noStrike" cap="none">
              <a:latin typeface="Calibri" panose="020F0502020204030204" pitchFamily="34" charset="0"/>
              <a:ea typeface="Calibri" panose="020F0502020204030204" pitchFamily="34" charset="0"/>
              <a:cs typeface="Calibri" panose="020F0502020204030204" pitchFamily="34" charset="0"/>
            </a:endParaRPr>
          </a:p>
        </p:txBody>
      </p:sp>
      <p:sp>
        <p:nvSpPr>
          <p:cNvPr id="5" name="Google Shape;561;p56">
            <a:extLst>
              <a:ext uri="{FF2B5EF4-FFF2-40B4-BE49-F238E27FC236}">
                <a16:creationId xmlns:a16="http://schemas.microsoft.com/office/drawing/2014/main" id="{1E8D6BAE-BC56-B27B-F4AC-C78061C2E9FC}"/>
              </a:ext>
            </a:extLst>
          </p:cNvPr>
          <p:cNvSpPr/>
          <p:nvPr/>
        </p:nvSpPr>
        <p:spPr>
          <a:xfrm>
            <a:off x="905545" y="1646932"/>
            <a:ext cx="2187300" cy="1073100"/>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3B3535"/>
              </a:buClr>
              <a:buSzPts val="1000"/>
              <a:buFont typeface="DM Sans"/>
              <a:buNone/>
            </a:pPr>
            <a:r>
              <a:rPr lang="en" sz="1000" b="0" i="0" u="none" strike="noStrike" cap="none">
                <a:solidFill>
                  <a:srgbClr val="3B3535"/>
                </a:solidFill>
                <a:latin typeface="Calibri" panose="020F0502020204030204" pitchFamily="34" charset="0"/>
                <a:ea typeface="Calibri" panose="020F0502020204030204" pitchFamily="34" charset="0"/>
                <a:cs typeface="Calibri" panose="020F0502020204030204" pitchFamily="34" charset="0"/>
                <a:sym typeface="DM Sans"/>
              </a:rPr>
              <a:t>Combining high-resolution remote sensing data with ground-based observations to create more comprehensive spatial analyses at multiple scales.</a:t>
            </a:r>
            <a:endParaRPr sz="1000" b="0" i="0" u="none" strike="noStrike" cap="none">
              <a:latin typeface="Calibri" panose="020F0502020204030204" pitchFamily="34" charset="0"/>
              <a:ea typeface="Calibri" panose="020F0502020204030204" pitchFamily="34" charset="0"/>
              <a:cs typeface="Calibri" panose="020F0502020204030204" pitchFamily="34" charset="0"/>
            </a:endParaRPr>
          </a:p>
        </p:txBody>
      </p:sp>
      <p:sp>
        <p:nvSpPr>
          <p:cNvPr id="6" name="Google Shape;562;p56">
            <a:extLst>
              <a:ext uri="{FF2B5EF4-FFF2-40B4-BE49-F238E27FC236}">
                <a16:creationId xmlns:a16="http://schemas.microsoft.com/office/drawing/2014/main" id="{160A1459-3005-DDB5-3F51-D21B2BD4591D}"/>
              </a:ext>
            </a:extLst>
          </p:cNvPr>
          <p:cNvSpPr/>
          <p:nvPr/>
        </p:nvSpPr>
        <p:spPr>
          <a:xfrm>
            <a:off x="3260378" y="1079153"/>
            <a:ext cx="301800" cy="301800"/>
          </a:xfrm>
          <a:prstGeom prst="roundRect">
            <a:avLst>
              <a:gd name="adj" fmla="val 18671"/>
            </a:avLst>
          </a:prstGeom>
          <a:solidFill>
            <a:srgbClr val="D5DCF6"/>
          </a:solidFill>
          <a:ln w="9525" cap="flat" cmpd="sng">
            <a:solidFill>
              <a:srgbClr val="BBC2D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latin typeface="Calibri" panose="020F0502020204030204" pitchFamily="34" charset="0"/>
              <a:ea typeface="Calibri" panose="020F0502020204030204" pitchFamily="34" charset="0"/>
              <a:cs typeface="Calibri" panose="020F0502020204030204" pitchFamily="34" charset="0"/>
            </a:endParaRPr>
          </a:p>
        </p:txBody>
      </p:sp>
      <p:pic>
        <p:nvPicPr>
          <p:cNvPr id="7" name="Google Shape;563;p56" descr="preencoded.png">
            <a:extLst>
              <a:ext uri="{FF2B5EF4-FFF2-40B4-BE49-F238E27FC236}">
                <a16:creationId xmlns:a16="http://schemas.microsoft.com/office/drawing/2014/main" id="{E553256A-4A37-3DC5-F70C-68B396A9F453}"/>
              </a:ext>
            </a:extLst>
          </p:cNvPr>
          <p:cNvPicPr preferRelativeResize="0"/>
          <p:nvPr/>
        </p:nvPicPr>
        <p:blipFill rotWithShape="1">
          <a:blip r:embed="rId3">
            <a:alphaModFix/>
          </a:blip>
          <a:srcRect/>
          <a:stretch/>
        </p:blipFill>
        <p:spPr>
          <a:xfrm>
            <a:off x="3305398" y="1097682"/>
            <a:ext cx="211783" cy="264765"/>
          </a:xfrm>
          <a:prstGeom prst="rect">
            <a:avLst/>
          </a:prstGeom>
          <a:noFill/>
          <a:ln>
            <a:noFill/>
          </a:ln>
        </p:spPr>
      </p:pic>
      <p:sp>
        <p:nvSpPr>
          <p:cNvPr id="8" name="Google Shape;564;p56">
            <a:extLst>
              <a:ext uri="{FF2B5EF4-FFF2-40B4-BE49-F238E27FC236}">
                <a16:creationId xmlns:a16="http://schemas.microsoft.com/office/drawing/2014/main" id="{4BE90390-E756-8BB2-E664-FCBECA5AAFED}"/>
              </a:ext>
            </a:extLst>
          </p:cNvPr>
          <p:cNvSpPr/>
          <p:nvPr/>
        </p:nvSpPr>
        <p:spPr>
          <a:xfrm>
            <a:off x="3696370" y="1125215"/>
            <a:ext cx="2187300" cy="441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B3535"/>
              </a:buClr>
              <a:buSzPts val="1400"/>
              <a:buFont typeface="DM Sans"/>
              <a:buNone/>
            </a:pPr>
            <a:r>
              <a:rPr lang="en" sz="1400" b="0" i="0" u="none" strike="noStrike" cap="none">
                <a:solidFill>
                  <a:srgbClr val="3B3535"/>
                </a:solidFill>
                <a:latin typeface="Calibri" panose="020F0502020204030204" pitchFamily="34" charset="0"/>
                <a:ea typeface="Calibri" panose="020F0502020204030204" pitchFamily="34" charset="0"/>
                <a:cs typeface="Calibri" panose="020F0502020204030204" pitchFamily="34" charset="0"/>
                <a:sym typeface="DM Sans"/>
              </a:rPr>
              <a:t>Machine Learning Applications</a:t>
            </a:r>
            <a:endParaRPr sz="1400" b="0" i="0" u="none" strike="noStrike" cap="none">
              <a:latin typeface="Calibri" panose="020F0502020204030204" pitchFamily="34" charset="0"/>
              <a:ea typeface="Calibri" panose="020F0502020204030204" pitchFamily="34" charset="0"/>
              <a:cs typeface="Calibri" panose="020F0502020204030204" pitchFamily="34" charset="0"/>
            </a:endParaRPr>
          </a:p>
        </p:txBody>
      </p:sp>
      <p:sp>
        <p:nvSpPr>
          <p:cNvPr id="9" name="Google Shape;565;p56">
            <a:extLst>
              <a:ext uri="{FF2B5EF4-FFF2-40B4-BE49-F238E27FC236}">
                <a16:creationId xmlns:a16="http://schemas.microsoft.com/office/drawing/2014/main" id="{0CDE7EC8-362B-46F6-A532-01D2851F6A17}"/>
              </a:ext>
            </a:extLst>
          </p:cNvPr>
          <p:cNvSpPr/>
          <p:nvPr/>
        </p:nvSpPr>
        <p:spPr>
          <a:xfrm>
            <a:off x="3696370" y="1646932"/>
            <a:ext cx="2187300" cy="1073100"/>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3B3535"/>
              </a:buClr>
              <a:buSzPts val="1000"/>
              <a:buFont typeface="DM Sans"/>
              <a:buNone/>
            </a:pPr>
            <a:r>
              <a:rPr lang="en" sz="1000" b="0" i="0" u="none" strike="noStrike" cap="none">
                <a:solidFill>
                  <a:srgbClr val="3B3535"/>
                </a:solidFill>
                <a:latin typeface="Calibri" panose="020F0502020204030204" pitchFamily="34" charset="0"/>
                <a:ea typeface="Calibri" panose="020F0502020204030204" pitchFamily="34" charset="0"/>
                <a:cs typeface="Calibri" panose="020F0502020204030204" pitchFamily="34" charset="0"/>
                <a:sym typeface="DM Sans"/>
              </a:rPr>
              <a:t>Implementing advanced machine learning algorithms to detect complex spatial patterns and relationships that traditional statistics might miss.</a:t>
            </a:r>
            <a:endParaRPr sz="1000" b="0" i="0" u="none" strike="noStrike" cap="none">
              <a:latin typeface="Calibri" panose="020F0502020204030204" pitchFamily="34" charset="0"/>
              <a:ea typeface="Calibri" panose="020F0502020204030204" pitchFamily="34" charset="0"/>
              <a:cs typeface="Calibri" panose="020F0502020204030204" pitchFamily="34" charset="0"/>
            </a:endParaRPr>
          </a:p>
        </p:txBody>
      </p:sp>
      <p:sp>
        <p:nvSpPr>
          <p:cNvPr id="10" name="Google Shape;566;p56">
            <a:extLst>
              <a:ext uri="{FF2B5EF4-FFF2-40B4-BE49-F238E27FC236}">
                <a16:creationId xmlns:a16="http://schemas.microsoft.com/office/drawing/2014/main" id="{8C23D640-EF7A-F413-10C3-BE6E57491996}"/>
              </a:ext>
            </a:extLst>
          </p:cNvPr>
          <p:cNvSpPr/>
          <p:nvPr/>
        </p:nvSpPr>
        <p:spPr>
          <a:xfrm>
            <a:off x="6051203" y="1079153"/>
            <a:ext cx="301800" cy="301800"/>
          </a:xfrm>
          <a:prstGeom prst="roundRect">
            <a:avLst>
              <a:gd name="adj" fmla="val 18671"/>
            </a:avLst>
          </a:prstGeom>
          <a:solidFill>
            <a:srgbClr val="D5DCF6"/>
          </a:solidFill>
          <a:ln w="9525" cap="flat" cmpd="sng">
            <a:solidFill>
              <a:srgbClr val="BBC2D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latin typeface="Calibri" panose="020F0502020204030204" pitchFamily="34" charset="0"/>
              <a:ea typeface="Calibri" panose="020F0502020204030204" pitchFamily="34" charset="0"/>
              <a:cs typeface="Calibri" panose="020F0502020204030204" pitchFamily="34" charset="0"/>
            </a:endParaRPr>
          </a:p>
        </p:txBody>
      </p:sp>
      <p:pic>
        <p:nvPicPr>
          <p:cNvPr id="11" name="Google Shape;567;p56" descr="preencoded.png">
            <a:extLst>
              <a:ext uri="{FF2B5EF4-FFF2-40B4-BE49-F238E27FC236}">
                <a16:creationId xmlns:a16="http://schemas.microsoft.com/office/drawing/2014/main" id="{D98D9D33-8713-3C78-B58C-160E5B53A63D}"/>
              </a:ext>
            </a:extLst>
          </p:cNvPr>
          <p:cNvPicPr preferRelativeResize="0"/>
          <p:nvPr/>
        </p:nvPicPr>
        <p:blipFill rotWithShape="1">
          <a:blip r:embed="rId4">
            <a:alphaModFix/>
          </a:blip>
          <a:srcRect/>
          <a:stretch/>
        </p:blipFill>
        <p:spPr>
          <a:xfrm>
            <a:off x="6096223" y="1097682"/>
            <a:ext cx="211783" cy="264765"/>
          </a:xfrm>
          <a:prstGeom prst="rect">
            <a:avLst/>
          </a:prstGeom>
          <a:noFill/>
          <a:ln>
            <a:noFill/>
          </a:ln>
        </p:spPr>
      </p:pic>
      <p:sp>
        <p:nvSpPr>
          <p:cNvPr id="12" name="Google Shape;568;p56">
            <a:extLst>
              <a:ext uri="{FF2B5EF4-FFF2-40B4-BE49-F238E27FC236}">
                <a16:creationId xmlns:a16="http://schemas.microsoft.com/office/drawing/2014/main" id="{AE7DE637-ED96-EC05-6FC3-DA0B7B566915}"/>
              </a:ext>
            </a:extLst>
          </p:cNvPr>
          <p:cNvSpPr/>
          <p:nvPr/>
        </p:nvSpPr>
        <p:spPr>
          <a:xfrm>
            <a:off x="6487195" y="1125215"/>
            <a:ext cx="1805100" cy="220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B3535"/>
              </a:buClr>
              <a:buSzPts val="1400"/>
              <a:buFont typeface="DM Sans"/>
              <a:buNone/>
            </a:pPr>
            <a:r>
              <a:rPr lang="en" sz="1400" b="0" i="0" u="none" strike="noStrike" cap="none">
                <a:solidFill>
                  <a:srgbClr val="3B3535"/>
                </a:solidFill>
                <a:latin typeface="Calibri" panose="020F0502020204030204" pitchFamily="34" charset="0"/>
                <a:ea typeface="Calibri" panose="020F0502020204030204" pitchFamily="34" charset="0"/>
                <a:cs typeface="Calibri" panose="020F0502020204030204" pitchFamily="34" charset="0"/>
                <a:sym typeface="DM Sans"/>
              </a:rPr>
              <a:t>Real-time Monitoring</a:t>
            </a:r>
            <a:endParaRPr sz="1400" b="0" i="0" u="none" strike="noStrike" cap="none">
              <a:latin typeface="Calibri" panose="020F0502020204030204" pitchFamily="34" charset="0"/>
              <a:ea typeface="Calibri" panose="020F0502020204030204" pitchFamily="34" charset="0"/>
              <a:cs typeface="Calibri" panose="020F0502020204030204" pitchFamily="34" charset="0"/>
            </a:endParaRPr>
          </a:p>
        </p:txBody>
      </p:sp>
      <p:sp>
        <p:nvSpPr>
          <p:cNvPr id="13" name="Google Shape;569;p56">
            <a:extLst>
              <a:ext uri="{FF2B5EF4-FFF2-40B4-BE49-F238E27FC236}">
                <a16:creationId xmlns:a16="http://schemas.microsoft.com/office/drawing/2014/main" id="{2128FFC3-03D6-4A5D-CFF2-AB41AE7C4CD2}"/>
              </a:ext>
            </a:extLst>
          </p:cNvPr>
          <p:cNvSpPr/>
          <p:nvPr/>
        </p:nvSpPr>
        <p:spPr>
          <a:xfrm>
            <a:off x="6487195" y="1426294"/>
            <a:ext cx="2187300" cy="1073100"/>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3B3535"/>
              </a:buClr>
              <a:buSzPts val="1000"/>
              <a:buFont typeface="DM Sans"/>
              <a:buNone/>
            </a:pPr>
            <a:r>
              <a:rPr lang="en" sz="1000" b="0" i="0" u="none" strike="noStrike" cap="none">
                <a:solidFill>
                  <a:srgbClr val="3B3535"/>
                </a:solidFill>
                <a:latin typeface="Calibri" panose="020F0502020204030204" pitchFamily="34" charset="0"/>
                <a:ea typeface="Calibri" panose="020F0502020204030204" pitchFamily="34" charset="0"/>
                <a:cs typeface="Calibri" panose="020F0502020204030204" pitchFamily="34" charset="0"/>
                <a:sym typeface="DM Sans"/>
              </a:rPr>
              <a:t>Developing systems for continuous spatial data collection through sensor networks and mobile technologies to track dynamic ecological processes.</a:t>
            </a:r>
            <a:endParaRPr sz="1000" b="0" i="0" u="none" strike="noStrike" cap="none">
              <a:latin typeface="Calibri" panose="020F0502020204030204" pitchFamily="34" charset="0"/>
              <a:ea typeface="Calibri" panose="020F0502020204030204" pitchFamily="34" charset="0"/>
              <a:cs typeface="Calibri" panose="020F0502020204030204" pitchFamily="34" charset="0"/>
            </a:endParaRPr>
          </a:p>
        </p:txBody>
      </p:sp>
      <p:sp>
        <p:nvSpPr>
          <p:cNvPr id="14" name="Google Shape;570;p56">
            <a:extLst>
              <a:ext uri="{FF2B5EF4-FFF2-40B4-BE49-F238E27FC236}">
                <a16:creationId xmlns:a16="http://schemas.microsoft.com/office/drawing/2014/main" id="{9F6A2E7D-50A4-0780-5DDF-8EE6AFAF717F}"/>
              </a:ext>
            </a:extLst>
          </p:cNvPr>
          <p:cNvSpPr/>
          <p:nvPr/>
        </p:nvSpPr>
        <p:spPr>
          <a:xfrm>
            <a:off x="469552" y="2988320"/>
            <a:ext cx="301800" cy="301800"/>
          </a:xfrm>
          <a:prstGeom prst="roundRect">
            <a:avLst>
              <a:gd name="adj" fmla="val 18671"/>
            </a:avLst>
          </a:prstGeom>
          <a:solidFill>
            <a:srgbClr val="D5DCF6"/>
          </a:solidFill>
          <a:ln w="9525" cap="flat" cmpd="sng">
            <a:solidFill>
              <a:srgbClr val="BBC2D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latin typeface="Calibri" panose="020F0502020204030204" pitchFamily="34" charset="0"/>
              <a:ea typeface="Calibri" panose="020F0502020204030204" pitchFamily="34" charset="0"/>
              <a:cs typeface="Calibri" panose="020F0502020204030204" pitchFamily="34" charset="0"/>
            </a:endParaRPr>
          </a:p>
        </p:txBody>
      </p:sp>
      <p:pic>
        <p:nvPicPr>
          <p:cNvPr id="15" name="Google Shape;571;p56" descr="preencoded.png">
            <a:extLst>
              <a:ext uri="{FF2B5EF4-FFF2-40B4-BE49-F238E27FC236}">
                <a16:creationId xmlns:a16="http://schemas.microsoft.com/office/drawing/2014/main" id="{9F7EF42D-ECEE-9C88-ACC2-DBF0892DF51F}"/>
              </a:ext>
            </a:extLst>
          </p:cNvPr>
          <p:cNvPicPr preferRelativeResize="0"/>
          <p:nvPr/>
        </p:nvPicPr>
        <p:blipFill rotWithShape="1">
          <a:blip r:embed="rId5">
            <a:alphaModFix/>
          </a:blip>
          <a:srcRect/>
          <a:stretch/>
        </p:blipFill>
        <p:spPr>
          <a:xfrm>
            <a:off x="514573" y="3006849"/>
            <a:ext cx="211783" cy="264765"/>
          </a:xfrm>
          <a:prstGeom prst="rect">
            <a:avLst/>
          </a:prstGeom>
          <a:noFill/>
          <a:ln>
            <a:noFill/>
          </a:ln>
        </p:spPr>
      </p:pic>
      <p:sp>
        <p:nvSpPr>
          <p:cNvPr id="16" name="Google Shape;572;p56">
            <a:extLst>
              <a:ext uri="{FF2B5EF4-FFF2-40B4-BE49-F238E27FC236}">
                <a16:creationId xmlns:a16="http://schemas.microsoft.com/office/drawing/2014/main" id="{9E80471F-F6DA-6EE3-8BA3-AEAE65AF28C2}"/>
              </a:ext>
            </a:extLst>
          </p:cNvPr>
          <p:cNvSpPr/>
          <p:nvPr/>
        </p:nvSpPr>
        <p:spPr>
          <a:xfrm>
            <a:off x="905545" y="3034383"/>
            <a:ext cx="1765200" cy="220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B3535"/>
              </a:buClr>
              <a:buSzPts val="1400"/>
              <a:buFont typeface="DM Sans"/>
              <a:buNone/>
            </a:pPr>
            <a:r>
              <a:rPr lang="en" sz="1400" b="0" i="0" u="none" strike="noStrike" cap="none">
                <a:solidFill>
                  <a:srgbClr val="3B3535"/>
                </a:solidFill>
                <a:latin typeface="Calibri" panose="020F0502020204030204" pitchFamily="34" charset="0"/>
                <a:ea typeface="Calibri" panose="020F0502020204030204" pitchFamily="34" charset="0"/>
                <a:cs typeface="Calibri" panose="020F0502020204030204" pitchFamily="34" charset="0"/>
                <a:sym typeface="DM Sans"/>
              </a:rPr>
              <a:t>3D Spatial Analysis</a:t>
            </a:r>
            <a:endParaRPr sz="1400" b="0" i="0" u="none" strike="noStrike" cap="none">
              <a:latin typeface="Calibri" panose="020F0502020204030204" pitchFamily="34" charset="0"/>
              <a:ea typeface="Calibri" panose="020F0502020204030204" pitchFamily="34" charset="0"/>
              <a:cs typeface="Calibri" panose="020F0502020204030204" pitchFamily="34" charset="0"/>
            </a:endParaRPr>
          </a:p>
        </p:txBody>
      </p:sp>
      <p:sp>
        <p:nvSpPr>
          <p:cNvPr id="17" name="Google Shape;573;p56">
            <a:extLst>
              <a:ext uri="{FF2B5EF4-FFF2-40B4-BE49-F238E27FC236}">
                <a16:creationId xmlns:a16="http://schemas.microsoft.com/office/drawing/2014/main" id="{B0916AC7-D854-7B95-8C79-A3CB9AC07F02}"/>
              </a:ext>
            </a:extLst>
          </p:cNvPr>
          <p:cNvSpPr/>
          <p:nvPr/>
        </p:nvSpPr>
        <p:spPr>
          <a:xfrm>
            <a:off x="905545" y="3335461"/>
            <a:ext cx="3582900" cy="643800"/>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3B3535"/>
              </a:buClr>
              <a:buSzPts val="1000"/>
              <a:buFont typeface="DM Sans"/>
              <a:buNone/>
            </a:pPr>
            <a:r>
              <a:rPr lang="en" sz="1000" b="0" i="0" u="none" strike="noStrike" cap="none">
                <a:solidFill>
                  <a:srgbClr val="3B3535"/>
                </a:solidFill>
                <a:latin typeface="Calibri" panose="020F0502020204030204" pitchFamily="34" charset="0"/>
                <a:ea typeface="Calibri" panose="020F0502020204030204" pitchFamily="34" charset="0"/>
                <a:cs typeface="Calibri" panose="020F0502020204030204" pitchFamily="34" charset="0"/>
                <a:sym typeface="DM Sans"/>
              </a:rPr>
              <a:t>Moving beyond 2D representations to incorporate vertical structure in ecological systems, especially important for forest and marine ecosystems.</a:t>
            </a:r>
            <a:endParaRPr sz="1000" b="0" i="0" u="none" strike="noStrike" cap="none">
              <a:latin typeface="Calibri" panose="020F0502020204030204" pitchFamily="34" charset="0"/>
              <a:ea typeface="Calibri" panose="020F0502020204030204" pitchFamily="34" charset="0"/>
              <a:cs typeface="Calibri" panose="020F0502020204030204" pitchFamily="34" charset="0"/>
            </a:endParaRPr>
          </a:p>
        </p:txBody>
      </p:sp>
      <p:sp>
        <p:nvSpPr>
          <p:cNvPr id="18" name="Google Shape;574;p56">
            <a:extLst>
              <a:ext uri="{FF2B5EF4-FFF2-40B4-BE49-F238E27FC236}">
                <a16:creationId xmlns:a16="http://schemas.microsoft.com/office/drawing/2014/main" id="{D8DC9807-D365-86DA-6FD9-E53372EE0E5C}"/>
              </a:ext>
            </a:extLst>
          </p:cNvPr>
          <p:cNvSpPr/>
          <p:nvPr/>
        </p:nvSpPr>
        <p:spPr>
          <a:xfrm>
            <a:off x="4655864" y="2988320"/>
            <a:ext cx="301800" cy="301800"/>
          </a:xfrm>
          <a:prstGeom prst="roundRect">
            <a:avLst>
              <a:gd name="adj" fmla="val 18671"/>
            </a:avLst>
          </a:prstGeom>
          <a:solidFill>
            <a:srgbClr val="D5DCF6"/>
          </a:solidFill>
          <a:ln w="9525" cap="flat" cmpd="sng">
            <a:solidFill>
              <a:srgbClr val="BBC2D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latin typeface="Calibri" panose="020F0502020204030204" pitchFamily="34" charset="0"/>
              <a:ea typeface="Calibri" panose="020F0502020204030204" pitchFamily="34" charset="0"/>
              <a:cs typeface="Calibri" panose="020F0502020204030204" pitchFamily="34" charset="0"/>
            </a:endParaRPr>
          </a:p>
        </p:txBody>
      </p:sp>
      <p:pic>
        <p:nvPicPr>
          <p:cNvPr id="19" name="Google Shape;575;p56" descr="preencoded.png">
            <a:extLst>
              <a:ext uri="{FF2B5EF4-FFF2-40B4-BE49-F238E27FC236}">
                <a16:creationId xmlns:a16="http://schemas.microsoft.com/office/drawing/2014/main" id="{C9A8D27B-A9EC-DD17-F883-2533968148C3}"/>
              </a:ext>
            </a:extLst>
          </p:cNvPr>
          <p:cNvPicPr preferRelativeResize="0"/>
          <p:nvPr/>
        </p:nvPicPr>
        <p:blipFill rotWithShape="1">
          <a:blip r:embed="rId6">
            <a:alphaModFix/>
          </a:blip>
          <a:srcRect/>
          <a:stretch/>
        </p:blipFill>
        <p:spPr>
          <a:xfrm>
            <a:off x="4700885" y="3006849"/>
            <a:ext cx="211783" cy="264765"/>
          </a:xfrm>
          <a:prstGeom prst="rect">
            <a:avLst/>
          </a:prstGeom>
          <a:noFill/>
          <a:ln>
            <a:noFill/>
          </a:ln>
        </p:spPr>
      </p:pic>
      <p:sp>
        <p:nvSpPr>
          <p:cNvPr id="20" name="Google Shape;576;p56">
            <a:extLst>
              <a:ext uri="{FF2B5EF4-FFF2-40B4-BE49-F238E27FC236}">
                <a16:creationId xmlns:a16="http://schemas.microsoft.com/office/drawing/2014/main" id="{D36ED14D-1943-3371-A9C4-DF4EBAAE3FBD}"/>
              </a:ext>
            </a:extLst>
          </p:cNvPr>
          <p:cNvSpPr/>
          <p:nvPr/>
        </p:nvSpPr>
        <p:spPr>
          <a:xfrm>
            <a:off x="5091857" y="3034383"/>
            <a:ext cx="2421300" cy="220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B3535"/>
              </a:buClr>
              <a:buSzPts val="1400"/>
              <a:buFont typeface="DM Sans"/>
              <a:buNone/>
            </a:pPr>
            <a:r>
              <a:rPr lang="en" sz="1400" b="0" i="0" u="none" strike="noStrike" cap="none">
                <a:solidFill>
                  <a:srgbClr val="3B3535"/>
                </a:solidFill>
                <a:latin typeface="Calibri" panose="020F0502020204030204" pitchFamily="34" charset="0"/>
                <a:ea typeface="Calibri" panose="020F0502020204030204" pitchFamily="34" charset="0"/>
                <a:cs typeface="Calibri" panose="020F0502020204030204" pitchFamily="34" charset="0"/>
                <a:sym typeface="DM Sans"/>
              </a:rPr>
              <a:t>Network-based Approaches</a:t>
            </a:r>
            <a:endParaRPr sz="1400" b="0" i="0" u="none" strike="noStrike" cap="none">
              <a:latin typeface="Calibri" panose="020F0502020204030204" pitchFamily="34" charset="0"/>
              <a:ea typeface="Calibri" panose="020F0502020204030204" pitchFamily="34" charset="0"/>
              <a:cs typeface="Calibri" panose="020F0502020204030204" pitchFamily="34" charset="0"/>
            </a:endParaRPr>
          </a:p>
        </p:txBody>
      </p:sp>
      <p:sp>
        <p:nvSpPr>
          <p:cNvPr id="21" name="Google Shape;577;p56">
            <a:extLst>
              <a:ext uri="{FF2B5EF4-FFF2-40B4-BE49-F238E27FC236}">
                <a16:creationId xmlns:a16="http://schemas.microsoft.com/office/drawing/2014/main" id="{FDE726DE-43D8-08E5-F1F2-94290A7D286A}"/>
              </a:ext>
            </a:extLst>
          </p:cNvPr>
          <p:cNvSpPr/>
          <p:nvPr/>
        </p:nvSpPr>
        <p:spPr>
          <a:xfrm>
            <a:off x="5091857" y="3335461"/>
            <a:ext cx="3582900" cy="643800"/>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3B3535"/>
              </a:buClr>
              <a:buSzPts val="1000"/>
              <a:buFont typeface="DM Sans"/>
              <a:buNone/>
            </a:pPr>
            <a:r>
              <a:rPr lang="en" sz="1000" b="0" i="0" u="none" strike="noStrike" cap="none">
                <a:solidFill>
                  <a:srgbClr val="3B3535"/>
                </a:solidFill>
                <a:latin typeface="Calibri" panose="020F0502020204030204" pitchFamily="34" charset="0"/>
                <a:ea typeface="Calibri" panose="020F0502020204030204" pitchFamily="34" charset="0"/>
                <a:cs typeface="Calibri" panose="020F0502020204030204" pitchFamily="34" charset="0"/>
                <a:sym typeface="DM Sans"/>
              </a:rPr>
              <a:t>Analyzing ecological systems as interconnected networks to better understand flow, connectivity, and resilience across landscapes.</a:t>
            </a:r>
            <a:endParaRPr sz="1000" b="0" i="0" u="none" strike="noStrike" cap="none">
              <a:latin typeface="Calibri" panose="020F0502020204030204" pitchFamily="34" charset="0"/>
              <a:ea typeface="Calibri" panose="020F0502020204030204" pitchFamily="34" charset="0"/>
              <a:cs typeface="Calibri" panose="020F0502020204030204" pitchFamily="34" charset="0"/>
            </a:endParaRPr>
          </a:p>
        </p:txBody>
      </p:sp>
      <p:sp>
        <p:nvSpPr>
          <p:cNvPr id="22" name="Google Shape;578;p56">
            <a:extLst>
              <a:ext uri="{FF2B5EF4-FFF2-40B4-BE49-F238E27FC236}">
                <a16:creationId xmlns:a16="http://schemas.microsoft.com/office/drawing/2014/main" id="{C315B97D-5560-F1A7-B55B-E5238C14263C}"/>
              </a:ext>
            </a:extLst>
          </p:cNvPr>
          <p:cNvSpPr/>
          <p:nvPr/>
        </p:nvSpPr>
        <p:spPr>
          <a:xfrm>
            <a:off x="469553" y="4130204"/>
            <a:ext cx="8204700" cy="643800"/>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3B3535"/>
              </a:buClr>
              <a:buSzPts val="1000"/>
              <a:buFont typeface="DM Sans"/>
              <a:buNone/>
            </a:pPr>
            <a:r>
              <a:rPr lang="en" sz="1000" b="0" i="0" u="none" strike="noStrike" cap="none">
                <a:solidFill>
                  <a:srgbClr val="3B3535"/>
                </a:solidFill>
                <a:latin typeface="Calibri" panose="020F0502020204030204" pitchFamily="34" charset="0"/>
                <a:ea typeface="Calibri" panose="020F0502020204030204" pitchFamily="34" charset="0"/>
                <a:cs typeface="Calibri" panose="020F0502020204030204" pitchFamily="34" charset="0"/>
                <a:sym typeface="DM Sans"/>
              </a:rPr>
              <a:t>The field of ecological spatial analysis continues to evolve with technological advances and new statistical methods. These innovations promise deeper insights into spatial relationships in natural systems, supporting more effective conservation and management decisions.</a:t>
            </a:r>
            <a:endParaRPr sz="1000" b="0" i="0" u="none" strike="noStrike" cap="none">
              <a:latin typeface="Calibri" panose="020F0502020204030204" pitchFamily="34" charset="0"/>
              <a:ea typeface="Calibri" panose="020F0502020204030204" pitchFamily="34" charset="0"/>
              <a:cs typeface="Calibri" panose="020F0502020204030204" pitchFamily="34" charset="0"/>
            </a:endParaRPr>
          </a:p>
        </p:txBody>
      </p:sp>
      <p:sp>
        <p:nvSpPr>
          <p:cNvPr id="23" name="Google Shape;324;p15">
            <a:extLst>
              <a:ext uri="{FF2B5EF4-FFF2-40B4-BE49-F238E27FC236}">
                <a16:creationId xmlns:a16="http://schemas.microsoft.com/office/drawing/2014/main" id="{037250B7-FAA2-9697-E924-6CFD0D537454}"/>
              </a:ext>
            </a:extLst>
          </p:cNvPr>
          <p:cNvSpPr/>
          <p:nvPr/>
        </p:nvSpPr>
        <p:spPr>
          <a:xfrm>
            <a:off x="365760" y="256032"/>
            <a:ext cx="201168" cy="201168"/>
          </a:xfrm>
          <a:prstGeom prst="ellipse">
            <a:avLst/>
          </a:prstGeom>
          <a:solidFill>
            <a:srgbClr val="4A9B8E"/>
          </a:solidFill>
          <a:ln w="12700" cap="flat" cmpd="sng">
            <a:solidFill>
              <a:srgbClr val="4A9B8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 name="Google Shape;325;p15">
            <a:extLst>
              <a:ext uri="{FF2B5EF4-FFF2-40B4-BE49-F238E27FC236}">
                <a16:creationId xmlns:a16="http://schemas.microsoft.com/office/drawing/2014/main" id="{F21B11DE-ACB5-B8CC-8438-72593FFB64BA}"/>
              </a:ext>
            </a:extLst>
          </p:cNvPr>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dirty="0">
                <a:solidFill>
                  <a:srgbClr val="2C2C2C"/>
                </a:solidFill>
                <a:latin typeface="Calibri"/>
                <a:ea typeface="Calibri"/>
                <a:cs typeface="Calibri"/>
                <a:sym typeface="Calibri"/>
              </a:rPr>
              <a:t>Future directions</a:t>
            </a:r>
            <a:endParaRPr sz="2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11678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16"/>
          <p:cNvSpPr/>
          <p:nvPr/>
        </p:nvSpPr>
        <p:spPr>
          <a:xfrm>
            <a:off x="365760" y="256032"/>
            <a:ext cx="201168" cy="201168"/>
          </a:xfrm>
          <a:prstGeom prst="ellipse">
            <a:avLst/>
          </a:prstGeom>
          <a:solidFill>
            <a:srgbClr val="7C6FA0"/>
          </a:solidFill>
          <a:ln w="12700" cap="flat" cmpd="sng">
            <a:solidFill>
              <a:srgbClr val="7C6F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1" name="Google Shape;411;p16"/>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a:solidFill>
                  <a:srgbClr val="2C2C2C"/>
                </a:solidFill>
                <a:latin typeface="Calibri"/>
                <a:ea typeface="Calibri"/>
                <a:cs typeface="Calibri"/>
                <a:sym typeface="Calibri"/>
              </a:rPr>
              <a:t>Limitations &amp; Best Practices</a:t>
            </a:r>
            <a:endParaRPr sz="2000">
              <a:solidFill>
                <a:schemeClr val="dk1"/>
              </a:solidFill>
              <a:latin typeface="Calibri"/>
              <a:ea typeface="Calibri"/>
              <a:cs typeface="Calibri"/>
              <a:sym typeface="Calibri"/>
            </a:endParaRPr>
          </a:p>
        </p:txBody>
      </p:sp>
      <p:sp>
        <p:nvSpPr>
          <p:cNvPr id="412" name="Google Shape;412;p16"/>
          <p:cNvSpPr/>
          <p:nvPr/>
        </p:nvSpPr>
        <p:spPr>
          <a:xfrm>
            <a:off x="365760" y="658368"/>
            <a:ext cx="8412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55555"/>
              </a:buClr>
              <a:buSzPts val="1150"/>
              <a:buFont typeface="Calibri"/>
              <a:buNone/>
            </a:pPr>
            <a:r>
              <a:rPr lang="en-US" sz="1150" i="1">
                <a:solidFill>
                  <a:srgbClr val="555555"/>
                </a:solidFill>
                <a:latin typeface="Calibri"/>
                <a:ea typeface="Calibri"/>
                <a:cs typeface="Calibri"/>
                <a:sym typeface="Calibri"/>
              </a:rPr>
              <a:t>Understanding kriging's constraints is essential for producing reliable, defensible results.</a:t>
            </a:r>
            <a:endParaRPr sz="1150">
              <a:solidFill>
                <a:schemeClr val="dk1"/>
              </a:solidFill>
              <a:latin typeface="Calibri"/>
              <a:ea typeface="Calibri"/>
              <a:cs typeface="Calibri"/>
              <a:sym typeface="Calibri"/>
            </a:endParaRPr>
          </a:p>
        </p:txBody>
      </p:sp>
      <p:sp>
        <p:nvSpPr>
          <p:cNvPr id="413" name="Google Shape;413;p16"/>
          <p:cNvSpPr/>
          <p:nvPr/>
        </p:nvSpPr>
        <p:spPr>
          <a:xfrm>
            <a:off x="320040" y="1097280"/>
            <a:ext cx="2834640" cy="365760"/>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4" name="Google Shape;414;p16"/>
          <p:cNvSpPr/>
          <p:nvPr/>
        </p:nvSpPr>
        <p:spPr>
          <a:xfrm>
            <a:off x="320040" y="1097280"/>
            <a:ext cx="283464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Key Limitations</a:t>
            </a:r>
            <a:endParaRPr sz="1100">
              <a:solidFill>
                <a:schemeClr val="dk1"/>
              </a:solidFill>
              <a:latin typeface="Calibri"/>
              <a:ea typeface="Calibri"/>
              <a:cs typeface="Calibri"/>
              <a:sym typeface="Calibri"/>
            </a:endParaRPr>
          </a:p>
        </p:txBody>
      </p:sp>
      <p:sp>
        <p:nvSpPr>
          <p:cNvPr id="415" name="Google Shape;415;p16"/>
          <p:cNvSpPr/>
          <p:nvPr/>
        </p:nvSpPr>
        <p:spPr>
          <a:xfrm>
            <a:off x="320040" y="1463040"/>
            <a:ext cx="2834640" cy="3337560"/>
          </a:xfrm>
          <a:prstGeom prst="rect">
            <a:avLst/>
          </a:prstGeom>
          <a:solidFill>
            <a:srgbClr val="FAE5D3"/>
          </a:solidFill>
          <a:ln w="12700" cap="flat" cmpd="sng">
            <a:solidFill>
              <a:srgbClr val="FAE5D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6" name="Google Shape;416;p16"/>
          <p:cNvSpPr/>
          <p:nvPr/>
        </p:nvSpPr>
        <p:spPr>
          <a:xfrm>
            <a:off x="429768" y="1645920"/>
            <a:ext cx="118872" cy="118872"/>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7" name="Google Shape;417;p16"/>
          <p:cNvSpPr/>
          <p:nvPr/>
        </p:nvSpPr>
        <p:spPr>
          <a:xfrm>
            <a:off x="612648" y="1572768"/>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Stationarity assumption — spatial patterns must be consistent across the study area</a:t>
            </a:r>
            <a:endParaRPr sz="950">
              <a:solidFill>
                <a:schemeClr val="dk1"/>
              </a:solidFill>
              <a:latin typeface="Calibri"/>
              <a:ea typeface="Calibri"/>
              <a:cs typeface="Calibri"/>
              <a:sym typeface="Calibri"/>
            </a:endParaRPr>
          </a:p>
        </p:txBody>
      </p:sp>
      <p:sp>
        <p:nvSpPr>
          <p:cNvPr id="418" name="Google Shape;418;p16"/>
          <p:cNvSpPr/>
          <p:nvPr/>
        </p:nvSpPr>
        <p:spPr>
          <a:xfrm>
            <a:off x="429768" y="2167128"/>
            <a:ext cx="118872" cy="118872"/>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9" name="Google Shape;419;p16"/>
          <p:cNvSpPr/>
          <p:nvPr/>
        </p:nvSpPr>
        <p:spPr>
          <a:xfrm>
            <a:off x="612648" y="2093976"/>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Requires ≥30–50 well-distributed sample points for reliable variogram estimation</a:t>
            </a:r>
            <a:endParaRPr sz="950">
              <a:solidFill>
                <a:schemeClr val="dk1"/>
              </a:solidFill>
              <a:latin typeface="Calibri"/>
              <a:ea typeface="Calibri"/>
              <a:cs typeface="Calibri"/>
              <a:sym typeface="Calibri"/>
            </a:endParaRPr>
          </a:p>
        </p:txBody>
      </p:sp>
      <p:sp>
        <p:nvSpPr>
          <p:cNvPr id="420" name="Google Shape;420;p16"/>
          <p:cNvSpPr/>
          <p:nvPr/>
        </p:nvSpPr>
        <p:spPr>
          <a:xfrm>
            <a:off x="429768" y="2688336"/>
            <a:ext cx="118872" cy="118872"/>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1" name="Google Shape;421;p16"/>
          <p:cNvSpPr/>
          <p:nvPr/>
        </p:nvSpPr>
        <p:spPr>
          <a:xfrm>
            <a:off x="612648" y="2615184"/>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Computationally intensive — becomes unwieldy with very large datasets</a:t>
            </a:r>
            <a:endParaRPr sz="950">
              <a:solidFill>
                <a:schemeClr val="dk1"/>
              </a:solidFill>
              <a:latin typeface="Calibri"/>
              <a:ea typeface="Calibri"/>
              <a:cs typeface="Calibri"/>
              <a:sym typeface="Calibri"/>
            </a:endParaRPr>
          </a:p>
        </p:txBody>
      </p:sp>
      <p:sp>
        <p:nvSpPr>
          <p:cNvPr id="422" name="Google Shape;422;p16"/>
          <p:cNvSpPr/>
          <p:nvPr/>
        </p:nvSpPr>
        <p:spPr>
          <a:xfrm>
            <a:off x="429768" y="3209544"/>
            <a:ext cx="118872" cy="118872"/>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3" name="Google Shape;423;p16"/>
          <p:cNvSpPr/>
          <p:nvPr/>
        </p:nvSpPr>
        <p:spPr>
          <a:xfrm>
            <a:off x="612648" y="3136392"/>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Smoothing effect — may underestimate extreme values</a:t>
            </a:r>
            <a:endParaRPr sz="950">
              <a:solidFill>
                <a:schemeClr val="dk1"/>
              </a:solidFill>
              <a:latin typeface="Calibri"/>
              <a:ea typeface="Calibri"/>
              <a:cs typeface="Calibri"/>
              <a:sym typeface="Calibri"/>
            </a:endParaRPr>
          </a:p>
        </p:txBody>
      </p:sp>
      <p:sp>
        <p:nvSpPr>
          <p:cNvPr id="424" name="Google Shape;424;p16"/>
          <p:cNvSpPr/>
          <p:nvPr/>
        </p:nvSpPr>
        <p:spPr>
          <a:xfrm>
            <a:off x="429768" y="3730752"/>
            <a:ext cx="118872" cy="118872"/>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5" name="Google Shape;425;p16"/>
          <p:cNvSpPr/>
          <p:nvPr/>
        </p:nvSpPr>
        <p:spPr>
          <a:xfrm>
            <a:off x="612648" y="3657600"/>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Subjectivity in variogram model selection</a:t>
            </a:r>
            <a:endParaRPr sz="950">
              <a:solidFill>
                <a:schemeClr val="dk1"/>
              </a:solidFill>
              <a:latin typeface="Calibri"/>
              <a:ea typeface="Calibri"/>
              <a:cs typeface="Calibri"/>
              <a:sym typeface="Calibri"/>
            </a:endParaRPr>
          </a:p>
        </p:txBody>
      </p:sp>
      <p:sp>
        <p:nvSpPr>
          <p:cNvPr id="426" name="Google Shape;426;p16"/>
          <p:cNvSpPr/>
          <p:nvPr/>
        </p:nvSpPr>
        <p:spPr>
          <a:xfrm>
            <a:off x="429768" y="4251960"/>
            <a:ext cx="118872" cy="118872"/>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7" name="Google Shape;427;p16"/>
          <p:cNvSpPr/>
          <p:nvPr/>
        </p:nvSpPr>
        <p:spPr>
          <a:xfrm>
            <a:off x="612648" y="4178808"/>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Do not extrapolate predictions beyond the data boundary</a:t>
            </a:r>
            <a:endParaRPr sz="950">
              <a:solidFill>
                <a:schemeClr val="dk1"/>
              </a:solidFill>
              <a:latin typeface="Calibri"/>
              <a:ea typeface="Calibri"/>
              <a:cs typeface="Calibri"/>
              <a:sym typeface="Calibri"/>
            </a:endParaRPr>
          </a:p>
        </p:txBody>
      </p:sp>
      <p:sp>
        <p:nvSpPr>
          <p:cNvPr id="428" name="Google Shape;428;p16"/>
          <p:cNvSpPr/>
          <p:nvPr/>
        </p:nvSpPr>
        <p:spPr>
          <a:xfrm>
            <a:off x="3246120" y="1097280"/>
            <a:ext cx="2834640" cy="365760"/>
          </a:xfrm>
          <a:prstGeom prst="rect">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9" name="Google Shape;429;p16"/>
          <p:cNvSpPr/>
          <p:nvPr/>
        </p:nvSpPr>
        <p:spPr>
          <a:xfrm>
            <a:off x="3246120" y="1097280"/>
            <a:ext cx="283464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Best Practices</a:t>
            </a:r>
            <a:endParaRPr sz="1100">
              <a:solidFill>
                <a:schemeClr val="dk1"/>
              </a:solidFill>
              <a:latin typeface="Calibri"/>
              <a:ea typeface="Calibri"/>
              <a:cs typeface="Calibri"/>
              <a:sym typeface="Calibri"/>
            </a:endParaRPr>
          </a:p>
        </p:txBody>
      </p:sp>
      <p:sp>
        <p:nvSpPr>
          <p:cNvPr id="430" name="Google Shape;430;p16"/>
          <p:cNvSpPr/>
          <p:nvPr/>
        </p:nvSpPr>
        <p:spPr>
          <a:xfrm>
            <a:off x="3246120" y="1463040"/>
            <a:ext cx="2834640" cy="3337560"/>
          </a:xfrm>
          <a:prstGeom prst="rect">
            <a:avLst/>
          </a:prstGeom>
          <a:solidFill>
            <a:srgbClr val="D3E4FA"/>
          </a:solidFill>
          <a:ln w="12700" cap="flat" cmpd="sng">
            <a:solidFill>
              <a:srgbClr val="D3E4F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1" name="Google Shape;431;p16"/>
          <p:cNvSpPr/>
          <p:nvPr/>
        </p:nvSpPr>
        <p:spPr>
          <a:xfrm>
            <a:off x="3355848" y="1645920"/>
            <a:ext cx="118872" cy="118872"/>
          </a:xfrm>
          <a:prstGeom prst="ellipse">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2" name="Google Shape;432;p16"/>
          <p:cNvSpPr/>
          <p:nvPr/>
        </p:nvSpPr>
        <p:spPr>
          <a:xfrm>
            <a:off x="3538728" y="1572768"/>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 Test for normality and transform data if needed (log, Box-Cox)</a:t>
            </a:r>
            <a:endParaRPr sz="950">
              <a:solidFill>
                <a:schemeClr val="dk1"/>
              </a:solidFill>
              <a:latin typeface="Calibri"/>
              <a:ea typeface="Calibri"/>
              <a:cs typeface="Calibri"/>
              <a:sym typeface="Calibri"/>
            </a:endParaRPr>
          </a:p>
        </p:txBody>
      </p:sp>
      <p:sp>
        <p:nvSpPr>
          <p:cNvPr id="433" name="Google Shape;433;p16"/>
          <p:cNvSpPr/>
          <p:nvPr/>
        </p:nvSpPr>
        <p:spPr>
          <a:xfrm>
            <a:off x="3355848" y="2167128"/>
            <a:ext cx="118872" cy="118872"/>
          </a:xfrm>
          <a:prstGeom prst="ellipse">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4" name="Google Shape;434;p16"/>
          <p:cNvSpPr/>
          <p:nvPr/>
        </p:nvSpPr>
        <p:spPr>
          <a:xfrm>
            <a:off x="3538728" y="2093976"/>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 Examine directional variograms to detect anisotropy</a:t>
            </a:r>
            <a:endParaRPr sz="950">
              <a:solidFill>
                <a:schemeClr val="dk1"/>
              </a:solidFill>
              <a:latin typeface="Calibri"/>
              <a:ea typeface="Calibri"/>
              <a:cs typeface="Calibri"/>
              <a:sym typeface="Calibri"/>
            </a:endParaRPr>
          </a:p>
        </p:txBody>
      </p:sp>
      <p:sp>
        <p:nvSpPr>
          <p:cNvPr id="435" name="Google Shape;435;p16"/>
          <p:cNvSpPr/>
          <p:nvPr/>
        </p:nvSpPr>
        <p:spPr>
          <a:xfrm>
            <a:off x="3355848" y="2688336"/>
            <a:ext cx="118872" cy="118872"/>
          </a:xfrm>
          <a:prstGeom prst="ellipse">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6" name="Google Shape;436;p16"/>
          <p:cNvSpPr/>
          <p:nvPr/>
        </p:nvSpPr>
        <p:spPr>
          <a:xfrm>
            <a:off x="3538728" y="2615184"/>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 Test multiple theoretical variogram models before selecting</a:t>
            </a:r>
            <a:endParaRPr sz="950">
              <a:solidFill>
                <a:schemeClr val="dk1"/>
              </a:solidFill>
              <a:latin typeface="Calibri"/>
              <a:ea typeface="Calibri"/>
              <a:cs typeface="Calibri"/>
              <a:sym typeface="Calibri"/>
            </a:endParaRPr>
          </a:p>
        </p:txBody>
      </p:sp>
      <p:sp>
        <p:nvSpPr>
          <p:cNvPr id="437" name="Google Shape;437;p16"/>
          <p:cNvSpPr/>
          <p:nvPr/>
        </p:nvSpPr>
        <p:spPr>
          <a:xfrm>
            <a:off x="3355848" y="3209544"/>
            <a:ext cx="118872" cy="118872"/>
          </a:xfrm>
          <a:prstGeom prst="ellipse">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8" name="Google Shape;438;p16"/>
          <p:cNvSpPr/>
          <p:nvPr/>
        </p:nvSpPr>
        <p:spPr>
          <a:xfrm>
            <a:off x="3538728" y="3136392"/>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 Perform rigorous cross-validation (check RMSE, ME, RMSSE)</a:t>
            </a:r>
            <a:endParaRPr sz="950">
              <a:solidFill>
                <a:schemeClr val="dk1"/>
              </a:solidFill>
              <a:latin typeface="Calibri"/>
              <a:ea typeface="Calibri"/>
              <a:cs typeface="Calibri"/>
              <a:sym typeface="Calibri"/>
            </a:endParaRPr>
          </a:p>
        </p:txBody>
      </p:sp>
      <p:sp>
        <p:nvSpPr>
          <p:cNvPr id="439" name="Google Shape;439;p16"/>
          <p:cNvSpPr/>
          <p:nvPr/>
        </p:nvSpPr>
        <p:spPr>
          <a:xfrm>
            <a:off x="3355848" y="3730752"/>
            <a:ext cx="118872" cy="118872"/>
          </a:xfrm>
          <a:prstGeom prst="ellipse">
            <a:avLst/>
          </a:prstGeom>
          <a:solidFill>
            <a:srgbClr val="4A7AB5"/>
          </a:solidFill>
          <a:ln w="12700" cap="flat" cmpd="sng">
            <a:solidFill>
              <a:srgbClr val="4A7AB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0" name="Google Shape;440;p16"/>
          <p:cNvSpPr/>
          <p:nvPr/>
        </p:nvSpPr>
        <p:spPr>
          <a:xfrm>
            <a:off x="3538728" y="3657600"/>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 Always present prediction maps alongside uncertainty maps</a:t>
            </a:r>
            <a:endParaRPr sz="950">
              <a:solidFill>
                <a:schemeClr val="dk1"/>
              </a:solidFill>
              <a:latin typeface="Calibri"/>
              <a:ea typeface="Calibri"/>
              <a:cs typeface="Calibri"/>
              <a:sym typeface="Calibri"/>
            </a:endParaRPr>
          </a:p>
        </p:txBody>
      </p:sp>
      <p:sp>
        <p:nvSpPr>
          <p:cNvPr id="441" name="Google Shape;441;p16"/>
          <p:cNvSpPr/>
          <p:nvPr/>
        </p:nvSpPr>
        <p:spPr>
          <a:xfrm>
            <a:off x="6172200" y="1097280"/>
            <a:ext cx="2834640" cy="365760"/>
          </a:xfrm>
          <a:prstGeom prst="rect">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2" name="Google Shape;442;p16"/>
          <p:cNvSpPr/>
          <p:nvPr/>
        </p:nvSpPr>
        <p:spPr>
          <a:xfrm>
            <a:off x="6172200" y="1097280"/>
            <a:ext cx="283464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When to Use Kriging vs. Alternatives</a:t>
            </a:r>
            <a:endParaRPr sz="1100">
              <a:solidFill>
                <a:schemeClr val="dk1"/>
              </a:solidFill>
              <a:latin typeface="Calibri"/>
              <a:ea typeface="Calibri"/>
              <a:cs typeface="Calibri"/>
              <a:sym typeface="Calibri"/>
            </a:endParaRPr>
          </a:p>
        </p:txBody>
      </p:sp>
      <p:sp>
        <p:nvSpPr>
          <p:cNvPr id="443" name="Google Shape;443;p16"/>
          <p:cNvSpPr/>
          <p:nvPr/>
        </p:nvSpPr>
        <p:spPr>
          <a:xfrm>
            <a:off x="6172200" y="1463040"/>
            <a:ext cx="2834640" cy="3337560"/>
          </a:xfrm>
          <a:prstGeom prst="rect">
            <a:avLst/>
          </a:prstGeom>
          <a:solidFill>
            <a:srgbClr val="D5EAE0"/>
          </a:solidFill>
          <a:ln w="12700" cap="flat" cmpd="sng">
            <a:solidFill>
              <a:srgbClr val="D5EA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4" name="Google Shape;444;p16"/>
          <p:cNvSpPr/>
          <p:nvPr/>
        </p:nvSpPr>
        <p:spPr>
          <a:xfrm>
            <a:off x="6281928" y="1645920"/>
            <a:ext cx="118872" cy="118872"/>
          </a:xfrm>
          <a:prstGeom prst="ellipse">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5" name="Google Shape;445;p16"/>
          <p:cNvSpPr/>
          <p:nvPr/>
        </p:nvSpPr>
        <p:spPr>
          <a:xfrm>
            <a:off x="6464808" y="1572768"/>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Use Kriging when spatial structure is present and uncertainty quantification matters.</a:t>
            </a:r>
            <a:endParaRPr sz="950">
              <a:solidFill>
                <a:schemeClr val="dk1"/>
              </a:solidFill>
              <a:latin typeface="Calibri"/>
              <a:ea typeface="Calibri"/>
              <a:cs typeface="Calibri"/>
              <a:sym typeface="Calibri"/>
            </a:endParaRPr>
          </a:p>
        </p:txBody>
      </p:sp>
      <p:sp>
        <p:nvSpPr>
          <p:cNvPr id="446" name="Google Shape;446;p16"/>
          <p:cNvSpPr/>
          <p:nvPr/>
        </p:nvSpPr>
        <p:spPr>
          <a:xfrm>
            <a:off x="6281928" y="2167128"/>
            <a:ext cx="118872" cy="118872"/>
          </a:xfrm>
          <a:prstGeom prst="ellipse">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7" name="Google Shape;447;p16"/>
          <p:cNvSpPr/>
          <p:nvPr/>
        </p:nvSpPr>
        <p:spPr>
          <a:xfrm>
            <a:off x="6464808" y="2093976"/>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Use IDW when speed matters and no uncertainty estimate is needed.</a:t>
            </a:r>
            <a:endParaRPr sz="950">
              <a:solidFill>
                <a:schemeClr val="dk1"/>
              </a:solidFill>
              <a:latin typeface="Calibri"/>
              <a:ea typeface="Calibri"/>
              <a:cs typeface="Calibri"/>
              <a:sym typeface="Calibri"/>
            </a:endParaRPr>
          </a:p>
        </p:txBody>
      </p:sp>
      <p:sp>
        <p:nvSpPr>
          <p:cNvPr id="448" name="Google Shape;448;p16"/>
          <p:cNvSpPr/>
          <p:nvPr/>
        </p:nvSpPr>
        <p:spPr>
          <a:xfrm>
            <a:off x="6281928" y="2688336"/>
            <a:ext cx="118872" cy="118872"/>
          </a:xfrm>
          <a:prstGeom prst="ellipse">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9" name="Google Shape;449;p16"/>
          <p:cNvSpPr/>
          <p:nvPr/>
        </p:nvSpPr>
        <p:spPr>
          <a:xfrm>
            <a:off x="6464808" y="2615184"/>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Use Splines for smooth surfaces with dense, evenly distributed data.</a:t>
            </a:r>
            <a:endParaRPr sz="950">
              <a:solidFill>
                <a:schemeClr val="dk1"/>
              </a:solidFill>
              <a:latin typeface="Calibri"/>
              <a:ea typeface="Calibri"/>
              <a:cs typeface="Calibri"/>
              <a:sym typeface="Calibri"/>
            </a:endParaRPr>
          </a:p>
        </p:txBody>
      </p:sp>
      <p:sp>
        <p:nvSpPr>
          <p:cNvPr id="450" name="Google Shape;450;p16"/>
          <p:cNvSpPr/>
          <p:nvPr/>
        </p:nvSpPr>
        <p:spPr>
          <a:xfrm>
            <a:off x="6281928" y="3209544"/>
            <a:ext cx="118872" cy="118872"/>
          </a:xfrm>
          <a:prstGeom prst="ellipse">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1" name="Google Shape;451;p16"/>
          <p:cNvSpPr/>
          <p:nvPr/>
        </p:nvSpPr>
        <p:spPr>
          <a:xfrm>
            <a:off x="6464808" y="3136392"/>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dirty="0">
                <a:solidFill>
                  <a:srgbClr val="2C2C2C"/>
                </a:solidFill>
                <a:latin typeface="Calibri"/>
                <a:ea typeface="Calibri"/>
                <a:cs typeface="Calibri"/>
                <a:sym typeface="Calibri"/>
              </a:rPr>
              <a:t>Use Co-Kriging when a correlated secondary variable is cheaper to measure.</a:t>
            </a:r>
            <a:endParaRPr sz="950" dirty="0">
              <a:solidFill>
                <a:schemeClr val="dk1"/>
              </a:solidFill>
              <a:latin typeface="Calibri"/>
              <a:ea typeface="Calibri"/>
              <a:cs typeface="Calibri"/>
              <a:sym typeface="Calibri"/>
            </a:endParaRPr>
          </a:p>
        </p:txBody>
      </p:sp>
      <p:sp>
        <p:nvSpPr>
          <p:cNvPr id="452" name="Google Shape;452;p16"/>
          <p:cNvSpPr/>
          <p:nvPr/>
        </p:nvSpPr>
        <p:spPr>
          <a:xfrm>
            <a:off x="6281928" y="3730752"/>
            <a:ext cx="118872" cy="118872"/>
          </a:xfrm>
          <a:prstGeom prst="ellipse">
            <a:avLst/>
          </a:prstGeom>
          <a:solidFill>
            <a:srgbClr val="4A9B6A"/>
          </a:solidFill>
          <a:ln w="12700" cap="flat" cmpd="sng">
            <a:solidFill>
              <a:srgbClr val="4A9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3" name="Google Shape;453;p16"/>
          <p:cNvSpPr/>
          <p:nvPr/>
        </p:nvSpPr>
        <p:spPr>
          <a:xfrm>
            <a:off x="6464808" y="3657600"/>
            <a:ext cx="2423160" cy="4754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C2C2C"/>
              </a:buClr>
              <a:buSzPts val="950"/>
              <a:buFont typeface="Calibri"/>
              <a:buNone/>
            </a:pPr>
            <a:r>
              <a:rPr lang="en-US" sz="950">
                <a:solidFill>
                  <a:srgbClr val="2C2C2C"/>
                </a:solidFill>
                <a:latin typeface="Calibri"/>
                <a:ea typeface="Calibri"/>
                <a:cs typeface="Calibri"/>
                <a:sym typeface="Calibri"/>
              </a:rPr>
              <a:t>Use Indicator Kriging for probability or threshold exceedance mapping.</a:t>
            </a:r>
            <a:endParaRPr sz="950">
              <a:solidFill>
                <a:schemeClr val="dk1"/>
              </a:solidFill>
              <a:latin typeface="Calibri"/>
              <a:ea typeface="Calibri"/>
              <a:cs typeface="Calibri"/>
              <a:sym typeface="Calibri"/>
            </a:endParaRPr>
          </a:p>
        </p:txBody>
      </p:sp>
      <p:sp>
        <p:nvSpPr>
          <p:cNvPr id="454" name="Google Shape;454;p16"/>
          <p:cNvSpPr/>
          <p:nvPr/>
        </p:nvSpPr>
        <p:spPr>
          <a:xfrm>
            <a:off x="320040" y="4864608"/>
            <a:ext cx="8503920" cy="18288"/>
          </a:xfrm>
          <a:prstGeom prst="rect">
            <a:avLst/>
          </a:prstGeom>
          <a:solidFill>
            <a:srgbClr val="CCCCCC"/>
          </a:solidFill>
          <a:ln w="12700" cap="flat" cmpd="sng">
            <a:solidFill>
              <a:srgbClr val="CCCCC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47472" y="173736"/>
            <a:ext cx="182880" cy="182880"/>
          </a:xfrm>
          <a:prstGeom prst="ellipse">
            <a:avLst/>
          </a:prstGeom>
          <a:solidFill>
            <a:srgbClr val="5B7FA6"/>
          </a:solidFill>
          <a:ln w="12700">
            <a:solidFill>
              <a:srgbClr val="5B7FA6"/>
            </a:solidFill>
            <a:prstDash val="solid"/>
          </a:ln>
        </p:spPr>
        <p:txBody>
          <a:bodyPr/>
          <a:lstStyle/>
          <a:p>
            <a:endParaRPr lang="he-IL"/>
          </a:p>
        </p:txBody>
      </p:sp>
      <p:sp>
        <p:nvSpPr>
          <p:cNvPr id="3" name="Text 1"/>
          <p:cNvSpPr/>
          <p:nvPr/>
        </p:nvSpPr>
        <p:spPr>
          <a:xfrm>
            <a:off x="594360" y="118872"/>
            <a:ext cx="8229600" cy="329184"/>
          </a:xfrm>
          <a:prstGeom prst="rect">
            <a:avLst/>
          </a:prstGeom>
          <a:noFill/>
          <a:ln/>
        </p:spPr>
        <p:txBody>
          <a:bodyPr wrap="square" lIns="0" tIns="0" rIns="0" bIns="0" rtlCol="0" anchor="ctr"/>
          <a:lstStyle/>
          <a:p>
            <a:pPr marL="0" indent="0" algn="l">
              <a:buNone/>
            </a:pPr>
            <a:r>
              <a:rPr lang="en-US" sz="2200" b="1" dirty="0">
                <a:solidFill>
                  <a:srgbClr val="2D3142"/>
                </a:solidFill>
                <a:latin typeface="Calibri" pitchFamily="34" charset="0"/>
                <a:ea typeface="Calibri" pitchFamily="34" charset="-122"/>
                <a:cs typeface="Calibri" pitchFamily="34" charset="-120"/>
              </a:rPr>
              <a:t>References</a:t>
            </a:r>
            <a:endParaRPr lang="en-US" sz="2200" dirty="0"/>
          </a:p>
        </p:txBody>
      </p:sp>
      <p:sp>
        <p:nvSpPr>
          <p:cNvPr id="4" name="Text 2"/>
          <p:cNvSpPr/>
          <p:nvPr/>
        </p:nvSpPr>
        <p:spPr>
          <a:xfrm>
            <a:off x="594360" y="457200"/>
            <a:ext cx="8229600" cy="201168"/>
          </a:xfrm>
          <a:prstGeom prst="rect">
            <a:avLst/>
          </a:prstGeom>
          <a:noFill/>
          <a:ln/>
        </p:spPr>
        <p:txBody>
          <a:bodyPr wrap="square" lIns="0" tIns="0" rIns="0" bIns="0" rtlCol="0" anchor="t"/>
          <a:lstStyle/>
          <a:p>
            <a:pPr marL="0" indent="0" algn="l">
              <a:buNone/>
            </a:pPr>
            <a:r>
              <a:rPr lang="en-US" sz="1050" i="1" dirty="0">
                <a:solidFill>
                  <a:srgbClr val="555555"/>
                </a:solidFill>
                <a:latin typeface="Calibri" pitchFamily="34" charset="0"/>
                <a:ea typeface="Calibri" pitchFamily="34" charset="-122"/>
                <a:cs typeface="Calibri" pitchFamily="34" charset="-120"/>
              </a:rPr>
              <a:t>Full citations with DOIs. Books without DOI list ISBN. Krige (1951) predates the DOI system.</a:t>
            </a:r>
            <a:endParaRPr lang="en-US" sz="1050" dirty="0"/>
          </a:p>
        </p:txBody>
      </p:sp>
      <p:sp>
        <p:nvSpPr>
          <p:cNvPr id="5" name="Shape 3"/>
          <p:cNvSpPr/>
          <p:nvPr/>
        </p:nvSpPr>
        <p:spPr>
          <a:xfrm>
            <a:off x="347472" y="768096"/>
            <a:ext cx="219456" cy="201168"/>
          </a:xfrm>
          <a:prstGeom prst="rect">
            <a:avLst/>
          </a:prstGeom>
          <a:solidFill>
            <a:srgbClr val="2E7D6B"/>
          </a:solidFill>
          <a:ln w="12700">
            <a:solidFill>
              <a:srgbClr val="2E7D6B"/>
            </a:solidFill>
            <a:prstDash val="solid"/>
          </a:ln>
        </p:spPr>
        <p:txBody>
          <a:bodyPr/>
          <a:lstStyle/>
          <a:p>
            <a:endParaRPr lang="he-IL"/>
          </a:p>
        </p:txBody>
      </p:sp>
      <p:sp>
        <p:nvSpPr>
          <p:cNvPr id="6" name="Text 4"/>
          <p:cNvSpPr/>
          <p:nvPr/>
        </p:nvSpPr>
        <p:spPr>
          <a:xfrm>
            <a:off x="347472" y="768096"/>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7" name="Text 5"/>
          <p:cNvSpPr/>
          <p:nvPr/>
        </p:nvSpPr>
        <p:spPr>
          <a:xfrm>
            <a:off x="621792" y="749808"/>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Goovaerts (1997). Geostatistics for Natural Resources Evaluation. Oxford UP.</a:t>
            </a:r>
            <a:r>
              <a:rPr lang="en-US" sz="780" b="1" dirty="0">
                <a:solidFill>
                  <a:srgbClr val="2E7D6B"/>
                </a:solidFill>
                <a:latin typeface="Calibri" pitchFamily="34" charset="0"/>
                <a:ea typeface="Calibri" pitchFamily="34" charset="-122"/>
                <a:cs typeface="Calibri" pitchFamily="34" charset="-120"/>
              </a:rPr>
              <a:t>  ISBN: 978-0-19-511538-3</a:t>
            </a:r>
            <a:endParaRPr lang="en-US" sz="780" dirty="0"/>
          </a:p>
        </p:txBody>
      </p:sp>
      <p:sp>
        <p:nvSpPr>
          <p:cNvPr id="8" name="Shape 6"/>
          <p:cNvSpPr/>
          <p:nvPr/>
        </p:nvSpPr>
        <p:spPr>
          <a:xfrm>
            <a:off x="347472" y="1170432"/>
            <a:ext cx="219456" cy="201168"/>
          </a:xfrm>
          <a:prstGeom prst="rect">
            <a:avLst/>
          </a:prstGeom>
          <a:solidFill>
            <a:srgbClr val="4A9B8E"/>
          </a:solidFill>
          <a:ln w="12700">
            <a:solidFill>
              <a:srgbClr val="4A9B8E"/>
            </a:solidFill>
            <a:prstDash val="solid"/>
          </a:ln>
        </p:spPr>
        <p:txBody>
          <a:bodyPr/>
          <a:lstStyle/>
          <a:p>
            <a:endParaRPr lang="he-IL"/>
          </a:p>
        </p:txBody>
      </p:sp>
      <p:sp>
        <p:nvSpPr>
          <p:cNvPr id="9" name="Text 7"/>
          <p:cNvSpPr/>
          <p:nvPr/>
        </p:nvSpPr>
        <p:spPr>
          <a:xfrm>
            <a:off x="347472" y="1170432"/>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0" name="Text 8"/>
          <p:cNvSpPr/>
          <p:nvPr/>
        </p:nvSpPr>
        <p:spPr>
          <a:xfrm>
            <a:off x="621792" y="1152144"/>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Oliver &amp; Webster (2014). Tutorial guide to geostatistics. Catena, 113, 56–69.</a:t>
            </a:r>
            <a:r>
              <a:rPr lang="en-US" sz="780" b="1" dirty="0">
                <a:solidFill>
                  <a:srgbClr val="4A9B8E"/>
                </a:solidFill>
                <a:latin typeface="Calibri" pitchFamily="34" charset="0"/>
                <a:ea typeface="Calibri" pitchFamily="34" charset="-122"/>
                <a:cs typeface="Calibri" pitchFamily="34" charset="-120"/>
              </a:rPr>
              <a:t>  DOI: 10.1016/j.catena.2013.09.006</a:t>
            </a:r>
            <a:endParaRPr lang="en-US" sz="780" dirty="0"/>
          </a:p>
        </p:txBody>
      </p:sp>
      <p:sp>
        <p:nvSpPr>
          <p:cNvPr id="11" name="Shape 9"/>
          <p:cNvSpPr/>
          <p:nvPr/>
        </p:nvSpPr>
        <p:spPr>
          <a:xfrm>
            <a:off x="347472" y="1572768"/>
            <a:ext cx="219456" cy="201168"/>
          </a:xfrm>
          <a:prstGeom prst="rect">
            <a:avLst/>
          </a:prstGeom>
          <a:solidFill>
            <a:srgbClr val="C0392B"/>
          </a:solidFill>
          <a:ln w="12700">
            <a:solidFill>
              <a:srgbClr val="C0392B"/>
            </a:solidFill>
            <a:prstDash val="solid"/>
          </a:ln>
        </p:spPr>
        <p:txBody>
          <a:bodyPr/>
          <a:lstStyle/>
          <a:p>
            <a:endParaRPr lang="he-IL"/>
          </a:p>
        </p:txBody>
      </p:sp>
      <p:sp>
        <p:nvSpPr>
          <p:cNvPr id="12" name="Text 10"/>
          <p:cNvSpPr/>
          <p:nvPr/>
        </p:nvSpPr>
        <p:spPr>
          <a:xfrm>
            <a:off x="347472" y="1572768"/>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3" name="Text 11"/>
          <p:cNvSpPr/>
          <p:nvPr/>
        </p:nvSpPr>
        <p:spPr>
          <a:xfrm>
            <a:off x="621792" y="1554480"/>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Ahmadi &amp; Sedghamiz (2007). Geostatistical analysis of groundwater. Env. Monitor. Assess., 129, 277–285.</a:t>
            </a:r>
            <a:r>
              <a:rPr lang="en-US" sz="780" b="1" dirty="0">
                <a:solidFill>
                  <a:srgbClr val="C0392B"/>
                </a:solidFill>
                <a:latin typeface="Calibri" pitchFamily="34" charset="0"/>
                <a:ea typeface="Calibri" pitchFamily="34" charset="-122"/>
                <a:cs typeface="Calibri" pitchFamily="34" charset="-120"/>
              </a:rPr>
              <a:t>  DOI: 10.1007/s10661-006-9362-4</a:t>
            </a:r>
            <a:endParaRPr lang="en-US" sz="780" dirty="0"/>
          </a:p>
        </p:txBody>
      </p:sp>
      <p:sp>
        <p:nvSpPr>
          <p:cNvPr id="14" name="Shape 12"/>
          <p:cNvSpPr/>
          <p:nvPr/>
        </p:nvSpPr>
        <p:spPr>
          <a:xfrm>
            <a:off x="347472" y="1975104"/>
            <a:ext cx="219456" cy="201168"/>
          </a:xfrm>
          <a:prstGeom prst="rect">
            <a:avLst/>
          </a:prstGeom>
          <a:solidFill>
            <a:srgbClr val="E8734A"/>
          </a:solidFill>
          <a:ln w="12700">
            <a:solidFill>
              <a:srgbClr val="E8734A"/>
            </a:solidFill>
            <a:prstDash val="solid"/>
          </a:ln>
        </p:spPr>
        <p:txBody>
          <a:bodyPr/>
          <a:lstStyle/>
          <a:p>
            <a:endParaRPr lang="he-IL"/>
          </a:p>
        </p:txBody>
      </p:sp>
      <p:sp>
        <p:nvSpPr>
          <p:cNvPr id="15" name="Text 13"/>
          <p:cNvSpPr/>
          <p:nvPr/>
        </p:nvSpPr>
        <p:spPr>
          <a:xfrm>
            <a:off x="347472" y="1975104"/>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6" name="Text 14"/>
          <p:cNvSpPr/>
          <p:nvPr/>
        </p:nvSpPr>
        <p:spPr>
          <a:xfrm>
            <a:off x="621792" y="1956816"/>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Delhomme (1978). Kriging in the hydrosciences. Adv. Water Resources, 1(5), 251–266.</a:t>
            </a:r>
            <a:r>
              <a:rPr lang="en-US" sz="780" b="1" dirty="0">
                <a:solidFill>
                  <a:srgbClr val="E8734A"/>
                </a:solidFill>
                <a:latin typeface="Calibri" pitchFamily="34" charset="0"/>
                <a:ea typeface="Calibri" pitchFamily="34" charset="-122"/>
                <a:cs typeface="Calibri" pitchFamily="34" charset="-120"/>
              </a:rPr>
              <a:t>  DOI: 10.1016/0309-1708(78)90039-9</a:t>
            </a:r>
            <a:endParaRPr lang="en-US" sz="780" dirty="0"/>
          </a:p>
        </p:txBody>
      </p:sp>
      <p:sp>
        <p:nvSpPr>
          <p:cNvPr id="17" name="Shape 15"/>
          <p:cNvSpPr/>
          <p:nvPr/>
        </p:nvSpPr>
        <p:spPr>
          <a:xfrm>
            <a:off x="347472" y="2377440"/>
            <a:ext cx="219456" cy="201168"/>
          </a:xfrm>
          <a:prstGeom prst="rect">
            <a:avLst/>
          </a:prstGeom>
          <a:solidFill>
            <a:srgbClr val="7C6FA0"/>
          </a:solidFill>
          <a:ln w="12700">
            <a:solidFill>
              <a:srgbClr val="7C6FA0"/>
            </a:solidFill>
            <a:prstDash val="solid"/>
          </a:ln>
        </p:spPr>
        <p:txBody>
          <a:bodyPr/>
          <a:lstStyle/>
          <a:p>
            <a:endParaRPr lang="he-IL"/>
          </a:p>
        </p:txBody>
      </p:sp>
      <p:sp>
        <p:nvSpPr>
          <p:cNvPr id="18" name="Text 16"/>
          <p:cNvSpPr/>
          <p:nvPr/>
        </p:nvSpPr>
        <p:spPr>
          <a:xfrm>
            <a:off x="347472" y="2377440"/>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19" name="Text 17"/>
          <p:cNvSpPr/>
          <p:nvPr/>
        </p:nvSpPr>
        <p:spPr>
          <a:xfrm>
            <a:off x="621792" y="2359152"/>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Ly et al. (2013). Geostatistical interpolation of daily rainfall. J. Hydrology, 498, 60–73.</a:t>
            </a:r>
            <a:r>
              <a:rPr lang="en-US" sz="780" b="1" dirty="0">
                <a:solidFill>
                  <a:srgbClr val="7C6FA0"/>
                </a:solidFill>
                <a:latin typeface="Calibri" pitchFamily="34" charset="0"/>
                <a:ea typeface="Calibri" pitchFamily="34" charset="-122"/>
                <a:cs typeface="Calibri" pitchFamily="34" charset="-120"/>
              </a:rPr>
              <a:t>  DOI: 10.1016/j.jhydrol.2013.06.022</a:t>
            </a:r>
            <a:endParaRPr lang="en-US" sz="780" dirty="0"/>
          </a:p>
        </p:txBody>
      </p:sp>
      <p:sp>
        <p:nvSpPr>
          <p:cNvPr id="20" name="Shape 18"/>
          <p:cNvSpPr/>
          <p:nvPr/>
        </p:nvSpPr>
        <p:spPr>
          <a:xfrm>
            <a:off x="347472" y="2779776"/>
            <a:ext cx="219456" cy="201168"/>
          </a:xfrm>
          <a:prstGeom prst="rect">
            <a:avLst/>
          </a:prstGeom>
          <a:solidFill>
            <a:srgbClr val="5B7FA6"/>
          </a:solidFill>
          <a:ln w="12700">
            <a:solidFill>
              <a:srgbClr val="5B7FA6"/>
            </a:solidFill>
            <a:prstDash val="solid"/>
          </a:ln>
        </p:spPr>
        <p:txBody>
          <a:bodyPr/>
          <a:lstStyle/>
          <a:p>
            <a:endParaRPr lang="he-IL"/>
          </a:p>
        </p:txBody>
      </p:sp>
      <p:sp>
        <p:nvSpPr>
          <p:cNvPr id="21" name="Text 19"/>
          <p:cNvSpPr/>
          <p:nvPr/>
        </p:nvSpPr>
        <p:spPr>
          <a:xfrm>
            <a:off x="347472" y="2779776"/>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22" name="Text 20"/>
          <p:cNvSpPr/>
          <p:nvPr/>
        </p:nvSpPr>
        <p:spPr>
          <a:xfrm>
            <a:off x="621792" y="2761488"/>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Lloyd (2005). Integrating elevation into kriging for rainfall. Hydrol. Processes, 19, 1235–1252.</a:t>
            </a:r>
            <a:r>
              <a:rPr lang="en-US" sz="780" b="1" dirty="0">
                <a:solidFill>
                  <a:srgbClr val="5B7FA6"/>
                </a:solidFill>
                <a:latin typeface="Calibri" pitchFamily="34" charset="0"/>
                <a:ea typeface="Calibri" pitchFamily="34" charset="-122"/>
                <a:cs typeface="Calibri" pitchFamily="34" charset="-120"/>
              </a:rPr>
              <a:t>  DOI: 10.1002/hyp.5578</a:t>
            </a:r>
            <a:endParaRPr lang="en-US" sz="780" dirty="0"/>
          </a:p>
        </p:txBody>
      </p:sp>
      <p:sp>
        <p:nvSpPr>
          <p:cNvPr id="23" name="Shape 21"/>
          <p:cNvSpPr/>
          <p:nvPr/>
        </p:nvSpPr>
        <p:spPr>
          <a:xfrm>
            <a:off x="347472" y="3182112"/>
            <a:ext cx="219456" cy="201168"/>
          </a:xfrm>
          <a:prstGeom prst="rect">
            <a:avLst/>
          </a:prstGeom>
          <a:solidFill>
            <a:srgbClr val="2E7D6B"/>
          </a:solidFill>
          <a:ln w="12700">
            <a:solidFill>
              <a:srgbClr val="2E7D6B"/>
            </a:solidFill>
            <a:prstDash val="solid"/>
          </a:ln>
        </p:spPr>
        <p:txBody>
          <a:bodyPr/>
          <a:lstStyle/>
          <a:p>
            <a:endParaRPr lang="he-IL"/>
          </a:p>
        </p:txBody>
      </p:sp>
      <p:sp>
        <p:nvSpPr>
          <p:cNvPr id="24" name="Text 22"/>
          <p:cNvSpPr/>
          <p:nvPr/>
        </p:nvSpPr>
        <p:spPr>
          <a:xfrm>
            <a:off x="347472" y="3182112"/>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25" name="Text 23"/>
          <p:cNvSpPr/>
          <p:nvPr/>
        </p:nvSpPr>
        <p:spPr>
          <a:xfrm>
            <a:off x="621792" y="3163824"/>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Guisan &amp; Zimmermann (2000). Predictive habitat distribution models. Ecol. Modelling, 135, 147–186.</a:t>
            </a:r>
            <a:r>
              <a:rPr lang="en-US" sz="780" b="1" dirty="0">
                <a:solidFill>
                  <a:srgbClr val="2E7D6B"/>
                </a:solidFill>
                <a:latin typeface="Calibri" pitchFamily="34" charset="0"/>
                <a:ea typeface="Calibri" pitchFamily="34" charset="-122"/>
                <a:cs typeface="Calibri" pitchFamily="34" charset="-120"/>
              </a:rPr>
              <a:t>  DOI: 10.1016/S0304-3800(00)00354-9</a:t>
            </a:r>
            <a:endParaRPr lang="en-US" sz="780" dirty="0"/>
          </a:p>
        </p:txBody>
      </p:sp>
      <p:sp>
        <p:nvSpPr>
          <p:cNvPr id="26" name="Shape 24"/>
          <p:cNvSpPr/>
          <p:nvPr/>
        </p:nvSpPr>
        <p:spPr>
          <a:xfrm>
            <a:off x="347472" y="3584448"/>
            <a:ext cx="219456" cy="201168"/>
          </a:xfrm>
          <a:prstGeom prst="rect">
            <a:avLst/>
          </a:prstGeom>
          <a:solidFill>
            <a:srgbClr val="5B7FA6"/>
          </a:solidFill>
          <a:ln w="12700">
            <a:solidFill>
              <a:srgbClr val="5B7FA6"/>
            </a:solidFill>
            <a:prstDash val="solid"/>
          </a:ln>
        </p:spPr>
        <p:txBody>
          <a:bodyPr/>
          <a:lstStyle/>
          <a:p>
            <a:endParaRPr lang="he-IL"/>
          </a:p>
        </p:txBody>
      </p:sp>
      <p:sp>
        <p:nvSpPr>
          <p:cNvPr id="27" name="Text 25"/>
          <p:cNvSpPr/>
          <p:nvPr/>
        </p:nvSpPr>
        <p:spPr>
          <a:xfrm>
            <a:off x="347472" y="3584448"/>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8</a:t>
            </a:r>
            <a:endParaRPr lang="en-US" sz="800" dirty="0"/>
          </a:p>
        </p:txBody>
      </p:sp>
      <p:sp>
        <p:nvSpPr>
          <p:cNvPr id="28" name="Text 26"/>
          <p:cNvSpPr/>
          <p:nvPr/>
        </p:nvSpPr>
        <p:spPr>
          <a:xfrm>
            <a:off x="621792" y="3566160"/>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Kerr &amp; Ostrovsky (2003). From space to species. Trends Ecol. Evol., 18, 299–305.</a:t>
            </a:r>
            <a:r>
              <a:rPr lang="en-US" sz="780" b="1" dirty="0">
                <a:solidFill>
                  <a:srgbClr val="5B7FA6"/>
                </a:solidFill>
                <a:latin typeface="Calibri" pitchFamily="34" charset="0"/>
                <a:ea typeface="Calibri" pitchFamily="34" charset="-122"/>
                <a:cs typeface="Calibri" pitchFamily="34" charset="-120"/>
              </a:rPr>
              <a:t>  DOI: 10.1016/S0169-5347(03)00071-5</a:t>
            </a:r>
            <a:endParaRPr lang="en-US" sz="780" dirty="0"/>
          </a:p>
        </p:txBody>
      </p:sp>
      <p:sp>
        <p:nvSpPr>
          <p:cNvPr id="29" name="Shape 27"/>
          <p:cNvSpPr/>
          <p:nvPr/>
        </p:nvSpPr>
        <p:spPr>
          <a:xfrm>
            <a:off x="347472" y="3986784"/>
            <a:ext cx="219456" cy="201168"/>
          </a:xfrm>
          <a:prstGeom prst="rect">
            <a:avLst/>
          </a:prstGeom>
          <a:solidFill>
            <a:srgbClr val="5B7FA6"/>
          </a:solidFill>
          <a:ln w="12700">
            <a:solidFill>
              <a:srgbClr val="5B7FA6"/>
            </a:solidFill>
            <a:prstDash val="solid"/>
          </a:ln>
        </p:spPr>
        <p:txBody>
          <a:bodyPr/>
          <a:lstStyle/>
          <a:p>
            <a:endParaRPr lang="he-IL"/>
          </a:p>
        </p:txBody>
      </p:sp>
      <p:sp>
        <p:nvSpPr>
          <p:cNvPr id="30" name="Text 28"/>
          <p:cNvSpPr/>
          <p:nvPr/>
        </p:nvSpPr>
        <p:spPr>
          <a:xfrm>
            <a:off x="347472" y="3986784"/>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9</a:t>
            </a:r>
            <a:endParaRPr lang="en-US" sz="800" dirty="0"/>
          </a:p>
        </p:txBody>
      </p:sp>
      <p:sp>
        <p:nvSpPr>
          <p:cNvPr id="31" name="Text 29"/>
          <p:cNvSpPr/>
          <p:nvPr/>
        </p:nvSpPr>
        <p:spPr>
          <a:xfrm>
            <a:off x="621792" y="3968496"/>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McRae et al. (2008). Circuit theory for connectivity in ecology. Ecology, 89, 2712–2724.</a:t>
            </a:r>
            <a:r>
              <a:rPr lang="en-US" sz="780" b="1" dirty="0">
                <a:solidFill>
                  <a:srgbClr val="5B7FA6"/>
                </a:solidFill>
                <a:latin typeface="Calibri" pitchFamily="34" charset="0"/>
                <a:ea typeface="Calibri" pitchFamily="34" charset="-122"/>
                <a:cs typeface="Calibri" pitchFamily="34" charset="-120"/>
              </a:rPr>
              <a:t>  DOI: 10.1890/07-1861.1</a:t>
            </a:r>
            <a:endParaRPr lang="en-US" sz="780" dirty="0"/>
          </a:p>
        </p:txBody>
      </p:sp>
      <p:sp>
        <p:nvSpPr>
          <p:cNvPr id="32" name="Shape 30"/>
          <p:cNvSpPr/>
          <p:nvPr/>
        </p:nvSpPr>
        <p:spPr>
          <a:xfrm>
            <a:off x="4700016" y="768096"/>
            <a:ext cx="219456" cy="201168"/>
          </a:xfrm>
          <a:prstGeom prst="rect">
            <a:avLst/>
          </a:prstGeom>
          <a:solidFill>
            <a:srgbClr val="2E7D6B"/>
          </a:solidFill>
          <a:ln w="12700">
            <a:solidFill>
              <a:srgbClr val="2E7D6B"/>
            </a:solidFill>
            <a:prstDash val="solid"/>
          </a:ln>
        </p:spPr>
        <p:txBody>
          <a:bodyPr/>
          <a:lstStyle/>
          <a:p>
            <a:endParaRPr lang="he-IL"/>
          </a:p>
        </p:txBody>
      </p:sp>
      <p:sp>
        <p:nvSpPr>
          <p:cNvPr id="33" name="Text 31"/>
          <p:cNvSpPr/>
          <p:nvPr/>
        </p:nvSpPr>
        <p:spPr>
          <a:xfrm>
            <a:off x="4700016" y="768096"/>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10</a:t>
            </a:r>
            <a:endParaRPr lang="en-US" sz="800" dirty="0"/>
          </a:p>
        </p:txBody>
      </p:sp>
      <p:sp>
        <p:nvSpPr>
          <p:cNvPr id="34" name="Text 32"/>
          <p:cNvSpPr/>
          <p:nvPr/>
        </p:nvSpPr>
        <p:spPr>
          <a:xfrm>
            <a:off x="4974336" y="749808"/>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Zeller et al. (2012). Estimating landscape resistance to movement. Landscape Ecol., 27, 777–797.</a:t>
            </a:r>
            <a:r>
              <a:rPr lang="en-US" sz="780" b="1" dirty="0">
                <a:solidFill>
                  <a:srgbClr val="2E7D6B"/>
                </a:solidFill>
                <a:latin typeface="Calibri" pitchFamily="34" charset="0"/>
                <a:ea typeface="Calibri" pitchFamily="34" charset="-122"/>
                <a:cs typeface="Calibri" pitchFamily="34" charset="-120"/>
              </a:rPr>
              <a:t>  DOI: 10.1007/s10980-012-9737-0</a:t>
            </a:r>
            <a:endParaRPr lang="en-US" sz="780" dirty="0"/>
          </a:p>
        </p:txBody>
      </p:sp>
      <p:sp>
        <p:nvSpPr>
          <p:cNvPr id="35" name="Shape 33"/>
          <p:cNvSpPr/>
          <p:nvPr/>
        </p:nvSpPr>
        <p:spPr>
          <a:xfrm>
            <a:off x="4700016" y="1170432"/>
            <a:ext cx="219456" cy="201168"/>
          </a:xfrm>
          <a:prstGeom prst="rect">
            <a:avLst/>
          </a:prstGeom>
          <a:solidFill>
            <a:srgbClr val="4A9B8E"/>
          </a:solidFill>
          <a:ln w="12700">
            <a:solidFill>
              <a:srgbClr val="4A9B8E"/>
            </a:solidFill>
            <a:prstDash val="solid"/>
          </a:ln>
        </p:spPr>
        <p:txBody>
          <a:bodyPr/>
          <a:lstStyle/>
          <a:p>
            <a:endParaRPr lang="he-IL"/>
          </a:p>
        </p:txBody>
      </p:sp>
      <p:sp>
        <p:nvSpPr>
          <p:cNvPr id="36" name="Text 34"/>
          <p:cNvSpPr/>
          <p:nvPr/>
        </p:nvSpPr>
        <p:spPr>
          <a:xfrm>
            <a:off x="4700016" y="1170432"/>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11</a:t>
            </a:r>
            <a:endParaRPr lang="en-US" sz="800" dirty="0"/>
          </a:p>
        </p:txBody>
      </p:sp>
      <p:sp>
        <p:nvSpPr>
          <p:cNvPr id="37" name="Text 35"/>
          <p:cNvSpPr/>
          <p:nvPr/>
        </p:nvSpPr>
        <p:spPr>
          <a:xfrm>
            <a:off x="4974336" y="1152144"/>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Elith &amp; Leathwick (2009). Species distribution models. Annu. Rev. Ecol. Evol. Syst., 40, 677–697.</a:t>
            </a:r>
            <a:r>
              <a:rPr lang="en-US" sz="780" b="1" dirty="0">
                <a:solidFill>
                  <a:srgbClr val="4A9B8E"/>
                </a:solidFill>
                <a:latin typeface="Calibri" pitchFamily="34" charset="0"/>
                <a:ea typeface="Calibri" pitchFamily="34" charset="-122"/>
                <a:cs typeface="Calibri" pitchFamily="34" charset="-120"/>
              </a:rPr>
              <a:t>  DOI: 10.1146/annurev.ecolsys.110308.120159</a:t>
            </a:r>
            <a:endParaRPr lang="en-US" sz="780" dirty="0"/>
          </a:p>
        </p:txBody>
      </p:sp>
      <p:sp>
        <p:nvSpPr>
          <p:cNvPr id="38" name="Shape 36"/>
          <p:cNvSpPr/>
          <p:nvPr/>
        </p:nvSpPr>
        <p:spPr>
          <a:xfrm>
            <a:off x="4700016" y="1572768"/>
            <a:ext cx="219456" cy="201168"/>
          </a:xfrm>
          <a:prstGeom prst="rect">
            <a:avLst/>
          </a:prstGeom>
          <a:solidFill>
            <a:srgbClr val="C0392B"/>
          </a:solidFill>
          <a:ln w="12700">
            <a:solidFill>
              <a:srgbClr val="C0392B"/>
            </a:solidFill>
            <a:prstDash val="solid"/>
          </a:ln>
        </p:spPr>
        <p:txBody>
          <a:bodyPr/>
          <a:lstStyle/>
          <a:p>
            <a:endParaRPr lang="he-IL"/>
          </a:p>
        </p:txBody>
      </p:sp>
      <p:sp>
        <p:nvSpPr>
          <p:cNvPr id="39" name="Text 37"/>
          <p:cNvSpPr/>
          <p:nvPr/>
        </p:nvSpPr>
        <p:spPr>
          <a:xfrm>
            <a:off x="4700016" y="1572768"/>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12</a:t>
            </a:r>
            <a:endParaRPr lang="en-US" sz="800" dirty="0"/>
          </a:p>
        </p:txBody>
      </p:sp>
      <p:sp>
        <p:nvSpPr>
          <p:cNvPr id="40" name="Text 38"/>
          <p:cNvSpPr/>
          <p:nvPr/>
        </p:nvSpPr>
        <p:spPr>
          <a:xfrm>
            <a:off x="4974336" y="1554480"/>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Pebesma (2004). Multivariable geostatistics in S: gstat. Computers &amp; Geosci., 30, 683–691.</a:t>
            </a:r>
            <a:r>
              <a:rPr lang="en-US" sz="780" b="1" dirty="0">
                <a:solidFill>
                  <a:srgbClr val="C0392B"/>
                </a:solidFill>
                <a:latin typeface="Calibri" pitchFamily="34" charset="0"/>
                <a:ea typeface="Calibri" pitchFamily="34" charset="-122"/>
                <a:cs typeface="Calibri" pitchFamily="34" charset="-120"/>
              </a:rPr>
              <a:t>  DOI: 10.1016/j.cageo.2004.03.012</a:t>
            </a:r>
            <a:endParaRPr lang="en-US" sz="780" dirty="0"/>
          </a:p>
        </p:txBody>
      </p:sp>
      <p:sp>
        <p:nvSpPr>
          <p:cNvPr id="41" name="Shape 39"/>
          <p:cNvSpPr/>
          <p:nvPr/>
        </p:nvSpPr>
        <p:spPr>
          <a:xfrm>
            <a:off x="4700016" y="1975104"/>
            <a:ext cx="219456" cy="201168"/>
          </a:xfrm>
          <a:prstGeom prst="rect">
            <a:avLst/>
          </a:prstGeom>
          <a:solidFill>
            <a:srgbClr val="E8734A"/>
          </a:solidFill>
          <a:ln w="12700">
            <a:solidFill>
              <a:srgbClr val="E8734A"/>
            </a:solidFill>
            <a:prstDash val="solid"/>
          </a:ln>
        </p:spPr>
        <p:txBody>
          <a:bodyPr/>
          <a:lstStyle/>
          <a:p>
            <a:endParaRPr lang="he-IL"/>
          </a:p>
        </p:txBody>
      </p:sp>
      <p:sp>
        <p:nvSpPr>
          <p:cNvPr id="42" name="Text 40"/>
          <p:cNvSpPr/>
          <p:nvPr/>
        </p:nvSpPr>
        <p:spPr>
          <a:xfrm>
            <a:off x="4700016" y="1975104"/>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13</a:t>
            </a:r>
            <a:endParaRPr lang="en-US" sz="800" dirty="0"/>
          </a:p>
        </p:txBody>
      </p:sp>
      <p:sp>
        <p:nvSpPr>
          <p:cNvPr id="43" name="Text 41"/>
          <p:cNvSpPr/>
          <p:nvPr/>
        </p:nvSpPr>
        <p:spPr>
          <a:xfrm>
            <a:off x="4974336" y="1956816"/>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Krige, D. G. (1951). A statistical approach to some basic mine valuation problems on the Witwatersrand. Journal of the Southern African Institute of Mining and Metallurgy, 52(6), 119-139..</a:t>
            </a:r>
            <a:r>
              <a:rPr lang="en-US" sz="780" b="1" dirty="0">
                <a:solidFill>
                  <a:srgbClr val="E8734A"/>
                </a:solidFill>
                <a:latin typeface="Calibri" pitchFamily="34" charset="0"/>
                <a:ea typeface="Calibri" pitchFamily="34" charset="-122"/>
                <a:cs typeface="Calibri" pitchFamily="34" charset="-120"/>
              </a:rPr>
              <a:t>  Pre-DOI era — no DOI assigned</a:t>
            </a:r>
            <a:endParaRPr lang="en-US" sz="780" dirty="0"/>
          </a:p>
        </p:txBody>
      </p:sp>
      <p:sp>
        <p:nvSpPr>
          <p:cNvPr id="44" name="Shape 42"/>
          <p:cNvSpPr/>
          <p:nvPr/>
        </p:nvSpPr>
        <p:spPr>
          <a:xfrm>
            <a:off x="4700016" y="2377440"/>
            <a:ext cx="219456" cy="201168"/>
          </a:xfrm>
          <a:prstGeom prst="rect">
            <a:avLst/>
          </a:prstGeom>
          <a:solidFill>
            <a:srgbClr val="7C6FA0"/>
          </a:solidFill>
          <a:ln w="12700">
            <a:solidFill>
              <a:srgbClr val="7C6FA0"/>
            </a:solidFill>
            <a:prstDash val="solid"/>
          </a:ln>
        </p:spPr>
        <p:txBody>
          <a:bodyPr/>
          <a:lstStyle/>
          <a:p>
            <a:endParaRPr lang="he-IL"/>
          </a:p>
        </p:txBody>
      </p:sp>
      <p:sp>
        <p:nvSpPr>
          <p:cNvPr id="45" name="Text 43"/>
          <p:cNvSpPr/>
          <p:nvPr/>
        </p:nvSpPr>
        <p:spPr>
          <a:xfrm>
            <a:off x="4700016" y="2377440"/>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14</a:t>
            </a:r>
            <a:endParaRPr lang="en-US" sz="800" dirty="0"/>
          </a:p>
        </p:txBody>
      </p:sp>
      <p:sp>
        <p:nvSpPr>
          <p:cNvPr id="46" name="Text 44"/>
          <p:cNvSpPr/>
          <p:nvPr/>
        </p:nvSpPr>
        <p:spPr>
          <a:xfrm>
            <a:off x="4974336" y="2359152"/>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Matheron (1963). Principles of geostatistics. Economic Geology, 58(8), 1246–1266.</a:t>
            </a:r>
            <a:r>
              <a:rPr lang="en-US" sz="780" b="1" dirty="0">
                <a:solidFill>
                  <a:srgbClr val="7C6FA0"/>
                </a:solidFill>
                <a:latin typeface="Calibri" pitchFamily="34" charset="0"/>
                <a:ea typeface="Calibri" pitchFamily="34" charset="-122"/>
                <a:cs typeface="Calibri" pitchFamily="34" charset="-120"/>
              </a:rPr>
              <a:t>  DOI: 10.2113/gsecongeo.58.8.1246</a:t>
            </a:r>
            <a:endParaRPr lang="en-US" sz="780" dirty="0"/>
          </a:p>
        </p:txBody>
      </p:sp>
      <p:sp>
        <p:nvSpPr>
          <p:cNvPr id="47" name="Shape 45"/>
          <p:cNvSpPr/>
          <p:nvPr/>
        </p:nvSpPr>
        <p:spPr>
          <a:xfrm>
            <a:off x="4700016" y="2779776"/>
            <a:ext cx="219456" cy="201168"/>
          </a:xfrm>
          <a:prstGeom prst="rect">
            <a:avLst/>
          </a:prstGeom>
          <a:solidFill>
            <a:srgbClr val="5B7FA6"/>
          </a:solidFill>
          <a:ln w="12700">
            <a:solidFill>
              <a:srgbClr val="5B7FA6"/>
            </a:solidFill>
            <a:prstDash val="solid"/>
          </a:ln>
        </p:spPr>
        <p:txBody>
          <a:bodyPr/>
          <a:lstStyle/>
          <a:p>
            <a:endParaRPr lang="he-IL"/>
          </a:p>
        </p:txBody>
      </p:sp>
      <p:sp>
        <p:nvSpPr>
          <p:cNvPr id="48" name="Text 46"/>
          <p:cNvSpPr/>
          <p:nvPr/>
        </p:nvSpPr>
        <p:spPr>
          <a:xfrm>
            <a:off x="4700016" y="2779776"/>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15</a:t>
            </a:r>
            <a:endParaRPr lang="en-US" sz="800" dirty="0"/>
          </a:p>
        </p:txBody>
      </p:sp>
      <p:sp>
        <p:nvSpPr>
          <p:cNvPr id="49" name="Text 47"/>
          <p:cNvSpPr/>
          <p:nvPr/>
        </p:nvSpPr>
        <p:spPr>
          <a:xfrm>
            <a:off x="4974336" y="2761488"/>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Deutsch, C. V., &amp; </a:t>
            </a:r>
            <a:r>
              <a:rPr lang="en-US" sz="780" dirty="0" err="1">
                <a:solidFill>
                  <a:srgbClr val="333333"/>
                </a:solidFill>
                <a:latin typeface="Calibri" pitchFamily="34" charset="0"/>
                <a:ea typeface="Calibri" pitchFamily="34" charset="-122"/>
                <a:cs typeface="Calibri" pitchFamily="34" charset="-120"/>
              </a:rPr>
              <a:t>Journel</a:t>
            </a:r>
            <a:r>
              <a:rPr lang="en-US" sz="780" dirty="0">
                <a:solidFill>
                  <a:srgbClr val="333333"/>
                </a:solidFill>
                <a:latin typeface="Calibri" pitchFamily="34" charset="0"/>
                <a:ea typeface="Calibri" pitchFamily="34" charset="-122"/>
                <a:cs typeface="Calibri" pitchFamily="34" charset="-120"/>
              </a:rPr>
              <a:t>, A. G. (1992). Geostatistical software library and user’s guide. New York, 119(147), 578..</a:t>
            </a:r>
            <a:r>
              <a:rPr lang="en-US" sz="780" b="1" dirty="0">
                <a:solidFill>
                  <a:srgbClr val="5B7FA6"/>
                </a:solidFill>
                <a:latin typeface="Calibri" pitchFamily="34" charset="0"/>
                <a:ea typeface="Calibri" pitchFamily="34" charset="-122"/>
                <a:cs typeface="Calibri" pitchFamily="34" charset="-120"/>
              </a:rPr>
              <a:t>  ISBN: 978-0-19-510015-0</a:t>
            </a:r>
            <a:endParaRPr lang="en-US" sz="780" dirty="0"/>
          </a:p>
        </p:txBody>
      </p:sp>
      <p:sp>
        <p:nvSpPr>
          <p:cNvPr id="50" name="Shape 48"/>
          <p:cNvSpPr/>
          <p:nvPr/>
        </p:nvSpPr>
        <p:spPr>
          <a:xfrm>
            <a:off x="4700016" y="3182112"/>
            <a:ext cx="219456" cy="201168"/>
          </a:xfrm>
          <a:prstGeom prst="rect">
            <a:avLst/>
          </a:prstGeom>
          <a:solidFill>
            <a:srgbClr val="2E7D6B"/>
          </a:solidFill>
          <a:ln w="12700">
            <a:solidFill>
              <a:srgbClr val="2E7D6B"/>
            </a:solidFill>
            <a:prstDash val="solid"/>
          </a:ln>
        </p:spPr>
        <p:txBody>
          <a:bodyPr/>
          <a:lstStyle/>
          <a:p>
            <a:endParaRPr lang="he-IL"/>
          </a:p>
        </p:txBody>
      </p:sp>
      <p:sp>
        <p:nvSpPr>
          <p:cNvPr id="51" name="Text 49"/>
          <p:cNvSpPr/>
          <p:nvPr/>
        </p:nvSpPr>
        <p:spPr>
          <a:xfrm>
            <a:off x="4700016" y="3182112"/>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16</a:t>
            </a:r>
            <a:endParaRPr lang="en-US" sz="800" dirty="0"/>
          </a:p>
        </p:txBody>
      </p:sp>
      <p:sp>
        <p:nvSpPr>
          <p:cNvPr id="52" name="Text 50"/>
          <p:cNvSpPr/>
          <p:nvPr/>
        </p:nvSpPr>
        <p:spPr>
          <a:xfrm>
            <a:off x="4974336" y="3163824"/>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Journel &amp; Huijbregts (1978). Mining Geostatistics. Academic Press.</a:t>
            </a:r>
            <a:r>
              <a:rPr lang="en-US" sz="780" b="1" dirty="0">
                <a:solidFill>
                  <a:srgbClr val="2E7D6B"/>
                </a:solidFill>
                <a:latin typeface="Calibri" pitchFamily="34" charset="0"/>
                <a:ea typeface="Calibri" pitchFamily="34" charset="-122"/>
                <a:cs typeface="Calibri" pitchFamily="34" charset="-120"/>
              </a:rPr>
              <a:t>  ISBN: 978-0-12-391250-9</a:t>
            </a:r>
            <a:endParaRPr lang="en-US" sz="780" dirty="0"/>
          </a:p>
        </p:txBody>
      </p:sp>
      <p:sp>
        <p:nvSpPr>
          <p:cNvPr id="53" name="Shape 51"/>
          <p:cNvSpPr/>
          <p:nvPr/>
        </p:nvSpPr>
        <p:spPr>
          <a:xfrm>
            <a:off x="4700016" y="3584448"/>
            <a:ext cx="219456" cy="201168"/>
          </a:xfrm>
          <a:prstGeom prst="rect">
            <a:avLst/>
          </a:prstGeom>
          <a:solidFill>
            <a:srgbClr val="5B7FA6"/>
          </a:solidFill>
          <a:ln w="12700">
            <a:solidFill>
              <a:srgbClr val="5B7FA6"/>
            </a:solidFill>
            <a:prstDash val="solid"/>
          </a:ln>
        </p:spPr>
        <p:txBody>
          <a:bodyPr/>
          <a:lstStyle/>
          <a:p>
            <a:endParaRPr lang="he-IL"/>
          </a:p>
        </p:txBody>
      </p:sp>
      <p:sp>
        <p:nvSpPr>
          <p:cNvPr id="54" name="Text 52"/>
          <p:cNvSpPr/>
          <p:nvPr/>
        </p:nvSpPr>
        <p:spPr>
          <a:xfrm>
            <a:off x="4700016" y="3584448"/>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17</a:t>
            </a:r>
            <a:endParaRPr lang="en-US" sz="800" dirty="0"/>
          </a:p>
        </p:txBody>
      </p:sp>
      <p:sp>
        <p:nvSpPr>
          <p:cNvPr id="55" name="Text 53"/>
          <p:cNvSpPr/>
          <p:nvPr/>
        </p:nvSpPr>
        <p:spPr>
          <a:xfrm>
            <a:off x="4974336" y="3566160"/>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Diggle et al. (1998). Model-based geostatistics. Appl. Statistics, 47, 299–350.</a:t>
            </a:r>
            <a:r>
              <a:rPr lang="en-US" sz="780" b="1" dirty="0">
                <a:solidFill>
                  <a:srgbClr val="5B7FA6"/>
                </a:solidFill>
                <a:latin typeface="Calibri" pitchFamily="34" charset="0"/>
                <a:ea typeface="Calibri" pitchFamily="34" charset="-122"/>
                <a:cs typeface="Calibri" pitchFamily="34" charset="-120"/>
              </a:rPr>
              <a:t>  DOI: 10.1111/1467-9876.00113</a:t>
            </a:r>
            <a:endParaRPr lang="en-US" sz="780" dirty="0"/>
          </a:p>
        </p:txBody>
      </p:sp>
      <p:sp>
        <p:nvSpPr>
          <p:cNvPr id="56" name="Shape 54"/>
          <p:cNvSpPr/>
          <p:nvPr/>
        </p:nvSpPr>
        <p:spPr>
          <a:xfrm>
            <a:off x="4700016" y="3986784"/>
            <a:ext cx="219456" cy="201168"/>
          </a:xfrm>
          <a:prstGeom prst="rect">
            <a:avLst/>
          </a:prstGeom>
          <a:solidFill>
            <a:srgbClr val="5B7FA6"/>
          </a:solidFill>
          <a:ln w="12700">
            <a:solidFill>
              <a:srgbClr val="5B7FA6"/>
            </a:solidFill>
            <a:prstDash val="solid"/>
          </a:ln>
        </p:spPr>
        <p:txBody>
          <a:bodyPr/>
          <a:lstStyle/>
          <a:p>
            <a:endParaRPr lang="he-IL"/>
          </a:p>
        </p:txBody>
      </p:sp>
      <p:sp>
        <p:nvSpPr>
          <p:cNvPr id="57" name="Text 55"/>
          <p:cNvSpPr/>
          <p:nvPr/>
        </p:nvSpPr>
        <p:spPr>
          <a:xfrm>
            <a:off x="4700016" y="3986784"/>
            <a:ext cx="21945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18</a:t>
            </a:r>
            <a:endParaRPr lang="en-US" sz="800" dirty="0"/>
          </a:p>
        </p:txBody>
      </p:sp>
      <p:sp>
        <p:nvSpPr>
          <p:cNvPr id="58" name="Text 56"/>
          <p:cNvSpPr/>
          <p:nvPr/>
        </p:nvSpPr>
        <p:spPr>
          <a:xfrm>
            <a:off x="4974336" y="3968496"/>
            <a:ext cx="3913632" cy="365760"/>
          </a:xfrm>
          <a:prstGeom prst="rect">
            <a:avLst/>
          </a:prstGeom>
          <a:noFill/>
          <a:ln/>
        </p:spPr>
        <p:txBody>
          <a:bodyPr wrap="square" lIns="0" tIns="0" rIns="0" bIns="0" rtlCol="0" anchor="t"/>
          <a:lstStyle/>
          <a:p>
            <a:pPr marL="0" indent="0" algn="l">
              <a:buNone/>
            </a:pPr>
            <a:r>
              <a:rPr lang="en-US" sz="780" dirty="0">
                <a:solidFill>
                  <a:srgbClr val="333333"/>
                </a:solidFill>
                <a:latin typeface="Calibri" pitchFamily="34" charset="0"/>
                <a:ea typeface="Calibri" pitchFamily="34" charset="-122"/>
                <a:cs typeface="Calibri" pitchFamily="34" charset="-120"/>
              </a:rPr>
              <a:t>Gething et al. (2011). New world malaria map: P. falciparum. Malaria J., 10, 378.</a:t>
            </a:r>
            <a:r>
              <a:rPr lang="en-US" sz="780" b="1" dirty="0">
                <a:solidFill>
                  <a:srgbClr val="5B7FA6"/>
                </a:solidFill>
                <a:latin typeface="Calibri" pitchFamily="34" charset="0"/>
                <a:ea typeface="Calibri" pitchFamily="34" charset="-122"/>
                <a:cs typeface="Calibri" pitchFamily="34" charset="-120"/>
              </a:rPr>
              <a:t>  DOI: 10.1186/1475-2875-10-378</a:t>
            </a:r>
            <a:endParaRPr lang="en-US" sz="780" dirty="0"/>
          </a:p>
        </p:txBody>
      </p:sp>
      <p:sp>
        <p:nvSpPr>
          <p:cNvPr id="59" name="Shape 57"/>
          <p:cNvSpPr/>
          <p:nvPr/>
        </p:nvSpPr>
        <p:spPr>
          <a:xfrm>
            <a:off x="347472" y="4828032"/>
            <a:ext cx="8449056" cy="201168"/>
          </a:xfrm>
          <a:prstGeom prst="rect">
            <a:avLst/>
          </a:prstGeom>
          <a:solidFill>
            <a:srgbClr val="EDE8E0"/>
          </a:solidFill>
          <a:ln w="12700">
            <a:solidFill>
              <a:srgbClr val="D0C8BC"/>
            </a:solidFill>
            <a:prstDash val="solid"/>
          </a:ln>
        </p:spPr>
        <p:txBody>
          <a:bodyPr/>
          <a:lstStyle/>
          <a:p>
            <a:endParaRPr lang="he-IL"/>
          </a:p>
        </p:txBody>
      </p:sp>
      <p:sp>
        <p:nvSpPr>
          <p:cNvPr id="60" name="Text 58"/>
          <p:cNvSpPr/>
          <p:nvPr/>
        </p:nvSpPr>
        <p:spPr>
          <a:xfrm>
            <a:off x="438912" y="4828032"/>
            <a:ext cx="8266176" cy="201168"/>
          </a:xfrm>
          <a:prstGeom prst="rect">
            <a:avLst/>
          </a:prstGeom>
          <a:noFill/>
          <a:ln/>
        </p:spPr>
        <p:txBody>
          <a:bodyPr wrap="square" lIns="0" tIns="0" rIns="0" bIns="0" rtlCol="0" anchor="ctr"/>
          <a:lstStyle/>
          <a:p>
            <a:pPr marL="0" indent="0" algn="l">
              <a:buNone/>
            </a:pPr>
            <a:r>
              <a:rPr lang="en-US" sz="750" dirty="0">
                <a:solidFill>
                  <a:srgbClr val="888888"/>
                </a:solidFill>
                <a:latin typeface="Calibri" pitchFamily="34" charset="0"/>
                <a:ea typeface="Calibri" pitchFamily="34" charset="-122"/>
                <a:cs typeface="Calibri" pitchFamily="34" charset="-120"/>
              </a:rPr>
              <a:t>Dr. Naomi Unkelos-Shpigel  ·  Introduction to Ecological Modeling  ·  Lec 4.2 — Spatial Statistics &amp; Kriging</a:t>
            </a:r>
            <a:endParaRPr lang="en-US" sz="750" dirty="0"/>
          </a:p>
        </p:txBody>
      </p:sp>
    </p:spTree>
    <p:extLst>
      <p:ext uri="{BB962C8B-B14F-4D97-AF65-F5344CB8AC3E}">
        <p14:creationId xmlns:p14="http://schemas.microsoft.com/office/powerpoint/2010/main" val="6062194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3B6B9E"/>
          </a:solidFill>
          <a:ln w="12700">
            <a:solidFill>
              <a:srgbClr val="3B6B9E"/>
            </a:solidFill>
            <a:prstDash val="solid"/>
          </a:ln>
        </p:spPr>
        <p:txBody>
          <a:bodyPr/>
          <a:lstStyle/>
          <a:p>
            <a:endParaRPr lang="he-IL"/>
          </a:p>
        </p:txBody>
      </p:sp>
      <p:sp>
        <p:nvSpPr>
          <p:cNvPr id="3" name="Shape 1"/>
          <p:cNvSpPr/>
          <p:nvPr/>
        </p:nvSpPr>
        <p:spPr>
          <a:xfrm>
            <a:off x="256032" y="0"/>
            <a:ext cx="8887968" cy="1078992"/>
          </a:xfrm>
          <a:prstGeom prst="rect">
            <a:avLst/>
          </a:prstGeom>
          <a:solidFill>
            <a:srgbClr val="24436A"/>
          </a:solidFill>
          <a:ln w="12700">
            <a:solidFill>
              <a:srgbClr val="24436A"/>
            </a:solidFill>
            <a:prstDash val="solid"/>
          </a:ln>
        </p:spPr>
        <p:txBody>
          <a:bodyPr/>
          <a:lstStyle/>
          <a:p>
            <a:endParaRPr lang="he-IL"/>
          </a:p>
        </p:txBody>
      </p:sp>
      <p:sp>
        <p:nvSpPr>
          <p:cNvPr id="4" name="Shape 2"/>
          <p:cNvSpPr/>
          <p:nvPr/>
        </p:nvSpPr>
        <p:spPr>
          <a:xfrm>
            <a:off x="420624" y="164592"/>
            <a:ext cx="475488" cy="475488"/>
          </a:xfrm>
          <a:prstGeom prst="rect">
            <a:avLst/>
          </a:prstGeom>
          <a:solidFill>
            <a:srgbClr val="3B6B9E"/>
          </a:solidFill>
          <a:ln w="12700">
            <a:solidFill>
              <a:srgbClr val="3B6B9E"/>
            </a:solidFill>
            <a:prstDash val="solid"/>
          </a:ln>
        </p:spPr>
        <p:txBody>
          <a:bodyPr/>
          <a:lstStyle/>
          <a:p>
            <a:endParaRPr lang="he-IL"/>
          </a:p>
        </p:txBody>
      </p:sp>
      <p:sp>
        <p:nvSpPr>
          <p:cNvPr id="5" name="Text 3"/>
          <p:cNvSpPr/>
          <p:nvPr/>
        </p:nvSpPr>
        <p:spPr>
          <a:xfrm>
            <a:off x="420624" y="164592"/>
            <a:ext cx="475488" cy="4754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IDW</a:t>
            </a:r>
            <a:endParaRPr lang="en-US" sz="900" dirty="0"/>
          </a:p>
        </p:txBody>
      </p:sp>
      <p:sp>
        <p:nvSpPr>
          <p:cNvPr id="6" name="Text 4"/>
          <p:cNvSpPr/>
          <p:nvPr/>
        </p:nvSpPr>
        <p:spPr>
          <a:xfrm>
            <a:off x="1005840" y="118872"/>
            <a:ext cx="7132320" cy="438912"/>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Inverse Distance Weighting</a:t>
            </a:r>
            <a:endParaRPr lang="en-US" sz="2800" dirty="0"/>
          </a:p>
        </p:txBody>
      </p:sp>
      <p:sp>
        <p:nvSpPr>
          <p:cNvPr id="7" name="Text 5"/>
          <p:cNvSpPr/>
          <p:nvPr/>
        </p:nvSpPr>
        <p:spPr>
          <a:xfrm>
            <a:off x="1005840" y="585216"/>
            <a:ext cx="7132320" cy="256032"/>
          </a:xfrm>
          <a:prstGeom prst="rect">
            <a:avLst/>
          </a:prstGeom>
          <a:noFill/>
          <a:ln/>
        </p:spPr>
        <p:txBody>
          <a:bodyPr wrap="square" lIns="0" tIns="0" rIns="0" bIns="0" rtlCol="0" anchor="ctr"/>
          <a:lstStyle/>
          <a:p>
            <a:pPr marL="0" indent="0" algn="l">
              <a:buNone/>
            </a:pPr>
            <a:r>
              <a:rPr lang="en-US" sz="1100" i="1" dirty="0">
                <a:solidFill>
                  <a:srgbClr val="8EB4D8"/>
                </a:solidFill>
                <a:latin typeface="Calibri" pitchFamily="34" charset="0"/>
                <a:ea typeface="Calibri" pitchFamily="34" charset="-122"/>
                <a:cs typeface="Calibri" pitchFamily="34" charset="-120"/>
              </a:rPr>
              <a:t>✦  A simple, deterministic interpolation method — no variogram required</a:t>
            </a:r>
            <a:endParaRPr lang="en-US" sz="1100" dirty="0"/>
          </a:p>
        </p:txBody>
      </p:sp>
      <p:sp>
        <p:nvSpPr>
          <p:cNvPr id="8" name="Shape 6"/>
          <p:cNvSpPr/>
          <p:nvPr/>
        </p:nvSpPr>
        <p:spPr>
          <a:xfrm>
            <a:off x="420624" y="1152144"/>
            <a:ext cx="4096512" cy="274320"/>
          </a:xfrm>
          <a:prstGeom prst="rect">
            <a:avLst/>
          </a:prstGeom>
          <a:solidFill>
            <a:srgbClr val="3B6B9E"/>
          </a:solidFill>
          <a:ln w="12700">
            <a:solidFill>
              <a:srgbClr val="3B6B9E"/>
            </a:solidFill>
            <a:prstDash val="solid"/>
          </a:ln>
        </p:spPr>
        <p:txBody>
          <a:bodyPr/>
          <a:lstStyle/>
          <a:p>
            <a:endParaRPr lang="he-IL"/>
          </a:p>
        </p:txBody>
      </p:sp>
      <p:sp>
        <p:nvSpPr>
          <p:cNvPr id="9" name="Text 7"/>
          <p:cNvSpPr/>
          <p:nvPr/>
        </p:nvSpPr>
        <p:spPr>
          <a:xfrm>
            <a:off x="420624" y="1152144"/>
            <a:ext cx="4096512"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Core Concept &amp; Formula</a:t>
            </a:r>
            <a:endParaRPr lang="en-US" sz="1100" dirty="0"/>
          </a:p>
        </p:txBody>
      </p:sp>
      <p:sp>
        <p:nvSpPr>
          <p:cNvPr id="10" name="Shape 8"/>
          <p:cNvSpPr/>
          <p:nvPr/>
        </p:nvSpPr>
        <p:spPr>
          <a:xfrm>
            <a:off x="429768" y="1417320"/>
            <a:ext cx="4096512" cy="3438144"/>
          </a:xfrm>
          <a:prstGeom prst="rect">
            <a:avLst/>
          </a:prstGeom>
          <a:solidFill>
            <a:srgbClr val="D0DFF0"/>
          </a:solidFill>
          <a:ln w="12700">
            <a:solidFill>
              <a:srgbClr val="D0DFF0"/>
            </a:solidFill>
            <a:prstDash val="solid"/>
          </a:ln>
          <a:effectLst>
            <a:outerShdw blurRad="88900" dist="25400" dir="8100000" algn="bl" rotWithShape="0">
              <a:srgbClr val="000000">
                <a:alpha val="10000"/>
              </a:srgbClr>
            </a:outerShdw>
          </a:effectLst>
        </p:spPr>
        <p:txBody>
          <a:bodyPr/>
          <a:lstStyle/>
          <a:p>
            <a:endParaRPr lang="he-IL"/>
          </a:p>
        </p:txBody>
      </p:sp>
      <p:sp>
        <p:nvSpPr>
          <p:cNvPr id="11" name="Text 9"/>
          <p:cNvSpPr/>
          <p:nvPr/>
        </p:nvSpPr>
        <p:spPr>
          <a:xfrm>
            <a:off x="548640" y="1554480"/>
            <a:ext cx="3840480" cy="201168"/>
          </a:xfrm>
          <a:prstGeom prst="rect">
            <a:avLst/>
          </a:prstGeom>
          <a:noFill/>
          <a:ln/>
        </p:spPr>
        <p:txBody>
          <a:bodyPr wrap="square" lIns="0" tIns="0" rIns="0" bIns="0" rtlCol="0" anchor="t"/>
          <a:lstStyle/>
          <a:p>
            <a:pPr marL="0" indent="0" algn="l">
              <a:buNone/>
            </a:pPr>
            <a:r>
              <a:rPr lang="en-US" sz="1100" b="1" dirty="0">
                <a:solidFill>
                  <a:srgbClr val="24436A"/>
                </a:solidFill>
                <a:latin typeface="Calibri" pitchFamily="34" charset="0"/>
                <a:ea typeface="Calibri" pitchFamily="34" charset="-122"/>
                <a:cs typeface="Calibri" pitchFamily="34" charset="-120"/>
              </a:rPr>
              <a:t>The Idea</a:t>
            </a:r>
            <a:endParaRPr lang="en-US" sz="1100" dirty="0"/>
          </a:p>
        </p:txBody>
      </p:sp>
      <p:sp>
        <p:nvSpPr>
          <p:cNvPr id="12" name="Text 10"/>
          <p:cNvSpPr/>
          <p:nvPr/>
        </p:nvSpPr>
        <p:spPr>
          <a:xfrm>
            <a:off x="548640" y="1773936"/>
            <a:ext cx="3840480" cy="658368"/>
          </a:xfrm>
          <a:prstGeom prst="rect">
            <a:avLst/>
          </a:prstGeom>
          <a:noFill/>
          <a:ln/>
        </p:spPr>
        <p:txBody>
          <a:bodyPr wrap="square" lIns="0" tIns="0" rIns="0" bIns="0" rtlCol="0" anchor="t"/>
          <a:lstStyle/>
          <a:p>
            <a:pPr marL="0" indent="0" algn="l">
              <a:buNone/>
            </a:pPr>
            <a:r>
              <a:rPr lang="en-US" sz="1050" dirty="0">
                <a:solidFill>
                  <a:srgbClr val="333333"/>
                </a:solidFill>
                <a:latin typeface="Calibri" pitchFamily="34" charset="0"/>
                <a:ea typeface="Calibri" pitchFamily="34" charset="-122"/>
                <a:cs typeface="Calibri" pitchFamily="34" charset="-120"/>
              </a:rPr>
              <a:t>Predicts a value at an unsampled location as a weighted average of nearby observations. The key principle: closer points receive proportionally higher weight than distant ones. No geostatistical model is needed — only the distances between points.</a:t>
            </a:r>
            <a:endParaRPr lang="en-US" sz="1050" dirty="0"/>
          </a:p>
        </p:txBody>
      </p:sp>
      <p:sp>
        <p:nvSpPr>
          <p:cNvPr id="13" name="Shape 11"/>
          <p:cNvSpPr/>
          <p:nvPr/>
        </p:nvSpPr>
        <p:spPr>
          <a:xfrm>
            <a:off x="548640" y="2487168"/>
            <a:ext cx="3840480" cy="822961"/>
          </a:xfrm>
          <a:prstGeom prst="rect">
            <a:avLst/>
          </a:prstGeom>
          <a:solidFill>
            <a:srgbClr val="8EB4D8">
              <a:alpha val="62000"/>
            </a:srgbClr>
          </a:solidFill>
          <a:ln w="12700">
            <a:solidFill>
              <a:srgbClr val="8EB4D8"/>
            </a:solidFill>
            <a:prstDash val="solid"/>
          </a:ln>
        </p:spPr>
        <p:txBody>
          <a:bodyPr/>
          <a:lstStyle/>
          <a:p>
            <a:endParaRPr lang="he-IL"/>
          </a:p>
        </p:txBody>
      </p:sp>
      <p:sp>
        <p:nvSpPr>
          <p:cNvPr id="14" name="Text 12"/>
          <p:cNvSpPr/>
          <p:nvPr/>
        </p:nvSpPr>
        <p:spPr>
          <a:xfrm>
            <a:off x="621792" y="2523744"/>
            <a:ext cx="3694176" cy="182880"/>
          </a:xfrm>
          <a:prstGeom prst="rect">
            <a:avLst/>
          </a:prstGeom>
          <a:noFill/>
          <a:ln/>
        </p:spPr>
        <p:txBody>
          <a:bodyPr wrap="square" lIns="0" tIns="0" rIns="0" bIns="0" rtlCol="0" anchor="t"/>
          <a:lstStyle/>
          <a:p>
            <a:pPr marL="0" indent="0" algn="l">
              <a:buNone/>
            </a:pPr>
            <a:r>
              <a:rPr lang="en-US" sz="900" b="1" dirty="0">
                <a:solidFill>
                  <a:srgbClr val="24436A"/>
                </a:solidFill>
                <a:latin typeface="Calibri" pitchFamily="34" charset="0"/>
                <a:ea typeface="Calibri" pitchFamily="34" charset="-122"/>
                <a:cs typeface="Calibri" pitchFamily="34" charset="-120"/>
              </a:rPr>
              <a:t>Prediction formula</a:t>
            </a:r>
            <a:endParaRPr lang="en-US" sz="900" dirty="0"/>
          </a:p>
        </p:txBody>
      </p:sp>
      <p:sp>
        <p:nvSpPr>
          <p:cNvPr id="15" name="Text 13"/>
          <p:cNvSpPr/>
          <p:nvPr/>
        </p:nvSpPr>
        <p:spPr>
          <a:xfrm>
            <a:off x="621792" y="2724912"/>
            <a:ext cx="3694176" cy="530352"/>
          </a:xfrm>
          <a:prstGeom prst="rect">
            <a:avLst/>
          </a:prstGeom>
          <a:noFill/>
          <a:ln/>
        </p:spPr>
        <p:txBody>
          <a:bodyPr wrap="square" lIns="0" tIns="0" rIns="0" bIns="0" rtlCol="0" anchor="ctr"/>
          <a:lstStyle/>
          <a:p>
            <a:pPr marL="0" indent="0" algn="ctr">
              <a:buNone/>
            </a:pPr>
            <a:r>
              <a:rPr lang="en-US" sz="1100" dirty="0">
                <a:solidFill>
                  <a:srgbClr val="24436A"/>
                </a:solidFill>
                <a:latin typeface="Courier New" pitchFamily="34" charset="0"/>
                <a:ea typeface="Courier New" pitchFamily="34" charset="-122"/>
                <a:cs typeface="Courier New" pitchFamily="34" charset="-120"/>
              </a:rPr>
              <a:t>Z*(x₀) = Σ wᵢ · Z(xᵢ)</a:t>
            </a:r>
            <a:endParaRPr lang="en-US" sz="1100" dirty="0"/>
          </a:p>
          <a:p>
            <a:pPr marL="0" indent="0" algn="ctr">
              <a:buNone/>
            </a:pPr>
            <a:r>
              <a:rPr lang="en-US" sz="300" dirty="0">
                <a:solidFill>
                  <a:srgbClr val="24436A"/>
                </a:solidFill>
                <a:latin typeface="Courier New" pitchFamily="34" charset="0"/>
                <a:ea typeface="Courier New" pitchFamily="34" charset="-122"/>
                <a:cs typeface="Courier New" pitchFamily="34" charset="-120"/>
              </a:rPr>
              <a:t> </a:t>
            </a:r>
            <a:endParaRPr lang="en-US" sz="1100" dirty="0"/>
          </a:p>
          <a:p>
            <a:pPr marL="0" indent="0" algn="ctr">
              <a:buNone/>
            </a:pPr>
            <a:r>
              <a:rPr lang="en-US" sz="1100" dirty="0">
                <a:solidFill>
                  <a:srgbClr val="24436A"/>
                </a:solidFill>
                <a:latin typeface="Courier New" pitchFamily="34" charset="0"/>
                <a:ea typeface="Courier New" pitchFamily="34" charset="-122"/>
                <a:cs typeface="Courier New" pitchFamily="34" charset="-120"/>
              </a:rPr>
              <a:t>wᵢ = (1 / dᵢᵖ)  /  Σ (1 / dᵢᵖ)</a:t>
            </a:r>
            <a:endParaRPr lang="en-US" sz="1100" dirty="0"/>
          </a:p>
          <a:p>
            <a:pPr marL="0" indent="0" algn="ctr">
              <a:buNone/>
            </a:pPr>
            <a:r>
              <a:rPr lang="en-US" sz="300" dirty="0">
                <a:solidFill>
                  <a:srgbClr val="24436A"/>
                </a:solidFill>
                <a:latin typeface="Courier New" pitchFamily="34" charset="0"/>
                <a:ea typeface="Courier New" pitchFamily="34" charset="-122"/>
                <a:cs typeface="Courier New" pitchFamily="34" charset="-120"/>
              </a:rPr>
              <a:t> </a:t>
            </a:r>
            <a:endParaRPr lang="en-US" sz="1100" dirty="0"/>
          </a:p>
          <a:p>
            <a:pPr marL="0" indent="0" algn="ctr">
              <a:buNone/>
            </a:pPr>
            <a:r>
              <a:rPr lang="en-US" sz="1100" dirty="0">
                <a:solidFill>
                  <a:srgbClr val="24436A"/>
                </a:solidFill>
                <a:latin typeface="Courier New" pitchFamily="34" charset="0"/>
                <a:ea typeface="Courier New" pitchFamily="34" charset="-122"/>
                <a:cs typeface="Courier New" pitchFamily="34" charset="-120"/>
              </a:rPr>
              <a:t>dᵢ = distance from x₀ to sample xᵢ</a:t>
            </a:r>
            <a:endParaRPr lang="en-US" sz="1100" dirty="0"/>
          </a:p>
        </p:txBody>
      </p:sp>
      <p:sp>
        <p:nvSpPr>
          <p:cNvPr id="16" name="Text 14"/>
          <p:cNvSpPr/>
          <p:nvPr/>
        </p:nvSpPr>
        <p:spPr>
          <a:xfrm>
            <a:off x="530352" y="3387853"/>
            <a:ext cx="3840480" cy="201168"/>
          </a:xfrm>
          <a:prstGeom prst="rect">
            <a:avLst/>
          </a:prstGeom>
          <a:noFill/>
          <a:ln/>
        </p:spPr>
        <p:txBody>
          <a:bodyPr wrap="square" lIns="0" tIns="0" rIns="0" bIns="0" rtlCol="0" anchor="t"/>
          <a:lstStyle/>
          <a:p>
            <a:pPr marL="0" indent="0" algn="l">
              <a:buNone/>
            </a:pPr>
            <a:r>
              <a:rPr lang="en-US" sz="1100" b="1" dirty="0">
                <a:solidFill>
                  <a:srgbClr val="24436A"/>
                </a:solidFill>
                <a:latin typeface="Calibri" pitchFamily="34" charset="0"/>
                <a:ea typeface="Calibri" pitchFamily="34" charset="-122"/>
                <a:cs typeface="Calibri" pitchFamily="34" charset="-120"/>
              </a:rPr>
              <a:t>Key property: exact interpolator</a:t>
            </a:r>
            <a:endParaRPr lang="en-US" sz="1100" dirty="0"/>
          </a:p>
        </p:txBody>
      </p:sp>
      <p:sp>
        <p:nvSpPr>
          <p:cNvPr id="17" name="Text 15"/>
          <p:cNvSpPr/>
          <p:nvPr/>
        </p:nvSpPr>
        <p:spPr>
          <a:xfrm>
            <a:off x="530352" y="3557016"/>
            <a:ext cx="3840480" cy="694944"/>
          </a:xfrm>
          <a:prstGeom prst="rect">
            <a:avLst/>
          </a:prstGeom>
          <a:noFill/>
          <a:ln/>
        </p:spPr>
        <p:txBody>
          <a:bodyPr wrap="square" lIns="0" tIns="0" rIns="0" bIns="0" rtlCol="0" anchor="t"/>
          <a:lstStyle/>
          <a:p>
            <a:pPr marL="0" indent="0" algn="l">
              <a:buNone/>
            </a:pPr>
            <a:r>
              <a:rPr lang="en-US" sz="1050" dirty="0">
                <a:solidFill>
                  <a:srgbClr val="333333"/>
                </a:solidFill>
                <a:latin typeface="Calibri" pitchFamily="34" charset="0"/>
                <a:ea typeface="Calibri" pitchFamily="34" charset="-122"/>
                <a:cs typeface="Calibri" pitchFamily="34" charset="-120"/>
              </a:rPr>
              <a:t>Predicted values equal observed values exactly at all sample locations — the surface passes through every data point. Unlike kriging, IDW produces no estimate of prediction uncertainty.</a:t>
            </a:r>
            <a:endParaRPr lang="en-US" sz="1050" dirty="0"/>
          </a:p>
        </p:txBody>
      </p:sp>
      <p:sp>
        <p:nvSpPr>
          <p:cNvPr id="18" name="Shape 16"/>
          <p:cNvSpPr/>
          <p:nvPr/>
        </p:nvSpPr>
        <p:spPr>
          <a:xfrm>
            <a:off x="548640" y="4572000"/>
            <a:ext cx="3840480" cy="0"/>
          </a:xfrm>
          <a:prstGeom prst="line">
            <a:avLst/>
          </a:prstGeom>
          <a:noFill/>
          <a:ln w="7620">
            <a:solidFill>
              <a:srgbClr val="8EB4D8"/>
            </a:solidFill>
            <a:prstDash val="solid"/>
          </a:ln>
        </p:spPr>
        <p:txBody>
          <a:bodyPr/>
          <a:lstStyle/>
          <a:p>
            <a:endParaRPr lang="he-IL"/>
          </a:p>
        </p:txBody>
      </p:sp>
      <p:sp>
        <p:nvSpPr>
          <p:cNvPr id="20" name="Shape 18"/>
          <p:cNvSpPr/>
          <p:nvPr/>
        </p:nvSpPr>
        <p:spPr>
          <a:xfrm>
            <a:off x="4645152" y="1152144"/>
            <a:ext cx="4096512" cy="274320"/>
          </a:xfrm>
          <a:prstGeom prst="rect">
            <a:avLst/>
          </a:prstGeom>
          <a:solidFill>
            <a:srgbClr val="3B6B9E"/>
          </a:solidFill>
          <a:ln w="12700">
            <a:solidFill>
              <a:srgbClr val="3B6B9E"/>
            </a:solidFill>
            <a:prstDash val="solid"/>
          </a:ln>
        </p:spPr>
        <p:txBody>
          <a:bodyPr/>
          <a:lstStyle/>
          <a:p>
            <a:endParaRPr lang="he-IL"/>
          </a:p>
        </p:txBody>
      </p:sp>
      <p:sp>
        <p:nvSpPr>
          <p:cNvPr id="21" name="Text 19"/>
          <p:cNvSpPr/>
          <p:nvPr/>
        </p:nvSpPr>
        <p:spPr>
          <a:xfrm>
            <a:off x="4645152" y="1152144"/>
            <a:ext cx="4096512"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Parameters &amp; Behaviour</a:t>
            </a:r>
            <a:endParaRPr lang="en-US" sz="1100" dirty="0"/>
          </a:p>
        </p:txBody>
      </p:sp>
      <p:sp>
        <p:nvSpPr>
          <p:cNvPr id="22" name="Shape 20"/>
          <p:cNvSpPr/>
          <p:nvPr/>
        </p:nvSpPr>
        <p:spPr>
          <a:xfrm>
            <a:off x="4645152" y="1426464"/>
            <a:ext cx="4096512" cy="3438144"/>
          </a:xfrm>
          <a:prstGeom prst="rect">
            <a:avLst/>
          </a:prstGeom>
          <a:solidFill>
            <a:srgbClr val="D0DFF0"/>
          </a:solidFill>
          <a:ln w="12700">
            <a:solidFill>
              <a:srgbClr val="D0DFF0"/>
            </a:solidFill>
            <a:prstDash val="solid"/>
          </a:ln>
          <a:effectLst>
            <a:outerShdw blurRad="88900" dist="25400" dir="8100000" algn="bl" rotWithShape="0">
              <a:srgbClr val="000000">
                <a:alpha val="10000"/>
              </a:srgbClr>
            </a:outerShdw>
          </a:effectLst>
        </p:spPr>
        <p:txBody>
          <a:bodyPr/>
          <a:lstStyle/>
          <a:p>
            <a:endParaRPr lang="he-IL"/>
          </a:p>
        </p:txBody>
      </p:sp>
      <p:sp>
        <p:nvSpPr>
          <p:cNvPr id="23" name="Text 21"/>
          <p:cNvSpPr/>
          <p:nvPr/>
        </p:nvSpPr>
        <p:spPr>
          <a:xfrm>
            <a:off x="4773168" y="1554480"/>
            <a:ext cx="3840480" cy="201168"/>
          </a:xfrm>
          <a:prstGeom prst="rect">
            <a:avLst/>
          </a:prstGeom>
          <a:noFill/>
          <a:ln/>
        </p:spPr>
        <p:txBody>
          <a:bodyPr wrap="square" lIns="0" tIns="0" rIns="0" bIns="0" rtlCol="0" anchor="t"/>
          <a:lstStyle/>
          <a:p>
            <a:pPr marL="0" indent="0" algn="l">
              <a:buNone/>
            </a:pPr>
            <a:r>
              <a:rPr lang="en-US" sz="1100" b="1" dirty="0">
                <a:solidFill>
                  <a:srgbClr val="24436A"/>
                </a:solidFill>
                <a:latin typeface="Calibri" pitchFamily="34" charset="0"/>
                <a:ea typeface="Calibri" pitchFamily="34" charset="-122"/>
                <a:cs typeface="Calibri" pitchFamily="34" charset="-120"/>
              </a:rPr>
              <a:t>Power parameter (p)</a:t>
            </a:r>
            <a:endParaRPr lang="en-US" sz="1100" dirty="0"/>
          </a:p>
        </p:txBody>
      </p:sp>
      <p:sp>
        <p:nvSpPr>
          <p:cNvPr id="24" name="Text 22"/>
          <p:cNvSpPr/>
          <p:nvPr/>
        </p:nvSpPr>
        <p:spPr>
          <a:xfrm>
            <a:off x="4773168" y="1773936"/>
            <a:ext cx="3840480" cy="1188720"/>
          </a:xfrm>
          <a:prstGeom prst="rect">
            <a:avLst/>
          </a:prstGeom>
          <a:noFill/>
          <a:ln/>
        </p:spPr>
        <p:txBody>
          <a:bodyPr wrap="square" lIns="0" tIns="0" rIns="0" bIns="0" rtlCol="0" anchor="t"/>
          <a:lstStyle/>
          <a:p>
            <a:pPr marL="0" indent="0" algn="l">
              <a:buNone/>
            </a:pPr>
            <a:r>
              <a:rPr lang="en-US" sz="1000" dirty="0">
                <a:solidFill>
                  <a:srgbClr val="333333"/>
                </a:solidFill>
                <a:latin typeface="Calibri" pitchFamily="34" charset="0"/>
                <a:ea typeface="Calibri" pitchFamily="34" charset="-122"/>
                <a:cs typeface="Calibri" pitchFamily="34" charset="-120"/>
              </a:rPr>
              <a:t>The single most important tuning parameter. Controls how sharply weights decline with distance:</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 p = 1  →  linear decay — distant points retain meaningful influence</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 p = 2  →  quadratic decay — standard default, recommended for most uses</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 p → ∞  →  converges to nearest-neighbour interpolation</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Higher p = more local, more pronounced bull's-eye artefact.</a:t>
            </a:r>
            <a:endParaRPr lang="en-US" sz="1000" dirty="0"/>
          </a:p>
        </p:txBody>
      </p:sp>
      <p:sp>
        <p:nvSpPr>
          <p:cNvPr id="25" name="Text 23"/>
          <p:cNvSpPr/>
          <p:nvPr/>
        </p:nvSpPr>
        <p:spPr>
          <a:xfrm>
            <a:off x="4773168" y="3035808"/>
            <a:ext cx="3840480" cy="201168"/>
          </a:xfrm>
          <a:prstGeom prst="rect">
            <a:avLst/>
          </a:prstGeom>
          <a:noFill/>
          <a:ln/>
        </p:spPr>
        <p:txBody>
          <a:bodyPr wrap="square" lIns="0" tIns="0" rIns="0" bIns="0" rtlCol="0" anchor="t"/>
          <a:lstStyle/>
          <a:p>
            <a:pPr marL="0" indent="0" algn="l">
              <a:buNone/>
            </a:pPr>
            <a:r>
              <a:rPr lang="en-US" sz="1100" b="1" dirty="0">
                <a:solidFill>
                  <a:srgbClr val="24436A"/>
                </a:solidFill>
                <a:latin typeface="Calibri" pitchFamily="34" charset="0"/>
                <a:ea typeface="Calibri" pitchFamily="34" charset="-122"/>
                <a:cs typeface="Calibri" pitchFamily="34" charset="-120"/>
              </a:rPr>
              <a:t>Search neighbourhood</a:t>
            </a:r>
            <a:endParaRPr lang="en-US" sz="1100" dirty="0"/>
          </a:p>
        </p:txBody>
      </p:sp>
      <p:sp>
        <p:nvSpPr>
          <p:cNvPr id="26" name="Text 24"/>
          <p:cNvSpPr/>
          <p:nvPr/>
        </p:nvSpPr>
        <p:spPr>
          <a:xfrm>
            <a:off x="4773168" y="3255264"/>
            <a:ext cx="3840480" cy="822960"/>
          </a:xfrm>
          <a:prstGeom prst="rect">
            <a:avLst/>
          </a:prstGeom>
          <a:noFill/>
          <a:ln/>
        </p:spPr>
        <p:txBody>
          <a:bodyPr wrap="square" lIns="0" tIns="0" rIns="0" bIns="0" rtlCol="0" anchor="t"/>
          <a:lstStyle/>
          <a:p>
            <a:pPr marL="0" indent="0" algn="l">
              <a:buNone/>
            </a:pPr>
            <a:r>
              <a:rPr lang="en-US" sz="1000" dirty="0">
                <a:solidFill>
                  <a:srgbClr val="333333"/>
                </a:solidFill>
                <a:latin typeface="Calibri" pitchFamily="34" charset="0"/>
                <a:ea typeface="Calibri" pitchFamily="34" charset="-122"/>
                <a:cs typeface="Calibri" pitchFamily="34" charset="-120"/>
              </a:rPr>
              <a:t>Can be fixed radius or variable (k nearest neighbours).</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Using all points is mathematically exact but computationally expensive for large datasets. A limited search radius avoids influence of distant, irrelevant observations and improves speed significantly.</a:t>
            </a:r>
            <a:endParaRPr lang="en-US" sz="1000" dirty="0"/>
          </a:p>
        </p:txBody>
      </p:sp>
      <p:sp>
        <p:nvSpPr>
          <p:cNvPr id="27" name="Text 25"/>
          <p:cNvSpPr/>
          <p:nvPr/>
        </p:nvSpPr>
        <p:spPr>
          <a:xfrm>
            <a:off x="4773168" y="4151376"/>
            <a:ext cx="3840480" cy="201168"/>
          </a:xfrm>
          <a:prstGeom prst="rect">
            <a:avLst/>
          </a:prstGeom>
          <a:noFill/>
          <a:ln/>
        </p:spPr>
        <p:txBody>
          <a:bodyPr wrap="square" lIns="0" tIns="0" rIns="0" bIns="0" rtlCol="0" anchor="t"/>
          <a:lstStyle/>
          <a:p>
            <a:pPr marL="0" indent="0" algn="l">
              <a:buNone/>
            </a:pPr>
            <a:r>
              <a:rPr lang="en-US" sz="1100" b="1" dirty="0">
                <a:solidFill>
                  <a:srgbClr val="24436A"/>
                </a:solidFill>
                <a:latin typeface="Calibri" pitchFamily="34" charset="0"/>
                <a:ea typeface="Calibri" pitchFamily="34" charset="-122"/>
                <a:cs typeface="Calibri" pitchFamily="34" charset="-120"/>
              </a:rPr>
              <a:t>Minimum neighbours</a:t>
            </a:r>
            <a:endParaRPr lang="en-US" sz="1100" dirty="0"/>
          </a:p>
        </p:txBody>
      </p:sp>
      <p:sp>
        <p:nvSpPr>
          <p:cNvPr id="28" name="Text 26"/>
          <p:cNvSpPr/>
          <p:nvPr/>
        </p:nvSpPr>
        <p:spPr>
          <a:xfrm>
            <a:off x="4700016" y="4334256"/>
            <a:ext cx="3840480" cy="731520"/>
          </a:xfrm>
          <a:prstGeom prst="rect">
            <a:avLst/>
          </a:prstGeom>
          <a:noFill/>
          <a:ln/>
        </p:spPr>
        <p:txBody>
          <a:bodyPr wrap="square" lIns="0" tIns="0" rIns="0" bIns="0" rtlCol="0" anchor="t"/>
          <a:lstStyle/>
          <a:p>
            <a:pPr marL="0" indent="0" algn="l">
              <a:buNone/>
            </a:pPr>
            <a:r>
              <a:rPr lang="en-US" sz="1000" dirty="0">
                <a:solidFill>
                  <a:srgbClr val="333333"/>
                </a:solidFill>
                <a:latin typeface="Calibri" pitchFamily="34" charset="0"/>
                <a:ea typeface="Calibri" pitchFamily="34" charset="-122"/>
                <a:cs typeface="Calibri" pitchFamily="34" charset="-120"/>
              </a:rPr>
              <a:t>Sets a floor on how many sample points must be found within the search radius before a prediction is made. Prevents unreliable single-point predictions in data-sparse areas. Typically 3–10.</a:t>
            </a:r>
            <a:endParaRPr lang="en-US" sz="1000" dirty="0"/>
          </a:p>
        </p:txBody>
      </p:sp>
      <p:sp>
        <p:nvSpPr>
          <p:cNvPr id="29" name="Text 27"/>
          <p:cNvSpPr/>
          <p:nvPr/>
        </p:nvSpPr>
        <p:spPr>
          <a:xfrm>
            <a:off x="4773168" y="5175504"/>
            <a:ext cx="3840480" cy="201168"/>
          </a:xfrm>
          <a:prstGeom prst="rect">
            <a:avLst/>
          </a:prstGeom>
          <a:noFill/>
          <a:ln/>
        </p:spPr>
        <p:txBody>
          <a:bodyPr wrap="square" lIns="0" tIns="0" rIns="0" bIns="0" rtlCol="0" anchor="t"/>
          <a:lstStyle/>
          <a:p>
            <a:pPr marL="0" indent="0" algn="l">
              <a:buNone/>
            </a:pPr>
            <a:r>
              <a:rPr lang="en-US" sz="1100" b="1" dirty="0">
                <a:solidFill>
                  <a:srgbClr val="24436A"/>
                </a:solidFill>
                <a:latin typeface="Calibri" pitchFamily="34" charset="0"/>
                <a:ea typeface="Calibri" pitchFamily="34" charset="-122"/>
                <a:cs typeface="Calibri" pitchFamily="34" charset="-120"/>
              </a:rPr>
              <a:t>Bull's-eye effect</a:t>
            </a:r>
            <a:endParaRPr lang="en-US" sz="1100" dirty="0"/>
          </a:p>
        </p:txBody>
      </p:sp>
      <p:sp>
        <p:nvSpPr>
          <p:cNvPr id="30" name="Text 28"/>
          <p:cNvSpPr/>
          <p:nvPr/>
        </p:nvSpPr>
        <p:spPr>
          <a:xfrm>
            <a:off x="4773168" y="5394960"/>
            <a:ext cx="3840480" cy="566928"/>
          </a:xfrm>
          <a:prstGeom prst="rect">
            <a:avLst/>
          </a:prstGeom>
          <a:noFill/>
          <a:ln/>
        </p:spPr>
        <p:txBody>
          <a:bodyPr wrap="square" lIns="0" tIns="0" rIns="0" bIns="0" rtlCol="0" anchor="t"/>
          <a:lstStyle/>
          <a:p>
            <a:pPr marL="0" indent="0" algn="l">
              <a:buNone/>
            </a:pPr>
            <a:r>
              <a:rPr lang="en-US" sz="1000" dirty="0">
                <a:solidFill>
                  <a:srgbClr val="333333"/>
                </a:solidFill>
                <a:latin typeface="Calibri" pitchFamily="34" charset="0"/>
                <a:ea typeface="Calibri" pitchFamily="34" charset="-122"/>
                <a:cs typeface="Calibri" pitchFamily="34" charset="-120"/>
              </a:rPr>
              <a:t>A visual artefact where isolated extreme values create concentric rings of predicted values around sample points. Worsens with higher p or sparser, more clustered data. Minimised by lower p or a wider search radius.</a:t>
            </a:r>
            <a:endParaRPr lang="en-US" sz="1000" dirty="0"/>
          </a:p>
        </p:txBody>
      </p:sp>
      <p:sp>
        <p:nvSpPr>
          <p:cNvPr id="31" name="Shape 29"/>
          <p:cNvSpPr/>
          <p:nvPr/>
        </p:nvSpPr>
        <p:spPr>
          <a:xfrm>
            <a:off x="4773168" y="4572000"/>
            <a:ext cx="3840480" cy="0"/>
          </a:xfrm>
          <a:prstGeom prst="line">
            <a:avLst/>
          </a:prstGeom>
          <a:noFill/>
          <a:ln w="7620">
            <a:solidFill>
              <a:srgbClr val="8EB4D8"/>
            </a:solidFill>
            <a:prstDash val="solid"/>
          </a:ln>
        </p:spPr>
        <p:txBody>
          <a:bodyPr/>
          <a:lstStyle/>
          <a:p>
            <a:endParaRPr lang="he-IL"/>
          </a:p>
        </p:txBody>
      </p:sp>
      <p:sp>
        <p:nvSpPr>
          <p:cNvPr id="33" name="Shape 31"/>
          <p:cNvSpPr/>
          <p:nvPr/>
        </p:nvSpPr>
        <p:spPr>
          <a:xfrm>
            <a:off x="256032" y="4919472"/>
            <a:ext cx="8631936" cy="201168"/>
          </a:xfrm>
          <a:prstGeom prst="rect">
            <a:avLst/>
          </a:prstGeom>
          <a:solidFill>
            <a:srgbClr val="EDE8E0"/>
          </a:solidFill>
          <a:ln w="12700">
            <a:solidFill>
              <a:srgbClr val="D0C8BC"/>
            </a:solidFill>
            <a:prstDash val="solid"/>
          </a:ln>
        </p:spPr>
        <p:txBody>
          <a:bodyPr/>
          <a:lstStyle/>
          <a:p>
            <a:r>
              <a:rPr lang="sv-SE" sz="1100" dirty="0"/>
              <a:t>https://doc.esri.com/en/arcgis-pro/latest/help/analysis/geostatistical-analyst/how-inverse-distance-weighted-interpolation-works.html</a:t>
            </a:r>
            <a:endParaRPr lang="he-IL" sz="1100" dirty="0"/>
          </a:p>
        </p:txBody>
      </p:sp>
      <p:sp>
        <p:nvSpPr>
          <p:cNvPr id="34" name="Text 32"/>
          <p:cNvSpPr/>
          <p:nvPr/>
        </p:nvSpPr>
        <p:spPr>
          <a:xfrm>
            <a:off x="365760" y="4919472"/>
            <a:ext cx="8412480" cy="201168"/>
          </a:xfrm>
          <a:prstGeom prst="rect">
            <a:avLst/>
          </a:prstGeom>
          <a:noFill/>
          <a:ln/>
        </p:spPr>
        <p:txBody>
          <a:bodyPr wrap="square" lIns="0" tIns="0" rIns="0" bIns="0" rtlCol="0" anchor="ctr"/>
          <a:lstStyle/>
          <a:p>
            <a:pPr marL="0" indent="0" algn="l">
              <a:buNone/>
            </a:pPr>
            <a:endParaRPr lang="en-US" sz="750" dirty="0"/>
          </a:p>
        </p:txBody>
      </p:sp>
      <p:pic>
        <p:nvPicPr>
          <p:cNvPr id="36" name="Picture 35">
            <a:extLst>
              <a:ext uri="{FF2B5EF4-FFF2-40B4-BE49-F238E27FC236}">
                <a16:creationId xmlns:a16="http://schemas.microsoft.com/office/drawing/2014/main" id="{8BA50AE0-834E-3D80-5AF7-38E705B5FADD}"/>
              </a:ext>
            </a:extLst>
          </p:cNvPr>
          <p:cNvPicPr>
            <a:picLocks noChangeAspect="1"/>
          </p:cNvPicPr>
          <p:nvPr/>
        </p:nvPicPr>
        <p:blipFill>
          <a:blip r:embed="rId3"/>
          <a:stretch>
            <a:fillRect/>
          </a:stretch>
        </p:blipFill>
        <p:spPr>
          <a:xfrm>
            <a:off x="6791087" y="155448"/>
            <a:ext cx="2196203" cy="771922"/>
          </a:xfrm>
          <a:prstGeom prst="rect">
            <a:avLst/>
          </a:prstGeom>
        </p:spPr>
      </p:pic>
      <p:pic>
        <p:nvPicPr>
          <p:cNvPr id="9218" name="Picture 2" descr="Search Neighborhood illustration">
            <a:extLst>
              <a:ext uri="{FF2B5EF4-FFF2-40B4-BE49-F238E27FC236}">
                <a16:creationId xmlns:a16="http://schemas.microsoft.com/office/drawing/2014/main" id="{04B692D3-9AAF-8E1B-80C9-726A3DA6B9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2286" y="105826"/>
            <a:ext cx="797970" cy="9372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3B6B9E"/>
          </a:solidFill>
          <a:ln w="12700">
            <a:solidFill>
              <a:srgbClr val="3B6B9E"/>
            </a:solidFill>
            <a:prstDash val="solid"/>
          </a:ln>
        </p:spPr>
        <p:txBody>
          <a:bodyPr/>
          <a:lstStyle/>
          <a:p>
            <a:endParaRPr lang="he-IL"/>
          </a:p>
        </p:txBody>
      </p:sp>
      <p:sp>
        <p:nvSpPr>
          <p:cNvPr id="3" name="Shape 1"/>
          <p:cNvSpPr/>
          <p:nvPr/>
        </p:nvSpPr>
        <p:spPr>
          <a:xfrm>
            <a:off x="256032" y="0"/>
            <a:ext cx="8887968" cy="1078992"/>
          </a:xfrm>
          <a:prstGeom prst="rect">
            <a:avLst/>
          </a:prstGeom>
          <a:solidFill>
            <a:srgbClr val="24436A"/>
          </a:solidFill>
          <a:ln w="12700">
            <a:solidFill>
              <a:srgbClr val="24436A"/>
            </a:solidFill>
            <a:prstDash val="solid"/>
          </a:ln>
        </p:spPr>
        <p:txBody>
          <a:bodyPr/>
          <a:lstStyle/>
          <a:p>
            <a:endParaRPr lang="he-IL"/>
          </a:p>
        </p:txBody>
      </p:sp>
      <p:sp>
        <p:nvSpPr>
          <p:cNvPr id="4" name="Shape 2"/>
          <p:cNvSpPr/>
          <p:nvPr/>
        </p:nvSpPr>
        <p:spPr>
          <a:xfrm>
            <a:off x="420624" y="164592"/>
            <a:ext cx="475488" cy="475488"/>
          </a:xfrm>
          <a:prstGeom prst="rect">
            <a:avLst/>
          </a:prstGeom>
          <a:solidFill>
            <a:srgbClr val="3B6B9E"/>
          </a:solidFill>
          <a:ln w="12700">
            <a:solidFill>
              <a:srgbClr val="3B6B9E"/>
            </a:solidFill>
            <a:prstDash val="solid"/>
          </a:ln>
        </p:spPr>
        <p:txBody>
          <a:bodyPr/>
          <a:lstStyle/>
          <a:p>
            <a:endParaRPr lang="he-IL"/>
          </a:p>
        </p:txBody>
      </p:sp>
      <p:sp>
        <p:nvSpPr>
          <p:cNvPr id="5" name="Text 3"/>
          <p:cNvSpPr/>
          <p:nvPr/>
        </p:nvSpPr>
        <p:spPr>
          <a:xfrm>
            <a:off x="420624" y="164592"/>
            <a:ext cx="475488" cy="4754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IDW</a:t>
            </a:r>
            <a:endParaRPr lang="en-US" sz="900" dirty="0"/>
          </a:p>
        </p:txBody>
      </p:sp>
      <p:sp>
        <p:nvSpPr>
          <p:cNvPr id="6" name="Text 4"/>
          <p:cNvSpPr/>
          <p:nvPr/>
        </p:nvSpPr>
        <p:spPr>
          <a:xfrm>
            <a:off x="1005840" y="118872"/>
            <a:ext cx="7132320" cy="438912"/>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Inverse Distance Weighting</a:t>
            </a:r>
            <a:endParaRPr lang="en-US" sz="2800" dirty="0"/>
          </a:p>
        </p:txBody>
      </p:sp>
      <p:sp>
        <p:nvSpPr>
          <p:cNvPr id="7" name="Text 5"/>
          <p:cNvSpPr/>
          <p:nvPr/>
        </p:nvSpPr>
        <p:spPr>
          <a:xfrm>
            <a:off x="1005840" y="585216"/>
            <a:ext cx="7132320" cy="256032"/>
          </a:xfrm>
          <a:prstGeom prst="rect">
            <a:avLst/>
          </a:prstGeom>
          <a:noFill/>
          <a:ln/>
        </p:spPr>
        <p:txBody>
          <a:bodyPr wrap="square" lIns="0" tIns="0" rIns="0" bIns="0" rtlCol="0" anchor="ctr"/>
          <a:lstStyle/>
          <a:p>
            <a:pPr marL="0" indent="0" algn="l">
              <a:buNone/>
            </a:pPr>
            <a:r>
              <a:rPr lang="en-US" sz="1100" i="1" dirty="0">
                <a:solidFill>
                  <a:srgbClr val="8EB4D8"/>
                </a:solidFill>
                <a:latin typeface="Calibri" pitchFamily="34" charset="0"/>
                <a:ea typeface="Calibri" pitchFamily="34" charset="-122"/>
                <a:cs typeface="Calibri" pitchFamily="34" charset="-120"/>
              </a:rPr>
              <a:t>✦  When to use IDW, when to prefer Kriging, and a side-by-side comparison</a:t>
            </a:r>
            <a:endParaRPr lang="en-US" sz="1100" dirty="0"/>
          </a:p>
        </p:txBody>
      </p:sp>
      <p:sp>
        <p:nvSpPr>
          <p:cNvPr id="8" name="Shape 6"/>
          <p:cNvSpPr/>
          <p:nvPr/>
        </p:nvSpPr>
        <p:spPr>
          <a:xfrm>
            <a:off x="420624" y="1152144"/>
            <a:ext cx="4096512" cy="274320"/>
          </a:xfrm>
          <a:prstGeom prst="rect">
            <a:avLst/>
          </a:prstGeom>
          <a:solidFill>
            <a:srgbClr val="2E7D6B"/>
          </a:solidFill>
          <a:ln w="12700">
            <a:solidFill>
              <a:srgbClr val="2E7D6B"/>
            </a:solidFill>
            <a:prstDash val="solid"/>
          </a:ln>
        </p:spPr>
        <p:txBody>
          <a:bodyPr/>
          <a:lstStyle/>
          <a:p>
            <a:endParaRPr lang="he-IL"/>
          </a:p>
        </p:txBody>
      </p:sp>
      <p:sp>
        <p:nvSpPr>
          <p:cNvPr id="9" name="Text 7"/>
          <p:cNvSpPr/>
          <p:nvPr/>
        </p:nvSpPr>
        <p:spPr>
          <a:xfrm>
            <a:off x="420624" y="1152144"/>
            <a:ext cx="4096512"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Use IDW When</a:t>
            </a:r>
            <a:endParaRPr lang="en-US" sz="1100" dirty="0"/>
          </a:p>
        </p:txBody>
      </p:sp>
      <p:sp>
        <p:nvSpPr>
          <p:cNvPr id="10" name="Shape 8"/>
          <p:cNvSpPr/>
          <p:nvPr/>
        </p:nvSpPr>
        <p:spPr>
          <a:xfrm>
            <a:off x="420624" y="1426464"/>
            <a:ext cx="4096512" cy="2084832"/>
          </a:xfrm>
          <a:prstGeom prst="rect">
            <a:avLst/>
          </a:prstGeom>
          <a:solidFill>
            <a:srgbClr val="D4EDE4"/>
          </a:solidFill>
          <a:ln w="12700">
            <a:solidFill>
              <a:srgbClr val="D4EDE4"/>
            </a:solidFill>
            <a:prstDash val="solid"/>
          </a:ln>
          <a:effectLst>
            <a:outerShdw blurRad="88900" dist="25400" dir="8100000" algn="bl" rotWithShape="0">
              <a:srgbClr val="000000">
                <a:alpha val="10000"/>
              </a:srgbClr>
            </a:outerShdw>
          </a:effectLst>
        </p:spPr>
        <p:txBody>
          <a:bodyPr/>
          <a:lstStyle/>
          <a:p>
            <a:endParaRPr lang="he-IL"/>
          </a:p>
        </p:txBody>
      </p:sp>
      <p:sp>
        <p:nvSpPr>
          <p:cNvPr id="11" name="Text 9"/>
          <p:cNvSpPr/>
          <p:nvPr/>
        </p:nvSpPr>
        <p:spPr>
          <a:xfrm>
            <a:off x="548640" y="1554480"/>
            <a:ext cx="3840480" cy="420624"/>
          </a:xfrm>
          <a:prstGeom prst="rect">
            <a:avLst/>
          </a:prstGeom>
          <a:noFill/>
          <a:ln/>
        </p:spPr>
        <p:txBody>
          <a:bodyPr wrap="square" lIns="0" tIns="0" rIns="0" bIns="0" rtlCol="0" anchor="t"/>
          <a:lstStyle/>
          <a:p>
            <a:pPr marL="342900" indent="-342900" algn="l">
              <a:buSzPct val="100000"/>
              <a:buChar char="•"/>
            </a:pPr>
            <a:r>
              <a:rPr lang="en-US" sz="1000" b="1" dirty="0">
                <a:solidFill>
                  <a:srgbClr val="1A5C4A"/>
                </a:solidFill>
                <a:latin typeface="Calibri" pitchFamily="34" charset="0"/>
                <a:ea typeface="Calibri" pitchFamily="34" charset="-122"/>
                <a:cs typeface="Calibri" pitchFamily="34" charset="-120"/>
              </a:rPr>
              <a:t>Speed and simplicity matter</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No variogram fitting or model selection needed. Just set p and run — ideal for quick exploratory maps or fieldwork planning.</a:t>
            </a:r>
            <a:endParaRPr lang="en-US" sz="1000" dirty="0"/>
          </a:p>
        </p:txBody>
      </p:sp>
      <p:sp>
        <p:nvSpPr>
          <p:cNvPr id="12" name="Text 10"/>
          <p:cNvSpPr/>
          <p:nvPr/>
        </p:nvSpPr>
        <p:spPr>
          <a:xfrm>
            <a:off x="548640" y="2011680"/>
            <a:ext cx="3840480" cy="420624"/>
          </a:xfrm>
          <a:prstGeom prst="rect">
            <a:avLst/>
          </a:prstGeom>
          <a:noFill/>
          <a:ln/>
        </p:spPr>
        <p:txBody>
          <a:bodyPr wrap="square" lIns="0" tIns="0" rIns="0" bIns="0" rtlCol="0" anchor="t"/>
          <a:lstStyle/>
          <a:p>
            <a:pPr marL="342900" indent="-342900" algn="l">
              <a:buSzPct val="100000"/>
              <a:buChar char="•"/>
            </a:pPr>
            <a:r>
              <a:rPr lang="en-US" sz="1000" b="1" dirty="0">
                <a:solidFill>
                  <a:srgbClr val="1A5C4A"/>
                </a:solidFill>
                <a:latin typeface="Calibri" pitchFamily="34" charset="0"/>
                <a:ea typeface="Calibri" pitchFamily="34" charset="-122"/>
                <a:cs typeface="Calibri" pitchFamily="34" charset="-120"/>
              </a:rPr>
              <a:t>Dense, uniform sampling</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Bull's-eye artefacts are minimal when samples are abundant and evenly distributed. IDW performs comparably to kriging.</a:t>
            </a:r>
            <a:endParaRPr lang="en-US" sz="1000" dirty="0"/>
          </a:p>
        </p:txBody>
      </p:sp>
      <p:sp>
        <p:nvSpPr>
          <p:cNvPr id="13" name="Text 11"/>
          <p:cNvSpPr/>
          <p:nvPr/>
        </p:nvSpPr>
        <p:spPr>
          <a:xfrm>
            <a:off x="548640" y="2468880"/>
            <a:ext cx="3840480" cy="420624"/>
          </a:xfrm>
          <a:prstGeom prst="rect">
            <a:avLst/>
          </a:prstGeom>
          <a:noFill/>
          <a:ln/>
        </p:spPr>
        <p:txBody>
          <a:bodyPr wrap="square" lIns="0" tIns="0" rIns="0" bIns="0" rtlCol="0" anchor="t"/>
          <a:lstStyle/>
          <a:p>
            <a:pPr marL="342900" indent="-342900" algn="l">
              <a:buSzPct val="100000"/>
              <a:buChar char="•"/>
            </a:pPr>
            <a:r>
              <a:rPr lang="en-US" sz="1000" b="1" dirty="0">
                <a:solidFill>
                  <a:srgbClr val="1A5C4A"/>
                </a:solidFill>
                <a:latin typeface="Calibri" pitchFamily="34" charset="0"/>
                <a:ea typeface="Calibri" pitchFamily="34" charset="-122"/>
                <a:cs typeface="Calibri" pitchFamily="34" charset="-120"/>
              </a:rPr>
              <a:t>Uncertainty is not required</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When the interpolated map is the final output and no confidence intervals or probability surfaces are needed.</a:t>
            </a:r>
            <a:endParaRPr lang="en-US" sz="1000" dirty="0"/>
          </a:p>
        </p:txBody>
      </p:sp>
      <p:sp>
        <p:nvSpPr>
          <p:cNvPr id="14" name="Text 12"/>
          <p:cNvSpPr/>
          <p:nvPr/>
        </p:nvSpPr>
        <p:spPr>
          <a:xfrm>
            <a:off x="548640" y="2926080"/>
            <a:ext cx="3840480" cy="420624"/>
          </a:xfrm>
          <a:prstGeom prst="rect">
            <a:avLst/>
          </a:prstGeom>
          <a:noFill/>
          <a:ln/>
        </p:spPr>
        <p:txBody>
          <a:bodyPr wrap="square" lIns="0" tIns="0" rIns="0" bIns="0" rtlCol="0" anchor="t"/>
          <a:lstStyle/>
          <a:p>
            <a:pPr marL="342900" indent="-342900" algn="l">
              <a:buSzPct val="100000"/>
              <a:buChar char="•"/>
            </a:pPr>
            <a:r>
              <a:rPr lang="en-US" sz="1000" b="1" dirty="0">
                <a:solidFill>
                  <a:srgbClr val="1A5C4A"/>
                </a:solidFill>
                <a:latin typeface="Calibri" pitchFamily="34" charset="0"/>
                <a:ea typeface="Calibri" pitchFamily="34" charset="-122"/>
                <a:cs typeface="Calibri" pitchFamily="34" charset="-120"/>
              </a:rPr>
              <a:t>Only standard GIS is available</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IDW is built into ArcGIS, QGIS, GRASS, and every major GIS package. No specialist geostatistical library needed.</a:t>
            </a:r>
            <a:endParaRPr lang="en-US" sz="1000" dirty="0"/>
          </a:p>
        </p:txBody>
      </p:sp>
      <p:sp>
        <p:nvSpPr>
          <p:cNvPr id="15" name="Shape 13"/>
          <p:cNvSpPr/>
          <p:nvPr/>
        </p:nvSpPr>
        <p:spPr>
          <a:xfrm>
            <a:off x="4645152" y="1152144"/>
            <a:ext cx="4096512" cy="274320"/>
          </a:xfrm>
          <a:prstGeom prst="rect">
            <a:avLst/>
          </a:prstGeom>
          <a:solidFill>
            <a:srgbClr val="922B21"/>
          </a:solidFill>
          <a:ln w="12700">
            <a:solidFill>
              <a:srgbClr val="922B21"/>
            </a:solidFill>
            <a:prstDash val="solid"/>
          </a:ln>
        </p:spPr>
        <p:txBody>
          <a:bodyPr/>
          <a:lstStyle/>
          <a:p>
            <a:endParaRPr lang="he-IL"/>
          </a:p>
        </p:txBody>
      </p:sp>
      <p:sp>
        <p:nvSpPr>
          <p:cNvPr id="16" name="Text 14"/>
          <p:cNvSpPr/>
          <p:nvPr/>
        </p:nvSpPr>
        <p:spPr>
          <a:xfrm>
            <a:off x="4645152" y="1152144"/>
            <a:ext cx="4096512"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Avoid IDW When</a:t>
            </a:r>
            <a:endParaRPr lang="en-US" sz="1100" dirty="0"/>
          </a:p>
        </p:txBody>
      </p:sp>
      <p:sp>
        <p:nvSpPr>
          <p:cNvPr id="17" name="Shape 15"/>
          <p:cNvSpPr/>
          <p:nvPr/>
        </p:nvSpPr>
        <p:spPr>
          <a:xfrm>
            <a:off x="4645152" y="1426464"/>
            <a:ext cx="4096512" cy="2084832"/>
          </a:xfrm>
          <a:prstGeom prst="rect">
            <a:avLst/>
          </a:prstGeom>
          <a:solidFill>
            <a:srgbClr val="FADBD8"/>
          </a:solidFill>
          <a:ln w="12700">
            <a:solidFill>
              <a:srgbClr val="FADBD8"/>
            </a:solidFill>
            <a:prstDash val="solid"/>
          </a:ln>
          <a:effectLst>
            <a:outerShdw blurRad="88900" dist="25400" dir="8100000" algn="bl" rotWithShape="0">
              <a:srgbClr val="000000">
                <a:alpha val="10000"/>
              </a:srgbClr>
            </a:outerShdw>
          </a:effectLst>
        </p:spPr>
        <p:txBody>
          <a:bodyPr/>
          <a:lstStyle/>
          <a:p>
            <a:endParaRPr lang="he-IL"/>
          </a:p>
        </p:txBody>
      </p:sp>
      <p:sp>
        <p:nvSpPr>
          <p:cNvPr id="18" name="Text 16"/>
          <p:cNvSpPr/>
          <p:nvPr/>
        </p:nvSpPr>
        <p:spPr>
          <a:xfrm>
            <a:off x="4773168" y="1554480"/>
            <a:ext cx="3840480" cy="420624"/>
          </a:xfrm>
          <a:prstGeom prst="rect">
            <a:avLst/>
          </a:prstGeom>
          <a:noFill/>
          <a:ln/>
        </p:spPr>
        <p:txBody>
          <a:bodyPr wrap="square" lIns="0" tIns="0" rIns="0" bIns="0" rtlCol="0" anchor="t"/>
          <a:lstStyle/>
          <a:p>
            <a:pPr marL="342900" indent="-342900" algn="l">
              <a:buSzPct val="100000"/>
              <a:buChar char="•"/>
            </a:pPr>
            <a:r>
              <a:rPr lang="en-US" sz="1000" b="1" dirty="0">
                <a:solidFill>
                  <a:srgbClr val="8B1A14"/>
                </a:solidFill>
                <a:latin typeface="Calibri" pitchFamily="34" charset="0"/>
                <a:ea typeface="Calibri" pitchFamily="34" charset="-122"/>
                <a:cs typeface="Calibri" pitchFamily="34" charset="-120"/>
              </a:rPr>
              <a:t>Uncertainty maps are needed</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IDW produces no error estimate. For confidence intervals, risk maps, or probability surfaces, use Kriging.</a:t>
            </a:r>
            <a:endParaRPr lang="en-US" sz="1000" dirty="0"/>
          </a:p>
        </p:txBody>
      </p:sp>
      <p:sp>
        <p:nvSpPr>
          <p:cNvPr id="19" name="Text 17"/>
          <p:cNvSpPr/>
          <p:nvPr/>
        </p:nvSpPr>
        <p:spPr>
          <a:xfrm>
            <a:off x="4773168" y="2011680"/>
            <a:ext cx="3840480" cy="420624"/>
          </a:xfrm>
          <a:prstGeom prst="rect">
            <a:avLst/>
          </a:prstGeom>
          <a:noFill/>
          <a:ln/>
        </p:spPr>
        <p:txBody>
          <a:bodyPr wrap="square" lIns="0" tIns="0" rIns="0" bIns="0" rtlCol="0" anchor="t"/>
          <a:lstStyle/>
          <a:p>
            <a:pPr marL="342900" indent="-342900" algn="l">
              <a:buSzPct val="100000"/>
              <a:buChar char="•"/>
            </a:pPr>
            <a:r>
              <a:rPr lang="en-US" sz="1000" b="1" dirty="0">
                <a:solidFill>
                  <a:srgbClr val="8B1A14"/>
                </a:solidFill>
                <a:latin typeface="Calibri" pitchFamily="34" charset="0"/>
                <a:ea typeface="Calibri" pitchFamily="34" charset="-122"/>
                <a:cs typeface="Calibri" pitchFamily="34" charset="-120"/>
              </a:rPr>
              <a:t>Spatial structure should be modelled</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IDW ignores autocorrelation. If the data show a clear variogram structure (range, sill, nugget), Kriging outperforms IDW.</a:t>
            </a:r>
            <a:endParaRPr lang="en-US" sz="1000" dirty="0"/>
          </a:p>
        </p:txBody>
      </p:sp>
      <p:sp>
        <p:nvSpPr>
          <p:cNvPr id="20" name="Text 18"/>
          <p:cNvSpPr/>
          <p:nvPr/>
        </p:nvSpPr>
        <p:spPr>
          <a:xfrm>
            <a:off x="4773168" y="2468880"/>
            <a:ext cx="3840480" cy="420624"/>
          </a:xfrm>
          <a:prstGeom prst="rect">
            <a:avLst/>
          </a:prstGeom>
          <a:noFill/>
          <a:ln/>
        </p:spPr>
        <p:txBody>
          <a:bodyPr wrap="square" lIns="0" tIns="0" rIns="0" bIns="0" rtlCol="0" anchor="t"/>
          <a:lstStyle/>
          <a:p>
            <a:pPr marL="342900" indent="-342900" algn="l">
              <a:buSzPct val="100000"/>
              <a:buChar char="•"/>
            </a:pPr>
            <a:r>
              <a:rPr lang="en-US" sz="1000" b="1" dirty="0">
                <a:solidFill>
                  <a:srgbClr val="8B1A14"/>
                </a:solidFill>
                <a:latin typeface="Calibri" pitchFamily="34" charset="0"/>
                <a:ea typeface="Calibri" pitchFamily="34" charset="-122"/>
                <a:cs typeface="Calibri" pitchFamily="34" charset="-120"/>
              </a:rPr>
              <a:t>Data are sparse and clustered</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Bull's-eye artefacts dominate when samples are sparse or irregularly clustered, making predictions unreliable.</a:t>
            </a:r>
            <a:endParaRPr lang="en-US" sz="1000" dirty="0"/>
          </a:p>
        </p:txBody>
      </p:sp>
      <p:sp>
        <p:nvSpPr>
          <p:cNvPr id="21" name="Text 19"/>
          <p:cNvSpPr/>
          <p:nvPr/>
        </p:nvSpPr>
        <p:spPr>
          <a:xfrm>
            <a:off x="4773168" y="2926080"/>
            <a:ext cx="3840480" cy="420624"/>
          </a:xfrm>
          <a:prstGeom prst="rect">
            <a:avLst/>
          </a:prstGeom>
          <a:noFill/>
          <a:ln/>
        </p:spPr>
        <p:txBody>
          <a:bodyPr wrap="square" lIns="0" tIns="0" rIns="0" bIns="0" rtlCol="0" anchor="t"/>
          <a:lstStyle/>
          <a:p>
            <a:pPr marL="342900" indent="-342900" algn="l">
              <a:buSzPct val="100000"/>
              <a:buChar char="•"/>
            </a:pPr>
            <a:r>
              <a:rPr lang="en-US" sz="1000" b="1" dirty="0">
                <a:solidFill>
                  <a:srgbClr val="8B1A14"/>
                </a:solidFill>
                <a:latin typeface="Calibri" pitchFamily="34" charset="0"/>
                <a:ea typeface="Calibri" pitchFamily="34" charset="-122"/>
                <a:cs typeface="Calibri" pitchFamily="34" charset="-120"/>
              </a:rPr>
              <a:t>Anisotropy is present</a:t>
            </a:r>
            <a:endParaRPr lang="en-US" sz="1000" dirty="0"/>
          </a:p>
          <a:p>
            <a:pPr marL="0" indent="0" algn="l">
              <a:buNone/>
            </a:pPr>
            <a:r>
              <a:rPr lang="en-US" sz="1000" dirty="0">
                <a:solidFill>
                  <a:srgbClr val="333333"/>
                </a:solidFill>
                <a:latin typeface="Calibri" pitchFamily="34" charset="0"/>
                <a:ea typeface="Calibri" pitchFamily="34" charset="-122"/>
                <a:cs typeface="Calibri" pitchFamily="34" charset="-120"/>
              </a:rPr>
              <a:t>IDW weights equally in all directions. If spatial correlation varies by direction (e.g., downwind), use Universal Kriging.</a:t>
            </a:r>
            <a:endParaRPr lang="en-US" sz="1000" dirty="0"/>
          </a:p>
        </p:txBody>
      </p:sp>
      <p:sp>
        <p:nvSpPr>
          <p:cNvPr id="22" name="Shape 20"/>
          <p:cNvSpPr/>
          <p:nvPr/>
        </p:nvSpPr>
        <p:spPr>
          <a:xfrm>
            <a:off x="420624" y="3621024"/>
            <a:ext cx="8467344" cy="237744"/>
          </a:xfrm>
          <a:prstGeom prst="rect">
            <a:avLst/>
          </a:prstGeom>
          <a:solidFill>
            <a:srgbClr val="2D3142"/>
          </a:solidFill>
          <a:ln w="12700">
            <a:solidFill>
              <a:srgbClr val="2D3142"/>
            </a:solidFill>
            <a:prstDash val="solid"/>
          </a:ln>
        </p:spPr>
        <p:txBody>
          <a:bodyPr/>
          <a:lstStyle/>
          <a:p>
            <a:endParaRPr lang="he-IL"/>
          </a:p>
        </p:txBody>
      </p:sp>
      <p:sp>
        <p:nvSpPr>
          <p:cNvPr id="23" name="Text 21"/>
          <p:cNvSpPr/>
          <p:nvPr/>
        </p:nvSpPr>
        <p:spPr>
          <a:xfrm>
            <a:off x="512064" y="3621024"/>
            <a:ext cx="8284464" cy="237744"/>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IDW vs Kriging — at a glance</a:t>
            </a:r>
            <a:endParaRPr lang="en-US" sz="1000" dirty="0"/>
          </a:p>
        </p:txBody>
      </p:sp>
      <p:sp>
        <p:nvSpPr>
          <p:cNvPr id="24" name="Shape 22"/>
          <p:cNvSpPr/>
          <p:nvPr/>
        </p:nvSpPr>
        <p:spPr>
          <a:xfrm>
            <a:off x="420624" y="3858768"/>
            <a:ext cx="1554480" cy="219456"/>
          </a:xfrm>
          <a:prstGeom prst="rect">
            <a:avLst/>
          </a:prstGeom>
          <a:solidFill>
            <a:srgbClr val="2D3142"/>
          </a:solidFill>
          <a:ln w="12700">
            <a:solidFill>
              <a:srgbClr val="2D3142"/>
            </a:solidFill>
            <a:prstDash val="solid"/>
          </a:ln>
        </p:spPr>
        <p:txBody>
          <a:bodyPr/>
          <a:lstStyle/>
          <a:p>
            <a:endParaRPr lang="he-IL"/>
          </a:p>
        </p:txBody>
      </p:sp>
      <p:sp>
        <p:nvSpPr>
          <p:cNvPr id="25" name="Text 23"/>
          <p:cNvSpPr/>
          <p:nvPr/>
        </p:nvSpPr>
        <p:spPr>
          <a:xfrm>
            <a:off x="475488" y="3858768"/>
            <a:ext cx="1499616" cy="219456"/>
          </a:xfrm>
          <a:prstGeom prst="rect">
            <a:avLst/>
          </a:prstGeom>
          <a:noFill/>
          <a:ln/>
        </p:spPr>
        <p:txBody>
          <a:bodyPr wrap="square" lIns="0" tIns="0" rIns="0" bIns="0" rtlCol="0" anchor="ctr"/>
          <a:lstStyle/>
          <a:p>
            <a:pPr marL="0" indent="0" algn="l">
              <a:buNone/>
            </a:pPr>
            <a:r>
              <a:rPr lang="en-US" sz="900" b="1" dirty="0">
                <a:solidFill>
                  <a:srgbClr val="FFFFFF"/>
                </a:solidFill>
                <a:latin typeface="Calibri" pitchFamily="34" charset="0"/>
                <a:ea typeface="Calibri" pitchFamily="34" charset="-122"/>
                <a:cs typeface="Calibri" pitchFamily="34" charset="-120"/>
              </a:rPr>
              <a:t>Aspect</a:t>
            </a:r>
            <a:endParaRPr lang="en-US" sz="900" dirty="0"/>
          </a:p>
        </p:txBody>
      </p:sp>
      <p:sp>
        <p:nvSpPr>
          <p:cNvPr id="26" name="Shape 24"/>
          <p:cNvSpPr/>
          <p:nvPr/>
        </p:nvSpPr>
        <p:spPr>
          <a:xfrm>
            <a:off x="2011680" y="3858768"/>
            <a:ext cx="3419856" cy="219456"/>
          </a:xfrm>
          <a:prstGeom prst="rect">
            <a:avLst/>
          </a:prstGeom>
          <a:solidFill>
            <a:srgbClr val="3B6B9E"/>
          </a:solidFill>
          <a:ln w="12700">
            <a:solidFill>
              <a:srgbClr val="3B6B9E"/>
            </a:solidFill>
            <a:prstDash val="solid"/>
          </a:ln>
        </p:spPr>
        <p:txBody>
          <a:bodyPr/>
          <a:lstStyle/>
          <a:p>
            <a:endParaRPr lang="he-IL"/>
          </a:p>
        </p:txBody>
      </p:sp>
      <p:sp>
        <p:nvSpPr>
          <p:cNvPr id="27" name="Text 25"/>
          <p:cNvSpPr/>
          <p:nvPr/>
        </p:nvSpPr>
        <p:spPr>
          <a:xfrm>
            <a:off x="2066544" y="3858768"/>
            <a:ext cx="3364992" cy="219456"/>
          </a:xfrm>
          <a:prstGeom prst="rect">
            <a:avLst/>
          </a:prstGeom>
          <a:noFill/>
          <a:ln/>
        </p:spPr>
        <p:txBody>
          <a:bodyPr wrap="square" lIns="0" tIns="0" rIns="0" bIns="0" rtlCol="0" anchor="ctr"/>
          <a:lstStyle/>
          <a:p>
            <a:pPr marL="0" indent="0" algn="l">
              <a:buNone/>
            </a:pPr>
            <a:r>
              <a:rPr lang="en-US" sz="900" b="1" dirty="0">
                <a:solidFill>
                  <a:srgbClr val="FFFFFF"/>
                </a:solidFill>
                <a:latin typeface="Calibri" pitchFamily="34" charset="0"/>
                <a:ea typeface="Calibri" pitchFamily="34" charset="-122"/>
                <a:cs typeface="Calibri" pitchFamily="34" charset="-120"/>
              </a:rPr>
              <a:t>IDW</a:t>
            </a:r>
            <a:endParaRPr lang="en-US" sz="900" dirty="0"/>
          </a:p>
        </p:txBody>
      </p:sp>
      <p:sp>
        <p:nvSpPr>
          <p:cNvPr id="28" name="Shape 26"/>
          <p:cNvSpPr/>
          <p:nvPr/>
        </p:nvSpPr>
        <p:spPr>
          <a:xfrm>
            <a:off x="5468112" y="3858768"/>
            <a:ext cx="3419856" cy="219456"/>
          </a:xfrm>
          <a:prstGeom prst="rect">
            <a:avLst/>
          </a:prstGeom>
          <a:solidFill>
            <a:srgbClr val="E8734A"/>
          </a:solidFill>
          <a:ln w="12700">
            <a:solidFill>
              <a:srgbClr val="E8734A"/>
            </a:solidFill>
            <a:prstDash val="solid"/>
          </a:ln>
        </p:spPr>
        <p:txBody>
          <a:bodyPr/>
          <a:lstStyle/>
          <a:p>
            <a:endParaRPr lang="he-IL"/>
          </a:p>
        </p:txBody>
      </p:sp>
      <p:sp>
        <p:nvSpPr>
          <p:cNvPr id="29" name="Text 27"/>
          <p:cNvSpPr/>
          <p:nvPr/>
        </p:nvSpPr>
        <p:spPr>
          <a:xfrm>
            <a:off x="5522976" y="3858768"/>
            <a:ext cx="3364992" cy="219456"/>
          </a:xfrm>
          <a:prstGeom prst="rect">
            <a:avLst/>
          </a:prstGeom>
          <a:noFill/>
          <a:ln/>
        </p:spPr>
        <p:txBody>
          <a:bodyPr wrap="square" lIns="0" tIns="0" rIns="0" bIns="0" rtlCol="0" anchor="ctr"/>
          <a:lstStyle/>
          <a:p>
            <a:pPr marL="0" indent="0" algn="l">
              <a:buNone/>
            </a:pPr>
            <a:r>
              <a:rPr lang="en-US" sz="900" b="1" dirty="0">
                <a:solidFill>
                  <a:srgbClr val="FFFFFF"/>
                </a:solidFill>
                <a:latin typeface="Calibri" pitchFamily="34" charset="0"/>
                <a:ea typeface="Calibri" pitchFamily="34" charset="-122"/>
                <a:cs typeface="Calibri" pitchFamily="34" charset="-120"/>
              </a:rPr>
              <a:t>Kriging (Ordinary)</a:t>
            </a:r>
            <a:endParaRPr lang="en-US" sz="900" dirty="0"/>
          </a:p>
        </p:txBody>
      </p:sp>
      <p:sp>
        <p:nvSpPr>
          <p:cNvPr id="30" name="Shape 28"/>
          <p:cNvSpPr/>
          <p:nvPr/>
        </p:nvSpPr>
        <p:spPr>
          <a:xfrm>
            <a:off x="420624" y="4078224"/>
            <a:ext cx="8467344" cy="135331"/>
          </a:xfrm>
          <a:prstGeom prst="rect">
            <a:avLst/>
          </a:prstGeom>
          <a:solidFill>
            <a:srgbClr val="EEF4FB"/>
          </a:solidFill>
          <a:ln w="3810">
            <a:solidFill>
              <a:srgbClr val="C8D8EC"/>
            </a:solidFill>
            <a:prstDash val="solid"/>
          </a:ln>
        </p:spPr>
        <p:txBody>
          <a:bodyPr/>
          <a:lstStyle/>
          <a:p>
            <a:endParaRPr lang="he-IL"/>
          </a:p>
        </p:txBody>
      </p:sp>
      <p:sp>
        <p:nvSpPr>
          <p:cNvPr id="31" name="Text 29"/>
          <p:cNvSpPr/>
          <p:nvPr/>
        </p:nvSpPr>
        <p:spPr>
          <a:xfrm>
            <a:off x="475488" y="4096512"/>
            <a:ext cx="1481328" cy="98755"/>
          </a:xfrm>
          <a:prstGeom prst="rect">
            <a:avLst/>
          </a:prstGeom>
          <a:noFill/>
          <a:ln/>
        </p:spPr>
        <p:txBody>
          <a:bodyPr wrap="square" lIns="0" tIns="0" rIns="0" bIns="0" rtlCol="0" anchor="ctr"/>
          <a:lstStyle/>
          <a:p>
            <a:pPr marL="0" indent="0" algn="l">
              <a:buNone/>
            </a:pPr>
            <a:r>
              <a:rPr lang="en-US" sz="900" b="1" dirty="0">
                <a:solidFill>
                  <a:srgbClr val="24436A"/>
                </a:solidFill>
                <a:latin typeface="Calibri" pitchFamily="34" charset="0"/>
                <a:ea typeface="Calibri" pitchFamily="34" charset="-122"/>
                <a:cs typeface="Calibri" pitchFamily="34" charset="-120"/>
              </a:rPr>
              <a:t>Theoretical basis</a:t>
            </a:r>
            <a:endParaRPr lang="en-US" sz="900" dirty="0"/>
          </a:p>
        </p:txBody>
      </p:sp>
      <p:sp>
        <p:nvSpPr>
          <p:cNvPr id="32" name="Text 30"/>
          <p:cNvSpPr/>
          <p:nvPr/>
        </p:nvSpPr>
        <p:spPr>
          <a:xfrm>
            <a:off x="2066544" y="4096512"/>
            <a:ext cx="3346704" cy="98755"/>
          </a:xfrm>
          <a:prstGeom prst="rect">
            <a:avLst/>
          </a:prstGeom>
          <a:noFill/>
          <a:ln/>
        </p:spPr>
        <p:txBody>
          <a:bodyPr wrap="square" lIns="0" tIns="0" rIns="0" bIns="0" rtlCol="0" anchor="ctr"/>
          <a:lstStyle/>
          <a:p>
            <a:pPr marL="0" indent="0" algn="l">
              <a:buNone/>
            </a:pPr>
            <a:r>
              <a:rPr lang="en-US" sz="900" dirty="0">
                <a:solidFill>
                  <a:srgbClr val="444444"/>
                </a:solidFill>
                <a:latin typeface="Calibri" pitchFamily="34" charset="0"/>
                <a:ea typeface="Calibri" pitchFamily="34" charset="-122"/>
                <a:cs typeface="Calibri" pitchFamily="34" charset="-120"/>
              </a:rPr>
              <a:t>None — heuristic distance rule</a:t>
            </a:r>
            <a:endParaRPr lang="en-US" sz="900" dirty="0"/>
          </a:p>
        </p:txBody>
      </p:sp>
      <p:sp>
        <p:nvSpPr>
          <p:cNvPr id="33" name="Text 31"/>
          <p:cNvSpPr/>
          <p:nvPr/>
        </p:nvSpPr>
        <p:spPr>
          <a:xfrm>
            <a:off x="5522976" y="4096512"/>
            <a:ext cx="3346704" cy="98755"/>
          </a:xfrm>
          <a:prstGeom prst="rect">
            <a:avLst/>
          </a:prstGeom>
          <a:noFill/>
          <a:ln/>
        </p:spPr>
        <p:txBody>
          <a:bodyPr wrap="square" lIns="0" tIns="0" rIns="0" bIns="0" rtlCol="0" anchor="ctr"/>
          <a:lstStyle/>
          <a:p>
            <a:pPr marL="0" indent="0" algn="l">
              <a:buNone/>
            </a:pPr>
            <a:r>
              <a:rPr lang="en-US" sz="900" dirty="0">
                <a:solidFill>
                  <a:srgbClr val="444444"/>
                </a:solidFill>
                <a:latin typeface="Calibri" pitchFamily="34" charset="0"/>
                <a:ea typeface="Calibri" pitchFamily="34" charset="-122"/>
                <a:cs typeface="Calibri" pitchFamily="34" charset="-120"/>
              </a:rPr>
              <a:t>Rigorous geostatistics (variogram)</a:t>
            </a:r>
            <a:endParaRPr lang="en-US" sz="900" dirty="0"/>
          </a:p>
        </p:txBody>
      </p:sp>
      <p:sp>
        <p:nvSpPr>
          <p:cNvPr id="34" name="Shape 32"/>
          <p:cNvSpPr/>
          <p:nvPr/>
        </p:nvSpPr>
        <p:spPr>
          <a:xfrm>
            <a:off x="420624" y="4213555"/>
            <a:ext cx="8467344" cy="135331"/>
          </a:xfrm>
          <a:prstGeom prst="rect">
            <a:avLst/>
          </a:prstGeom>
          <a:solidFill>
            <a:srgbClr val="F7FAFD"/>
          </a:solidFill>
          <a:ln w="3810">
            <a:solidFill>
              <a:srgbClr val="C8D8EC"/>
            </a:solidFill>
            <a:prstDash val="solid"/>
          </a:ln>
        </p:spPr>
        <p:txBody>
          <a:bodyPr/>
          <a:lstStyle/>
          <a:p>
            <a:endParaRPr lang="he-IL"/>
          </a:p>
        </p:txBody>
      </p:sp>
      <p:sp>
        <p:nvSpPr>
          <p:cNvPr id="35" name="Text 33"/>
          <p:cNvSpPr/>
          <p:nvPr/>
        </p:nvSpPr>
        <p:spPr>
          <a:xfrm>
            <a:off x="475488" y="4231843"/>
            <a:ext cx="1481328" cy="98755"/>
          </a:xfrm>
          <a:prstGeom prst="rect">
            <a:avLst/>
          </a:prstGeom>
          <a:noFill/>
          <a:ln/>
        </p:spPr>
        <p:txBody>
          <a:bodyPr wrap="square" lIns="0" tIns="0" rIns="0" bIns="0" rtlCol="0" anchor="ctr"/>
          <a:lstStyle/>
          <a:p>
            <a:pPr marL="0" indent="0" algn="l">
              <a:buNone/>
            </a:pPr>
            <a:r>
              <a:rPr lang="en-US" sz="900" b="1" dirty="0">
                <a:solidFill>
                  <a:srgbClr val="24436A"/>
                </a:solidFill>
                <a:latin typeface="Calibri" pitchFamily="34" charset="0"/>
                <a:ea typeface="Calibri" pitchFamily="34" charset="-122"/>
                <a:cs typeface="Calibri" pitchFamily="34" charset="-120"/>
              </a:rPr>
              <a:t>Uncertainty output</a:t>
            </a:r>
            <a:endParaRPr lang="en-US" sz="900" dirty="0"/>
          </a:p>
        </p:txBody>
      </p:sp>
      <p:sp>
        <p:nvSpPr>
          <p:cNvPr id="36" name="Text 34"/>
          <p:cNvSpPr/>
          <p:nvPr/>
        </p:nvSpPr>
        <p:spPr>
          <a:xfrm>
            <a:off x="2066544" y="4231843"/>
            <a:ext cx="3346704" cy="98755"/>
          </a:xfrm>
          <a:prstGeom prst="rect">
            <a:avLst/>
          </a:prstGeom>
          <a:noFill/>
          <a:ln/>
        </p:spPr>
        <p:txBody>
          <a:bodyPr wrap="square" lIns="0" tIns="0" rIns="0" bIns="0" rtlCol="0" anchor="ctr"/>
          <a:lstStyle/>
          <a:p>
            <a:pPr marL="0" indent="0" algn="l">
              <a:buNone/>
            </a:pPr>
            <a:r>
              <a:rPr lang="en-US" sz="900" dirty="0">
                <a:solidFill>
                  <a:srgbClr val="C0392B"/>
                </a:solidFill>
                <a:latin typeface="Calibri" pitchFamily="34" charset="0"/>
                <a:ea typeface="Calibri" pitchFamily="34" charset="-122"/>
                <a:cs typeface="Calibri" pitchFamily="34" charset="-120"/>
              </a:rPr>
              <a:t>✘  No uncertainty map</a:t>
            </a:r>
            <a:endParaRPr lang="en-US" sz="900" dirty="0"/>
          </a:p>
        </p:txBody>
      </p:sp>
      <p:sp>
        <p:nvSpPr>
          <p:cNvPr id="37" name="Text 35"/>
          <p:cNvSpPr/>
          <p:nvPr/>
        </p:nvSpPr>
        <p:spPr>
          <a:xfrm>
            <a:off x="5522976" y="4231843"/>
            <a:ext cx="3346704" cy="98755"/>
          </a:xfrm>
          <a:prstGeom prst="rect">
            <a:avLst/>
          </a:prstGeom>
          <a:noFill/>
          <a:ln/>
        </p:spPr>
        <p:txBody>
          <a:bodyPr wrap="square" lIns="0" tIns="0" rIns="0" bIns="0" rtlCol="0" anchor="ctr"/>
          <a:lstStyle/>
          <a:p>
            <a:pPr marL="0" indent="0" algn="l">
              <a:buNone/>
            </a:pPr>
            <a:r>
              <a:rPr lang="en-US" sz="900" dirty="0">
                <a:solidFill>
                  <a:srgbClr val="2E7D6B"/>
                </a:solidFill>
                <a:latin typeface="Calibri" pitchFamily="34" charset="0"/>
                <a:ea typeface="Calibri" pitchFamily="34" charset="-122"/>
                <a:cs typeface="Calibri" pitchFamily="34" charset="-120"/>
              </a:rPr>
              <a:t>✔  Kriging variance map produced</a:t>
            </a:r>
            <a:endParaRPr lang="en-US" sz="900" dirty="0"/>
          </a:p>
        </p:txBody>
      </p:sp>
      <p:sp>
        <p:nvSpPr>
          <p:cNvPr id="38" name="Shape 36"/>
          <p:cNvSpPr/>
          <p:nvPr/>
        </p:nvSpPr>
        <p:spPr>
          <a:xfrm>
            <a:off x="420624" y="4348886"/>
            <a:ext cx="8467344" cy="135331"/>
          </a:xfrm>
          <a:prstGeom prst="rect">
            <a:avLst/>
          </a:prstGeom>
          <a:solidFill>
            <a:srgbClr val="EEF4FB"/>
          </a:solidFill>
          <a:ln w="3810">
            <a:solidFill>
              <a:srgbClr val="C8D8EC"/>
            </a:solidFill>
            <a:prstDash val="solid"/>
          </a:ln>
        </p:spPr>
        <p:txBody>
          <a:bodyPr/>
          <a:lstStyle/>
          <a:p>
            <a:endParaRPr lang="he-IL"/>
          </a:p>
        </p:txBody>
      </p:sp>
      <p:sp>
        <p:nvSpPr>
          <p:cNvPr id="39" name="Text 37"/>
          <p:cNvSpPr/>
          <p:nvPr/>
        </p:nvSpPr>
        <p:spPr>
          <a:xfrm>
            <a:off x="475488" y="4367174"/>
            <a:ext cx="1481328" cy="98755"/>
          </a:xfrm>
          <a:prstGeom prst="rect">
            <a:avLst/>
          </a:prstGeom>
          <a:noFill/>
          <a:ln/>
        </p:spPr>
        <p:txBody>
          <a:bodyPr wrap="square" lIns="0" tIns="0" rIns="0" bIns="0" rtlCol="0" anchor="ctr"/>
          <a:lstStyle/>
          <a:p>
            <a:pPr marL="0" indent="0" algn="l">
              <a:buNone/>
            </a:pPr>
            <a:r>
              <a:rPr lang="en-US" sz="900" b="1" dirty="0">
                <a:solidFill>
                  <a:srgbClr val="24436A"/>
                </a:solidFill>
                <a:latin typeface="Calibri" pitchFamily="34" charset="0"/>
                <a:ea typeface="Calibri" pitchFamily="34" charset="-122"/>
                <a:cs typeface="Calibri" pitchFamily="34" charset="-120"/>
              </a:rPr>
              <a:t>Spatial structure</a:t>
            </a:r>
            <a:endParaRPr lang="en-US" sz="900" dirty="0"/>
          </a:p>
        </p:txBody>
      </p:sp>
      <p:sp>
        <p:nvSpPr>
          <p:cNvPr id="40" name="Text 38"/>
          <p:cNvSpPr/>
          <p:nvPr/>
        </p:nvSpPr>
        <p:spPr>
          <a:xfrm>
            <a:off x="2066544" y="4367174"/>
            <a:ext cx="3346704" cy="98755"/>
          </a:xfrm>
          <a:prstGeom prst="rect">
            <a:avLst/>
          </a:prstGeom>
          <a:noFill/>
          <a:ln/>
        </p:spPr>
        <p:txBody>
          <a:bodyPr wrap="square" lIns="0" tIns="0" rIns="0" bIns="0" rtlCol="0" anchor="ctr"/>
          <a:lstStyle/>
          <a:p>
            <a:pPr marL="0" indent="0" algn="l">
              <a:buNone/>
            </a:pPr>
            <a:r>
              <a:rPr lang="en-US" sz="900" dirty="0">
                <a:solidFill>
                  <a:srgbClr val="444444"/>
                </a:solidFill>
                <a:latin typeface="Calibri" pitchFamily="34" charset="0"/>
                <a:ea typeface="Calibri" pitchFamily="34" charset="-122"/>
                <a:cs typeface="Calibri" pitchFamily="34" charset="-120"/>
              </a:rPr>
              <a:t>Ignored</a:t>
            </a:r>
            <a:endParaRPr lang="en-US" sz="900" dirty="0"/>
          </a:p>
        </p:txBody>
      </p:sp>
      <p:sp>
        <p:nvSpPr>
          <p:cNvPr id="41" name="Text 39"/>
          <p:cNvSpPr/>
          <p:nvPr/>
        </p:nvSpPr>
        <p:spPr>
          <a:xfrm>
            <a:off x="5522976" y="4367174"/>
            <a:ext cx="3346704" cy="98755"/>
          </a:xfrm>
          <a:prstGeom prst="rect">
            <a:avLst/>
          </a:prstGeom>
          <a:noFill/>
          <a:ln/>
        </p:spPr>
        <p:txBody>
          <a:bodyPr wrap="square" lIns="0" tIns="0" rIns="0" bIns="0" rtlCol="0" anchor="ctr"/>
          <a:lstStyle/>
          <a:p>
            <a:pPr marL="0" indent="0" algn="l">
              <a:buNone/>
            </a:pPr>
            <a:r>
              <a:rPr lang="en-US" sz="900" dirty="0">
                <a:solidFill>
                  <a:srgbClr val="444444"/>
                </a:solidFill>
                <a:latin typeface="Calibri" pitchFamily="34" charset="0"/>
                <a:ea typeface="Calibri" pitchFamily="34" charset="-122"/>
                <a:cs typeface="Calibri" pitchFamily="34" charset="-120"/>
              </a:rPr>
              <a:t>Explicitly modelled via variogram</a:t>
            </a:r>
            <a:endParaRPr lang="en-US" sz="900" dirty="0"/>
          </a:p>
        </p:txBody>
      </p:sp>
      <p:sp>
        <p:nvSpPr>
          <p:cNvPr id="42" name="Shape 40"/>
          <p:cNvSpPr/>
          <p:nvPr/>
        </p:nvSpPr>
        <p:spPr>
          <a:xfrm>
            <a:off x="420624" y="4484218"/>
            <a:ext cx="8467344" cy="135331"/>
          </a:xfrm>
          <a:prstGeom prst="rect">
            <a:avLst/>
          </a:prstGeom>
          <a:solidFill>
            <a:srgbClr val="F7FAFD"/>
          </a:solidFill>
          <a:ln w="3810">
            <a:solidFill>
              <a:srgbClr val="C8D8EC"/>
            </a:solidFill>
            <a:prstDash val="solid"/>
          </a:ln>
        </p:spPr>
        <p:txBody>
          <a:bodyPr/>
          <a:lstStyle/>
          <a:p>
            <a:endParaRPr lang="he-IL"/>
          </a:p>
        </p:txBody>
      </p:sp>
      <p:sp>
        <p:nvSpPr>
          <p:cNvPr id="43" name="Text 41"/>
          <p:cNvSpPr/>
          <p:nvPr/>
        </p:nvSpPr>
        <p:spPr>
          <a:xfrm>
            <a:off x="475488" y="4502506"/>
            <a:ext cx="1481328" cy="98755"/>
          </a:xfrm>
          <a:prstGeom prst="rect">
            <a:avLst/>
          </a:prstGeom>
          <a:noFill/>
          <a:ln/>
        </p:spPr>
        <p:txBody>
          <a:bodyPr wrap="square" lIns="0" tIns="0" rIns="0" bIns="0" rtlCol="0" anchor="ctr"/>
          <a:lstStyle/>
          <a:p>
            <a:pPr marL="0" indent="0" algn="l">
              <a:buNone/>
            </a:pPr>
            <a:r>
              <a:rPr lang="en-US" sz="900" b="1" dirty="0">
                <a:solidFill>
                  <a:srgbClr val="24436A"/>
                </a:solidFill>
                <a:latin typeface="Calibri" pitchFamily="34" charset="0"/>
                <a:ea typeface="Calibri" pitchFamily="34" charset="-122"/>
                <a:cs typeface="Calibri" pitchFamily="34" charset="-120"/>
              </a:rPr>
              <a:t>Anisotropy</a:t>
            </a:r>
            <a:endParaRPr lang="en-US" sz="900" dirty="0"/>
          </a:p>
        </p:txBody>
      </p:sp>
      <p:sp>
        <p:nvSpPr>
          <p:cNvPr id="44" name="Text 42"/>
          <p:cNvSpPr/>
          <p:nvPr/>
        </p:nvSpPr>
        <p:spPr>
          <a:xfrm>
            <a:off x="2066544" y="4502506"/>
            <a:ext cx="3346704" cy="98755"/>
          </a:xfrm>
          <a:prstGeom prst="rect">
            <a:avLst/>
          </a:prstGeom>
          <a:noFill/>
          <a:ln/>
        </p:spPr>
        <p:txBody>
          <a:bodyPr wrap="square" lIns="0" tIns="0" rIns="0" bIns="0" rtlCol="0" anchor="ctr"/>
          <a:lstStyle/>
          <a:p>
            <a:pPr marL="0" indent="0" algn="l">
              <a:buNone/>
            </a:pPr>
            <a:r>
              <a:rPr lang="en-US" sz="900" dirty="0">
                <a:solidFill>
                  <a:srgbClr val="C0392B"/>
                </a:solidFill>
                <a:latin typeface="Calibri" pitchFamily="34" charset="0"/>
                <a:ea typeface="Calibri" pitchFamily="34" charset="-122"/>
                <a:cs typeface="Calibri" pitchFamily="34" charset="-120"/>
              </a:rPr>
              <a:t>✘  Not supported</a:t>
            </a:r>
            <a:endParaRPr lang="en-US" sz="900" dirty="0"/>
          </a:p>
        </p:txBody>
      </p:sp>
      <p:sp>
        <p:nvSpPr>
          <p:cNvPr id="45" name="Text 43"/>
          <p:cNvSpPr/>
          <p:nvPr/>
        </p:nvSpPr>
        <p:spPr>
          <a:xfrm>
            <a:off x="5522976" y="4502506"/>
            <a:ext cx="3346704" cy="98755"/>
          </a:xfrm>
          <a:prstGeom prst="rect">
            <a:avLst/>
          </a:prstGeom>
          <a:noFill/>
          <a:ln/>
        </p:spPr>
        <p:txBody>
          <a:bodyPr wrap="square" lIns="0" tIns="0" rIns="0" bIns="0" rtlCol="0" anchor="ctr"/>
          <a:lstStyle/>
          <a:p>
            <a:pPr marL="0" indent="0" algn="l">
              <a:buNone/>
            </a:pPr>
            <a:r>
              <a:rPr lang="en-US" sz="900" dirty="0">
                <a:solidFill>
                  <a:srgbClr val="2E7D6B"/>
                </a:solidFill>
                <a:latin typeface="Calibri" pitchFamily="34" charset="0"/>
                <a:ea typeface="Calibri" pitchFamily="34" charset="-122"/>
                <a:cs typeface="Calibri" pitchFamily="34" charset="-120"/>
              </a:rPr>
              <a:t>✔  Fully supported</a:t>
            </a:r>
            <a:endParaRPr lang="en-US" sz="900" dirty="0"/>
          </a:p>
        </p:txBody>
      </p:sp>
      <p:sp>
        <p:nvSpPr>
          <p:cNvPr id="46" name="Shape 44"/>
          <p:cNvSpPr/>
          <p:nvPr/>
        </p:nvSpPr>
        <p:spPr>
          <a:xfrm>
            <a:off x="420624" y="4619549"/>
            <a:ext cx="8467344" cy="135331"/>
          </a:xfrm>
          <a:prstGeom prst="rect">
            <a:avLst/>
          </a:prstGeom>
          <a:solidFill>
            <a:srgbClr val="EEF4FB"/>
          </a:solidFill>
          <a:ln w="3810">
            <a:solidFill>
              <a:srgbClr val="C8D8EC"/>
            </a:solidFill>
            <a:prstDash val="solid"/>
          </a:ln>
        </p:spPr>
        <p:txBody>
          <a:bodyPr/>
          <a:lstStyle/>
          <a:p>
            <a:endParaRPr lang="he-IL"/>
          </a:p>
        </p:txBody>
      </p:sp>
      <p:sp>
        <p:nvSpPr>
          <p:cNvPr id="47" name="Text 45"/>
          <p:cNvSpPr/>
          <p:nvPr/>
        </p:nvSpPr>
        <p:spPr>
          <a:xfrm>
            <a:off x="475488" y="4637837"/>
            <a:ext cx="1481328" cy="98755"/>
          </a:xfrm>
          <a:prstGeom prst="rect">
            <a:avLst/>
          </a:prstGeom>
          <a:noFill/>
          <a:ln/>
        </p:spPr>
        <p:txBody>
          <a:bodyPr wrap="square" lIns="0" tIns="0" rIns="0" bIns="0" rtlCol="0" anchor="ctr"/>
          <a:lstStyle/>
          <a:p>
            <a:pPr marL="0" indent="0" algn="l">
              <a:buNone/>
            </a:pPr>
            <a:r>
              <a:rPr lang="en-US" sz="900" b="1" dirty="0">
                <a:solidFill>
                  <a:srgbClr val="24436A"/>
                </a:solidFill>
                <a:latin typeface="Calibri" pitchFamily="34" charset="0"/>
                <a:ea typeface="Calibri" pitchFamily="34" charset="-122"/>
                <a:cs typeface="Calibri" pitchFamily="34" charset="-120"/>
              </a:rPr>
              <a:t>Speed / setup</a:t>
            </a:r>
            <a:endParaRPr lang="en-US" sz="900" dirty="0"/>
          </a:p>
        </p:txBody>
      </p:sp>
      <p:sp>
        <p:nvSpPr>
          <p:cNvPr id="48" name="Text 46"/>
          <p:cNvSpPr/>
          <p:nvPr/>
        </p:nvSpPr>
        <p:spPr>
          <a:xfrm>
            <a:off x="2066544" y="4637837"/>
            <a:ext cx="3346704" cy="98755"/>
          </a:xfrm>
          <a:prstGeom prst="rect">
            <a:avLst/>
          </a:prstGeom>
          <a:noFill/>
          <a:ln/>
        </p:spPr>
        <p:txBody>
          <a:bodyPr wrap="square" lIns="0" tIns="0" rIns="0" bIns="0" rtlCol="0" anchor="ctr"/>
          <a:lstStyle/>
          <a:p>
            <a:pPr marL="0" indent="0" algn="l">
              <a:buNone/>
            </a:pPr>
            <a:r>
              <a:rPr lang="en-US" sz="900" dirty="0">
                <a:solidFill>
                  <a:srgbClr val="2E7D6B"/>
                </a:solidFill>
                <a:latin typeface="Calibri" pitchFamily="34" charset="0"/>
                <a:ea typeface="Calibri" pitchFamily="34" charset="-122"/>
                <a:cs typeface="Calibri" pitchFamily="34" charset="-120"/>
              </a:rPr>
              <a:t>✔  Very fast, minimal setup</a:t>
            </a:r>
            <a:endParaRPr lang="en-US" sz="900" dirty="0"/>
          </a:p>
        </p:txBody>
      </p:sp>
      <p:sp>
        <p:nvSpPr>
          <p:cNvPr id="49" name="Text 47"/>
          <p:cNvSpPr/>
          <p:nvPr/>
        </p:nvSpPr>
        <p:spPr>
          <a:xfrm>
            <a:off x="5522976" y="4637837"/>
            <a:ext cx="3346704" cy="98755"/>
          </a:xfrm>
          <a:prstGeom prst="rect">
            <a:avLst/>
          </a:prstGeom>
          <a:noFill/>
          <a:ln/>
        </p:spPr>
        <p:txBody>
          <a:bodyPr wrap="square" lIns="0" tIns="0" rIns="0" bIns="0" rtlCol="0" anchor="ctr"/>
          <a:lstStyle/>
          <a:p>
            <a:pPr marL="0" indent="0" algn="l">
              <a:buNone/>
            </a:pPr>
            <a:r>
              <a:rPr lang="en-US" sz="900" dirty="0">
                <a:solidFill>
                  <a:srgbClr val="444444"/>
                </a:solidFill>
                <a:latin typeface="Calibri" pitchFamily="34" charset="0"/>
                <a:ea typeface="Calibri" pitchFamily="34" charset="-122"/>
                <a:cs typeface="Calibri" pitchFamily="34" charset="-120"/>
              </a:rPr>
              <a:t>Slower — variogram fitting required</a:t>
            </a:r>
            <a:endParaRPr lang="en-US" sz="900" dirty="0"/>
          </a:p>
        </p:txBody>
      </p:sp>
      <p:sp>
        <p:nvSpPr>
          <p:cNvPr id="50" name="Shape 48"/>
          <p:cNvSpPr/>
          <p:nvPr/>
        </p:nvSpPr>
        <p:spPr>
          <a:xfrm>
            <a:off x="420624" y="4754880"/>
            <a:ext cx="8467344" cy="135331"/>
          </a:xfrm>
          <a:prstGeom prst="rect">
            <a:avLst/>
          </a:prstGeom>
          <a:solidFill>
            <a:srgbClr val="F7FAFD"/>
          </a:solidFill>
          <a:ln w="3810">
            <a:solidFill>
              <a:srgbClr val="C8D8EC"/>
            </a:solidFill>
            <a:prstDash val="solid"/>
          </a:ln>
        </p:spPr>
        <p:txBody>
          <a:bodyPr/>
          <a:lstStyle/>
          <a:p>
            <a:endParaRPr lang="he-IL"/>
          </a:p>
        </p:txBody>
      </p:sp>
      <p:sp>
        <p:nvSpPr>
          <p:cNvPr id="51" name="Text 49"/>
          <p:cNvSpPr/>
          <p:nvPr/>
        </p:nvSpPr>
        <p:spPr>
          <a:xfrm>
            <a:off x="475488" y="4773168"/>
            <a:ext cx="1481328" cy="98755"/>
          </a:xfrm>
          <a:prstGeom prst="rect">
            <a:avLst/>
          </a:prstGeom>
          <a:noFill/>
          <a:ln/>
        </p:spPr>
        <p:txBody>
          <a:bodyPr wrap="square" lIns="0" tIns="0" rIns="0" bIns="0" rtlCol="0" anchor="ctr"/>
          <a:lstStyle/>
          <a:p>
            <a:pPr marL="0" indent="0" algn="l">
              <a:buNone/>
            </a:pPr>
            <a:r>
              <a:rPr lang="en-US" sz="900" b="1" dirty="0">
                <a:solidFill>
                  <a:srgbClr val="24436A"/>
                </a:solidFill>
                <a:latin typeface="Calibri" pitchFamily="34" charset="0"/>
                <a:ea typeface="Calibri" pitchFamily="34" charset="-122"/>
                <a:cs typeface="Calibri" pitchFamily="34" charset="-120"/>
              </a:rPr>
              <a:t>Bull's-eye effect</a:t>
            </a:r>
            <a:endParaRPr lang="en-US" sz="900" dirty="0"/>
          </a:p>
        </p:txBody>
      </p:sp>
      <p:sp>
        <p:nvSpPr>
          <p:cNvPr id="52" name="Text 50"/>
          <p:cNvSpPr/>
          <p:nvPr/>
        </p:nvSpPr>
        <p:spPr>
          <a:xfrm>
            <a:off x="2066544" y="4773168"/>
            <a:ext cx="3346704" cy="98755"/>
          </a:xfrm>
          <a:prstGeom prst="rect">
            <a:avLst/>
          </a:prstGeom>
          <a:noFill/>
          <a:ln/>
        </p:spPr>
        <p:txBody>
          <a:bodyPr wrap="square" lIns="0" tIns="0" rIns="0" bIns="0" rtlCol="0" anchor="ctr"/>
          <a:lstStyle/>
          <a:p>
            <a:pPr marL="0" indent="0" algn="l">
              <a:buNone/>
            </a:pPr>
            <a:r>
              <a:rPr lang="en-US" sz="900" dirty="0">
                <a:solidFill>
                  <a:srgbClr val="444444"/>
                </a:solidFill>
                <a:latin typeface="Calibri" pitchFamily="34" charset="0"/>
                <a:ea typeface="Calibri" pitchFamily="34" charset="-122"/>
                <a:cs typeface="Calibri" pitchFamily="34" charset="-120"/>
              </a:rPr>
              <a:t>Common with sparse or clustered data</a:t>
            </a:r>
            <a:endParaRPr lang="en-US" sz="900" dirty="0"/>
          </a:p>
        </p:txBody>
      </p:sp>
      <p:sp>
        <p:nvSpPr>
          <p:cNvPr id="53" name="Text 51"/>
          <p:cNvSpPr/>
          <p:nvPr/>
        </p:nvSpPr>
        <p:spPr>
          <a:xfrm>
            <a:off x="5522976" y="4773168"/>
            <a:ext cx="3346704" cy="98755"/>
          </a:xfrm>
          <a:prstGeom prst="rect">
            <a:avLst/>
          </a:prstGeom>
          <a:noFill/>
          <a:ln/>
        </p:spPr>
        <p:txBody>
          <a:bodyPr wrap="square" lIns="0" tIns="0" rIns="0" bIns="0" rtlCol="0" anchor="ctr"/>
          <a:lstStyle/>
          <a:p>
            <a:pPr marL="0" indent="0" algn="l">
              <a:buNone/>
            </a:pPr>
            <a:r>
              <a:rPr lang="en-US" sz="900" dirty="0">
                <a:solidFill>
                  <a:srgbClr val="444444"/>
                </a:solidFill>
                <a:latin typeface="Calibri" pitchFamily="34" charset="0"/>
                <a:ea typeface="Calibri" pitchFamily="34" charset="-122"/>
                <a:cs typeface="Calibri" pitchFamily="34" charset="-120"/>
              </a:rPr>
              <a:t>Absent</a:t>
            </a:r>
            <a:endParaRPr lang="en-US" sz="900" dirty="0"/>
          </a:p>
        </p:txBody>
      </p:sp>
      <p:sp>
        <p:nvSpPr>
          <p:cNvPr id="54" name="Shape 52"/>
          <p:cNvSpPr/>
          <p:nvPr/>
        </p:nvSpPr>
        <p:spPr>
          <a:xfrm>
            <a:off x="420624" y="4890211"/>
            <a:ext cx="8467344" cy="135331"/>
          </a:xfrm>
          <a:prstGeom prst="rect">
            <a:avLst/>
          </a:prstGeom>
          <a:solidFill>
            <a:srgbClr val="EEF4FB"/>
          </a:solidFill>
          <a:ln w="3810">
            <a:solidFill>
              <a:srgbClr val="C8D8EC"/>
            </a:solidFill>
            <a:prstDash val="solid"/>
          </a:ln>
        </p:spPr>
        <p:txBody>
          <a:bodyPr/>
          <a:lstStyle/>
          <a:p>
            <a:endParaRPr lang="he-IL"/>
          </a:p>
        </p:txBody>
      </p:sp>
      <p:sp>
        <p:nvSpPr>
          <p:cNvPr id="55" name="Text 53"/>
          <p:cNvSpPr/>
          <p:nvPr/>
        </p:nvSpPr>
        <p:spPr>
          <a:xfrm>
            <a:off x="475488" y="4908499"/>
            <a:ext cx="1481328" cy="98755"/>
          </a:xfrm>
          <a:prstGeom prst="rect">
            <a:avLst/>
          </a:prstGeom>
          <a:noFill/>
          <a:ln/>
        </p:spPr>
        <p:txBody>
          <a:bodyPr wrap="square" lIns="0" tIns="0" rIns="0" bIns="0" rtlCol="0" anchor="ctr"/>
          <a:lstStyle/>
          <a:p>
            <a:pPr marL="0" indent="0" algn="l">
              <a:buNone/>
            </a:pPr>
            <a:r>
              <a:rPr lang="en-US" sz="900" b="1" dirty="0">
                <a:solidFill>
                  <a:srgbClr val="24436A"/>
                </a:solidFill>
                <a:latin typeface="Calibri" pitchFamily="34" charset="0"/>
                <a:ea typeface="Calibri" pitchFamily="34" charset="-122"/>
                <a:cs typeface="Calibri" pitchFamily="34" charset="-120"/>
              </a:rPr>
              <a:t>Optimal weights</a:t>
            </a:r>
            <a:endParaRPr lang="en-US" sz="900" dirty="0"/>
          </a:p>
        </p:txBody>
      </p:sp>
      <p:sp>
        <p:nvSpPr>
          <p:cNvPr id="56" name="Text 54"/>
          <p:cNvSpPr/>
          <p:nvPr/>
        </p:nvSpPr>
        <p:spPr>
          <a:xfrm>
            <a:off x="2066544" y="4908499"/>
            <a:ext cx="3346704" cy="98755"/>
          </a:xfrm>
          <a:prstGeom prst="rect">
            <a:avLst/>
          </a:prstGeom>
          <a:noFill/>
          <a:ln/>
        </p:spPr>
        <p:txBody>
          <a:bodyPr wrap="square" lIns="0" tIns="0" rIns="0" bIns="0" rtlCol="0" anchor="ctr"/>
          <a:lstStyle/>
          <a:p>
            <a:pPr marL="0" indent="0" algn="l">
              <a:buNone/>
            </a:pPr>
            <a:r>
              <a:rPr lang="en-US" sz="900" dirty="0">
                <a:solidFill>
                  <a:srgbClr val="444444"/>
                </a:solidFill>
                <a:latin typeface="Calibri" pitchFamily="34" charset="0"/>
                <a:ea typeface="Calibri" pitchFamily="34" charset="-122"/>
                <a:cs typeface="Calibri" pitchFamily="34" charset="-120"/>
              </a:rPr>
              <a:t>No — arbitrary 1/dᵖ rule</a:t>
            </a:r>
            <a:endParaRPr lang="en-US" sz="900" dirty="0"/>
          </a:p>
        </p:txBody>
      </p:sp>
      <p:sp>
        <p:nvSpPr>
          <p:cNvPr id="57" name="Text 55"/>
          <p:cNvSpPr/>
          <p:nvPr/>
        </p:nvSpPr>
        <p:spPr>
          <a:xfrm>
            <a:off x="5522976" y="4908499"/>
            <a:ext cx="3346704" cy="98755"/>
          </a:xfrm>
          <a:prstGeom prst="rect">
            <a:avLst/>
          </a:prstGeom>
          <a:noFill/>
          <a:ln/>
        </p:spPr>
        <p:txBody>
          <a:bodyPr wrap="square" lIns="0" tIns="0" rIns="0" bIns="0" rtlCol="0" anchor="ctr"/>
          <a:lstStyle/>
          <a:p>
            <a:pPr marL="0" indent="0" algn="l">
              <a:buNone/>
            </a:pPr>
            <a:r>
              <a:rPr lang="en-US" sz="900" dirty="0">
                <a:solidFill>
                  <a:srgbClr val="2E7D6B"/>
                </a:solidFill>
                <a:latin typeface="Calibri" pitchFamily="34" charset="0"/>
                <a:ea typeface="Calibri" pitchFamily="34" charset="-122"/>
                <a:cs typeface="Calibri" pitchFamily="34" charset="-120"/>
              </a:rPr>
              <a:t>✔  Yes — minimises error variance</a:t>
            </a:r>
            <a:endParaRPr lang="en-US" sz="900" dirty="0"/>
          </a:p>
        </p:txBody>
      </p:sp>
      <p:sp>
        <p:nvSpPr>
          <p:cNvPr id="58" name="Shape 56"/>
          <p:cNvSpPr/>
          <p:nvPr/>
        </p:nvSpPr>
        <p:spPr>
          <a:xfrm>
            <a:off x="256032" y="4919472"/>
            <a:ext cx="8631936" cy="201168"/>
          </a:xfrm>
          <a:prstGeom prst="rect">
            <a:avLst/>
          </a:prstGeom>
          <a:solidFill>
            <a:srgbClr val="EDE8E0"/>
          </a:solidFill>
          <a:ln w="12700">
            <a:solidFill>
              <a:srgbClr val="D0C8BC"/>
            </a:solidFill>
            <a:prstDash val="solid"/>
          </a:ln>
        </p:spPr>
        <p:txBody>
          <a:bodyPr/>
          <a:lstStyle/>
          <a:p>
            <a:r>
              <a:rPr lang="sv-SE" sz="1100" dirty="0"/>
              <a:t>https://doc.esri.com/en/arcgis-pro/latest/help/analysis/geostatistical-analyst/how-inverse-distance-weighted-interpolation-works.html</a:t>
            </a:r>
            <a:endParaRPr lang="he-IL" sz="1100" dirty="0"/>
          </a:p>
        </p:txBody>
      </p:sp>
      <p:sp>
        <p:nvSpPr>
          <p:cNvPr id="59" name="Text 57"/>
          <p:cNvSpPr/>
          <p:nvPr/>
        </p:nvSpPr>
        <p:spPr>
          <a:xfrm>
            <a:off x="365760" y="4919472"/>
            <a:ext cx="8412480" cy="201168"/>
          </a:xfrm>
          <a:prstGeom prst="rect">
            <a:avLst/>
          </a:prstGeom>
          <a:noFill/>
          <a:ln/>
        </p:spPr>
        <p:txBody>
          <a:bodyPr wrap="square" lIns="0" tIns="0" rIns="0" bIns="0" rtlCol="0" anchor="ctr"/>
          <a:lstStyle/>
          <a:p>
            <a:pPr marL="0" indent="0" algn="l">
              <a:buNone/>
            </a:pP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Shape 614"/>
        <p:cNvGrpSpPr/>
        <p:nvPr/>
      </p:nvGrpSpPr>
      <p:grpSpPr>
        <a:xfrm>
          <a:off x="0" y="0"/>
          <a:ext cx="0" cy="0"/>
          <a:chOff x="0" y="0"/>
          <a:chExt cx="0" cy="0"/>
        </a:xfrm>
      </p:grpSpPr>
      <p:sp>
        <p:nvSpPr>
          <p:cNvPr id="615" name="Google Shape;615;p20"/>
          <p:cNvSpPr/>
          <p:nvPr/>
        </p:nvSpPr>
        <p:spPr>
          <a:xfrm>
            <a:off x="365760" y="256032"/>
            <a:ext cx="201168" cy="201168"/>
          </a:xfrm>
          <a:prstGeom prst="ellipse">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6" name="Google Shape;616;p20"/>
          <p:cNvSpPr/>
          <p:nvPr/>
        </p:nvSpPr>
        <p:spPr>
          <a:xfrm>
            <a:off x="658368" y="201168"/>
            <a:ext cx="82296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2C2C"/>
              </a:buClr>
              <a:buSzPts val="2000"/>
              <a:buFont typeface="Calibri"/>
              <a:buNone/>
            </a:pPr>
            <a:r>
              <a:rPr lang="en-US" sz="2000" b="1">
                <a:solidFill>
                  <a:srgbClr val="2C2C2C"/>
                </a:solidFill>
                <a:latin typeface="Calibri"/>
                <a:ea typeface="Calibri"/>
                <a:cs typeface="Calibri"/>
                <a:sym typeface="Calibri"/>
              </a:rPr>
              <a:t>Spatial Interpolation Methods Compared</a:t>
            </a:r>
            <a:endParaRPr sz="2000">
              <a:solidFill>
                <a:schemeClr val="dk1"/>
              </a:solidFill>
              <a:latin typeface="Calibri"/>
              <a:ea typeface="Calibri"/>
              <a:cs typeface="Calibri"/>
              <a:sym typeface="Calibri"/>
            </a:endParaRPr>
          </a:p>
        </p:txBody>
      </p:sp>
      <p:sp>
        <p:nvSpPr>
          <p:cNvPr id="617" name="Google Shape;617;p20"/>
          <p:cNvSpPr/>
          <p:nvPr/>
        </p:nvSpPr>
        <p:spPr>
          <a:xfrm>
            <a:off x="365760" y="658368"/>
            <a:ext cx="8412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55555"/>
              </a:buClr>
              <a:buSzPts val="1150"/>
              <a:buFont typeface="Calibri"/>
              <a:buNone/>
            </a:pPr>
            <a:r>
              <a:rPr lang="en-US" sz="1150" i="1">
                <a:solidFill>
                  <a:srgbClr val="555555"/>
                </a:solidFill>
                <a:latin typeface="Calibri"/>
                <a:ea typeface="Calibri"/>
                <a:cs typeface="Calibri"/>
                <a:sym typeface="Calibri"/>
              </a:rPr>
              <a:t>Kriging is one of several spatial interpolation methods — each suited to different data conditions and research goals.</a:t>
            </a:r>
            <a:endParaRPr sz="1150">
              <a:solidFill>
                <a:schemeClr val="dk1"/>
              </a:solidFill>
              <a:latin typeface="Calibri"/>
              <a:ea typeface="Calibri"/>
              <a:cs typeface="Calibri"/>
              <a:sym typeface="Calibri"/>
            </a:endParaRPr>
          </a:p>
        </p:txBody>
      </p:sp>
      <p:sp>
        <p:nvSpPr>
          <p:cNvPr id="618" name="Google Shape;618;p20"/>
          <p:cNvSpPr/>
          <p:nvPr/>
        </p:nvSpPr>
        <p:spPr>
          <a:xfrm>
            <a:off x="320040" y="1051560"/>
            <a:ext cx="3200400" cy="384048"/>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9" name="Google Shape;619;p20"/>
          <p:cNvSpPr/>
          <p:nvPr/>
        </p:nvSpPr>
        <p:spPr>
          <a:xfrm>
            <a:off x="320040" y="1051560"/>
            <a:ext cx="320040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50"/>
              <a:buFont typeface="Calibri"/>
              <a:buNone/>
            </a:pPr>
            <a:r>
              <a:rPr lang="en-US" sz="1150" b="1">
                <a:solidFill>
                  <a:srgbClr val="FFFFFF"/>
                </a:solidFill>
                <a:latin typeface="Calibri"/>
                <a:ea typeface="Calibri"/>
                <a:cs typeface="Calibri"/>
                <a:sym typeface="Calibri"/>
              </a:rPr>
              <a:t>Method</a:t>
            </a:r>
            <a:endParaRPr sz="1150">
              <a:solidFill>
                <a:schemeClr val="dk1"/>
              </a:solidFill>
              <a:latin typeface="Calibri"/>
              <a:ea typeface="Calibri"/>
              <a:cs typeface="Calibri"/>
              <a:sym typeface="Calibri"/>
            </a:endParaRPr>
          </a:p>
        </p:txBody>
      </p:sp>
      <p:sp>
        <p:nvSpPr>
          <p:cNvPr id="620" name="Google Shape;620;p20"/>
          <p:cNvSpPr/>
          <p:nvPr/>
        </p:nvSpPr>
        <p:spPr>
          <a:xfrm>
            <a:off x="3520440" y="1051560"/>
            <a:ext cx="5303520" cy="384048"/>
          </a:xfrm>
          <a:prstGeom prst="rect">
            <a:avLst/>
          </a:prstGeom>
          <a:solidFill>
            <a:srgbClr val="E8734A"/>
          </a:solidFill>
          <a:ln w="12700" cap="flat" cmpd="sng">
            <a:solidFill>
              <a:srgbClr val="E873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1" name="Google Shape;621;p20"/>
          <p:cNvSpPr/>
          <p:nvPr/>
        </p:nvSpPr>
        <p:spPr>
          <a:xfrm>
            <a:off x="3520440" y="1051560"/>
            <a:ext cx="530352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50"/>
              <a:buFont typeface="Calibri"/>
              <a:buNone/>
            </a:pPr>
            <a:r>
              <a:rPr lang="en-US" sz="1150" b="1">
                <a:solidFill>
                  <a:srgbClr val="FFFFFF"/>
                </a:solidFill>
                <a:latin typeface="Calibri"/>
                <a:ea typeface="Calibri"/>
                <a:cs typeface="Calibri"/>
                <a:sym typeface="Calibri"/>
              </a:rPr>
              <a:t>Strengths &amp; When to Use</a:t>
            </a:r>
            <a:endParaRPr sz="1150">
              <a:solidFill>
                <a:schemeClr val="dk1"/>
              </a:solidFill>
              <a:latin typeface="Calibri"/>
              <a:ea typeface="Calibri"/>
              <a:cs typeface="Calibri"/>
              <a:sym typeface="Calibri"/>
            </a:endParaRPr>
          </a:p>
        </p:txBody>
      </p:sp>
      <p:sp>
        <p:nvSpPr>
          <p:cNvPr id="622" name="Google Shape;622;p20"/>
          <p:cNvSpPr/>
          <p:nvPr/>
        </p:nvSpPr>
        <p:spPr>
          <a:xfrm>
            <a:off x="320040" y="1435608"/>
            <a:ext cx="3200400" cy="530352"/>
          </a:xfrm>
          <a:prstGeom prst="rect">
            <a:avLst/>
          </a:prstGeom>
          <a:solidFill>
            <a:srgbClr val="FAE5D3"/>
          </a:solidFill>
          <a:ln w="12700" cap="flat" cmpd="sng">
            <a:solidFill>
              <a:srgbClr val="EEEEE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3" name="Google Shape;623;p20"/>
          <p:cNvSpPr/>
          <p:nvPr/>
        </p:nvSpPr>
        <p:spPr>
          <a:xfrm>
            <a:off x="365760" y="1472184"/>
            <a:ext cx="310896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00"/>
              <a:buFont typeface="Calibri"/>
              <a:buNone/>
            </a:pPr>
            <a:r>
              <a:rPr lang="en-US" sz="1000" b="1">
                <a:solidFill>
                  <a:srgbClr val="2C2C2C"/>
                </a:solidFill>
                <a:latin typeface="Calibri"/>
                <a:ea typeface="Calibri"/>
                <a:cs typeface="Calibri"/>
                <a:sym typeface="Calibri"/>
              </a:rPr>
              <a:t>Ordinary Kriging</a:t>
            </a:r>
            <a:endParaRPr sz="1000">
              <a:solidFill>
                <a:schemeClr val="dk1"/>
              </a:solidFill>
              <a:latin typeface="Calibri"/>
              <a:ea typeface="Calibri"/>
              <a:cs typeface="Calibri"/>
              <a:sym typeface="Calibri"/>
            </a:endParaRPr>
          </a:p>
        </p:txBody>
      </p:sp>
      <p:sp>
        <p:nvSpPr>
          <p:cNvPr id="624" name="Google Shape;624;p20"/>
          <p:cNvSpPr/>
          <p:nvPr/>
        </p:nvSpPr>
        <p:spPr>
          <a:xfrm>
            <a:off x="3520440" y="1435608"/>
            <a:ext cx="5303520" cy="530352"/>
          </a:xfrm>
          <a:prstGeom prst="rect">
            <a:avLst/>
          </a:prstGeom>
          <a:solidFill>
            <a:srgbClr val="FAE5D3"/>
          </a:solidFill>
          <a:ln w="12700" cap="flat" cmpd="sng">
            <a:solidFill>
              <a:srgbClr val="EEEEE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5" name="Google Shape;625;p20"/>
          <p:cNvSpPr/>
          <p:nvPr/>
        </p:nvSpPr>
        <p:spPr>
          <a:xfrm>
            <a:off x="3566160" y="1472184"/>
            <a:ext cx="521208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Optimal, unbiased; quantifies uncertainty — best general-purpose choice for environmental mapping</a:t>
            </a:r>
            <a:endParaRPr sz="1000">
              <a:solidFill>
                <a:schemeClr val="dk1"/>
              </a:solidFill>
              <a:latin typeface="Calibri"/>
              <a:ea typeface="Calibri"/>
              <a:cs typeface="Calibri"/>
              <a:sym typeface="Calibri"/>
            </a:endParaRPr>
          </a:p>
        </p:txBody>
      </p:sp>
      <p:sp>
        <p:nvSpPr>
          <p:cNvPr id="626" name="Google Shape;626;p20"/>
          <p:cNvSpPr/>
          <p:nvPr/>
        </p:nvSpPr>
        <p:spPr>
          <a:xfrm>
            <a:off x="320040" y="1984248"/>
            <a:ext cx="3200400" cy="530352"/>
          </a:xfrm>
          <a:prstGeom prst="rect">
            <a:avLst/>
          </a:prstGeom>
          <a:solidFill>
            <a:srgbClr val="FFFFFF"/>
          </a:solidFill>
          <a:ln w="12700" cap="flat" cmpd="sng">
            <a:solidFill>
              <a:srgbClr val="EEEEE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7" name="Google Shape;627;p20"/>
          <p:cNvSpPr/>
          <p:nvPr/>
        </p:nvSpPr>
        <p:spPr>
          <a:xfrm>
            <a:off x="365760" y="2020824"/>
            <a:ext cx="310896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00"/>
              <a:buFont typeface="Calibri"/>
              <a:buNone/>
            </a:pPr>
            <a:r>
              <a:rPr lang="en-US" sz="1000" dirty="0">
                <a:solidFill>
                  <a:srgbClr val="2C2C2C"/>
                </a:solidFill>
                <a:latin typeface="Calibri"/>
                <a:ea typeface="Calibri"/>
                <a:cs typeface="Calibri"/>
                <a:sym typeface="Calibri"/>
              </a:rPr>
              <a:t>Inverse Distance Weighting (IDW)</a:t>
            </a:r>
            <a:endParaRPr sz="1000" dirty="0">
              <a:solidFill>
                <a:schemeClr val="dk1"/>
              </a:solidFill>
              <a:latin typeface="Calibri"/>
              <a:ea typeface="Calibri"/>
              <a:cs typeface="Calibri"/>
              <a:sym typeface="Calibri"/>
            </a:endParaRPr>
          </a:p>
        </p:txBody>
      </p:sp>
      <p:sp>
        <p:nvSpPr>
          <p:cNvPr id="628" name="Google Shape;628;p20"/>
          <p:cNvSpPr/>
          <p:nvPr/>
        </p:nvSpPr>
        <p:spPr>
          <a:xfrm>
            <a:off x="3520440" y="1984248"/>
            <a:ext cx="5303520" cy="530352"/>
          </a:xfrm>
          <a:prstGeom prst="rect">
            <a:avLst/>
          </a:prstGeom>
          <a:solidFill>
            <a:srgbClr val="FFFFFF"/>
          </a:solidFill>
          <a:ln w="12700" cap="flat" cmpd="sng">
            <a:solidFill>
              <a:srgbClr val="EEEEE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9" name="Google Shape;629;p20"/>
          <p:cNvSpPr/>
          <p:nvPr/>
        </p:nvSpPr>
        <p:spPr>
          <a:xfrm>
            <a:off x="3566160" y="2020824"/>
            <a:ext cx="521208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Fast and simple; no spatial structure needed — good for dense, uniform sampling</a:t>
            </a:r>
            <a:endParaRPr sz="1000">
              <a:solidFill>
                <a:schemeClr val="dk1"/>
              </a:solidFill>
              <a:latin typeface="Calibri"/>
              <a:ea typeface="Calibri"/>
              <a:cs typeface="Calibri"/>
              <a:sym typeface="Calibri"/>
            </a:endParaRPr>
          </a:p>
        </p:txBody>
      </p:sp>
      <p:sp>
        <p:nvSpPr>
          <p:cNvPr id="630" name="Google Shape;630;p20"/>
          <p:cNvSpPr/>
          <p:nvPr/>
        </p:nvSpPr>
        <p:spPr>
          <a:xfrm>
            <a:off x="320040" y="2532888"/>
            <a:ext cx="3200400" cy="530352"/>
          </a:xfrm>
          <a:prstGeom prst="rect">
            <a:avLst/>
          </a:prstGeom>
          <a:solidFill>
            <a:srgbClr val="FAE5D3"/>
          </a:solidFill>
          <a:ln w="12700" cap="flat" cmpd="sng">
            <a:solidFill>
              <a:srgbClr val="EEEEE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1" name="Google Shape;631;p20"/>
          <p:cNvSpPr/>
          <p:nvPr/>
        </p:nvSpPr>
        <p:spPr>
          <a:xfrm>
            <a:off x="365760" y="2569464"/>
            <a:ext cx="310896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Spline Interpolation</a:t>
            </a:r>
            <a:endParaRPr sz="1000">
              <a:solidFill>
                <a:schemeClr val="dk1"/>
              </a:solidFill>
              <a:latin typeface="Calibri"/>
              <a:ea typeface="Calibri"/>
              <a:cs typeface="Calibri"/>
              <a:sym typeface="Calibri"/>
            </a:endParaRPr>
          </a:p>
        </p:txBody>
      </p:sp>
      <p:sp>
        <p:nvSpPr>
          <p:cNvPr id="632" name="Google Shape;632;p20"/>
          <p:cNvSpPr/>
          <p:nvPr/>
        </p:nvSpPr>
        <p:spPr>
          <a:xfrm>
            <a:off x="3520440" y="2532888"/>
            <a:ext cx="5303520" cy="530352"/>
          </a:xfrm>
          <a:prstGeom prst="rect">
            <a:avLst/>
          </a:prstGeom>
          <a:solidFill>
            <a:srgbClr val="FAE5D3"/>
          </a:solidFill>
          <a:ln w="12700" cap="flat" cmpd="sng">
            <a:solidFill>
              <a:srgbClr val="EEEEE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3" name="Google Shape;633;p20"/>
          <p:cNvSpPr/>
          <p:nvPr/>
        </p:nvSpPr>
        <p:spPr>
          <a:xfrm>
            <a:off x="3566160" y="2569464"/>
            <a:ext cx="521208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Smooth visually appealing surfaces — best for dense data and smooth phenomena (topography)</a:t>
            </a:r>
            <a:endParaRPr sz="1000">
              <a:solidFill>
                <a:schemeClr val="dk1"/>
              </a:solidFill>
              <a:latin typeface="Calibri"/>
              <a:ea typeface="Calibri"/>
              <a:cs typeface="Calibri"/>
              <a:sym typeface="Calibri"/>
            </a:endParaRPr>
          </a:p>
        </p:txBody>
      </p:sp>
      <p:sp>
        <p:nvSpPr>
          <p:cNvPr id="634" name="Google Shape;634;p20"/>
          <p:cNvSpPr/>
          <p:nvPr/>
        </p:nvSpPr>
        <p:spPr>
          <a:xfrm>
            <a:off x="320040" y="3081528"/>
            <a:ext cx="3200400" cy="530352"/>
          </a:xfrm>
          <a:prstGeom prst="rect">
            <a:avLst/>
          </a:prstGeom>
          <a:solidFill>
            <a:srgbClr val="FFFFFF"/>
          </a:solidFill>
          <a:ln w="12700" cap="flat" cmpd="sng">
            <a:solidFill>
              <a:srgbClr val="EEEEE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5" name="Google Shape;635;p20"/>
          <p:cNvSpPr/>
          <p:nvPr/>
        </p:nvSpPr>
        <p:spPr>
          <a:xfrm>
            <a:off x="365760" y="3118104"/>
            <a:ext cx="310896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Co-Kriging</a:t>
            </a:r>
            <a:endParaRPr sz="1000">
              <a:solidFill>
                <a:schemeClr val="dk1"/>
              </a:solidFill>
              <a:latin typeface="Calibri"/>
              <a:ea typeface="Calibri"/>
              <a:cs typeface="Calibri"/>
              <a:sym typeface="Calibri"/>
            </a:endParaRPr>
          </a:p>
        </p:txBody>
      </p:sp>
      <p:sp>
        <p:nvSpPr>
          <p:cNvPr id="636" name="Google Shape;636;p20"/>
          <p:cNvSpPr/>
          <p:nvPr/>
        </p:nvSpPr>
        <p:spPr>
          <a:xfrm>
            <a:off x="3520440" y="3081528"/>
            <a:ext cx="5303520" cy="530352"/>
          </a:xfrm>
          <a:prstGeom prst="rect">
            <a:avLst/>
          </a:prstGeom>
          <a:solidFill>
            <a:srgbClr val="FFFFFF"/>
          </a:solidFill>
          <a:ln w="12700" cap="flat" cmpd="sng">
            <a:solidFill>
              <a:srgbClr val="EEEEE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7" name="Google Shape;637;p20"/>
          <p:cNvSpPr/>
          <p:nvPr/>
        </p:nvSpPr>
        <p:spPr>
          <a:xfrm>
            <a:off x="3566160" y="3118104"/>
            <a:ext cx="521208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Incorporates a secondary correlated variable — improves accuracy when primary data is sparse</a:t>
            </a:r>
            <a:endParaRPr sz="1000">
              <a:solidFill>
                <a:schemeClr val="dk1"/>
              </a:solidFill>
              <a:latin typeface="Calibri"/>
              <a:ea typeface="Calibri"/>
              <a:cs typeface="Calibri"/>
              <a:sym typeface="Calibri"/>
            </a:endParaRPr>
          </a:p>
        </p:txBody>
      </p:sp>
      <p:sp>
        <p:nvSpPr>
          <p:cNvPr id="638" name="Google Shape;638;p20"/>
          <p:cNvSpPr/>
          <p:nvPr/>
        </p:nvSpPr>
        <p:spPr>
          <a:xfrm>
            <a:off x="320040" y="3630168"/>
            <a:ext cx="3200400" cy="530352"/>
          </a:xfrm>
          <a:prstGeom prst="rect">
            <a:avLst/>
          </a:prstGeom>
          <a:solidFill>
            <a:srgbClr val="FAE5D3"/>
          </a:solidFill>
          <a:ln w="12700" cap="flat" cmpd="sng">
            <a:solidFill>
              <a:srgbClr val="EEEEE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9" name="Google Shape;639;p20"/>
          <p:cNvSpPr/>
          <p:nvPr/>
        </p:nvSpPr>
        <p:spPr>
          <a:xfrm>
            <a:off x="365760" y="3666744"/>
            <a:ext cx="310896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Indicator Kriging</a:t>
            </a:r>
            <a:endParaRPr sz="1000">
              <a:solidFill>
                <a:schemeClr val="dk1"/>
              </a:solidFill>
              <a:latin typeface="Calibri"/>
              <a:ea typeface="Calibri"/>
              <a:cs typeface="Calibri"/>
              <a:sym typeface="Calibri"/>
            </a:endParaRPr>
          </a:p>
        </p:txBody>
      </p:sp>
      <p:sp>
        <p:nvSpPr>
          <p:cNvPr id="640" name="Google Shape;640;p20"/>
          <p:cNvSpPr/>
          <p:nvPr/>
        </p:nvSpPr>
        <p:spPr>
          <a:xfrm>
            <a:off x="3520440" y="3630168"/>
            <a:ext cx="5303520" cy="530352"/>
          </a:xfrm>
          <a:prstGeom prst="rect">
            <a:avLst/>
          </a:prstGeom>
          <a:solidFill>
            <a:srgbClr val="FAE5D3"/>
          </a:solidFill>
          <a:ln w="12700" cap="flat" cmpd="sng">
            <a:solidFill>
              <a:srgbClr val="EEEEE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1" name="Google Shape;641;p20"/>
          <p:cNvSpPr/>
          <p:nvPr/>
        </p:nvSpPr>
        <p:spPr>
          <a:xfrm>
            <a:off x="3566160" y="3666744"/>
            <a:ext cx="521208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Maps probability of threshold exceedance — ideal for risk and regulatory compliance mapping</a:t>
            </a:r>
            <a:endParaRPr sz="1000">
              <a:solidFill>
                <a:schemeClr val="dk1"/>
              </a:solidFill>
              <a:latin typeface="Calibri"/>
              <a:ea typeface="Calibri"/>
              <a:cs typeface="Calibri"/>
              <a:sym typeface="Calibri"/>
            </a:endParaRPr>
          </a:p>
        </p:txBody>
      </p:sp>
      <p:sp>
        <p:nvSpPr>
          <p:cNvPr id="642" name="Google Shape;642;p20"/>
          <p:cNvSpPr/>
          <p:nvPr/>
        </p:nvSpPr>
        <p:spPr>
          <a:xfrm>
            <a:off x="320040" y="4178808"/>
            <a:ext cx="3200400" cy="530352"/>
          </a:xfrm>
          <a:prstGeom prst="rect">
            <a:avLst/>
          </a:prstGeom>
          <a:solidFill>
            <a:srgbClr val="FFFFFF"/>
          </a:solidFill>
          <a:ln w="12700" cap="flat" cmpd="sng">
            <a:solidFill>
              <a:srgbClr val="EEEEE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3" name="Google Shape;643;p20"/>
          <p:cNvSpPr/>
          <p:nvPr/>
        </p:nvSpPr>
        <p:spPr>
          <a:xfrm>
            <a:off x="365760" y="4215384"/>
            <a:ext cx="310896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Regression-Kriging</a:t>
            </a:r>
            <a:endParaRPr sz="1000">
              <a:solidFill>
                <a:schemeClr val="dk1"/>
              </a:solidFill>
              <a:latin typeface="Calibri"/>
              <a:ea typeface="Calibri"/>
              <a:cs typeface="Calibri"/>
              <a:sym typeface="Calibri"/>
            </a:endParaRPr>
          </a:p>
        </p:txBody>
      </p:sp>
      <p:sp>
        <p:nvSpPr>
          <p:cNvPr id="644" name="Google Shape;644;p20"/>
          <p:cNvSpPr/>
          <p:nvPr/>
        </p:nvSpPr>
        <p:spPr>
          <a:xfrm>
            <a:off x="3520440" y="4178808"/>
            <a:ext cx="5303520" cy="530352"/>
          </a:xfrm>
          <a:prstGeom prst="rect">
            <a:avLst/>
          </a:prstGeom>
          <a:solidFill>
            <a:srgbClr val="FFFFFF"/>
          </a:solidFill>
          <a:ln w="12700" cap="flat" cmpd="sng">
            <a:solidFill>
              <a:srgbClr val="EEEEE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5" name="Google Shape;645;p20"/>
          <p:cNvSpPr/>
          <p:nvPr/>
        </p:nvSpPr>
        <p:spPr>
          <a:xfrm>
            <a:off x="3566160" y="4215384"/>
            <a:ext cx="521208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Combines trend surface with kriged residuals — powerful hybrid for non-stationary data</a:t>
            </a:r>
            <a:endParaRPr sz="1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909</TotalTime>
  <Words>5622</Words>
  <Application>Microsoft Office PowerPoint</Application>
  <PresentationFormat>On-screen Show (16:9)</PresentationFormat>
  <Paragraphs>688</Paragraphs>
  <Slides>37</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Courier New</vt:lpstr>
      <vt:lpstr>Calibri</vt:lpstr>
      <vt:lpstr>Arial</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Naomi Unkelos-Shpigel</cp:lastModifiedBy>
  <cp:revision>3</cp:revision>
  <dcterms:created xsi:type="dcterms:W3CDTF">2026-05-13T07:05:28Z</dcterms:created>
  <dcterms:modified xsi:type="dcterms:W3CDTF">2026-05-20T11:25:36Z</dcterms:modified>
</cp:coreProperties>
</file>