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DM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itmoG6zyPKiPTzbrvB6wAWJTFv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DMSans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DMSans-italic.fntdata"/><Relationship Id="rId12" Type="http://schemas.openxmlformats.org/officeDocument/2006/relationships/slide" Target="slides/slide7.xml"/><Relationship Id="rId34" Type="http://schemas.openxmlformats.org/officeDocument/2006/relationships/font" Target="fonts/DMSans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DM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8.png"/><Relationship Id="rId13" Type="http://schemas.openxmlformats.org/officeDocument/2006/relationships/image" Target="../media/image10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6.png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5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3js.org/" TargetMode="External"/><Relationship Id="rId4" Type="http://schemas.openxmlformats.org/officeDocument/2006/relationships/hyperlink" Target="https://qgis.org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93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858000" y="-457200"/>
            <a:ext cx="2560320" cy="2560320"/>
          </a:xfrm>
          <a:prstGeom prst="ellipse">
            <a:avLst/>
          </a:prstGeom>
          <a:solidFill>
            <a:srgbClr val="4A9DB5">
              <a:alpha val="14901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89520" y="2011680"/>
            <a:ext cx="1645920" cy="1645920"/>
          </a:xfrm>
          <a:prstGeom prst="ellipse">
            <a:avLst/>
          </a:prstGeom>
          <a:solidFill>
            <a:srgbClr val="D4756B">
              <a:alpha val="14901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6309360" y="1188720"/>
            <a:ext cx="1188720" cy="1188720"/>
          </a:xfrm>
          <a:prstGeom prst="ellipse">
            <a:avLst/>
          </a:prstGeom>
          <a:solidFill>
            <a:srgbClr val="C9A84C">
              <a:alpha val="14901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7223760" y="777240"/>
            <a:ext cx="822960" cy="822960"/>
          </a:xfrm>
          <a:prstGeom prst="ellipse">
            <a:avLst/>
          </a:prstGeom>
          <a:solidFill>
            <a:srgbClr val="4CAF8A">
              <a:alpha val="14901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57200" y="10058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A9DB5"/>
                </a:solidFill>
                <a:latin typeface="Calibri"/>
                <a:ea typeface="Calibri"/>
                <a:cs typeface="Calibri"/>
                <a:sym typeface="Calibri"/>
              </a:rPr>
              <a:t>Introduction to Ecological Modeling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457200" y="1463040"/>
            <a:ext cx="6858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 5 — Energy Flow Models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457200" y="246888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Ecological Systems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57200" y="320040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0C8D8"/>
                </a:solidFill>
                <a:latin typeface="Calibri"/>
                <a:ea typeface="Calibri"/>
                <a:cs typeface="Calibri"/>
                <a:sym typeface="Calibri"/>
              </a:rPr>
              <a:t>&amp; Statistical Techniques for Ecological Data Analysis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457200" y="3657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F"/>
                </a:solidFill>
                <a:latin typeface="Calibri"/>
                <a:ea typeface="Calibri"/>
                <a:cs typeface="Calibri"/>
                <a:sym typeface="Calibri"/>
              </a:rPr>
              <a:t>Energy flow · Trophic efficiency · Statistical analysis · Hypothesis testing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457200" y="43434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096A6"/>
                </a:solidFill>
                <a:latin typeface="Calibri"/>
                <a:ea typeface="Calibri"/>
                <a:cs typeface="Calibri"/>
                <a:sym typeface="Calibri"/>
              </a:rPr>
              <a:t>Naomi Unkelos-Shpigel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9DB5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5943600" y="-548640"/>
            <a:ext cx="3017520" cy="3017520"/>
          </a:xfrm>
          <a:prstGeom prst="ellipse">
            <a:avLst/>
          </a:prstGeom>
          <a:solidFill>
            <a:srgbClr val="FFFFFF">
              <a:alpha val="14901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6766560" y="2377440"/>
            <a:ext cx="1645920" cy="164592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11480" y="50292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411480" y="1691640"/>
            <a:ext cx="5943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Energy Flow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Ecological Energy Flow: Core Concepts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Energy moves through ecosystems following fundamental thermodynamic principles.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182880" y="1024128"/>
            <a:ext cx="269748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182880" y="1024128"/>
            <a:ext cx="2697480" cy="438912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274320" y="10789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One-Directional Flow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292608" y="1536192"/>
            <a:ext cx="247802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Energy moves through food chains in one direction.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Unlike nutrients, energy does not cycle — it flows from producers upward and is lost as heat at each transfer.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Nutrients cycle; energy flows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No recycling of energy between levels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Each link loses ~90% as heat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2999232" y="1024128"/>
            <a:ext cx="269748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2999232" y="1024128"/>
            <a:ext cx="2697480" cy="438912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3090672" y="10789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Thermodynamic Loss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3108960" y="1536192"/>
            <a:ext cx="247802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~90% of energy lost between trophic levels.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The Second Law of Thermodynamics dictates that energy conversions are never 100% efficient.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10% rule (Lindeman, 1942)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Respiration &amp; heat dissipation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Limits food chain length to 4-5 links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5815584" y="1024128"/>
            <a:ext cx="269748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5815584" y="1024128"/>
            <a:ext cx="2697480" cy="438912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5907024" y="10789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Solar Origin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5925312" y="1536192"/>
            <a:ext cx="247802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All ecological energy originates from the sun.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Photosynthesis by producers captures solar radiation and converts it to chemical energy stored in organic compounds.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~1% of solar energy captured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Plants = primary energy fixers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Base of every food web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Odum's Energy Flow Model: Systems Thinking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182880" y="1024128"/>
            <a:ext cx="1965960" cy="1911577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82880" y="1024128"/>
            <a:ext cx="1965960" cy="420624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256032" y="1078992"/>
            <a:ext cx="1819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Energy Source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274320" y="1517904"/>
            <a:ext cx="178308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Primarily solar radiation.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Drives all biological processes in the ecosystem.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Shortwave radiation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~10^17 W global input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192024" y="3036530"/>
            <a:ext cx="1965960" cy="2055956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92024" y="3060507"/>
            <a:ext cx="1965960" cy="420624"/>
          </a:xfrm>
          <a:prstGeom prst="rect">
            <a:avLst/>
          </a:prstGeom>
          <a:solidFill>
            <a:srgbClr val="4CAF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265176" y="3115371"/>
            <a:ext cx="1819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Producers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292608" y="3614836"/>
            <a:ext cx="178308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Plants convert solar energy via photosynthesis.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Gross Primary Production (GPP) minus respiration = Net Primary Production (NPP).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Algae, plants, cyanobacteria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2317626" y="1024127"/>
            <a:ext cx="1965960" cy="1911577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2317626" y="1024128"/>
            <a:ext cx="1965960" cy="364830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2409066" y="1086898"/>
            <a:ext cx="1819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Consumers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2473074" y="1372288"/>
            <a:ext cx="178308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Herbivores and carnivores transfer energy up trophic levels.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Each level retains ~10% of energy received from the level below.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Herbivores → Carnivores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2340864" y="3056879"/>
            <a:ext cx="1965960" cy="2035607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2340864" y="3056879"/>
            <a:ext cx="1965960" cy="420624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2414016" y="3111743"/>
            <a:ext cx="1819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Energy Sinks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2414016" y="3521985"/>
            <a:ext cx="178308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Heat loss at each trophic transfer.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Decomposers break down dead organisms, releasing remaining energy as heat.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Heat dissipation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Decomposition</a:t>
            </a:r>
            <a:endParaRPr/>
          </a:p>
        </p:txBody>
      </p:sp>
      <p:pic>
        <p:nvPicPr>
          <p:cNvPr id="147" name="Google Shape;1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1933" y="1197381"/>
            <a:ext cx="4579101" cy="328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685800" y="109728"/>
            <a:ext cx="77724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Example for energy flow: Photosynthesis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8369772" y="46771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71142" y="72800"/>
            <a:ext cx="78483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DM San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069" y="1036300"/>
            <a:ext cx="2157244" cy="2772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8724" y="1115900"/>
            <a:ext cx="5655864" cy="265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 txBox="1"/>
          <p:nvPr/>
        </p:nvSpPr>
        <p:spPr>
          <a:xfrm>
            <a:off x="2615313" y="4193000"/>
            <a:ext cx="661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https://www.khanacademy.org/science/ap-biology/cellular-energetics/photosynthesis/a/intro-to-photosynthesis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666201" y="130951"/>
            <a:ext cx="77724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Odum's Energy Flow Model: Systems Thinking</a:t>
            </a:r>
            <a:endParaRPr/>
          </a:p>
        </p:txBody>
      </p:sp>
      <p:sp>
        <p:nvSpPr>
          <p:cNvPr id="169" name="Google Shape;169;p6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Each trophic level retains only ~10% of the energy from the level below.</a:t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588155" y="779363"/>
            <a:ext cx="77526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DM San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00309" y="1901675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DM Sans"/>
                <a:ea typeface="DM Sans"/>
                <a:cs typeface="DM Sans"/>
                <a:sym typeface="DM Sans"/>
              </a:rPr>
              <a:t>Energy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-478645" y="2205508"/>
            <a:ext cx="24606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3B3535"/>
                </a:solidFill>
                <a:latin typeface="DM Sans"/>
                <a:ea typeface="DM Sans"/>
                <a:cs typeface="DM Sans"/>
                <a:sym typeface="DM Sans"/>
              </a:rPr>
              <a:t>Primarily solar radiation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0081" y="1495598"/>
            <a:ext cx="2868587" cy="2868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150" y="2082241"/>
            <a:ext cx="202555" cy="25323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/>
          <p:nvPr/>
        </p:nvSpPr>
        <p:spPr>
          <a:xfrm>
            <a:off x="7161745" y="1645691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DM Sans"/>
                <a:ea typeface="DM Sans"/>
                <a:cs typeface="DM Sans"/>
                <a:sym typeface="DM Sans"/>
              </a:rPr>
              <a:t>Producers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7161745" y="1949523"/>
            <a:ext cx="24609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3B3535"/>
                </a:solidFill>
                <a:latin typeface="DM Sans"/>
                <a:ea typeface="DM Sans"/>
                <a:cs typeface="DM Sans"/>
                <a:sym typeface="DM Sans"/>
              </a:rPr>
              <a:t>Plants convert solar energy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0081" y="1495598"/>
            <a:ext cx="2868587" cy="2868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54599" y="1915926"/>
            <a:ext cx="202555" cy="25323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7229461" y="2669554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DM Sans"/>
                <a:ea typeface="DM Sans"/>
                <a:cs typeface="DM Sans"/>
                <a:sym typeface="DM Sans"/>
              </a:rPr>
              <a:t>Consumers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229461" y="2973387"/>
            <a:ext cx="2393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3B3535"/>
                </a:solidFill>
                <a:latin typeface="DM Sans"/>
                <a:ea typeface="DM Sans"/>
                <a:cs typeface="DM Sans"/>
                <a:sym typeface="DM Sans"/>
              </a:rPr>
              <a:t>Herbivores and carnivores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90081" y="1495598"/>
            <a:ext cx="2868587" cy="2868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73860" y="2975880"/>
            <a:ext cx="202555" cy="25323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/>
          <p:nvPr/>
        </p:nvSpPr>
        <p:spPr>
          <a:xfrm>
            <a:off x="7161745" y="3693492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DM Sans"/>
                <a:ea typeface="DM Sans"/>
                <a:cs typeface="DM Sans"/>
                <a:sym typeface="DM Sans"/>
              </a:rPr>
              <a:t>Decomposers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7161745" y="3997324"/>
            <a:ext cx="24609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3B3535"/>
                </a:solidFill>
                <a:latin typeface="DM Sans"/>
                <a:ea typeface="DM Sans"/>
                <a:cs typeface="DM Sans"/>
                <a:sym typeface="DM Sans"/>
              </a:rPr>
              <a:t>Break down organic matter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90081" y="1495598"/>
            <a:ext cx="2868587" cy="2868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26284" y="3797262"/>
            <a:ext cx="202555" cy="25323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"/>
          <p:cNvSpPr/>
          <p:nvPr/>
        </p:nvSpPr>
        <p:spPr>
          <a:xfrm>
            <a:off x="200309" y="3437507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DM Sans"/>
                <a:ea typeface="DM Sans"/>
                <a:cs typeface="DM Sans"/>
                <a:sym typeface="DM Sans"/>
              </a:rPr>
              <a:t>Energy Sinks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-478645" y="3741340"/>
            <a:ext cx="24606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3B3535"/>
                </a:solidFill>
                <a:latin typeface="DM Sans"/>
                <a:ea typeface="DM Sans"/>
                <a:cs typeface="DM Sans"/>
                <a:sym typeface="DM Sans"/>
              </a:rPr>
              <a:t>Heat loss at each transfer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90081" y="1495598"/>
            <a:ext cx="2868587" cy="2868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83222" y="3244961"/>
            <a:ext cx="202555" cy="253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28671" y="681306"/>
            <a:ext cx="614511" cy="960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355150" y="1346561"/>
            <a:ext cx="4662114" cy="28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 txBox="1"/>
          <p:nvPr/>
        </p:nvSpPr>
        <p:spPr>
          <a:xfrm>
            <a:off x="1657237" y="4380874"/>
            <a:ext cx="604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Odum, H. T. (1994). Ecological and general systems: an introduction to systems ecology. Rev.‏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8670996" y="474987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6418220" y="-42928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https://www.youtube.com/watch?v=Wn5qsJwk_YQ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76415" y="39548"/>
            <a:ext cx="702000" cy="2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The 10% Rule in Energy Transfer</a:t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This exponential energy loss explains why food chains rarely exceed 4-5 links.</a:t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182880" y="1024128"/>
            <a:ext cx="196596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82880" y="1024128"/>
            <a:ext cx="1965960" cy="420624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256032" y="1078992"/>
            <a:ext cx="1819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Producers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1,000 kcal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274320" y="1517904"/>
            <a:ext cx="178308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Capture only ~1% of incoming solar energy.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Base of all food webs; greatest energy available at this level.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Photosynthesis efficiency ~1%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Total available: 1,000 kcal</a:t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2240280" y="1024128"/>
            <a:ext cx="196596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2240280" y="1024128"/>
            <a:ext cx="1965960" cy="420624"/>
          </a:xfrm>
          <a:prstGeom prst="rect">
            <a:avLst/>
          </a:prstGeom>
          <a:solidFill>
            <a:srgbClr val="4CAF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2313432" y="1078992"/>
            <a:ext cx="1819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Consumers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 kcal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2331720" y="1517904"/>
            <a:ext cx="178308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Herbivores retain 10% of plant energy.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Remaining 90% lost to respiration, heat, waste.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900 kcal lost as heat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100 kcal retained</a:t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4297680" y="1024128"/>
            <a:ext cx="196596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297680" y="1024128"/>
            <a:ext cx="1965960" cy="420624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4370832" y="1078992"/>
            <a:ext cx="1819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 Consumers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kcal</a:t>
            </a:r>
            <a:endParaRPr/>
          </a:p>
        </p:txBody>
      </p:sp>
      <p:sp>
        <p:nvSpPr>
          <p:cNvPr id="217" name="Google Shape;217;p7"/>
          <p:cNvSpPr txBox="1"/>
          <p:nvPr/>
        </p:nvSpPr>
        <p:spPr>
          <a:xfrm>
            <a:off x="4389120" y="1517904"/>
            <a:ext cx="178308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Carnivores retain 10% of herbivore energy.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Only 1% of original producer energy remains.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90 kcal lost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10 kcal retained</a:t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6355080" y="1024128"/>
            <a:ext cx="196596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355080" y="1024128"/>
            <a:ext cx="1965960" cy="420624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6428232" y="1078992"/>
            <a:ext cx="1819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Tertiary Consumers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kcal</a:t>
            </a:r>
            <a:endParaRPr/>
          </a:p>
        </p:txBody>
      </p:sp>
      <p:sp>
        <p:nvSpPr>
          <p:cNvPr id="221" name="Google Shape;221;p7"/>
          <p:cNvSpPr txBox="1"/>
          <p:nvPr/>
        </p:nvSpPr>
        <p:spPr>
          <a:xfrm>
            <a:off x="6446520" y="1517904"/>
            <a:ext cx="178308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Top predators access minimal energy.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Only 0.1% of original solar energy fixation remains at this level.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Most energy dissipated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Limits chain length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685800" y="109728"/>
            <a:ext cx="77724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Typical metrics for the energy models </a:t>
            </a:r>
            <a:endParaRPr/>
          </a:p>
        </p:txBody>
      </p:sp>
      <p:pic>
        <p:nvPicPr>
          <p:cNvPr id="230" name="Google Shape;2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1050" y="768096"/>
            <a:ext cx="5261899" cy="449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Lindeman's Trophic Efficiency</a:t>
            </a:r>
            <a:endParaRPr/>
          </a:p>
        </p:txBody>
      </p:sp>
      <p:sp>
        <p:nvSpPr>
          <p:cNvPr id="239" name="Google Shape;239;p9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Raymond Lindeman (1942) quantified energy transfer between trophic levels.</a:t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228600" y="1188720"/>
            <a:ext cx="2651760" cy="329184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228600" y="1188720"/>
            <a:ext cx="2651760" cy="91440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 txBox="1"/>
          <p:nvPr/>
        </p:nvSpPr>
        <p:spPr>
          <a:xfrm>
            <a:off x="228600" y="146304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4A9DB5"/>
                </a:solidFill>
                <a:latin typeface="Calibri"/>
                <a:ea typeface="Calibri"/>
                <a:cs typeface="Calibri"/>
                <a:sym typeface="Calibri"/>
              </a:rPr>
              <a:t>10–15%</a:t>
            </a:r>
            <a:endParaRPr/>
          </a:p>
        </p:txBody>
      </p:sp>
      <p:sp>
        <p:nvSpPr>
          <p:cNvPr id="243" name="Google Shape;243;p9"/>
          <p:cNvSpPr txBox="1"/>
          <p:nvPr/>
        </p:nvSpPr>
        <p:spPr>
          <a:xfrm>
            <a:off x="320040" y="23774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Producers → Primary</a:t>
            </a:r>
            <a:endParaRPr/>
          </a:p>
        </p:txBody>
      </p:sp>
      <p:sp>
        <p:nvSpPr>
          <p:cNvPr id="244" name="Google Shape;244;p9"/>
          <p:cNvSpPr txBox="1"/>
          <p:nvPr/>
        </p:nvSpPr>
        <p:spPr>
          <a:xfrm>
            <a:off x="320040" y="2834640"/>
            <a:ext cx="2468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Energy transfer efficiency from plants to herbivores.</a:t>
            </a:r>
            <a:br>
              <a:rPr b="0" i="0" lang="en-US" sz="1000" u="none" cap="none" strike="noStrike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Limited by plant digestibility and herbivore metabolic costs.</a:t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3063240" y="1188720"/>
            <a:ext cx="2651760" cy="329184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3063240" y="1188720"/>
            <a:ext cx="2651760" cy="91440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 txBox="1"/>
          <p:nvPr/>
        </p:nvSpPr>
        <p:spPr>
          <a:xfrm>
            <a:off x="3063240" y="146304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D4756B"/>
                </a:solidFill>
                <a:latin typeface="Calibri"/>
                <a:ea typeface="Calibri"/>
                <a:cs typeface="Calibri"/>
                <a:sym typeface="Calibri"/>
              </a:rPr>
              <a:t>10–12%</a:t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3154680" y="23774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Primary → Secondary</a:t>
            </a:r>
            <a:endParaRPr/>
          </a:p>
        </p:txBody>
      </p:sp>
      <p:sp>
        <p:nvSpPr>
          <p:cNvPr id="249" name="Google Shape;249;p9"/>
          <p:cNvSpPr txBox="1"/>
          <p:nvPr/>
        </p:nvSpPr>
        <p:spPr>
          <a:xfrm>
            <a:off x="3154680" y="2834640"/>
            <a:ext cx="2468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Energy retained from herbivores to first-level carnivores.</a:t>
            </a:r>
            <a:br>
              <a:rPr b="0" i="0" lang="en-US" sz="1000" u="none" cap="none" strike="noStrike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Reflects metabolic and activity costs of mobile predators.</a:t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5897880" y="1188720"/>
            <a:ext cx="2651760" cy="329184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897880" y="1188720"/>
            <a:ext cx="265176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5897880" y="146304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5–10%</a:t>
            </a:r>
            <a:endParaRPr/>
          </a:p>
        </p:txBody>
      </p:sp>
      <p:sp>
        <p:nvSpPr>
          <p:cNvPr id="253" name="Google Shape;253;p9"/>
          <p:cNvSpPr txBox="1"/>
          <p:nvPr/>
        </p:nvSpPr>
        <p:spPr>
          <a:xfrm>
            <a:off x="5989320" y="23774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Secondary → Tertiary</a:t>
            </a:r>
            <a:endParaRPr/>
          </a:p>
        </p:txBody>
      </p:sp>
      <p:sp>
        <p:nvSpPr>
          <p:cNvPr id="254" name="Google Shape;254;p9"/>
          <p:cNvSpPr txBox="1"/>
          <p:nvPr/>
        </p:nvSpPr>
        <p:spPr>
          <a:xfrm>
            <a:off x="5989320" y="2834640"/>
            <a:ext cx="2468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Transfer efficiency to top predators.</a:t>
            </a:r>
            <a:br>
              <a:rPr b="0" i="0" lang="en-US" sz="1000" u="none" cap="none" strike="noStrike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Lowest rate — apex predators are energetically expensive to support.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Energy Flow Simulation Approaches</a:t>
            </a:r>
            <a:endParaRPr/>
          </a:p>
        </p:txBody>
      </p:sp>
      <p:sp>
        <p:nvSpPr>
          <p:cNvPr id="263" name="Google Shape;263;p10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Models range from simple compartment equations to spatially explicit agent-based simulations.</a:t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182880" y="1024128"/>
            <a:ext cx="269748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182880" y="1024128"/>
            <a:ext cx="2697480" cy="438912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 txBox="1"/>
          <p:nvPr/>
        </p:nvSpPr>
        <p:spPr>
          <a:xfrm>
            <a:off x="274320" y="10789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Simple Models</a:t>
            </a:r>
            <a:endParaRPr/>
          </a:p>
        </p:txBody>
      </p:sp>
      <p:sp>
        <p:nvSpPr>
          <p:cNvPr id="267" name="Google Shape;267;p10"/>
          <p:cNvSpPr txBox="1"/>
          <p:nvPr/>
        </p:nvSpPr>
        <p:spPr>
          <a:xfrm>
            <a:off x="292608" y="1536192"/>
            <a:ext cx="247802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Difference equations with transfer coefficients.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N-compartment ODE models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E(t+1) = E(t) × ε  (transfer efficiency)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Easy to parameterize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Ideal for teaching and quick estimates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Best for: classroom models, quick sensitivity analysis.</a:t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2999232" y="1024128"/>
            <a:ext cx="269748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2999232" y="1024128"/>
            <a:ext cx="2697480" cy="438912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 txBox="1"/>
          <p:nvPr/>
        </p:nvSpPr>
        <p:spPr>
          <a:xfrm>
            <a:off x="3090672" y="10789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Complex Models</a:t>
            </a:r>
            <a:endParaRPr/>
          </a:p>
        </p:txBody>
      </p:sp>
      <p:sp>
        <p:nvSpPr>
          <p:cNvPr id="271" name="Google Shape;271;p10"/>
          <p:cNvSpPr txBox="1"/>
          <p:nvPr/>
        </p:nvSpPr>
        <p:spPr>
          <a:xfrm>
            <a:off x="3108960" y="1536192"/>
            <a:ext cx="247802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Agent-based and spatially explicit models.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Agent-based: individual energy tracking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Grid-based: spatial heterogeneity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Network flow with feedback loops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Ecopath with Ecosim (EwE)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Best for: real ecosystem management.</a:t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5815584" y="1024128"/>
            <a:ext cx="269748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5815584" y="1024128"/>
            <a:ext cx="2697480" cy="438912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5907024" y="10789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/>
          </a:p>
        </p:txBody>
      </p:sp>
      <p:sp>
        <p:nvSpPr>
          <p:cNvPr id="275" name="Google Shape;275;p10"/>
          <p:cNvSpPr txBox="1"/>
          <p:nvPr/>
        </p:nvSpPr>
        <p:spPr>
          <a:xfrm>
            <a:off x="5925312" y="1536192"/>
            <a:ext cx="247802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Conservation laws must be enforced.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Energy cannot be created or destroyed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Validate against empirical data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Python: scipy.integrate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R: deSolve, EcoSimR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Always check energy balance at each step.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 txBox="1"/>
          <p:nvPr/>
        </p:nvSpPr>
        <p:spPr>
          <a:xfrm>
            <a:off x="594360" y="9144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Ecosystem Analysis Exercise</a:t>
            </a:r>
            <a:endParaRPr/>
          </a:p>
        </p:txBody>
      </p:sp>
      <p:sp>
        <p:nvSpPr>
          <p:cNvPr id="284" name="Google Shape;284;p11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Apply energy flow concepts to a real ecosystem.</a:t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182880" y="1024128"/>
            <a:ext cx="8732520" cy="2112264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365760" y="1234440"/>
            <a:ext cx="457200" cy="457200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 txBox="1"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8" name="Google Shape;288;p11"/>
          <p:cNvSpPr txBox="1"/>
          <p:nvPr/>
        </p:nvSpPr>
        <p:spPr>
          <a:xfrm>
            <a:off x="960120" y="1143000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Select an Ecosystem</a:t>
            </a:r>
            <a:endParaRPr/>
          </a:p>
        </p:txBody>
      </p:sp>
      <p:sp>
        <p:nvSpPr>
          <p:cNvPr id="289" name="Google Shape;289;p11"/>
          <p:cNvSpPr txBox="1"/>
          <p:nvPr/>
        </p:nvSpPr>
        <p:spPr>
          <a:xfrm>
            <a:off x="3291840" y="1143000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Choose from: forest, coral reef, grassland, or farm system.</a:t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365760" y="2057400"/>
            <a:ext cx="457200" cy="457200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 txBox="1"/>
          <p:nvPr/>
        </p:nvSpPr>
        <p:spPr>
          <a:xfrm>
            <a:off x="365760" y="205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92" name="Google Shape;292;p11"/>
          <p:cNvSpPr txBox="1"/>
          <p:nvPr/>
        </p:nvSpPr>
        <p:spPr>
          <a:xfrm>
            <a:off x="960120" y="1965960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Create Energy Flow Diagram</a:t>
            </a:r>
            <a:endParaRPr/>
          </a:p>
        </p:txBody>
      </p:sp>
      <p:sp>
        <p:nvSpPr>
          <p:cNvPr id="293" name="Google Shape;293;p11"/>
          <p:cNvSpPr txBox="1"/>
          <p:nvPr/>
        </p:nvSpPr>
        <p:spPr>
          <a:xfrm>
            <a:off x="3291840" y="1965960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Map energy inputs, producers, consumers, and decomposers with approximate kcal values.</a:t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365760" y="2880360"/>
            <a:ext cx="457200" cy="457200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 txBox="1"/>
          <p:nvPr/>
        </p:nvSpPr>
        <p:spPr>
          <a:xfrm>
            <a:off x="36576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96" name="Google Shape;296;p11"/>
          <p:cNvSpPr txBox="1"/>
          <p:nvPr/>
        </p:nvSpPr>
        <p:spPr>
          <a:xfrm>
            <a:off x="960120" y="2788920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Apply the 10% Rule</a:t>
            </a:r>
            <a:endParaRPr/>
          </a:p>
        </p:txBody>
      </p:sp>
      <p:sp>
        <p:nvSpPr>
          <p:cNvPr id="297" name="Google Shape;297;p11"/>
          <p:cNvSpPr txBox="1"/>
          <p:nvPr/>
        </p:nvSpPr>
        <p:spPr>
          <a:xfrm>
            <a:off x="3291840" y="2788920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Calculate expected energy at each trophic level. Identify where losses are greatest.</a:t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365760" y="3703320"/>
            <a:ext cx="457200" cy="457200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 txBox="1"/>
          <p:nvPr/>
        </p:nvSpPr>
        <p:spPr>
          <a:xfrm>
            <a:off x="365760" y="3703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00" name="Google Shape;300;p11"/>
          <p:cNvSpPr txBox="1"/>
          <p:nvPr/>
        </p:nvSpPr>
        <p:spPr>
          <a:xfrm>
            <a:off x="960120" y="3611880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Analyze Vulnerabilities</a:t>
            </a:r>
            <a:endParaRPr/>
          </a:p>
        </p:txBody>
      </p:sp>
      <p:sp>
        <p:nvSpPr>
          <p:cNvPr id="301" name="Google Shape;301;p11"/>
          <p:cNvSpPr txBox="1"/>
          <p:nvPr/>
        </p:nvSpPr>
        <p:spPr>
          <a:xfrm>
            <a:off x="3291840" y="3611880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Discuss climate change impacts on energy flow and propose conservation solutions.</a:t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182880" y="4636008"/>
            <a:ext cx="8732520" cy="347472"/>
          </a:xfrm>
          <a:prstGeom prst="rect">
            <a:avLst/>
          </a:prstGeom>
          <a:solidFill>
            <a:srgbClr val="F7F3E8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 txBox="1"/>
          <p:nvPr/>
        </p:nvSpPr>
        <p:spPr>
          <a:xfrm>
            <a:off x="320040" y="4663440"/>
            <a:ext cx="8458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Work in teams. Identify where energy efficiency peaks and where losses occur. Consider system boundaries carefully.</a:t>
            </a:r>
            <a:endParaRPr/>
          </a:p>
        </p:txBody>
      </p:sp>
      <p:sp>
        <p:nvSpPr>
          <p:cNvPr id="304" name="Google Shape;304;p11"/>
          <p:cNvSpPr txBox="1"/>
          <p:nvPr/>
        </p:nvSpPr>
        <p:spPr>
          <a:xfrm>
            <a:off x="3844950" y="-4465"/>
            <a:ext cx="46132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https://docs.google.com/spreadsheets/d/1auUv9uh2k9ZILqzDjUGj9XsnF-Pwp0JBEBJT-ibYAYU/edit?usp=sharing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756B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"/>
          <p:cNvSpPr/>
          <p:nvPr/>
        </p:nvSpPr>
        <p:spPr>
          <a:xfrm>
            <a:off x="5943600" y="-548640"/>
            <a:ext cx="3017520" cy="3017520"/>
          </a:xfrm>
          <a:prstGeom prst="ellipse">
            <a:avLst/>
          </a:prstGeom>
          <a:solidFill>
            <a:srgbClr val="FFFFFF">
              <a:alpha val="14901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6766560" y="2377440"/>
            <a:ext cx="1645920" cy="164592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 txBox="1"/>
          <p:nvPr/>
        </p:nvSpPr>
        <p:spPr>
          <a:xfrm>
            <a:off x="411480" y="50292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2" name="Google Shape;312;p12"/>
          <p:cNvSpPr txBox="1"/>
          <p:nvPr/>
        </p:nvSpPr>
        <p:spPr>
          <a:xfrm>
            <a:off x="411480" y="1691640"/>
            <a:ext cx="5943600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Statistical Techniques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Ecological Data (recap)</a:t>
            </a:r>
            <a:endParaRPr b="1" sz="3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Introduction to Ecological Data Analysis</a:t>
            </a:r>
            <a:endParaRPr/>
          </a:p>
        </p:txBody>
      </p:sp>
      <p:sp>
        <p:nvSpPr>
          <p:cNvPr id="321" name="Google Shape;321;p13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Statistical methods transform raw field observations into ecological insights.</a:t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182880" y="1024128"/>
            <a:ext cx="269748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182880" y="1024128"/>
            <a:ext cx="2697480" cy="438912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 txBox="1"/>
          <p:nvPr/>
        </p:nvSpPr>
        <p:spPr>
          <a:xfrm>
            <a:off x="274320" y="10789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Ecological Data</a:t>
            </a:r>
            <a:endParaRPr/>
          </a:p>
        </p:txBody>
      </p:sp>
      <p:sp>
        <p:nvSpPr>
          <p:cNvPr id="325" name="Google Shape;325;p13"/>
          <p:cNvSpPr txBox="1"/>
          <p:nvPr/>
        </p:nvSpPr>
        <p:spPr>
          <a:xfrm>
            <a:off x="292608" y="1536192"/>
            <a:ext cx="247802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Information about natural systems, populations, species, and habitats.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Population counts &amp; densities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Species occurrence records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Environmental measurements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Time-series abundance data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Characterized by high natural variability.</a:t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2999232" y="1024128"/>
            <a:ext cx="269748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2999232" y="1024128"/>
            <a:ext cx="2697480" cy="438912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 txBox="1"/>
          <p:nvPr/>
        </p:nvSpPr>
        <p:spPr>
          <a:xfrm>
            <a:off x="3090672" y="10789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Unique Challenges</a:t>
            </a:r>
            <a:endParaRPr/>
          </a:p>
        </p:txBody>
      </p:sp>
      <p:sp>
        <p:nvSpPr>
          <p:cNvPr id="329" name="Google Shape;329;p13"/>
          <p:cNvSpPr txBox="1"/>
          <p:nvPr/>
        </p:nvSpPr>
        <p:spPr>
          <a:xfrm>
            <a:off x="3108960" y="1536192"/>
            <a:ext cx="247802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Ecological data violate many classical statistical assumptions.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High variability between sites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Small and unbalanced samples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Multiple correlated variables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Spatial &amp; temporal autocorrelation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Requires specialized methods.</a:t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5815584" y="1024128"/>
            <a:ext cx="269748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5815584" y="1024128"/>
            <a:ext cx="2697480" cy="438912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 txBox="1"/>
          <p:nvPr/>
        </p:nvSpPr>
        <p:spPr>
          <a:xfrm>
            <a:off x="5907024" y="10789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 Objectives</a:t>
            </a:r>
            <a:endParaRPr/>
          </a:p>
        </p:txBody>
      </p:sp>
      <p:sp>
        <p:nvSpPr>
          <p:cNvPr id="333" name="Google Shape;333;p13"/>
          <p:cNvSpPr txBox="1"/>
          <p:nvPr/>
        </p:nvSpPr>
        <p:spPr>
          <a:xfrm>
            <a:off x="5925312" y="1536192"/>
            <a:ext cx="247802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Turn data into ecological understanding.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Identify trends over time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Understand species interactions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Predict responses to change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Test mechanistic hypotheses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Always link stats back to biology.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Descriptive Statistics in Ecological Context</a:t>
            </a:r>
            <a:endParaRPr/>
          </a:p>
        </p:txBody>
      </p:sp>
      <p:sp>
        <p:nvSpPr>
          <p:cNvPr id="342" name="Google Shape;342;p14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Summarize the central tendency, spread, and shape of ecological data distributions.</a:t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182880" y="1024128"/>
            <a:ext cx="269748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182880" y="1024128"/>
            <a:ext cx="2697480" cy="438912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 txBox="1"/>
          <p:nvPr/>
        </p:nvSpPr>
        <p:spPr>
          <a:xfrm>
            <a:off x="274320" y="10789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Basic Measures</a:t>
            </a:r>
            <a:endParaRPr/>
          </a:p>
        </p:txBody>
      </p:sp>
      <p:sp>
        <p:nvSpPr>
          <p:cNvPr id="346" name="Google Shape;346;p14"/>
          <p:cNvSpPr txBox="1"/>
          <p:nvPr/>
        </p:nvSpPr>
        <p:spPr>
          <a:xfrm>
            <a:off x="292608" y="1536192"/>
            <a:ext cx="247802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Mean, median, and mode.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Range, standard deviation, variance.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Coefficient of variation (CV).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Use median when data are skewed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CV useful for comparing variability across populations</a:t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2999232" y="1024128"/>
            <a:ext cx="269748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2999232" y="1024128"/>
            <a:ext cx="2697480" cy="438912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 txBox="1"/>
          <p:nvPr/>
        </p:nvSpPr>
        <p:spPr>
          <a:xfrm>
            <a:off x="3090672" y="10789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Ecological Applications</a:t>
            </a:r>
            <a:endParaRPr/>
          </a:p>
        </p:txBody>
      </p:sp>
      <p:sp>
        <p:nvSpPr>
          <p:cNvPr id="350" name="Google Shape;350;p14"/>
          <p:cNvSpPr txBox="1"/>
          <p:nvPr/>
        </p:nvSpPr>
        <p:spPr>
          <a:xfrm>
            <a:off x="3108960" y="1536192"/>
            <a:ext cx="247802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Average population size across sites.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Species density variation within habitats.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Spatial distribution of organisms.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Example — Plant density: 12.5 per m² (SD: 3.2)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Example — Fish length: Mean 18.7 cm, Median 16.2 cm</a:t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5815584" y="1024128"/>
            <a:ext cx="269748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5815584" y="1024128"/>
            <a:ext cx="2697480" cy="438912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 txBox="1"/>
          <p:nvPr/>
        </p:nvSpPr>
        <p:spPr>
          <a:xfrm>
            <a:off x="5907024" y="10789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Interpreting Results</a:t>
            </a:r>
            <a:endParaRPr/>
          </a:p>
        </p:txBody>
      </p:sp>
      <p:sp>
        <p:nvSpPr>
          <p:cNvPr id="354" name="Google Shape;354;p14"/>
          <p:cNvSpPr txBox="1"/>
          <p:nvPr/>
        </p:nvSpPr>
        <p:spPr>
          <a:xfrm>
            <a:off x="5925312" y="1536192"/>
            <a:ext cx="247802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Mean &gt; Median implies right-skewed distribution.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Some large individuals inflate the mean.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Higher mean than median suggests large outliers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Use IQR for robust spread estimates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Always visualize before analyzing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The Four Main Variable Types</a:t>
            </a:r>
            <a:endParaRPr/>
          </a:p>
        </p:txBody>
      </p:sp>
      <p:sp>
        <p:nvSpPr>
          <p:cNvPr id="363" name="Google Shape;363;p15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Selecting the correct variable type determines which statistical tests are valid.</a:t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228600" y="1078992"/>
            <a:ext cx="1645920" cy="384048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 txBox="1"/>
          <p:nvPr/>
        </p:nvSpPr>
        <p:spPr>
          <a:xfrm>
            <a:off x="283464" y="1133856"/>
            <a:ext cx="15361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 Type</a:t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1874520" y="1078992"/>
            <a:ext cx="2468880" cy="384048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 txBox="1"/>
          <p:nvPr/>
        </p:nvSpPr>
        <p:spPr>
          <a:xfrm>
            <a:off x="1929384" y="1133856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4343400" y="1078992"/>
            <a:ext cx="2560320" cy="384048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 txBox="1"/>
          <p:nvPr/>
        </p:nvSpPr>
        <p:spPr>
          <a:xfrm>
            <a:off x="4398264" y="1133856"/>
            <a:ext cx="2450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Ecological Example</a:t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6903720" y="1078992"/>
            <a:ext cx="2011680" cy="384048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 txBox="1"/>
          <p:nvPr/>
        </p:nvSpPr>
        <p:spPr>
          <a:xfrm>
            <a:off x="6958584" y="1133856"/>
            <a:ext cx="19019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Property</a:t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228600" y="1463040"/>
            <a:ext cx="1645920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 txBox="1"/>
          <p:nvPr/>
        </p:nvSpPr>
        <p:spPr>
          <a:xfrm>
            <a:off x="283464" y="1499616"/>
            <a:ext cx="15361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Nominal</a:t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1874520" y="1463040"/>
            <a:ext cx="2468880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 txBox="1"/>
          <p:nvPr/>
        </p:nvSpPr>
        <p:spPr>
          <a:xfrm>
            <a:off x="1929384" y="1499616"/>
            <a:ext cx="2359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Categories with no order</a:t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4343400" y="1463040"/>
            <a:ext cx="2560320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 txBox="1"/>
          <p:nvPr/>
        </p:nvSpPr>
        <p:spPr>
          <a:xfrm>
            <a:off x="4398264" y="1499616"/>
            <a:ext cx="24505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Species names, habitat types</a:t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6903720" y="1463040"/>
            <a:ext cx="2011680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 txBox="1"/>
          <p:nvPr/>
        </p:nvSpPr>
        <p:spPr>
          <a:xfrm>
            <a:off x="6958584" y="1499616"/>
            <a:ext cx="19019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Identity only</a:t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228600" y="1847088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 txBox="1"/>
          <p:nvPr/>
        </p:nvSpPr>
        <p:spPr>
          <a:xfrm>
            <a:off x="283464" y="1883664"/>
            <a:ext cx="15361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Ordinal</a:t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1874520" y="1847088"/>
            <a:ext cx="24688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 txBox="1"/>
          <p:nvPr/>
        </p:nvSpPr>
        <p:spPr>
          <a:xfrm>
            <a:off x="1929384" y="1883664"/>
            <a:ext cx="2359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Categories with meaningful order</a:t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4343400" y="1847088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 txBox="1"/>
          <p:nvPr/>
        </p:nvSpPr>
        <p:spPr>
          <a:xfrm>
            <a:off x="4398264" y="1883664"/>
            <a:ext cx="24505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Disturbance severity (low/med/high)</a:t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6903720" y="1847088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 txBox="1"/>
          <p:nvPr/>
        </p:nvSpPr>
        <p:spPr>
          <a:xfrm>
            <a:off x="6958584" y="1883664"/>
            <a:ext cx="19019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Order, not equal intervals</a:t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228600" y="2231136"/>
            <a:ext cx="1645920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 txBox="1"/>
          <p:nvPr/>
        </p:nvSpPr>
        <p:spPr>
          <a:xfrm>
            <a:off x="283464" y="2267712"/>
            <a:ext cx="15361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Interval</a:t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1874520" y="2231136"/>
            <a:ext cx="2468880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 txBox="1"/>
          <p:nvPr/>
        </p:nvSpPr>
        <p:spPr>
          <a:xfrm>
            <a:off x="1929384" y="2267712"/>
            <a:ext cx="2359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Equal intervals, no true zero</a:t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4343400" y="2231136"/>
            <a:ext cx="2560320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 txBox="1"/>
          <p:nvPr/>
        </p:nvSpPr>
        <p:spPr>
          <a:xfrm>
            <a:off x="4398264" y="2267712"/>
            <a:ext cx="24505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Temperature (°C), pH</a:t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6903720" y="2231136"/>
            <a:ext cx="2011680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 txBox="1"/>
          <p:nvPr/>
        </p:nvSpPr>
        <p:spPr>
          <a:xfrm>
            <a:off x="6958584" y="2267712"/>
            <a:ext cx="19019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Differences meaningful</a:t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228600" y="2615184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 txBox="1"/>
          <p:nvPr/>
        </p:nvSpPr>
        <p:spPr>
          <a:xfrm>
            <a:off x="283464" y="2651760"/>
            <a:ext cx="15361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Ratio</a:t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1874520" y="2615184"/>
            <a:ext cx="24688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 txBox="1"/>
          <p:nvPr/>
        </p:nvSpPr>
        <p:spPr>
          <a:xfrm>
            <a:off x="1929384" y="2651760"/>
            <a:ext cx="2359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Equal intervals, true zero</a:t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4343400" y="2615184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 txBox="1"/>
          <p:nvPr/>
        </p:nvSpPr>
        <p:spPr>
          <a:xfrm>
            <a:off x="4398264" y="2651760"/>
            <a:ext cx="24505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Biomass (g), population count</a:t>
            </a: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6903720" y="2615184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 txBox="1"/>
          <p:nvPr/>
        </p:nvSpPr>
        <p:spPr>
          <a:xfrm>
            <a:off x="6958584" y="2651760"/>
            <a:ext cx="19019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Ratios meaningful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Choosing the Right Analysis for Each Variable Type</a:t>
            </a:r>
            <a:endParaRPr/>
          </a:p>
        </p:txBody>
      </p:sp>
      <p:sp>
        <p:nvSpPr>
          <p:cNvPr id="412" name="Google Shape;412;p16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Using mean-based statistics on nominal data can lead to misleading conclusions.</a:t>
            </a: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228600" y="1078992"/>
            <a:ext cx="1554480" cy="384048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 txBox="1"/>
          <p:nvPr/>
        </p:nvSpPr>
        <p:spPr>
          <a:xfrm>
            <a:off x="283464" y="1133856"/>
            <a:ext cx="1444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 Type</a:t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1783080" y="1078992"/>
            <a:ext cx="2286000" cy="384048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 txBox="1"/>
          <p:nvPr/>
        </p:nvSpPr>
        <p:spPr>
          <a:xfrm>
            <a:off x="1837944" y="1133856"/>
            <a:ext cx="21762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Appropriate Measures</a:t>
            </a:r>
            <a:endParaRPr/>
          </a:p>
        </p:txBody>
      </p:sp>
      <p:sp>
        <p:nvSpPr>
          <p:cNvPr id="417" name="Google Shape;417;p16"/>
          <p:cNvSpPr/>
          <p:nvPr/>
        </p:nvSpPr>
        <p:spPr>
          <a:xfrm>
            <a:off x="4069080" y="1078992"/>
            <a:ext cx="2377440" cy="384048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 txBox="1"/>
          <p:nvPr/>
        </p:nvSpPr>
        <p:spPr>
          <a:xfrm>
            <a:off x="4123944" y="1133856"/>
            <a:ext cx="2267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6446520" y="1078992"/>
            <a:ext cx="2468880" cy="384048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 txBox="1"/>
          <p:nvPr/>
        </p:nvSpPr>
        <p:spPr>
          <a:xfrm>
            <a:off x="6501384" y="1133856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Statistical Tests</a:t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228600" y="1463040"/>
            <a:ext cx="1554480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 txBox="1"/>
          <p:nvPr/>
        </p:nvSpPr>
        <p:spPr>
          <a:xfrm>
            <a:off x="283464" y="1499616"/>
            <a:ext cx="1444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Nominal</a:t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1783080" y="1463040"/>
            <a:ext cx="2286000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 txBox="1"/>
          <p:nvPr/>
        </p:nvSpPr>
        <p:spPr>
          <a:xfrm>
            <a:off x="1837944" y="1499616"/>
            <a:ext cx="21762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Mode, frequency, proportion</a:t>
            </a: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4069080" y="1463040"/>
            <a:ext cx="2377440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 txBox="1"/>
          <p:nvPr/>
        </p:nvSpPr>
        <p:spPr>
          <a:xfrm>
            <a:off x="4123944" y="1499616"/>
            <a:ext cx="2267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Bar charts, pie charts</a:t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6446520" y="1463040"/>
            <a:ext cx="2468880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 txBox="1"/>
          <p:nvPr/>
        </p:nvSpPr>
        <p:spPr>
          <a:xfrm>
            <a:off x="6501384" y="1499616"/>
            <a:ext cx="2359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Chi-square, Fisher's exact</a:t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228600" y="1847088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 txBox="1"/>
          <p:nvPr/>
        </p:nvSpPr>
        <p:spPr>
          <a:xfrm>
            <a:off x="283464" y="1883664"/>
            <a:ext cx="1444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Ordinal</a:t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1783080" y="1847088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 txBox="1"/>
          <p:nvPr/>
        </p:nvSpPr>
        <p:spPr>
          <a:xfrm>
            <a:off x="1837944" y="1883664"/>
            <a:ext cx="21762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Median, percentiles, IQR</a:t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4069080" y="1847088"/>
            <a:ext cx="23774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 txBox="1"/>
          <p:nvPr/>
        </p:nvSpPr>
        <p:spPr>
          <a:xfrm>
            <a:off x="4123944" y="1883664"/>
            <a:ext cx="2267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Ordered bar charts, stacked bars</a:t>
            </a: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6446520" y="1847088"/>
            <a:ext cx="24688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 txBox="1"/>
          <p:nvPr/>
        </p:nvSpPr>
        <p:spPr>
          <a:xfrm>
            <a:off x="6501384" y="1883664"/>
            <a:ext cx="2359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Mann-Whitney, Kruskal-Wallis</a:t>
            </a:r>
            <a:endParaRPr/>
          </a:p>
        </p:txBody>
      </p:sp>
      <p:sp>
        <p:nvSpPr>
          <p:cNvPr id="437" name="Google Shape;437;p16"/>
          <p:cNvSpPr/>
          <p:nvPr/>
        </p:nvSpPr>
        <p:spPr>
          <a:xfrm>
            <a:off x="228600" y="2231136"/>
            <a:ext cx="1554480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 txBox="1"/>
          <p:nvPr/>
        </p:nvSpPr>
        <p:spPr>
          <a:xfrm>
            <a:off x="283464" y="2267712"/>
            <a:ext cx="1444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Interval</a:t>
            </a:r>
            <a:endParaRPr/>
          </a:p>
        </p:txBody>
      </p:sp>
      <p:sp>
        <p:nvSpPr>
          <p:cNvPr id="439" name="Google Shape;439;p16"/>
          <p:cNvSpPr/>
          <p:nvPr/>
        </p:nvSpPr>
        <p:spPr>
          <a:xfrm>
            <a:off x="1783080" y="2231136"/>
            <a:ext cx="2286000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 txBox="1"/>
          <p:nvPr/>
        </p:nvSpPr>
        <p:spPr>
          <a:xfrm>
            <a:off x="1837944" y="2267712"/>
            <a:ext cx="21762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Mean, standard deviation</a:t>
            </a: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4069080" y="2231136"/>
            <a:ext cx="2377440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 txBox="1"/>
          <p:nvPr/>
        </p:nvSpPr>
        <p:spPr>
          <a:xfrm>
            <a:off x="4123944" y="2267712"/>
            <a:ext cx="2267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Histograms, box plots</a:t>
            </a: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6446520" y="2231136"/>
            <a:ext cx="2468880" cy="384048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 txBox="1"/>
          <p:nvPr/>
        </p:nvSpPr>
        <p:spPr>
          <a:xfrm>
            <a:off x="6501384" y="2267712"/>
            <a:ext cx="2359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t-tests, ANOVA</a:t>
            </a:r>
            <a:endParaRPr/>
          </a:p>
        </p:txBody>
      </p:sp>
      <p:sp>
        <p:nvSpPr>
          <p:cNvPr id="445" name="Google Shape;445;p16"/>
          <p:cNvSpPr/>
          <p:nvPr/>
        </p:nvSpPr>
        <p:spPr>
          <a:xfrm>
            <a:off x="228600" y="2615184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 txBox="1"/>
          <p:nvPr/>
        </p:nvSpPr>
        <p:spPr>
          <a:xfrm>
            <a:off x="283464" y="2651760"/>
            <a:ext cx="1444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Ratio</a:t>
            </a:r>
            <a:endParaRPr/>
          </a:p>
        </p:txBody>
      </p:sp>
      <p:sp>
        <p:nvSpPr>
          <p:cNvPr id="447" name="Google Shape;447;p16"/>
          <p:cNvSpPr/>
          <p:nvPr/>
        </p:nvSpPr>
        <p:spPr>
          <a:xfrm>
            <a:off x="1783080" y="2615184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 txBox="1"/>
          <p:nvPr/>
        </p:nvSpPr>
        <p:spPr>
          <a:xfrm>
            <a:off x="1837944" y="2651760"/>
            <a:ext cx="21762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All above + ratios, CV</a:t>
            </a: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4069080" y="2615184"/>
            <a:ext cx="23774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 txBox="1"/>
          <p:nvPr/>
        </p:nvSpPr>
        <p:spPr>
          <a:xfrm>
            <a:off x="4123944" y="2651760"/>
            <a:ext cx="2267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All above + scatter plots</a:t>
            </a:r>
            <a:endParaRPr/>
          </a:p>
        </p:txBody>
      </p:sp>
      <p:sp>
        <p:nvSpPr>
          <p:cNvPr id="451" name="Google Shape;451;p16"/>
          <p:cNvSpPr/>
          <p:nvPr/>
        </p:nvSpPr>
        <p:spPr>
          <a:xfrm>
            <a:off x="6446520" y="2615184"/>
            <a:ext cx="24688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 txBox="1"/>
          <p:nvPr/>
        </p:nvSpPr>
        <p:spPr>
          <a:xfrm>
            <a:off x="6501384" y="2651760"/>
            <a:ext cx="2359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All parametric + non-parametric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Visualization of Ecological Data</a:t>
            </a:r>
            <a:endParaRPr/>
          </a:p>
        </p:txBody>
      </p:sp>
      <p:sp>
        <p:nvSpPr>
          <p:cNvPr id="461" name="Google Shape;461;p17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The right plot reveals patterns that tables cannot. Always visualize before modeling.</a:t>
            </a:r>
            <a:endParaRPr/>
          </a:p>
        </p:txBody>
      </p:sp>
      <p:sp>
        <p:nvSpPr>
          <p:cNvPr id="462" name="Google Shape;462;p17"/>
          <p:cNvSpPr/>
          <p:nvPr/>
        </p:nvSpPr>
        <p:spPr>
          <a:xfrm>
            <a:off x="182880" y="1024128"/>
            <a:ext cx="269748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182880" y="1024128"/>
            <a:ext cx="2697480" cy="438912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 txBox="1"/>
          <p:nvPr/>
        </p:nvSpPr>
        <p:spPr>
          <a:xfrm>
            <a:off x="274320" y="10789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Chart Types</a:t>
            </a:r>
            <a:endParaRPr/>
          </a:p>
        </p:txBody>
      </p:sp>
      <p:sp>
        <p:nvSpPr>
          <p:cNvPr id="465" name="Google Shape;465;p17"/>
          <p:cNvSpPr txBox="1"/>
          <p:nvPr/>
        </p:nvSpPr>
        <p:spPr>
          <a:xfrm>
            <a:off x="292608" y="1536192"/>
            <a:ext cx="247802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Histograms and box plots — distribution shape.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Scatter plots — relationships between variables.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Heat maps — spatial or community data.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Time series graphs — population dynamics.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Example: Species richness shows hump-shaped relationship with elevation. Peak diversity at 1500-2000 m.</a:t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2999232" y="1024128"/>
            <a:ext cx="269748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2999232" y="1024128"/>
            <a:ext cx="2697480" cy="438912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 txBox="1"/>
          <p:nvPr/>
        </p:nvSpPr>
        <p:spPr>
          <a:xfrm>
            <a:off x="3090672" y="10789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Visualization Tools</a:t>
            </a:r>
            <a:endParaRPr/>
          </a:p>
        </p:txBody>
      </p:sp>
      <p:sp>
        <p:nvSpPr>
          <p:cNvPr id="469" name="Google Shape;469;p17"/>
          <p:cNvSpPr txBox="1"/>
          <p:nvPr/>
        </p:nvSpPr>
        <p:spPr>
          <a:xfrm>
            <a:off x="3108960" y="1536192"/>
            <a:ext cx="2478024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Python: matplotlib, seaborn.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D3.js for interactive web views: </a:t>
            </a:r>
            <a:r>
              <a:rPr lang="en-US" sz="1050" u="sng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https://d3js.org/</a:t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Geographical data:</a:t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u="sng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https://qgis.org/</a:t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Choose tool for your audience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Reproducible figures from code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Export at </a:t>
            </a:r>
            <a:r>
              <a:rPr b="1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300 dpi </a:t>
            </a: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for publication</a:t>
            </a:r>
            <a:endParaRPr/>
          </a:p>
        </p:txBody>
      </p:sp>
      <p:sp>
        <p:nvSpPr>
          <p:cNvPr id="470" name="Google Shape;470;p17"/>
          <p:cNvSpPr/>
          <p:nvPr/>
        </p:nvSpPr>
        <p:spPr>
          <a:xfrm>
            <a:off x="5815584" y="1024128"/>
            <a:ext cx="269748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5815584" y="1024128"/>
            <a:ext cx="2697480" cy="438912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5907024" y="10789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/>
          </a:p>
        </p:txBody>
      </p:sp>
      <p:sp>
        <p:nvSpPr>
          <p:cNvPr id="473" name="Google Shape;473;p17"/>
          <p:cNvSpPr txBox="1"/>
          <p:nvPr/>
        </p:nvSpPr>
        <p:spPr>
          <a:xfrm>
            <a:off x="5925312" y="1536192"/>
            <a:ext cx="2478024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Label all axes with units.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Show raw data alongside summaries.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Use color-blind-friendly palettes.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Caption figures self-sufficiently.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Error bars: show what they represent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Avoid 3D charts — they distort perception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Keep it simple: one message per plot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Hypothesis Testing in Ecology: t-tests</a:t>
            </a:r>
            <a:endParaRPr/>
          </a:p>
        </p:txBody>
      </p:sp>
      <p:sp>
        <p:nvSpPr>
          <p:cNvPr id="482" name="Google Shape;482;p18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Determine if observed differences between two groups exceed natural variation.</a:t>
            </a:r>
            <a:endParaRPr/>
          </a:p>
        </p:txBody>
      </p:sp>
      <p:sp>
        <p:nvSpPr>
          <p:cNvPr id="483" name="Google Shape;483;p18"/>
          <p:cNvSpPr/>
          <p:nvPr/>
        </p:nvSpPr>
        <p:spPr>
          <a:xfrm>
            <a:off x="182880" y="1752897"/>
            <a:ext cx="4206240" cy="2961626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8"/>
          <p:cNvSpPr/>
          <p:nvPr/>
        </p:nvSpPr>
        <p:spPr>
          <a:xfrm>
            <a:off x="182880" y="1752897"/>
            <a:ext cx="4206240" cy="389242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8"/>
          <p:cNvSpPr txBox="1"/>
          <p:nvPr/>
        </p:nvSpPr>
        <p:spPr>
          <a:xfrm>
            <a:off x="274320" y="1816905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t-test Framework</a:t>
            </a:r>
            <a:endParaRPr/>
          </a:p>
        </p:txBody>
      </p:sp>
      <p:sp>
        <p:nvSpPr>
          <p:cNvPr id="486" name="Google Shape;486;p18"/>
          <p:cNvSpPr txBox="1"/>
          <p:nvPr/>
        </p:nvSpPr>
        <p:spPr>
          <a:xfrm>
            <a:off x="310896" y="2264961"/>
            <a:ext cx="395020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Null Hypothesis (H₀): No difference between groups.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Alternative (H₁): A real difference exists.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 = (mean₁ - mean₂) / (pooled standard error)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Larger t-values = stronger evidence of difference.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p &lt; 0.05: Strong evidence (95% confident)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p &lt; 0.01: Very strong evidence (99% confident)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p &gt; 0.05: Insufficient evidence</a:t>
            </a:r>
            <a:endParaRPr/>
          </a:p>
        </p:txBody>
      </p:sp>
      <p:sp>
        <p:nvSpPr>
          <p:cNvPr id="487" name="Google Shape;487;p18"/>
          <p:cNvSpPr/>
          <p:nvPr/>
        </p:nvSpPr>
        <p:spPr>
          <a:xfrm>
            <a:off x="4526280" y="1752897"/>
            <a:ext cx="4206240" cy="2961626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8"/>
          <p:cNvSpPr/>
          <p:nvPr/>
        </p:nvSpPr>
        <p:spPr>
          <a:xfrm>
            <a:off x="4526280" y="1752897"/>
            <a:ext cx="4206240" cy="389242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8"/>
          <p:cNvSpPr txBox="1"/>
          <p:nvPr/>
        </p:nvSpPr>
        <p:spPr>
          <a:xfrm>
            <a:off x="4617720" y="1816905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Real-World Example</a:t>
            </a:r>
            <a:endParaRPr/>
          </a:p>
        </p:txBody>
      </p:sp>
      <p:sp>
        <p:nvSpPr>
          <p:cNvPr id="490" name="Google Shape;490;p18"/>
          <p:cNvSpPr txBox="1"/>
          <p:nvPr/>
        </p:nvSpPr>
        <p:spPr>
          <a:xfrm>
            <a:off x="4654296" y="2264961"/>
            <a:ext cx="395020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Comparing plant growth in shaded vs. sunlit plots: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Group A (shaded): Mean 8.3 cm, SD = 1.4, n = 20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Group B (sunlit): Mean 12.7 cm, SD = 1.9, n = 20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t-test result: t = 8.84, p &lt; 0.0001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Conclusion: Sunlit plots produce significantly taller plants — light availability has a strong positive effect.</a:t>
            </a:r>
            <a:endParaRPr/>
          </a:p>
        </p:txBody>
      </p:sp>
      <p:sp>
        <p:nvSpPr>
          <p:cNvPr id="491" name="Google Shape;491;p18"/>
          <p:cNvSpPr/>
          <p:nvPr/>
        </p:nvSpPr>
        <p:spPr>
          <a:xfrm>
            <a:off x="182880" y="4824251"/>
            <a:ext cx="8549640" cy="292608"/>
          </a:xfrm>
          <a:prstGeom prst="rect">
            <a:avLst/>
          </a:prstGeom>
          <a:solidFill>
            <a:srgbClr val="F7F3E8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8"/>
          <p:cNvSpPr txBox="1"/>
          <p:nvPr/>
        </p:nvSpPr>
        <p:spPr>
          <a:xfrm>
            <a:off x="274320" y="4824251"/>
            <a:ext cx="827532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⚠  The t-test assumes normality and equal variances.</a:t>
            </a:r>
            <a:endParaRPr/>
          </a:p>
        </p:txBody>
      </p:sp>
      <p:pic>
        <p:nvPicPr>
          <p:cNvPr id="493" name="Google Shape;4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4295" y="318219"/>
            <a:ext cx="3489645" cy="1114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Hypothesis Testing in Ecology: ANOVA</a:t>
            </a:r>
            <a:endParaRPr/>
          </a:p>
        </p:txBody>
      </p:sp>
      <p:sp>
        <p:nvSpPr>
          <p:cNvPr id="502" name="Google Shape;502;p19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Compare means across three or more groups simultaneously.</a:t>
            </a:r>
            <a:endParaRPr/>
          </a:p>
        </p:txBody>
      </p:sp>
      <p:sp>
        <p:nvSpPr>
          <p:cNvPr id="503" name="Google Shape;503;p19"/>
          <p:cNvSpPr/>
          <p:nvPr/>
        </p:nvSpPr>
        <p:spPr>
          <a:xfrm>
            <a:off x="182880" y="1024128"/>
            <a:ext cx="4206240" cy="320040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182880" y="1024128"/>
            <a:ext cx="4206240" cy="420624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 txBox="1"/>
          <p:nvPr/>
        </p:nvSpPr>
        <p:spPr>
          <a:xfrm>
            <a:off x="274320" y="1088136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ANOVA Works</a:t>
            </a:r>
            <a:endParaRPr/>
          </a:p>
        </p:txBody>
      </p:sp>
      <p:sp>
        <p:nvSpPr>
          <p:cNvPr id="506" name="Google Shape;506;p19"/>
          <p:cNvSpPr txBox="1"/>
          <p:nvPr/>
        </p:nvSpPr>
        <p:spPr>
          <a:xfrm>
            <a:off x="310896" y="1536192"/>
            <a:ext cx="395020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Analysis of Variance: generalization of the t-test for 3+ groups.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F-ratio = Between-group variation / Within-group variation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Large F → groups differ more than chance would predict.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When F &gt; critical value: Reject H₀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Follow up with post-hoc tests to identify which groups differ.</a:t>
            </a:r>
            <a:endParaRPr/>
          </a:p>
        </p:txBody>
      </p:sp>
      <p:sp>
        <p:nvSpPr>
          <p:cNvPr id="507" name="Google Shape;507;p19"/>
          <p:cNvSpPr/>
          <p:nvPr/>
        </p:nvSpPr>
        <p:spPr>
          <a:xfrm>
            <a:off x="4526280" y="1024128"/>
            <a:ext cx="4206240" cy="320040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4526280" y="1024128"/>
            <a:ext cx="4206240" cy="420624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9"/>
          <p:cNvSpPr txBox="1"/>
          <p:nvPr/>
        </p:nvSpPr>
        <p:spPr>
          <a:xfrm>
            <a:off x="4617720" y="1088136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Ecological Example</a:t>
            </a:r>
            <a:endParaRPr/>
          </a:p>
        </p:txBody>
      </p:sp>
      <p:sp>
        <p:nvSpPr>
          <p:cNvPr id="510" name="Google Shape;510;p19"/>
          <p:cNvSpPr txBox="1"/>
          <p:nvPr/>
        </p:nvSpPr>
        <p:spPr>
          <a:xfrm>
            <a:off x="4654296" y="1536192"/>
            <a:ext cx="395020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Comparing species richness in three habitat types: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Forest: Mean 42.3 spp, SD = 6.2, n = 15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Grassland: Mean 28.7 spp, SD = 5.4, n = 15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Wetland: Mean 35.1 spp, SD = 7.0, n = 15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ANOVA: F = 22.4, p &lt; 0.0001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Post-hoc (Tukey): All three habitats differ significantly.</a:t>
            </a:r>
            <a:endParaRPr/>
          </a:p>
        </p:txBody>
      </p:sp>
      <p:sp>
        <p:nvSpPr>
          <p:cNvPr id="511" name="Google Shape;511;p19"/>
          <p:cNvSpPr/>
          <p:nvPr/>
        </p:nvSpPr>
        <p:spPr>
          <a:xfrm>
            <a:off x="182880" y="4315968"/>
            <a:ext cx="8549640" cy="566928"/>
          </a:xfrm>
          <a:prstGeom prst="rect">
            <a:avLst/>
          </a:prstGeom>
          <a:solidFill>
            <a:srgbClr val="F7F3E8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9"/>
          <p:cNvSpPr txBox="1"/>
          <p:nvPr/>
        </p:nvSpPr>
        <p:spPr>
          <a:xfrm>
            <a:off x="320040" y="4389120"/>
            <a:ext cx="8275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⚠  ANOVA only tells you if differences exist — not which groups differ. Always run post-hoc tests.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Hypothesis Testing in Ecology: Chi-Square</a:t>
            </a:r>
            <a:endParaRPr/>
          </a:p>
        </p:txBody>
      </p:sp>
      <p:sp>
        <p:nvSpPr>
          <p:cNvPr id="521" name="Google Shape;521;p20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Test relationships between categorical variables.</a:t>
            </a:r>
            <a:endParaRPr/>
          </a:p>
        </p:txBody>
      </p:sp>
      <p:sp>
        <p:nvSpPr>
          <p:cNvPr id="522" name="Google Shape;522;p20"/>
          <p:cNvSpPr/>
          <p:nvPr/>
        </p:nvSpPr>
        <p:spPr>
          <a:xfrm>
            <a:off x="182880" y="1024128"/>
            <a:ext cx="4206240" cy="2406591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182880" y="1024128"/>
            <a:ext cx="4206240" cy="316295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 txBox="1"/>
          <p:nvPr/>
        </p:nvSpPr>
        <p:spPr>
          <a:xfrm>
            <a:off x="274320" y="1088136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Chi-Square Framework</a:t>
            </a:r>
            <a:endParaRPr/>
          </a:p>
        </p:txBody>
      </p:sp>
      <p:sp>
        <p:nvSpPr>
          <p:cNvPr id="525" name="Google Shape;525;p20"/>
          <p:cNvSpPr txBox="1"/>
          <p:nvPr/>
        </p:nvSpPr>
        <p:spPr>
          <a:xfrm>
            <a:off x="310896" y="1536192"/>
            <a:ext cx="3950208" cy="1744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Tests if observed frequencies differ from expected frequencies.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χ² = Σ (Observed - Expected)² / Expected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Degrees of freedom = (rows - 1) × (cols - 1)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When to use: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Species presence/absence by habitat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Breeding success by nest site type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Feeding preference by prey type</a:t>
            </a:r>
            <a:endParaRPr/>
          </a:p>
        </p:txBody>
      </p:sp>
      <p:sp>
        <p:nvSpPr>
          <p:cNvPr id="526" name="Google Shape;526;p20"/>
          <p:cNvSpPr/>
          <p:nvPr/>
        </p:nvSpPr>
        <p:spPr>
          <a:xfrm>
            <a:off x="4526280" y="1024128"/>
            <a:ext cx="4206240" cy="2406591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4526280" y="1024128"/>
            <a:ext cx="4206240" cy="316295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 txBox="1"/>
          <p:nvPr/>
        </p:nvSpPr>
        <p:spPr>
          <a:xfrm>
            <a:off x="4617720" y="1088136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Ecological Example</a:t>
            </a:r>
            <a:endParaRPr/>
          </a:p>
        </p:txBody>
      </p:sp>
      <p:sp>
        <p:nvSpPr>
          <p:cNvPr id="529" name="Google Shape;529;p20"/>
          <p:cNvSpPr txBox="1"/>
          <p:nvPr/>
        </p:nvSpPr>
        <p:spPr>
          <a:xfrm>
            <a:off x="4654296" y="1536192"/>
            <a:ext cx="3950208" cy="1479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Do bird species use habitat types in proportion to availability?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Observed: Forest 45, Shrubland 20, Grassland 10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Expected (by area): Forest 30, Shrubland 25, Grassland 20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χ² = 10.83, df = 2, p = 0.004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Conclusion: Birds use habitats non-randomly — strong preference for forest over open habitats.</a:t>
            </a:r>
            <a:endParaRPr/>
          </a:p>
        </p:txBody>
      </p:sp>
      <p:sp>
        <p:nvSpPr>
          <p:cNvPr id="530" name="Google Shape;530;p20"/>
          <p:cNvSpPr/>
          <p:nvPr/>
        </p:nvSpPr>
        <p:spPr>
          <a:xfrm>
            <a:off x="182880" y="4315968"/>
            <a:ext cx="8549640" cy="566928"/>
          </a:xfrm>
          <a:prstGeom prst="rect">
            <a:avLst/>
          </a:prstGeom>
          <a:solidFill>
            <a:srgbClr val="F7F3E8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 txBox="1"/>
          <p:nvPr/>
        </p:nvSpPr>
        <p:spPr>
          <a:xfrm>
            <a:off x="320040" y="4389120"/>
            <a:ext cx="8275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⚠  Chi-square assumes each expected cell frequency ≥ 5. Use Fisher's exact test for small samples.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1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1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ANOVA: Common Pitfalls and Assumptions</a:t>
            </a:r>
            <a:endParaRPr/>
          </a:p>
        </p:txBody>
      </p:sp>
      <p:sp>
        <p:nvSpPr>
          <p:cNvPr id="540" name="Google Shape;540;p21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Violating ANOVA assumptions can invalidate results. Always check before interpreting p-values.</a:t>
            </a:r>
            <a:endParaRPr/>
          </a:p>
        </p:txBody>
      </p:sp>
      <p:sp>
        <p:nvSpPr>
          <p:cNvPr id="541" name="Google Shape;541;p21"/>
          <p:cNvSpPr/>
          <p:nvPr/>
        </p:nvSpPr>
        <p:spPr>
          <a:xfrm>
            <a:off x="182880" y="1024128"/>
            <a:ext cx="8732520" cy="320040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1"/>
          <p:cNvSpPr txBox="1"/>
          <p:nvPr/>
        </p:nvSpPr>
        <p:spPr>
          <a:xfrm>
            <a:off x="320040" y="1152144"/>
            <a:ext cx="84582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Normality:** ANOVA assumes data within each group follow a normal distribution. Test with Shapiro-Wilk; for large n, ANOVA is robust to mild non-normality.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Independence:** Observations must be independent. Correlated or paired data require repeated-measures ANOVA.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Post-hoc testing</a:t>
            </a:r>
            <a:r>
              <a:rPr lang="en-US" sz="11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:** ANOVA only detects whether any groups differ. Use Tukey's HSD, Bonferroni, or Dunnett's test to identify which pairs differ.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Small sample sizes:** Reduce statistical power. Use effect sizes (η²) alongside p-values to quantify the magnitude of differences.</a:t>
            </a:r>
            <a:endParaRPr/>
          </a:p>
        </p:txBody>
      </p:sp>
      <p:sp>
        <p:nvSpPr>
          <p:cNvPr id="543" name="Google Shape;543;p21"/>
          <p:cNvSpPr/>
          <p:nvPr/>
        </p:nvSpPr>
        <p:spPr>
          <a:xfrm>
            <a:off x="182880" y="4361688"/>
            <a:ext cx="8732520" cy="640080"/>
          </a:xfrm>
          <a:prstGeom prst="rect">
            <a:avLst/>
          </a:prstGeom>
          <a:solidFill>
            <a:srgbClr val="F7F3E8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1"/>
          <p:cNvSpPr txBox="1"/>
          <p:nvPr/>
        </p:nvSpPr>
        <p:spPr>
          <a:xfrm>
            <a:off x="320040" y="4453128"/>
            <a:ext cx="8458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⚠  Always report effect size (η² or partial η²) alongside the F-statistic — statistical significance depends on sample size, but effect size does not.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2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2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Linear Models and Regression</a:t>
            </a:r>
            <a:endParaRPr/>
          </a:p>
        </p:txBody>
      </p:sp>
      <p:sp>
        <p:nvSpPr>
          <p:cNvPr id="553" name="Google Shape;553;p22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Model continuous relationships between ecological variables.</a:t>
            </a:r>
            <a:endParaRPr/>
          </a:p>
        </p:txBody>
      </p:sp>
      <p:sp>
        <p:nvSpPr>
          <p:cNvPr id="554" name="Google Shape;554;p22"/>
          <p:cNvSpPr/>
          <p:nvPr/>
        </p:nvSpPr>
        <p:spPr>
          <a:xfrm>
            <a:off x="228600" y="1170432"/>
            <a:ext cx="502920" cy="502920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2"/>
          <p:cNvSpPr txBox="1"/>
          <p:nvPr/>
        </p:nvSpPr>
        <p:spPr>
          <a:xfrm>
            <a:off x="228600" y="11704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56" name="Google Shape;556;p22"/>
          <p:cNvSpPr txBox="1"/>
          <p:nvPr/>
        </p:nvSpPr>
        <p:spPr>
          <a:xfrm>
            <a:off x="822960" y="1097280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Simple Linear Regression</a:t>
            </a:r>
            <a:endParaRPr/>
          </a:p>
        </p:txBody>
      </p:sp>
      <p:sp>
        <p:nvSpPr>
          <p:cNvPr id="557" name="Google Shape;557;p22"/>
          <p:cNvSpPr txBox="1"/>
          <p:nvPr/>
        </p:nvSpPr>
        <p:spPr>
          <a:xfrm>
            <a:off x="3520440" y="1097280"/>
            <a:ext cx="5486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Y = a + bX + ε  —  predicting biomass from precipitation. Slope b gives the effect per unit change in X.</a:t>
            </a:r>
            <a:endParaRPr/>
          </a:p>
        </p:txBody>
      </p:sp>
      <p:sp>
        <p:nvSpPr>
          <p:cNvPr id="558" name="Google Shape;558;p22"/>
          <p:cNvSpPr/>
          <p:nvPr/>
        </p:nvSpPr>
        <p:spPr>
          <a:xfrm>
            <a:off x="228600" y="2048256"/>
            <a:ext cx="502920" cy="502920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2"/>
          <p:cNvSpPr txBox="1"/>
          <p:nvPr/>
        </p:nvSpPr>
        <p:spPr>
          <a:xfrm>
            <a:off x="228600" y="204825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60" name="Google Shape;560;p22"/>
          <p:cNvSpPr txBox="1"/>
          <p:nvPr/>
        </p:nvSpPr>
        <p:spPr>
          <a:xfrm>
            <a:off x="822960" y="1975104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Multiple Regression</a:t>
            </a:r>
            <a:endParaRPr/>
          </a:p>
        </p:txBody>
      </p:sp>
      <p:sp>
        <p:nvSpPr>
          <p:cNvPr id="561" name="Google Shape;561;p22"/>
          <p:cNvSpPr txBox="1"/>
          <p:nvPr/>
        </p:nvSpPr>
        <p:spPr>
          <a:xfrm>
            <a:off x="3520440" y="1975104"/>
            <a:ext cx="5486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Y = a + b₁X₁ + b₂X₂ + ... + ε  —  predicting population size from multiple environmental variables.</a:t>
            </a:r>
            <a:endParaRPr/>
          </a:p>
        </p:txBody>
      </p:sp>
      <p:sp>
        <p:nvSpPr>
          <p:cNvPr id="562" name="Google Shape;562;p22"/>
          <p:cNvSpPr/>
          <p:nvPr/>
        </p:nvSpPr>
        <p:spPr>
          <a:xfrm>
            <a:off x="228600" y="2926080"/>
            <a:ext cx="502920" cy="502920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2"/>
          <p:cNvSpPr txBox="1"/>
          <p:nvPr/>
        </p:nvSpPr>
        <p:spPr>
          <a:xfrm>
            <a:off x="228600" y="2926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64" name="Google Shape;564;p22"/>
          <p:cNvSpPr txBox="1"/>
          <p:nvPr/>
        </p:nvSpPr>
        <p:spPr>
          <a:xfrm>
            <a:off x="822960" y="2852928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Interpreting Coefficients</a:t>
            </a:r>
            <a:endParaRPr/>
          </a:p>
        </p:txBody>
      </p:sp>
      <p:sp>
        <p:nvSpPr>
          <p:cNvPr id="565" name="Google Shape;565;p22"/>
          <p:cNvSpPr txBox="1"/>
          <p:nvPr/>
        </p:nvSpPr>
        <p:spPr>
          <a:xfrm>
            <a:off x="3520440" y="2852928"/>
            <a:ext cx="5486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Each coefficient gives the partial effect of one predictor holding others constant. Check sign, magnitude, and p-value.</a:t>
            </a:r>
            <a:endParaRPr/>
          </a:p>
        </p:txBody>
      </p:sp>
      <p:sp>
        <p:nvSpPr>
          <p:cNvPr id="566" name="Google Shape;566;p22"/>
          <p:cNvSpPr/>
          <p:nvPr/>
        </p:nvSpPr>
        <p:spPr>
          <a:xfrm>
            <a:off x="228600" y="3803904"/>
            <a:ext cx="502920" cy="502920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2"/>
          <p:cNvSpPr txBox="1"/>
          <p:nvPr/>
        </p:nvSpPr>
        <p:spPr>
          <a:xfrm>
            <a:off x="228600" y="380390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68" name="Google Shape;568;p22"/>
          <p:cNvSpPr txBox="1"/>
          <p:nvPr/>
        </p:nvSpPr>
        <p:spPr>
          <a:xfrm>
            <a:off x="822960" y="3730752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Goodness of Fit</a:t>
            </a:r>
            <a:endParaRPr/>
          </a:p>
        </p:txBody>
      </p:sp>
      <p:sp>
        <p:nvSpPr>
          <p:cNvPr id="569" name="Google Shape;569;p22"/>
          <p:cNvSpPr txBox="1"/>
          <p:nvPr/>
        </p:nvSpPr>
        <p:spPr>
          <a:xfrm>
            <a:off x="3520440" y="3730752"/>
            <a:ext cx="5486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R² = proportion of variance explained. RMSE = average prediction error. Adjusted R² penalizes for extra predictors.</a:t>
            </a:r>
            <a:endParaRPr/>
          </a:p>
        </p:txBody>
      </p:sp>
      <p:sp>
        <p:nvSpPr>
          <p:cNvPr id="570" name="Google Shape;570;p22"/>
          <p:cNvSpPr/>
          <p:nvPr/>
        </p:nvSpPr>
        <p:spPr>
          <a:xfrm>
            <a:off x="228600" y="4681728"/>
            <a:ext cx="502920" cy="502920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2"/>
          <p:cNvSpPr txBox="1"/>
          <p:nvPr/>
        </p:nvSpPr>
        <p:spPr>
          <a:xfrm>
            <a:off x="228600" y="46817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72" name="Google Shape;572;p22"/>
          <p:cNvSpPr txBox="1"/>
          <p:nvPr/>
        </p:nvSpPr>
        <p:spPr>
          <a:xfrm>
            <a:off x="822960" y="4608576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Model Validation</a:t>
            </a:r>
            <a:endParaRPr/>
          </a:p>
        </p:txBody>
      </p:sp>
      <p:sp>
        <p:nvSpPr>
          <p:cNvPr id="573" name="Google Shape;573;p22"/>
          <p:cNvSpPr txBox="1"/>
          <p:nvPr/>
        </p:nvSpPr>
        <p:spPr>
          <a:xfrm>
            <a:off x="3520440" y="4608576"/>
            <a:ext cx="5486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Check residual plots for patterns. Use AIC for model selection. Cross-validate against held-out data.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3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3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Ecological Data: Unique Statistical Challenges</a:t>
            </a:r>
            <a:endParaRPr/>
          </a:p>
        </p:txBody>
      </p:sp>
      <p:sp>
        <p:nvSpPr>
          <p:cNvPr id="582" name="Google Shape;582;p23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Standard statistical assumptions are frequently violated in ecological datasets.</a:t>
            </a:r>
            <a:endParaRPr/>
          </a:p>
        </p:txBody>
      </p:sp>
      <p:sp>
        <p:nvSpPr>
          <p:cNvPr id="583" name="Google Shape;583;p23"/>
          <p:cNvSpPr/>
          <p:nvPr/>
        </p:nvSpPr>
        <p:spPr>
          <a:xfrm>
            <a:off x="182880" y="1024128"/>
            <a:ext cx="196596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3"/>
          <p:cNvSpPr/>
          <p:nvPr/>
        </p:nvSpPr>
        <p:spPr>
          <a:xfrm>
            <a:off x="182880" y="1024128"/>
            <a:ext cx="1965960" cy="420624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3"/>
          <p:cNvSpPr txBox="1"/>
          <p:nvPr/>
        </p:nvSpPr>
        <p:spPr>
          <a:xfrm>
            <a:off x="256032" y="1078992"/>
            <a:ext cx="1819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Non-Normality</a:t>
            </a:r>
            <a:endParaRPr/>
          </a:p>
        </p:txBody>
      </p:sp>
      <p:sp>
        <p:nvSpPr>
          <p:cNvPr id="586" name="Google Shape;586;p23"/>
          <p:cNvSpPr txBox="1"/>
          <p:nvPr/>
        </p:nvSpPr>
        <p:spPr>
          <a:xfrm>
            <a:off x="274320" y="1517904"/>
            <a:ext cx="178308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Count data often follow Poisson or negative binomial distributions.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Zero-inflation common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Use GLMs with appropriate link functions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Poisson for counts, binomial for presence/absence</a:t>
            </a:r>
            <a:endParaRPr/>
          </a:p>
        </p:txBody>
      </p:sp>
      <p:sp>
        <p:nvSpPr>
          <p:cNvPr id="587" name="Google Shape;587;p23"/>
          <p:cNvSpPr/>
          <p:nvPr/>
        </p:nvSpPr>
        <p:spPr>
          <a:xfrm>
            <a:off x="2240280" y="1024128"/>
            <a:ext cx="196596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/>
          <p:nvPr/>
        </p:nvSpPr>
        <p:spPr>
          <a:xfrm>
            <a:off x="2240280" y="1024128"/>
            <a:ext cx="1965960" cy="420624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3"/>
          <p:cNvSpPr txBox="1"/>
          <p:nvPr/>
        </p:nvSpPr>
        <p:spPr>
          <a:xfrm>
            <a:off x="2313432" y="1078992"/>
            <a:ext cx="1819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Spatial Autocorrelation</a:t>
            </a:r>
            <a:endParaRPr/>
          </a:p>
        </p:txBody>
      </p:sp>
      <p:sp>
        <p:nvSpPr>
          <p:cNvPr id="590" name="Google Shape;590;p23"/>
          <p:cNvSpPr txBox="1"/>
          <p:nvPr/>
        </p:nvSpPr>
        <p:spPr>
          <a:xfrm>
            <a:off x="2331720" y="1517904"/>
            <a:ext cx="178308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Nearby observations are usually more similar than distant ones.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Violates independence assumption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Use variograms to diagnose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Spatial models: GLS, GAMs, kriging</a:t>
            </a:r>
            <a:endParaRPr/>
          </a:p>
        </p:txBody>
      </p:sp>
      <p:sp>
        <p:nvSpPr>
          <p:cNvPr id="591" name="Google Shape;591;p23"/>
          <p:cNvSpPr/>
          <p:nvPr/>
        </p:nvSpPr>
        <p:spPr>
          <a:xfrm>
            <a:off x="4297680" y="1024128"/>
            <a:ext cx="196596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3"/>
          <p:cNvSpPr/>
          <p:nvPr/>
        </p:nvSpPr>
        <p:spPr>
          <a:xfrm>
            <a:off x="4297680" y="1024128"/>
            <a:ext cx="1965960" cy="420624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3"/>
          <p:cNvSpPr txBox="1"/>
          <p:nvPr/>
        </p:nvSpPr>
        <p:spPr>
          <a:xfrm>
            <a:off x="4370832" y="1078992"/>
            <a:ext cx="1819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Temporal Autocorrelation</a:t>
            </a:r>
            <a:endParaRPr/>
          </a:p>
        </p:txBody>
      </p:sp>
      <p:sp>
        <p:nvSpPr>
          <p:cNvPr id="594" name="Google Shape;594;p23"/>
          <p:cNvSpPr txBox="1"/>
          <p:nvPr/>
        </p:nvSpPr>
        <p:spPr>
          <a:xfrm>
            <a:off x="4389120" y="1517904"/>
            <a:ext cx="178308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Sequential observations in time series are correlated.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Standard errors are underestimated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Use ARIMA or mixed models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Test with Durbin-Watson statistic</a:t>
            </a:r>
            <a:endParaRPr/>
          </a:p>
        </p:txBody>
      </p:sp>
      <p:sp>
        <p:nvSpPr>
          <p:cNvPr id="595" name="Google Shape;595;p23"/>
          <p:cNvSpPr/>
          <p:nvPr/>
        </p:nvSpPr>
        <p:spPr>
          <a:xfrm>
            <a:off x="6355080" y="1024128"/>
            <a:ext cx="1965960" cy="393192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3"/>
          <p:cNvSpPr/>
          <p:nvPr/>
        </p:nvSpPr>
        <p:spPr>
          <a:xfrm>
            <a:off x="6355080" y="1024128"/>
            <a:ext cx="1965960" cy="420624"/>
          </a:xfrm>
          <a:prstGeom prst="rect">
            <a:avLst/>
          </a:prstGeom>
          <a:solidFill>
            <a:srgbClr val="4CAF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3"/>
          <p:cNvSpPr txBox="1"/>
          <p:nvPr/>
        </p:nvSpPr>
        <p:spPr>
          <a:xfrm>
            <a:off x="6428232" y="1078992"/>
            <a:ext cx="1819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Hierarchical Structure</a:t>
            </a:r>
            <a:endParaRPr/>
          </a:p>
        </p:txBody>
      </p:sp>
      <p:sp>
        <p:nvSpPr>
          <p:cNvPr id="598" name="Google Shape;598;p23"/>
          <p:cNvSpPr txBox="1"/>
          <p:nvPr/>
        </p:nvSpPr>
        <p:spPr>
          <a:xfrm>
            <a:off x="6446520" y="1517904"/>
            <a:ext cx="178308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Data nested within sites, regions, or time periods.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2329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Pseudo-replication is common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Use mixed-effects models (lme4 in R)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Account for random effects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4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4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607" name="Google Shape;607;p24"/>
          <p:cNvSpPr/>
          <p:nvPr/>
        </p:nvSpPr>
        <p:spPr>
          <a:xfrm>
            <a:off x="182880" y="914400"/>
            <a:ext cx="4206240" cy="1828800"/>
          </a:xfrm>
          <a:prstGeom prst="rect">
            <a:avLst/>
          </a:prstGeom>
          <a:solidFill>
            <a:srgbClr val="EAF4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4"/>
          <p:cNvSpPr/>
          <p:nvPr/>
        </p:nvSpPr>
        <p:spPr>
          <a:xfrm>
            <a:off x="182880" y="914400"/>
            <a:ext cx="4206240" cy="347472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4"/>
          <p:cNvSpPr txBox="1"/>
          <p:nvPr/>
        </p:nvSpPr>
        <p:spPr>
          <a:xfrm>
            <a:off x="274320" y="9601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Energy Flow</a:t>
            </a:r>
            <a:endParaRPr/>
          </a:p>
        </p:txBody>
      </p:sp>
      <p:sp>
        <p:nvSpPr>
          <p:cNvPr id="610" name="Google Shape;610;p24"/>
          <p:cNvSpPr txBox="1"/>
          <p:nvPr/>
        </p:nvSpPr>
        <p:spPr>
          <a:xfrm>
            <a:off x="292608" y="1325880"/>
            <a:ext cx="398678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One-directional; ~10% efficiency per level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Odum's systems model: source → producers → consumers → sinks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Lindeman's rule: 10-15% transfer efficiency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Simulation: ODEs, agent-based, network flow</a:t>
            </a:r>
            <a:endParaRPr/>
          </a:p>
        </p:txBody>
      </p:sp>
      <p:sp>
        <p:nvSpPr>
          <p:cNvPr id="611" name="Google Shape;611;p24"/>
          <p:cNvSpPr/>
          <p:nvPr/>
        </p:nvSpPr>
        <p:spPr>
          <a:xfrm>
            <a:off x="4572000" y="914400"/>
            <a:ext cx="4206240" cy="1828800"/>
          </a:xfrm>
          <a:prstGeom prst="rect">
            <a:avLst/>
          </a:prstGeom>
          <a:solidFill>
            <a:srgbClr val="FDF0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4572000" y="914400"/>
            <a:ext cx="4206240" cy="347472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4"/>
          <p:cNvSpPr txBox="1"/>
          <p:nvPr/>
        </p:nvSpPr>
        <p:spPr>
          <a:xfrm>
            <a:off x="4663440" y="9601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Statistical Techniques</a:t>
            </a:r>
            <a:endParaRPr/>
          </a:p>
        </p:txBody>
      </p:sp>
      <p:sp>
        <p:nvSpPr>
          <p:cNvPr id="614" name="Google Shape;614;p24"/>
          <p:cNvSpPr txBox="1"/>
          <p:nvPr/>
        </p:nvSpPr>
        <p:spPr>
          <a:xfrm>
            <a:off x="4681728" y="1325880"/>
            <a:ext cx="398678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Descriptive: mean, SD, CV — match to variable type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t-tests: compare two group means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ANOVA: compare 3+ groups; always use post-hoc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Chi-square: test categorical associations</a:t>
            </a:r>
            <a:endParaRPr/>
          </a:p>
        </p:txBody>
      </p:sp>
      <p:sp>
        <p:nvSpPr>
          <p:cNvPr id="615" name="Google Shape;615;p24"/>
          <p:cNvSpPr/>
          <p:nvPr/>
        </p:nvSpPr>
        <p:spPr>
          <a:xfrm>
            <a:off x="182880" y="2880360"/>
            <a:ext cx="4206240" cy="1828800"/>
          </a:xfrm>
          <a:prstGeom prst="rect">
            <a:avLst/>
          </a:prstGeom>
          <a:solidFill>
            <a:srgbClr val="F7F3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4"/>
          <p:cNvSpPr/>
          <p:nvPr/>
        </p:nvSpPr>
        <p:spPr>
          <a:xfrm>
            <a:off x="182880" y="2880360"/>
            <a:ext cx="4206240" cy="347472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4"/>
          <p:cNvSpPr txBox="1"/>
          <p:nvPr/>
        </p:nvSpPr>
        <p:spPr>
          <a:xfrm>
            <a:off x="274320" y="292608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endParaRPr/>
          </a:p>
        </p:txBody>
      </p:sp>
      <p:sp>
        <p:nvSpPr>
          <p:cNvPr id="618" name="Google Shape;618;p24"/>
          <p:cNvSpPr txBox="1"/>
          <p:nvPr/>
        </p:nvSpPr>
        <p:spPr>
          <a:xfrm>
            <a:off x="292608" y="3291840"/>
            <a:ext cx="398678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Variable types determine valid statistical tests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Ecological data: non-normal, autocorrelated, hierarchical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Regression: simple, multiple, GLM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Validate models; report effect sizes</a:t>
            </a:r>
            <a:endParaRPr/>
          </a:p>
        </p:txBody>
      </p:sp>
      <p:sp>
        <p:nvSpPr>
          <p:cNvPr id="619" name="Google Shape;619;p24"/>
          <p:cNvSpPr/>
          <p:nvPr/>
        </p:nvSpPr>
        <p:spPr>
          <a:xfrm>
            <a:off x="4572000" y="2880360"/>
            <a:ext cx="4206240" cy="1828800"/>
          </a:xfrm>
          <a:prstGeom prst="rect">
            <a:avLst/>
          </a:prstGeom>
          <a:solidFill>
            <a:srgbClr val="E8F7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4"/>
          <p:cNvSpPr/>
          <p:nvPr/>
        </p:nvSpPr>
        <p:spPr>
          <a:xfrm>
            <a:off x="4572000" y="2880360"/>
            <a:ext cx="4206240" cy="347472"/>
          </a:xfrm>
          <a:prstGeom prst="rect">
            <a:avLst/>
          </a:prstGeom>
          <a:solidFill>
            <a:srgbClr val="4CAF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4"/>
          <p:cNvSpPr txBox="1"/>
          <p:nvPr/>
        </p:nvSpPr>
        <p:spPr>
          <a:xfrm>
            <a:off x="4663440" y="292608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/>
          </a:p>
        </p:txBody>
      </p:sp>
      <p:sp>
        <p:nvSpPr>
          <p:cNvPr id="622" name="Google Shape;622;p24"/>
          <p:cNvSpPr txBox="1"/>
          <p:nvPr/>
        </p:nvSpPr>
        <p:spPr>
          <a:xfrm>
            <a:off x="4681728" y="3291840"/>
            <a:ext cx="398678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Python: scipy.stats, statsmodels, matplotlib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R: vegan, lme4, ggplot2, deSolve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Always visualize before modeling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Check assumptions before interpreting p-values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5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5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Questions and Discussion</a:t>
            </a:r>
            <a:endParaRPr/>
          </a:p>
        </p:txBody>
      </p:sp>
      <p:sp>
        <p:nvSpPr>
          <p:cNvPr id="631" name="Google Shape;631;p25"/>
          <p:cNvSpPr/>
          <p:nvPr/>
        </p:nvSpPr>
        <p:spPr>
          <a:xfrm>
            <a:off x="182880" y="978408"/>
            <a:ext cx="384048" cy="384048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5"/>
          <p:cNvSpPr txBox="1"/>
          <p:nvPr/>
        </p:nvSpPr>
        <p:spPr>
          <a:xfrm>
            <a:off x="182880" y="9784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/>
          </a:p>
        </p:txBody>
      </p:sp>
      <p:sp>
        <p:nvSpPr>
          <p:cNvPr id="633" name="Google Shape;633;p25"/>
          <p:cNvSpPr txBox="1"/>
          <p:nvPr/>
        </p:nvSpPr>
        <p:spPr>
          <a:xfrm>
            <a:off x="685800" y="86868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When is the 10% rule a good approximation?</a:t>
            </a:r>
            <a:endParaRPr/>
          </a:p>
        </p:txBody>
      </p:sp>
      <p:sp>
        <p:nvSpPr>
          <p:cNvPr id="634" name="Google Shape;634;p25"/>
          <p:cNvSpPr txBox="1"/>
          <p:nvPr/>
        </p:nvSpPr>
        <p:spPr>
          <a:xfrm>
            <a:off x="685800" y="121615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A: It is a useful teaching heuristic. Real transfer efficiencies range from 5-20% and vary by ecosystem, trophic level, and organism type.</a:t>
            </a:r>
            <a:endParaRPr/>
          </a:p>
        </p:txBody>
      </p:sp>
      <p:sp>
        <p:nvSpPr>
          <p:cNvPr id="635" name="Google Shape;635;p25"/>
          <p:cNvSpPr/>
          <p:nvPr/>
        </p:nvSpPr>
        <p:spPr>
          <a:xfrm>
            <a:off x="182880" y="1892808"/>
            <a:ext cx="384048" cy="384048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5"/>
          <p:cNvSpPr txBox="1"/>
          <p:nvPr/>
        </p:nvSpPr>
        <p:spPr>
          <a:xfrm>
            <a:off x="182880" y="18928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/>
          </a:p>
        </p:txBody>
      </p:sp>
      <p:sp>
        <p:nvSpPr>
          <p:cNvPr id="637" name="Google Shape;637;p25"/>
          <p:cNvSpPr txBox="1"/>
          <p:nvPr/>
        </p:nvSpPr>
        <p:spPr>
          <a:xfrm>
            <a:off x="685800" y="178308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Which statistical test should I use for my ecological data?</a:t>
            </a:r>
            <a:endParaRPr/>
          </a:p>
        </p:txBody>
      </p:sp>
      <p:sp>
        <p:nvSpPr>
          <p:cNvPr id="638" name="Google Shape;638;p25"/>
          <p:cNvSpPr txBox="1"/>
          <p:nvPr/>
        </p:nvSpPr>
        <p:spPr>
          <a:xfrm>
            <a:off x="685800" y="213055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A: Match the test to your variable type, number of groups, and data distribution. Always check assumptions first.</a:t>
            </a:r>
            <a:endParaRPr/>
          </a:p>
        </p:txBody>
      </p:sp>
      <p:sp>
        <p:nvSpPr>
          <p:cNvPr id="639" name="Google Shape;639;p25"/>
          <p:cNvSpPr/>
          <p:nvPr/>
        </p:nvSpPr>
        <p:spPr>
          <a:xfrm>
            <a:off x="182880" y="2807208"/>
            <a:ext cx="384048" cy="384048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5"/>
          <p:cNvSpPr txBox="1"/>
          <p:nvPr/>
        </p:nvSpPr>
        <p:spPr>
          <a:xfrm>
            <a:off x="182880" y="28072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/>
          </a:p>
        </p:txBody>
      </p:sp>
      <p:sp>
        <p:nvSpPr>
          <p:cNvPr id="641" name="Google Shape;641;p25"/>
          <p:cNvSpPr txBox="1"/>
          <p:nvPr/>
        </p:nvSpPr>
        <p:spPr>
          <a:xfrm>
            <a:off x="685800" y="269748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How do I handle non-normal ecological data?</a:t>
            </a:r>
            <a:endParaRPr/>
          </a:p>
        </p:txBody>
      </p:sp>
      <p:sp>
        <p:nvSpPr>
          <p:cNvPr id="642" name="Google Shape;642;p25"/>
          <p:cNvSpPr txBox="1"/>
          <p:nvPr/>
        </p:nvSpPr>
        <p:spPr>
          <a:xfrm>
            <a:off x="685800" y="304495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A: Use GLMs with an appropriate family (Poisson, negative binomial). Or transform data and verify normality post-transformation.</a:t>
            </a:r>
            <a:endParaRPr/>
          </a:p>
        </p:txBody>
      </p:sp>
      <p:sp>
        <p:nvSpPr>
          <p:cNvPr id="643" name="Google Shape;643;p25"/>
          <p:cNvSpPr/>
          <p:nvPr/>
        </p:nvSpPr>
        <p:spPr>
          <a:xfrm>
            <a:off x="182880" y="3721608"/>
            <a:ext cx="384048" cy="384048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5"/>
          <p:cNvSpPr txBox="1"/>
          <p:nvPr/>
        </p:nvSpPr>
        <p:spPr>
          <a:xfrm>
            <a:off x="182880" y="37216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/>
          </a:p>
        </p:txBody>
      </p:sp>
      <p:sp>
        <p:nvSpPr>
          <p:cNvPr id="645" name="Google Shape;645;p25"/>
          <p:cNvSpPr txBox="1"/>
          <p:nvPr/>
        </p:nvSpPr>
        <p:spPr>
          <a:xfrm>
            <a:off x="685800" y="361188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Can simple energy flow models predict real ecosystem dynamics?</a:t>
            </a:r>
            <a:endParaRPr/>
          </a:p>
        </p:txBody>
      </p:sp>
      <p:sp>
        <p:nvSpPr>
          <p:cNvPr id="646" name="Google Shape;646;p25"/>
          <p:cNvSpPr txBox="1"/>
          <p:nvPr/>
        </p:nvSpPr>
        <p:spPr>
          <a:xfrm>
            <a:off x="685800" y="395935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A: Yes — compartment models capture key patterns well. Start simple, then add complexity only where data support it.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6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6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Ecosystem Analysis Exercise — 2</a:t>
            </a:r>
            <a:endParaRPr/>
          </a:p>
        </p:txBody>
      </p:sp>
      <p:sp>
        <p:nvSpPr>
          <p:cNvPr id="655" name="Google Shape;655;p26"/>
          <p:cNvSpPr txBox="1"/>
          <p:nvPr/>
        </p:nvSpPr>
        <p:spPr>
          <a:xfrm>
            <a:off x="685800" y="65836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Identify research variables, formulate questions, and choose appropriate statistical methods.</a:t>
            </a:r>
            <a:endParaRPr/>
          </a:p>
        </p:txBody>
      </p:sp>
      <p:sp>
        <p:nvSpPr>
          <p:cNvPr id="656" name="Google Shape;656;p26"/>
          <p:cNvSpPr/>
          <p:nvPr/>
        </p:nvSpPr>
        <p:spPr>
          <a:xfrm>
            <a:off x="182880" y="1024128"/>
            <a:ext cx="8732520" cy="3566160"/>
          </a:xfrm>
          <a:prstGeom prst="rect">
            <a:avLst/>
          </a:prstGeom>
          <a:solidFill>
            <a:srgbClr val="F5F8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6"/>
          <p:cNvSpPr/>
          <p:nvPr/>
        </p:nvSpPr>
        <p:spPr>
          <a:xfrm>
            <a:off x="365760" y="1234440"/>
            <a:ext cx="457200" cy="457200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6"/>
          <p:cNvSpPr txBox="1"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59" name="Google Shape;659;p26"/>
          <p:cNvSpPr txBox="1"/>
          <p:nvPr/>
        </p:nvSpPr>
        <p:spPr>
          <a:xfrm>
            <a:off x="960120" y="1143000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Identify Research Variables</a:t>
            </a:r>
            <a:endParaRPr/>
          </a:p>
        </p:txBody>
      </p:sp>
      <p:sp>
        <p:nvSpPr>
          <p:cNvPr id="660" name="Google Shape;660;p26"/>
          <p:cNvSpPr txBox="1"/>
          <p:nvPr/>
        </p:nvSpPr>
        <p:spPr>
          <a:xfrm>
            <a:off x="3291840" y="1143000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Classify variables as nominal, ordinal, interval, or ratio. Identify dependent and independent variables. Use the Google Sheet data provided.</a:t>
            </a:r>
            <a:endParaRPr/>
          </a:p>
        </p:txBody>
      </p:sp>
      <p:sp>
        <p:nvSpPr>
          <p:cNvPr id="661" name="Google Shape;661;p26"/>
          <p:cNvSpPr/>
          <p:nvPr/>
        </p:nvSpPr>
        <p:spPr>
          <a:xfrm>
            <a:off x="365760" y="2057400"/>
            <a:ext cx="457200" cy="457200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6"/>
          <p:cNvSpPr txBox="1"/>
          <p:nvPr/>
        </p:nvSpPr>
        <p:spPr>
          <a:xfrm>
            <a:off x="365760" y="205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63" name="Google Shape;663;p26"/>
          <p:cNvSpPr txBox="1"/>
          <p:nvPr/>
        </p:nvSpPr>
        <p:spPr>
          <a:xfrm>
            <a:off x="960120" y="1965960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Formulate Research Questions</a:t>
            </a:r>
            <a:endParaRPr/>
          </a:p>
        </p:txBody>
      </p:sp>
      <p:sp>
        <p:nvSpPr>
          <p:cNvPr id="664" name="Google Shape;664;p26"/>
          <p:cNvSpPr txBox="1"/>
          <p:nvPr/>
        </p:nvSpPr>
        <p:spPr>
          <a:xfrm>
            <a:off x="3291840" y="1965960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Write one H₀ and one H₁ for each variable pair. Questions must be testable and ecologically meaningful.</a:t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365760" y="2880360"/>
            <a:ext cx="457200" cy="457200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6"/>
          <p:cNvSpPr txBox="1"/>
          <p:nvPr/>
        </p:nvSpPr>
        <p:spPr>
          <a:xfrm>
            <a:off x="36576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67" name="Google Shape;667;p26"/>
          <p:cNvSpPr txBox="1"/>
          <p:nvPr/>
        </p:nvSpPr>
        <p:spPr>
          <a:xfrm>
            <a:off x="960120" y="2788920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Choose Statistical Methods</a:t>
            </a:r>
            <a:endParaRPr/>
          </a:p>
        </p:txBody>
      </p:sp>
      <p:sp>
        <p:nvSpPr>
          <p:cNvPr id="668" name="Google Shape;668;p26"/>
          <p:cNvSpPr txBox="1"/>
          <p:nvPr/>
        </p:nvSpPr>
        <p:spPr>
          <a:xfrm>
            <a:off x="3291840" y="2788920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Select the appropriate test (t-test, ANOVA, chi-square, regression) based on your variable types and research question.</a:t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365760" y="3703320"/>
            <a:ext cx="457200" cy="457200"/>
          </a:xfrm>
          <a:prstGeom prst="ellipse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6"/>
          <p:cNvSpPr txBox="1"/>
          <p:nvPr/>
        </p:nvSpPr>
        <p:spPr>
          <a:xfrm>
            <a:off x="365760" y="3703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71" name="Google Shape;671;p26"/>
          <p:cNvSpPr txBox="1"/>
          <p:nvPr/>
        </p:nvSpPr>
        <p:spPr>
          <a:xfrm>
            <a:off x="960120" y="3611880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Justify and Interpret</a:t>
            </a:r>
            <a:endParaRPr/>
          </a:p>
        </p:txBody>
      </p:sp>
      <p:sp>
        <p:nvSpPr>
          <p:cNvPr id="672" name="Google Shape;672;p26"/>
          <p:cNvSpPr txBox="1"/>
          <p:nvPr/>
        </p:nvSpPr>
        <p:spPr>
          <a:xfrm>
            <a:off x="3291840" y="3611880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Explain why each method is appropriate. What assumptions must hold? What result would support H₁?</a:t>
            </a:r>
            <a:endParaRPr/>
          </a:p>
        </p:txBody>
      </p:sp>
      <p:sp>
        <p:nvSpPr>
          <p:cNvPr id="673" name="Google Shape;673;p26"/>
          <p:cNvSpPr/>
          <p:nvPr/>
        </p:nvSpPr>
        <p:spPr>
          <a:xfrm>
            <a:off x="182880" y="4636008"/>
            <a:ext cx="8732520" cy="347472"/>
          </a:xfrm>
          <a:prstGeom prst="rect">
            <a:avLst/>
          </a:prstGeom>
          <a:solidFill>
            <a:srgbClr val="F7F3E8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6"/>
          <p:cNvSpPr txBox="1"/>
          <p:nvPr/>
        </p:nvSpPr>
        <p:spPr>
          <a:xfrm>
            <a:off x="320040" y="4663440"/>
            <a:ext cx="8458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Work in teams. Use the shared Google Sheet: https://docs.google.com/spreadsheets/d/1auUv9uh2k9ZILqzDjUGj9XsnF-Pwp0JBEBJT-ibYAYU/edit?usp=sharing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6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7"/>
          <p:cNvSpPr/>
          <p:nvPr/>
        </p:nvSpPr>
        <p:spPr>
          <a:xfrm>
            <a:off x="201168" y="155448"/>
            <a:ext cx="347472" cy="347472"/>
          </a:xfrm>
          <a:prstGeom prst="ellipse">
            <a:avLst/>
          </a:prstGeom>
          <a:solidFill>
            <a:srgbClr val="7B6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7"/>
          <p:cNvSpPr txBox="1"/>
          <p:nvPr/>
        </p:nvSpPr>
        <p:spPr>
          <a:xfrm>
            <a:off x="685800" y="10972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Resources for Ecological Data Analysis</a:t>
            </a:r>
            <a:endParaRPr/>
          </a:p>
        </p:txBody>
      </p:sp>
      <p:sp>
        <p:nvSpPr>
          <p:cNvPr id="683" name="Google Shape;683;p27"/>
          <p:cNvSpPr/>
          <p:nvPr/>
        </p:nvSpPr>
        <p:spPr>
          <a:xfrm>
            <a:off x="228600" y="868680"/>
            <a:ext cx="2804160" cy="365760"/>
          </a:xfrm>
          <a:prstGeom prst="rect">
            <a:avLst/>
          </a:prstGeom>
          <a:solidFill>
            <a:srgbClr val="4A9DB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7"/>
          <p:cNvSpPr txBox="1"/>
          <p:nvPr/>
        </p:nvSpPr>
        <p:spPr>
          <a:xfrm>
            <a:off x="301752" y="923544"/>
            <a:ext cx="2667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Programming Libraries</a:t>
            </a:r>
            <a:endParaRPr/>
          </a:p>
        </p:txBody>
      </p:sp>
      <p:sp>
        <p:nvSpPr>
          <p:cNvPr id="685" name="Google Shape;685;p27"/>
          <p:cNvSpPr txBox="1"/>
          <p:nvPr/>
        </p:nvSpPr>
        <p:spPr>
          <a:xfrm>
            <a:off x="301752" y="1325880"/>
            <a:ext cx="27127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R: vegan, ade4, lme4, nlme, mgcv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Python: scipy.stats, scikit-learn, statsmodels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QGIS and GeoDa for spatial analysis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EcoSimR — null model analysis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ggplot2 — publication-quality graphics</a:t>
            </a:r>
            <a:endParaRPr/>
          </a:p>
        </p:txBody>
      </p:sp>
      <p:sp>
        <p:nvSpPr>
          <p:cNvPr id="686" name="Google Shape;686;p27"/>
          <p:cNvSpPr/>
          <p:nvPr/>
        </p:nvSpPr>
        <p:spPr>
          <a:xfrm>
            <a:off x="3124200" y="868680"/>
            <a:ext cx="2804160" cy="365760"/>
          </a:xfrm>
          <a:prstGeom prst="rect">
            <a:avLst/>
          </a:prstGeom>
          <a:solidFill>
            <a:srgbClr val="D475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7"/>
          <p:cNvSpPr txBox="1"/>
          <p:nvPr/>
        </p:nvSpPr>
        <p:spPr>
          <a:xfrm>
            <a:off x="3197352" y="923544"/>
            <a:ext cx="2667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Texts</a:t>
            </a:r>
            <a:endParaRPr/>
          </a:p>
        </p:txBody>
      </p:sp>
      <p:sp>
        <p:nvSpPr>
          <p:cNvPr id="688" name="Google Shape;688;p27"/>
          <p:cNvSpPr txBox="1"/>
          <p:nvPr/>
        </p:nvSpPr>
        <p:spPr>
          <a:xfrm>
            <a:off x="3197352" y="1325880"/>
            <a:ext cx="27127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Gotelli &amp; Ellison (2004). A Primer of Ecological Statistics. Sinauer.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Quinn &amp; Keough (2002). Experimental Design &amp; Data Analysis. Cambridge.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Edelstein-Keshet (2005). Mathematical Models in Biology. SIAM.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Odum, H.T. (1994). Ecological and General Systems. Rev.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Lindeman (1942). The Trophic-Dynamic Aspect of Ecology. Ecology 23(4).</a:t>
            </a:r>
            <a:endParaRPr/>
          </a:p>
        </p:txBody>
      </p:sp>
      <p:sp>
        <p:nvSpPr>
          <p:cNvPr id="689" name="Google Shape;689;p27"/>
          <p:cNvSpPr/>
          <p:nvPr/>
        </p:nvSpPr>
        <p:spPr>
          <a:xfrm>
            <a:off x="6019800" y="868680"/>
            <a:ext cx="2804160" cy="365760"/>
          </a:xfrm>
          <a:prstGeom prst="rect">
            <a:avLst/>
          </a:prstGeom>
          <a:solidFill>
            <a:srgbClr val="7B6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7"/>
          <p:cNvSpPr txBox="1"/>
          <p:nvPr/>
        </p:nvSpPr>
        <p:spPr>
          <a:xfrm>
            <a:off x="6092952" y="923544"/>
            <a:ext cx="2667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Online Resources</a:t>
            </a:r>
            <a:endParaRPr/>
          </a:p>
        </p:txBody>
      </p:sp>
      <p:sp>
        <p:nvSpPr>
          <p:cNvPr id="691" name="Google Shape;691;p27"/>
          <p:cNvSpPr txBox="1"/>
          <p:nvPr/>
        </p:nvSpPr>
        <p:spPr>
          <a:xfrm>
            <a:off x="6092952" y="1325880"/>
            <a:ext cx="27127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Ecological Society of America: esa.org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Khan Academy — Photosynthesis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DataCamp: Ecological Statistics in 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NatureServe developer resources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· Wolfram Demonstrations: ecological models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