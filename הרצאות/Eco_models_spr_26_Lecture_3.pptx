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5143500" cy="9144000"/>
  <p:embeddedFontLst>
    <p:embeddedFont>
      <p:font typeface="Inter"/>
      <p:regular r:id="rId47"/>
      <p:bold r:id="rId48"/>
      <p:italic r:id="rId49"/>
      <p:boldItalic r:id="rId50"/>
    </p:embeddedFont>
    <p:embeddedFont>
      <p:font typeface="DM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g/BPztBkeM4pCVUGEDKxa858Z8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FF50A7-E4AB-4A32-BD39-0180844F5665}">
  <a:tblStyle styleId="{8AFF50A7-E4AB-4A32-BD39-0180844F56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-bold.fntdata"/><Relationship Id="rId47" Type="http://schemas.openxmlformats.org/officeDocument/2006/relationships/font" Target="fonts/Inter-regular.fntdata"/><Relationship Id="rId4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DMSans-regular.fntdata"/><Relationship Id="rId50" Type="http://schemas.openxmlformats.org/officeDocument/2006/relationships/font" Target="fonts/Inter-boldItalic.fntdata"/><Relationship Id="rId53" Type="http://schemas.openxmlformats.org/officeDocument/2006/relationships/font" Target="fonts/DMSans-italic.fntdata"/><Relationship Id="rId52" Type="http://schemas.openxmlformats.org/officeDocument/2006/relationships/font" Target="fonts/DMSans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p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5" name="Google Shape;535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6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6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p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1" name="Google Shape;651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2" name="Google Shape;682;p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3" name="Google Shape;703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8" name="Google Shape;748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6" name="Google Shape;786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4" name="Google Shape;864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3" name="Google Shape;873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6" name="Google Shape;896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3" name="Google Shape;923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4" name="Google Shape;954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11" Type="http://schemas.openxmlformats.org/officeDocument/2006/relationships/image" Target="../media/image31.png"/><Relationship Id="rId10" Type="http://schemas.openxmlformats.org/officeDocument/2006/relationships/image" Target="../media/image21.png"/><Relationship Id="rId12" Type="http://schemas.openxmlformats.org/officeDocument/2006/relationships/image" Target="../media/image20.png"/><Relationship Id="rId9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9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2235"/>
          </a:solidFill>
          <a:ln cap="flat" cmpd="sng" w="12700">
            <a:solidFill>
              <a:srgbClr val="1B2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858000" y="274320"/>
            <a:ext cx="1280160" cy="1280160"/>
          </a:xfrm>
          <a:prstGeom prst="ellipse">
            <a:avLst/>
          </a:prstGeom>
          <a:solidFill>
            <a:srgbClr val="4A9DB5">
              <a:alpha val="65098"/>
            </a:srgbClr>
          </a:solidFill>
          <a:ln cap="flat" cmpd="sng" w="12700">
            <a:solidFill>
              <a:srgbClr val="4A9DB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955280" y="1737360"/>
            <a:ext cx="822960" cy="822960"/>
          </a:xfrm>
          <a:prstGeom prst="ellipse">
            <a:avLst/>
          </a:prstGeom>
          <a:solidFill>
            <a:srgbClr val="D4756B">
              <a:alpha val="65098"/>
            </a:srgbClr>
          </a:solidFill>
          <a:ln cap="flat" cmpd="sng" w="12700">
            <a:solidFill>
              <a:srgbClr val="D4756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309360" y="2377440"/>
            <a:ext cx="548640" cy="548640"/>
          </a:xfrm>
          <a:prstGeom prst="ellipse">
            <a:avLst/>
          </a:prstGeom>
          <a:solidFill>
            <a:srgbClr val="C9A84C">
              <a:alpha val="65098"/>
            </a:srgbClr>
          </a:solidFill>
          <a:ln cap="flat" cmpd="sng" w="12700">
            <a:solidFill>
              <a:srgbClr val="C9A84C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406640" y="3383280"/>
            <a:ext cx="1005840" cy="1005840"/>
          </a:xfrm>
          <a:prstGeom prst="ellipse">
            <a:avLst/>
          </a:prstGeom>
          <a:solidFill>
            <a:srgbClr val="4CAF8A">
              <a:alpha val="65098"/>
            </a:srgbClr>
          </a:solidFill>
          <a:ln cap="flat" cmpd="sng" w="12700">
            <a:solidFill>
              <a:srgbClr val="4CAF8A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126480" y="4023360"/>
            <a:ext cx="457200" cy="457200"/>
          </a:xfrm>
          <a:prstGeom prst="ellipse">
            <a:avLst/>
          </a:prstGeom>
          <a:solidFill>
            <a:srgbClr val="7B68C8">
              <a:alpha val="65098"/>
            </a:srgbClr>
          </a:solidFill>
          <a:ln cap="flat" cmpd="sng" w="12700">
            <a:solidFill>
              <a:srgbClr val="7B68C8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0" y="4914900"/>
            <a:ext cx="1828800" cy="2286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828800" y="4914900"/>
            <a:ext cx="1828800" cy="228600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0" y="4914900"/>
            <a:ext cx="1828800" cy="228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0" y="4914900"/>
            <a:ext cx="1828800" cy="22860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315200" y="4914900"/>
            <a:ext cx="1828800" cy="228600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2920" y="118872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 Modeling Lab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Lec3 — Foundations of Ecological Modeling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02920" y="32004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DB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9DB5"/>
                </a:solidFill>
                <a:latin typeface="Calibri"/>
                <a:ea typeface="Calibri"/>
                <a:cs typeface="Calibri"/>
                <a:sym typeface="Calibri"/>
              </a:rPr>
              <a:t>Population dynamics · Species interactions · Mathematical modeling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9DB5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64008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1920240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6"/>
          <p:cNvSpPr/>
          <p:nvPr/>
        </p:nvSpPr>
        <p:spPr>
          <a:xfrm>
            <a:off x="822960" y="-54864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6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6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Diversity Types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6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D4756B">
              <a:alpha val="34901"/>
            </a:srgbClr>
          </a:solidFill>
          <a:ln cap="flat" cmpd="sng" w="12700">
            <a:solidFill>
              <a:srgbClr val="D4756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6"/>
          <p:cNvSpPr/>
          <p:nvPr/>
        </p:nvSpPr>
        <p:spPr>
          <a:xfrm>
            <a:off x="256033" y="1170432"/>
            <a:ext cx="4185338" cy="737421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6"/>
          <p:cNvSpPr/>
          <p:nvPr/>
        </p:nvSpPr>
        <p:spPr>
          <a:xfrm>
            <a:off x="256032" y="1170432"/>
            <a:ext cx="54864" cy="9144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6"/>
          <p:cNvSpPr/>
          <p:nvPr/>
        </p:nvSpPr>
        <p:spPr>
          <a:xfrm>
            <a:off x="420624" y="126187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D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DB5"/>
                </a:solidFill>
                <a:latin typeface="Calibri"/>
                <a:ea typeface="Calibri"/>
                <a:cs typeface="Calibri"/>
                <a:sym typeface="Calibri"/>
              </a:rPr>
              <a:t>Genetic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6"/>
          <p:cNvSpPr/>
          <p:nvPr/>
        </p:nvSpPr>
        <p:spPr>
          <a:xfrm>
            <a:off x="420624" y="153619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Variation in genes within species, providing adaptive potential and resilience to environmental changes.</a:t>
            </a:r>
            <a:endParaRPr/>
          </a:p>
        </p:txBody>
      </p:sp>
      <p:sp>
        <p:nvSpPr>
          <p:cNvPr id="52" name="Google Shape;52;p56"/>
          <p:cNvSpPr/>
          <p:nvPr/>
        </p:nvSpPr>
        <p:spPr>
          <a:xfrm>
            <a:off x="256032" y="2194560"/>
            <a:ext cx="4185338" cy="737421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C9A84C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6"/>
          <p:cNvSpPr/>
          <p:nvPr/>
        </p:nvSpPr>
        <p:spPr>
          <a:xfrm>
            <a:off x="256032" y="2194560"/>
            <a:ext cx="54864" cy="9144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6"/>
          <p:cNvSpPr/>
          <p:nvPr/>
        </p:nvSpPr>
        <p:spPr>
          <a:xfrm>
            <a:off x="420624" y="2286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Species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6"/>
          <p:cNvSpPr/>
          <p:nvPr/>
        </p:nvSpPr>
        <p:spPr>
          <a:xfrm>
            <a:off x="420624" y="2596896"/>
            <a:ext cx="402074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Variety of species within an ecosystem, measured by richness (number of species) and evenness (relative abundance).</a:t>
            </a:r>
            <a:endParaRPr/>
          </a:p>
        </p:txBody>
      </p:sp>
      <p:sp>
        <p:nvSpPr>
          <p:cNvPr id="56" name="Google Shape;56;p56"/>
          <p:cNvSpPr/>
          <p:nvPr/>
        </p:nvSpPr>
        <p:spPr>
          <a:xfrm>
            <a:off x="256032" y="3218688"/>
            <a:ext cx="4185338" cy="737421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6"/>
          <p:cNvSpPr/>
          <p:nvPr/>
        </p:nvSpPr>
        <p:spPr>
          <a:xfrm>
            <a:off x="256032" y="3218688"/>
            <a:ext cx="54864" cy="914400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6"/>
          <p:cNvSpPr/>
          <p:nvPr/>
        </p:nvSpPr>
        <p:spPr>
          <a:xfrm>
            <a:off x="420624" y="33101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68C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68C8"/>
                </a:solidFill>
                <a:latin typeface="Calibri"/>
                <a:ea typeface="Calibri"/>
                <a:cs typeface="Calibri"/>
                <a:sym typeface="Calibri"/>
              </a:rPr>
              <a:t>Ecosystem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6"/>
          <p:cNvSpPr/>
          <p:nvPr/>
        </p:nvSpPr>
        <p:spPr>
          <a:xfrm>
            <a:off x="420624" y="3565572"/>
            <a:ext cx="402074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Variety of habitats, communities, and ecological processes within a region or landscape.</a:t>
            </a:r>
            <a:endParaRPr/>
          </a:p>
        </p:txBody>
      </p:sp>
      <p:sp>
        <p:nvSpPr>
          <p:cNvPr id="60" name="Google Shape;60;p56"/>
          <p:cNvSpPr/>
          <p:nvPr/>
        </p:nvSpPr>
        <p:spPr>
          <a:xfrm>
            <a:off x="274320" y="4084125"/>
            <a:ext cx="8577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6"/>
          <p:cNvSpPr/>
          <p:nvPr/>
        </p:nvSpPr>
        <p:spPr>
          <a:xfrm>
            <a:off x="239560" y="4242816"/>
            <a:ext cx="4201810" cy="737421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6"/>
          <p:cNvSpPr/>
          <p:nvPr/>
        </p:nvSpPr>
        <p:spPr>
          <a:xfrm>
            <a:off x="239560" y="4222729"/>
            <a:ext cx="45719" cy="885524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6"/>
          <p:cNvSpPr/>
          <p:nvPr/>
        </p:nvSpPr>
        <p:spPr>
          <a:xfrm>
            <a:off x="395007" y="4248717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D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DB5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6"/>
          <p:cNvSpPr/>
          <p:nvPr/>
        </p:nvSpPr>
        <p:spPr>
          <a:xfrm>
            <a:off x="395007" y="4559613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Range of ecological roles and processes performed by organisms in an ecosystem</a:t>
            </a:r>
            <a:endParaRPr/>
          </a:p>
        </p:txBody>
      </p:sp>
      <p:sp>
        <p:nvSpPr>
          <p:cNvPr id="65" name="Google Shape;65;p56"/>
          <p:cNvSpPr txBox="1"/>
          <p:nvPr/>
        </p:nvSpPr>
        <p:spPr>
          <a:xfrm>
            <a:off x="4998262" y="868680"/>
            <a:ext cx="3781353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Biodiversity is measured at multiple scales: alpha (local), beta (between habitats), and gamma (regional) diversity. Various indices like Shannon-Wiener and Simpson's quantify diversity for comparison.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C4C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C4C4D"/>
                </a:solidFill>
                <a:latin typeface="Calibri"/>
                <a:ea typeface="Calibri"/>
                <a:cs typeface="Calibri"/>
                <a:sym typeface="Calibri"/>
              </a:rPr>
              <a:t>Research increasingly shows that biodiversity enhances ecosystem function, stability, and resilience, though the exact relationships remain an active area of study.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Population Growth Models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D4756B">
              <a:alpha val="34901"/>
            </a:srgbClr>
          </a:solidFill>
          <a:ln cap="flat" cmpd="sng" w="12700">
            <a:solidFill>
              <a:srgbClr val="D4756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256032" y="777240"/>
            <a:ext cx="2816352" cy="320040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56032" y="777240"/>
            <a:ext cx="2816352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65760" y="813816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Exponential Growth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65760" y="1197864"/>
            <a:ext cx="2596896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Assumes unlimited resources. Population increases continuously.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dN/dt = rN where r = intrinsic growth rate. Valid only short-term or in resource-rich conditions.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246120" y="777240"/>
            <a:ext cx="2816352" cy="3200400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246120" y="777240"/>
            <a:ext cx="2816352" cy="347472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355848" y="813816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Growth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3355848" y="1197864"/>
            <a:ext cx="2596896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Incorporates carrying capacity K. Growth decelerates as N approaches 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dN/dt = rN(1−N/K) — creates the characteristic S-shaped sigmoidal curve.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6236208" y="777240"/>
            <a:ext cx="2816352" cy="3200400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236208" y="777240"/>
            <a:ext cx="2816352" cy="347472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345936" y="813816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Multi-Species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345936" y="1197864"/>
            <a:ext cx="2596896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Extends single-species models to include interactions between species.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Lotka-Volterra: predator-prey cycles and competitive interactions between species.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C9A84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475488" y="415137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⚠  Real populations rarely follow simple models — always validate against field data and check assumptions.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Functional Response Types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D4756B">
              <a:alpha val="34901"/>
            </a:srgbClr>
          </a:solidFill>
          <a:ln cap="flat" cmpd="sng" w="12700">
            <a:solidFill>
              <a:srgbClr val="D4756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Functional responses describe how a predator's consumption rate changes with prey density.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56033" y="1170432"/>
            <a:ext cx="2890938" cy="737421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56032" y="1170432"/>
            <a:ext cx="54864" cy="9144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20624" y="126187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D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DB5"/>
                </a:solidFill>
                <a:latin typeface="Calibri"/>
                <a:ea typeface="Calibri"/>
                <a:cs typeface="Calibri"/>
                <a:sym typeface="Calibri"/>
              </a:rPr>
              <a:t>f(ALG) = ALG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20624" y="15727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No saturation — rare in nature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425057" y="1170432"/>
            <a:ext cx="2890938" cy="737421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425057" y="1170432"/>
            <a:ext cx="45719" cy="914400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589649" y="1261872"/>
            <a:ext cx="2268011" cy="231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5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756B"/>
                </a:solidFill>
                <a:latin typeface="Calibri"/>
                <a:ea typeface="Calibri"/>
                <a:cs typeface="Calibri"/>
                <a:sym typeface="Calibri"/>
              </a:rPr>
              <a:t>Consumption proportional to food availability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954034" y="1572768"/>
            <a:ext cx="2931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Common in filter feeders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56032" y="2194560"/>
            <a:ext cx="2901899" cy="737421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C9A84C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56032" y="2194560"/>
            <a:ext cx="54864" cy="9144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20624" y="2286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f(ALG) = ALG / (K + ALG)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20624" y="259689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Holling Type II — most common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425057" y="2194560"/>
            <a:ext cx="2890938" cy="737421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425057" y="2194560"/>
            <a:ext cx="45719" cy="91440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589649" y="2286000"/>
            <a:ext cx="15354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AF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CAF8A"/>
                </a:solidFill>
                <a:latin typeface="Calibri"/>
                <a:ea typeface="Calibri"/>
                <a:cs typeface="Calibri"/>
                <a:sym typeface="Calibri"/>
              </a:rPr>
              <a:t>Plateaus at high food availability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954034" y="2596896"/>
            <a:ext cx="2931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Invertebrate predators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56032" y="3218688"/>
            <a:ext cx="2890939" cy="737421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56032" y="3218688"/>
            <a:ext cx="54864" cy="914400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20624" y="33101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68C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68C8"/>
                </a:solidFill>
                <a:latin typeface="Calibri"/>
                <a:ea typeface="Calibri"/>
                <a:cs typeface="Calibri"/>
                <a:sym typeface="Calibri"/>
              </a:rPr>
              <a:t>f(ALG) = ALG² / (K² + ALG²)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20624" y="362102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Vertebrate predators — learning behavior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425057" y="3218688"/>
            <a:ext cx="2907411" cy="737421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425057" y="3198601"/>
            <a:ext cx="45719" cy="885524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589649" y="3310127"/>
            <a:ext cx="2410131" cy="362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D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DB5"/>
                </a:solidFill>
                <a:latin typeface="Calibri"/>
                <a:ea typeface="Calibri"/>
                <a:cs typeface="Calibri"/>
                <a:sym typeface="Calibri"/>
              </a:rPr>
              <a:t>S-shaped curve — slow start, rapid middle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954034" y="3621024"/>
            <a:ext cx="2931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Prey switching at high densities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74320" y="4084125"/>
            <a:ext cx="8577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0108" y="868680"/>
            <a:ext cx="251460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Understanding Population Dynamics - Conceptual vs Mechanistic Models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7B68C8">
              <a:alpha val="34901"/>
            </a:srgbClr>
          </a:solidFill>
          <a:ln cap="flat" cmpd="sng" w="12700">
            <a:solidFill>
              <a:srgbClr val="7B68C8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Two complementary approaches to understanding population dynamics and ecological systems.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20040" y="1143000"/>
            <a:ext cx="4160520" cy="1950396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20040" y="1143000"/>
            <a:ext cx="4160520" cy="365760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11480" y="1179576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Conceptual Models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29768" y="1600200"/>
            <a:ext cx="391363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Identify relationships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 research questions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Communicate understanding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Guide model development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663440" y="1143000"/>
            <a:ext cx="4160520" cy="1950396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663440" y="1143000"/>
            <a:ext cx="4160520" cy="36576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754880" y="1179576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Mechanistic Models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773168" y="1600200"/>
            <a:ext cx="391363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Make quantitative predictions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hypotheses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Evaluate scenarios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Forecast conditions</a:t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83464" y="4581142"/>
            <a:ext cx="8577072" cy="475489"/>
          </a:xfrm>
          <a:prstGeom prst="rect">
            <a:avLst/>
          </a:prstGeom>
          <a:solidFill>
            <a:srgbClr val="F4F8F4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11480" y="3533782"/>
            <a:ext cx="4275045" cy="430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04C49"/>
                </a:solidFill>
                <a:latin typeface="Calibri"/>
                <a:ea typeface="Calibri"/>
                <a:cs typeface="Calibri"/>
                <a:sym typeface="Calibri"/>
              </a:rPr>
              <a:t>Conceptual Model: The "big picture" understanding</a:t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29768" y="4550613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⚠  Both approaches are essential: conceptual models clarify thinking; mechanistic models enable prediction and testing.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5028684" y="3362494"/>
            <a:ext cx="38638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04C49"/>
                </a:solidFill>
                <a:latin typeface="Calibri"/>
                <a:ea typeface="Calibri"/>
                <a:cs typeface="Calibri"/>
                <a:sym typeface="Calibri"/>
              </a:rPr>
              <a:t>Mechanistic Model: The mathematical representation</a:t>
            </a:r>
            <a:endParaRPr/>
          </a:p>
        </p:txBody>
      </p:sp>
      <p:pic>
        <p:nvPicPr>
          <p:cNvPr descr="Conceptual model of ecosystem represented by AQUATOX. | Download Scientific  Diagram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1911" y="1662765"/>
            <a:ext cx="2083493" cy="1351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Conceptual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02920" y="804672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mechanistic model uses mathematical equations with defined parameters to make quantitative, testable predictions about ecological systems.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256032" y="1719072"/>
            <a:ext cx="2816352" cy="276135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256032" y="1719072"/>
            <a:ext cx="2816352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365760" y="1755648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Mathematical Equations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365760" y="2139696"/>
            <a:ext cx="2596896" cy="230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Driving Processes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Influence Direction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System elements and their relationships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Factors causing changes in population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Positive/negative effects between components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3355848" y="1755648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6297808" y="2120446"/>
            <a:ext cx="2596896" cy="230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Enables simulation, scenario testing, and forecasting.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7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7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7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Mechanistic Model Equation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7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7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7"/>
          <p:cNvSpPr/>
          <p:nvPr/>
        </p:nvSpPr>
        <p:spPr>
          <a:xfrm>
            <a:off x="502920" y="804672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mechanistic model uses mathematical equations with defined parameters to make quantitative, testable predictions about ecological systems.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7"/>
          <p:cNvSpPr/>
          <p:nvPr/>
        </p:nvSpPr>
        <p:spPr>
          <a:xfrm>
            <a:off x="256032" y="1719072"/>
            <a:ext cx="2816352" cy="103567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7"/>
          <p:cNvSpPr/>
          <p:nvPr/>
        </p:nvSpPr>
        <p:spPr>
          <a:xfrm>
            <a:off x="256032" y="1719072"/>
            <a:ext cx="2816352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7"/>
          <p:cNvSpPr/>
          <p:nvPr/>
        </p:nvSpPr>
        <p:spPr>
          <a:xfrm>
            <a:off x="365760" y="1755648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Mathematical Equations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7"/>
          <p:cNvSpPr/>
          <p:nvPr/>
        </p:nvSpPr>
        <p:spPr>
          <a:xfrm>
            <a:off x="365760" y="2139696"/>
            <a:ext cx="2596896" cy="230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Parameters must be measurable and biologically meaningful.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7"/>
          <p:cNvSpPr/>
          <p:nvPr/>
        </p:nvSpPr>
        <p:spPr>
          <a:xfrm>
            <a:off x="3355848" y="1755648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7"/>
          <p:cNvSpPr/>
          <p:nvPr/>
        </p:nvSpPr>
        <p:spPr>
          <a:xfrm>
            <a:off x="6236208" y="1719072"/>
            <a:ext cx="2587752" cy="1226259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7"/>
          <p:cNvSpPr/>
          <p:nvPr/>
        </p:nvSpPr>
        <p:spPr>
          <a:xfrm>
            <a:off x="6236208" y="1719072"/>
            <a:ext cx="2596896" cy="329184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7"/>
          <p:cNvSpPr/>
          <p:nvPr/>
        </p:nvSpPr>
        <p:spPr>
          <a:xfrm>
            <a:off x="6297808" y="1736398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Quantitative Predictions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7"/>
          <p:cNvSpPr/>
          <p:nvPr/>
        </p:nvSpPr>
        <p:spPr>
          <a:xfrm>
            <a:off x="6297808" y="2120446"/>
            <a:ext cx="2596896" cy="230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Enables simulation, scenario testing, and forecasting.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ling Interspecific Competition ..." id="190" name="Google Shape;19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8513" y="1647825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Types of Equations in Ecological Modeling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C9A84C">
              <a:alpha val="34901"/>
            </a:srgbClr>
          </a:solidFill>
          <a:ln cap="flat" cmpd="sng" w="12700">
            <a:solidFill>
              <a:srgbClr val="C9A84C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Three equation types underpin most ecological models, each suited to different timescales and data.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13"/>
          <p:cNvGraphicFramePr/>
          <p:nvPr/>
        </p:nvGraphicFramePr>
        <p:xfrm>
          <a:off x="32004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{8AFF50A7-E4AB-4A32-BD39-0180844F5665}</a:tableStyleId>
              </a:tblPr>
              <a:tblGrid>
                <a:gridCol w="2834650"/>
                <a:gridCol w="2834650"/>
                <a:gridCol w="28346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Recursion Equation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9D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Difference Equation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AF8A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n(t+1) = R × n(t) — value at next step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Δn = n(t+1) − n(t) — change between steps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Discrete generations (insects, annual plants)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Organisms with distinct breeding seasons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scale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Discrete time steps (days, years)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time (ODEs)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Insect generations, fish year-classes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Differential equation: dn/dt = r×n (exponential)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ODE type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ODE: one independent variable (time)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PDE: multiple independent variables (time + space)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344344" y="3913692"/>
            <a:ext cx="8217568" cy="905136"/>
          </a:xfrm>
          <a:prstGeom prst="rect">
            <a:avLst/>
          </a:prstGeom>
          <a:solidFill>
            <a:srgbClr val="E1EFD8"/>
          </a:solidFill>
          <a:ln cap="flat" cmpd="sng" w="12700">
            <a:solidFill>
              <a:srgbClr val="C9A84C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Example - Zooplankton Biomass Dynamics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CAF8A">
              <a:alpha val="34901"/>
            </a:srgbClr>
          </a:solidFill>
          <a:ln cap="flat" cmpd="sng" w="12700">
            <a:solidFill>
              <a:srgbClr val="4CAF8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Light &amp; Nutrients — primary inputs to the 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292607" y="1124711"/>
            <a:ext cx="5290045" cy="1671565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Algae (ALG) Biomass — food source for zooplankton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Zooplankton (ZOO) — affected by grazing, predation, respiration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Decomposition — returns nutrients back to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dZOO/dt = g × e × ZOO × f(ALG) − m × ZOO − p(ZOO)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g = grazing rate, e = assimilation efficiency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m = mortality, p(ZOO) = predation term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397431" y="5015003"/>
            <a:ext cx="3913632" cy="33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493776" y="4144311"/>
            <a:ext cx="71679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zooplankton biomass equation tracks net growth as the balance between food-driven growth and losses from mortality and predation.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ooplankton - The Australian Museum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200" y="26237"/>
            <a:ext cx="430208" cy="675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8"/>
          <p:cNvSpPr/>
          <p:nvPr/>
        </p:nvSpPr>
        <p:spPr>
          <a:xfrm>
            <a:off x="344344" y="3913692"/>
            <a:ext cx="8217568" cy="905136"/>
          </a:xfrm>
          <a:prstGeom prst="rect">
            <a:avLst/>
          </a:prstGeom>
          <a:solidFill>
            <a:srgbClr val="E1EFD8"/>
          </a:solidFill>
          <a:ln cap="flat" cmpd="sng" w="12700">
            <a:solidFill>
              <a:srgbClr val="C9A84C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8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8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8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Understanding Zooplankton Biomass Dynamics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8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CAF8A">
              <a:alpha val="34901"/>
            </a:srgbClr>
          </a:solidFill>
          <a:ln cap="flat" cmpd="sng" w="12700">
            <a:solidFill>
              <a:srgbClr val="4CAF8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8"/>
          <p:cNvSpPr/>
          <p:nvPr/>
        </p:nvSpPr>
        <p:spPr>
          <a:xfrm>
            <a:off x="6397431" y="5015003"/>
            <a:ext cx="3913632" cy="33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8"/>
          <p:cNvSpPr txBox="1"/>
          <p:nvPr/>
        </p:nvSpPr>
        <p:spPr>
          <a:xfrm>
            <a:off x="493776" y="4144311"/>
            <a:ext cx="71679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zooplankton biomass equation tracks net growth as the balance between food-driven growth and losses from mortality and predation.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ooplankton - The Australian Museum" id="232" name="Google Shape;23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200" y="26237"/>
            <a:ext cx="430208" cy="675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1148" y="998722"/>
            <a:ext cx="4689656" cy="263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9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9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9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Zooplankton conceptual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9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CAF8A">
              <a:alpha val="34901"/>
            </a:srgbClr>
          </a:solidFill>
          <a:ln cap="flat" cmpd="sng" w="12700">
            <a:solidFill>
              <a:srgbClr val="4CAF8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9"/>
          <p:cNvSpPr/>
          <p:nvPr/>
        </p:nvSpPr>
        <p:spPr>
          <a:xfrm>
            <a:off x="6397431" y="5015003"/>
            <a:ext cx="3913632" cy="33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Zooplankton - The Australian Museum" id="245" name="Google Shape;2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200" y="26237"/>
            <a:ext cx="430208" cy="675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1121" y="935532"/>
            <a:ext cx="3093126" cy="253843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59"/>
          <p:cNvSpPr/>
          <p:nvPr/>
        </p:nvSpPr>
        <p:spPr>
          <a:xfrm>
            <a:off x="292608" y="1124711"/>
            <a:ext cx="4423772" cy="1671565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Qualitative understanding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"What affects what"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General relationships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0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0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0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Zooplankton mechanistic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0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CAF8A">
              <a:alpha val="34901"/>
            </a:srgbClr>
          </a:solidFill>
          <a:ln cap="flat" cmpd="sng" w="12700">
            <a:solidFill>
              <a:srgbClr val="4CAF8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0"/>
          <p:cNvSpPr/>
          <p:nvPr/>
        </p:nvSpPr>
        <p:spPr>
          <a:xfrm>
            <a:off x="6397431" y="5015003"/>
            <a:ext cx="3913632" cy="33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Zooplankton - The Australian Museum" id="259" name="Google Shape;25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200" y="26237"/>
            <a:ext cx="430208" cy="67535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60"/>
          <p:cNvSpPr/>
          <p:nvPr/>
        </p:nvSpPr>
        <p:spPr>
          <a:xfrm>
            <a:off x="354485" y="969263"/>
            <a:ext cx="4423772" cy="3927349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Quantitative representation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g = grazing rate, e = efficiency, m = mortality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Specific parameters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Testable predictions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Basic Equation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dZOO/dt = Growth - Mortality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Expanded Form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dZOO/dt = g × e × ZOO × f(ALG) - m × ZOO - p(ZOO)</a:t>
            </a:r>
            <a:endParaRPr/>
          </a:p>
        </p:txBody>
      </p:sp>
      <p:pic>
        <p:nvPicPr>
          <p:cNvPr id="261" name="Google Shape;26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0328" y="1922028"/>
            <a:ext cx="4181297" cy="1063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4756B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457200" y="64008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457200" y="1920240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Population Growth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4D2B"/>
          </a:solidFill>
          <a:ln cap="flat" cmpd="sng" w="12700">
            <a:solidFill>
              <a:srgbClr val="1E4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Population trajectory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274320" y="694944"/>
            <a:ext cx="8595360" cy="27432"/>
          </a:xfrm>
          <a:prstGeom prst="rect">
            <a:avLst/>
          </a:prstGeom>
          <a:solidFill>
            <a:srgbClr val="A8C5A0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274320" y="804672"/>
            <a:ext cx="3211400" cy="3052308"/>
          </a:xfrm>
          <a:prstGeom prst="rect">
            <a:avLst/>
          </a:prstGeom>
          <a:solidFill>
            <a:srgbClr val="EAF2EB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411480" y="877823"/>
            <a:ext cx="2943612" cy="2614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Population growth is the increase in the number of people in a population or dispersed group.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Population has grown from 1 billion in 1800 to 8.2 billion in 2025.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Actual human population growth amounts to around 70 million annually, or 0.85% per year.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As of 2024, The United Nations projects that global population will peak in the mid-2080s at around 10.3 billion. 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2280844" y="2417432"/>
            <a:ext cx="45754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8"/>
          <p:cNvSpPr txBox="1"/>
          <p:nvPr/>
        </p:nvSpPr>
        <p:spPr>
          <a:xfrm>
            <a:off x="2280844" y="2417432"/>
            <a:ext cx="45754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2280844" y="2417432"/>
            <a:ext cx="45754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2280844" y="2417432"/>
            <a:ext cx="45754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fined" id="285" name="Google Shape;2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5158" y="877823"/>
            <a:ext cx="2785304" cy="1693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5158" y="2725209"/>
            <a:ext cx="2676210" cy="1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2880" y="1595051"/>
            <a:ext cx="1974288" cy="2260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4D2B"/>
          </a:solidFill>
          <a:ln cap="flat" cmpd="sng" w="12700">
            <a:solidFill>
              <a:srgbClr val="1E4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The Exponential Growth Model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1"/>
          <p:cNvSpPr/>
          <p:nvPr/>
        </p:nvSpPr>
        <p:spPr>
          <a:xfrm>
            <a:off x="274320" y="694944"/>
            <a:ext cx="8595360" cy="27432"/>
          </a:xfrm>
          <a:prstGeom prst="rect">
            <a:avLst/>
          </a:prstGeom>
          <a:solidFill>
            <a:srgbClr val="A8C5A0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1"/>
          <p:cNvSpPr/>
          <p:nvPr/>
        </p:nvSpPr>
        <p:spPr>
          <a:xfrm>
            <a:off x="274320" y="804672"/>
            <a:ext cx="8577072" cy="512064"/>
          </a:xfrm>
          <a:prstGeom prst="rect">
            <a:avLst/>
          </a:prstGeom>
          <a:solidFill>
            <a:srgbClr val="EAF2EB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1"/>
          <p:cNvSpPr/>
          <p:nvPr/>
        </p:nvSpPr>
        <p:spPr>
          <a:xfrm>
            <a:off x="411480" y="87782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The simplest population model: assumes unlimited resources and constant per-capita growth rate.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1"/>
          <p:cNvSpPr/>
          <p:nvPr/>
        </p:nvSpPr>
        <p:spPr>
          <a:xfrm>
            <a:off x="274320" y="14630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Key Equation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1"/>
          <p:cNvSpPr/>
          <p:nvPr/>
        </p:nvSpPr>
        <p:spPr>
          <a:xfrm>
            <a:off x="274320" y="1856232"/>
            <a:ext cx="128016" cy="128016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1"/>
          <p:cNvSpPr/>
          <p:nvPr/>
        </p:nvSpPr>
        <p:spPr>
          <a:xfrm>
            <a:off x="475488" y="1792224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dN/dt = rN (continuous time)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1"/>
          <p:cNvSpPr/>
          <p:nvPr/>
        </p:nvSpPr>
        <p:spPr>
          <a:xfrm>
            <a:off x="274320" y="2276856"/>
            <a:ext cx="128016" cy="128016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1"/>
          <p:cNvSpPr/>
          <p:nvPr/>
        </p:nvSpPr>
        <p:spPr>
          <a:xfrm>
            <a:off x="475488" y="2212848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N(t+1) = R × N(t) (discrete time)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1"/>
          <p:cNvSpPr/>
          <p:nvPr/>
        </p:nvSpPr>
        <p:spPr>
          <a:xfrm>
            <a:off x="274320" y="2697480"/>
            <a:ext cx="128016" cy="128016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1"/>
          <p:cNvSpPr/>
          <p:nvPr/>
        </p:nvSpPr>
        <p:spPr>
          <a:xfrm>
            <a:off x="475488" y="2633472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 = finite rate of increase; r = intrinsic growth rate (R = eʳ)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1"/>
          <p:cNvSpPr/>
          <p:nvPr/>
        </p:nvSpPr>
        <p:spPr>
          <a:xfrm>
            <a:off x="3749040" y="14630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Key Characteristics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1"/>
          <p:cNvSpPr/>
          <p:nvPr/>
        </p:nvSpPr>
        <p:spPr>
          <a:xfrm>
            <a:off x="3749040" y="1792224"/>
            <a:ext cx="5120640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1"/>
          <p:cNvSpPr/>
          <p:nvPr/>
        </p:nvSpPr>
        <p:spPr>
          <a:xfrm>
            <a:off x="3858768" y="182880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Unlimited growth — no ceiling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1"/>
          <p:cNvSpPr/>
          <p:nvPr/>
        </p:nvSpPr>
        <p:spPr>
          <a:xfrm>
            <a:off x="5449824" y="182880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Growth proportional to population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1"/>
          <p:cNvSpPr/>
          <p:nvPr/>
        </p:nvSpPr>
        <p:spPr>
          <a:xfrm>
            <a:off x="3749040" y="2286000"/>
            <a:ext cx="5120640" cy="429768"/>
          </a:xfrm>
          <a:prstGeom prst="rect">
            <a:avLst/>
          </a:prstGeom>
          <a:solidFill>
            <a:srgbClr val="F4F8F4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1"/>
          <p:cNvSpPr/>
          <p:nvPr/>
        </p:nvSpPr>
        <p:spPr>
          <a:xfrm>
            <a:off x="3858768" y="2322576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N = population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1"/>
          <p:cNvSpPr/>
          <p:nvPr/>
        </p:nvSpPr>
        <p:spPr>
          <a:xfrm>
            <a:off x="5449824" y="2322576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 = intrinsic growth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1"/>
          <p:cNvSpPr/>
          <p:nvPr/>
        </p:nvSpPr>
        <p:spPr>
          <a:xfrm>
            <a:off x="3749040" y="2779776"/>
            <a:ext cx="5120640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1"/>
          <p:cNvSpPr/>
          <p:nvPr/>
        </p:nvSpPr>
        <p:spPr>
          <a:xfrm>
            <a:off x="3858768" y="281635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No environmental constraints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1"/>
          <p:cNvSpPr/>
          <p:nvPr/>
        </p:nvSpPr>
        <p:spPr>
          <a:xfrm>
            <a:off x="5449824" y="2816352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Valid only short-term in nature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1"/>
          <p:cNvSpPr/>
          <p:nvPr/>
        </p:nvSpPr>
        <p:spPr>
          <a:xfrm>
            <a:off x="3749040" y="3273552"/>
            <a:ext cx="5120640" cy="429768"/>
          </a:xfrm>
          <a:prstGeom prst="rect">
            <a:avLst/>
          </a:prstGeom>
          <a:solidFill>
            <a:srgbClr val="F4F8F4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1"/>
          <p:cNvSpPr/>
          <p:nvPr/>
        </p:nvSpPr>
        <p:spPr>
          <a:xfrm>
            <a:off x="3858768" y="3310128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When R &gt; 1: population grows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1"/>
          <p:cNvSpPr/>
          <p:nvPr/>
        </p:nvSpPr>
        <p:spPr>
          <a:xfrm>
            <a:off x="5449824" y="3310128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When R = 1: population stable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1"/>
          <p:cNvSpPr/>
          <p:nvPr/>
        </p:nvSpPr>
        <p:spPr>
          <a:xfrm>
            <a:off x="3749040" y="3767328"/>
            <a:ext cx="5120640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1"/>
          <p:cNvSpPr/>
          <p:nvPr/>
        </p:nvSpPr>
        <p:spPr>
          <a:xfrm>
            <a:off x="3858768" y="3803904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When R &lt; 1: population declines toward extinction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1"/>
          <p:cNvSpPr/>
          <p:nvPr/>
        </p:nvSpPr>
        <p:spPr>
          <a:xfrm>
            <a:off x="5449824" y="3803904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Analytical solution: N(t) = N₀ × eʳᵗ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1"/>
          <p:cNvSpPr/>
          <p:nvPr/>
        </p:nvSpPr>
        <p:spPr>
          <a:xfrm>
            <a:off x="3749040" y="4261104"/>
            <a:ext cx="5120640" cy="429768"/>
          </a:xfrm>
          <a:prstGeom prst="rect">
            <a:avLst/>
          </a:prstGeom>
          <a:solidFill>
            <a:srgbClr val="F4F8F4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1"/>
          <p:cNvSpPr/>
          <p:nvPr/>
        </p:nvSpPr>
        <p:spPr>
          <a:xfrm>
            <a:off x="3858768" y="429768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Discrete solution: N(t) = N₀ × Rᵗ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1"/>
          <p:cNvSpPr/>
          <p:nvPr/>
        </p:nvSpPr>
        <p:spPr>
          <a:xfrm>
            <a:off x="5449824" y="429768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Population doubles every ln(2)/r time units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1"/>
          <p:cNvSpPr/>
          <p:nvPr/>
        </p:nvSpPr>
        <p:spPr>
          <a:xfrm>
            <a:off x="274320" y="4261104"/>
            <a:ext cx="8577072" cy="566928"/>
          </a:xfrm>
          <a:prstGeom prst="rect">
            <a:avLst/>
          </a:prstGeom>
          <a:solidFill>
            <a:srgbClr val="F4F8F4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1"/>
          <p:cNvSpPr/>
          <p:nvPr/>
        </p:nvSpPr>
        <p:spPr>
          <a:xfrm>
            <a:off x="411480" y="4334256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Examples: invasive species with no predators, bacteria in fresh media, human population in 1800s.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7" y="3012373"/>
            <a:ext cx="2201103" cy="1138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4D2B"/>
          </a:solidFill>
          <a:ln cap="flat" cmpd="sng" w="12700">
            <a:solidFill>
              <a:srgbClr val="1E4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2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General solution to the exponential growth model</a:t>
            </a:r>
            <a:endParaRPr/>
          </a:p>
        </p:txBody>
      </p:sp>
      <p:sp>
        <p:nvSpPr>
          <p:cNvPr id="334" name="Google Shape;334;p62"/>
          <p:cNvSpPr/>
          <p:nvPr/>
        </p:nvSpPr>
        <p:spPr>
          <a:xfrm>
            <a:off x="274320" y="694944"/>
            <a:ext cx="8595360" cy="27432"/>
          </a:xfrm>
          <a:prstGeom prst="rect">
            <a:avLst/>
          </a:prstGeom>
          <a:solidFill>
            <a:srgbClr val="A8C5A0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2"/>
          <p:cNvSpPr/>
          <p:nvPr/>
        </p:nvSpPr>
        <p:spPr>
          <a:xfrm>
            <a:off x="274320" y="864830"/>
            <a:ext cx="8577072" cy="3734671"/>
          </a:xfrm>
          <a:prstGeom prst="rect">
            <a:avLst/>
          </a:prstGeom>
          <a:solidFill>
            <a:srgbClr val="EAF2EB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2"/>
          <p:cNvSpPr/>
          <p:nvPr/>
        </p:nvSpPr>
        <p:spPr>
          <a:xfrm>
            <a:off x="468613" y="2187702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The general solution allows us to determine exactly when the population will grow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or shrink without having to explore all possible values of R numerically. Rt n(0) always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equals n(0) when R equals one, it declines as time passes whenever R is less than one,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and it increases as time passes whenever R is greater than one.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1E4D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1E4D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Does modeling population growth in continuous-time generate different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predictions? To address this question graphically requires that we predict future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population sizes using the differential equation dn/dt = r n(t).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1E4D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That is, we must “solve”the differential equation so that we know n(t) itself at time t,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and not just the rate at which n(t) changes over time.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1E4D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 Just as with discrete-time recursion equations,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differential equations can be solved analytically or numerically</a:t>
            </a:r>
            <a:endParaRPr/>
          </a:p>
        </p:txBody>
      </p:sp>
      <p:sp>
        <p:nvSpPr>
          <p:cNvPr id="337" name="Google Shape;337;p62"/>
          <p:cNvSpPr/>
          <p:nvPr/>
        </p:nvSpPr>
        <p:spPr>
          <a:xfrm>
            <a:off x="6515479" y="1295972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Population doubles every ln(2)/r time units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1792" y="929971"/>
            <a:ext cx="1434903" cy="35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4D2B"/>
          </a:solidFill>
          <a:ln cap="flat" cmpd="sng" w="12700">
            <a:solidFill>
              <a:srgbClr val="1E4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Dynamics of the Exponential Model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274320" y="694944"/>
            <a:ext cx="8595360" cy="27432"/>
          </a:xfrm>
          <a:prstGeom prst="rect">
            <a:avLst/>
          </a:prstGeom>
          <a:solidFill>
            <a:srgbClr val="A8C5A0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274320" y="804672"/>
            <a:ext cx="8577072" cy="512064"/>
          </a:xfrm>
          <a:prstGeom prst="rect">
            <a:avLst/>
          </a:prstGeom>
          <a:solidFill>
            <a:srgbClr val="EAF2EB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411480" y="87782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The value of R determines whether a population grows, stays stable, or declines over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274320" y="14630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When R &gt;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274320" y="1856232"/>
            <a:ext cx="128016" cy="128016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475488" y="1719072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Population grows without bound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274320" y="2214981"/>
            <a:ext cx="128016" cy="128016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475488" y="2061044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Each individual leaves more than one descendant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74320" y="2546228"/>
            <a:ext cx="128016" cy="128016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475488" y="2393595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Seen in early-stage invasions and lab cultures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3749040" y="14630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When R =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3749040" y="1792224"/>
            <a:ext cx="5120640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3858768" y="182880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Population is exactly stable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449824" y="182880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Births precisely offset deaths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3749040" y="2286000"/>
            <a:ext cx="5120640" cy="429768"/>
          </a:xfrm>
          <a:prstGeom prst="rect">
            <a:avLst/>
          </a:prstGeom>
          <a:solidFill>
            <a:srgbClr val="F4F8F4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3858768" y="2322576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Rarely observed long-term in nature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5449824" y="2322576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When R &lt;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3749040" y="2779776"/>
            <a:ext cx="5120640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3858768" y="281635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Population declines toward extinction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5449824" y="2816352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Each individual leaves fewer than one descendant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3749040" y="3273552"/>
            <a:ext cx="5120640" cy="429768"/>
          </a:xfrm>
          <a:prstGeom prst="rect">
            <a:avLst/>
          </a:prstGeom>
          <a:solidFill>
            <a:srgbClr val="F4F8F4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3858768" y="3310128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Critical threshold for conservation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5449824" y="3310128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General solution: N(t) = Rᵗ × N(0)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3749040" y="3767328"/>
            <a:ext cx="5120640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3858768" y="3803904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Allows exact prediction without simulation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5449824" y="3803904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Population at time t = N₀ × eʳᵗ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3749040" y="4261104"/>
            <a:ext cx="5120640" cy="429768"/>
          </a:xfrm>
          <a:prstGeom prst="rect">
            <a:avLst/>
          </a:prstGeom>
          <a:solidFill>
            <a:srgbClr val="F4F8F4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3858768" y="429768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Continuous-time equivalent of discrete recursion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5449824" y="429768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Both predict same long-run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274320" y="4785473"/>
            <a:ext cx="8577072" cy="274321"/>
          </a:xfrm>
          <a:prstGeom prst="rect">
            <a:avLst/>
          </a:prstGeom>
          <a:solidFill>
            <a:srgbClr val="F4F8F4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420624" y="4683860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Limitation: exponential growth is unsustainable — real populations face resource limits, disease, and predation.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852" y="2747107"/>
            <a:ext cx="2497336" cy="1898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1E4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The Logistic Growth Model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274320" y="694944"/>
            <a:ext cx="8595360" cy="27432"/>
          </a:xfrm>
          <a:prstGeom prst="rect">
            <a:avLst/>
          </a:prstGeom>
          <a:solidFill>
            <a:srgbClr val="F4B08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274320" y="804672"/>
            <a:ext cx="8577072" cy="512064"/>
          </a:xfrm>
          <a:prstGeom prst="rect">
            <a:avLst/>
          </a:prstGeom>
          <a:solidFill>
            <a:srgbClr val="F4B08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411480" y="87782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Extends exponential growth by introducing carrying capacity K — the maximum population size the environment can sustain.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274320" y="1463040"/>
            <a:ext cx="40690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274320" y="1463040"/>
            <a:ext cx="4069080" cy="301752"/>
          </a:xfrm>
          <a:prstGeom prst="rect">
            <a:avLst/>
          </a:prstGeom>
          <a:solidFill>
            <a:srgbClr val="D4860A"/>
          </a:solidFill>
          <a:ln cap="flat" cmpd="sng" w="12700">
            <a:solidFill>
              <a:srgbClr val="D48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384048" y="1463040"/>
            <a:ext cx="39044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Equation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384048" y="1810512"/>
            <a:ext cx="3867912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dN/dt = rN(1−N/K)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As N → K, the term (1−N/K) → 0, slowing growth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When N &lt;&lt; K: growth is nearly exponential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At N = K/2: growth rate is maximized (inflection point)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274320" y="2569464"/>
            <a:ext cx="4233672" cy="25603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Key Parameters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274320" y="2569464"/>
            <a:ext cx="4233672" cy="429768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393192" y="2606040"/>
            <a:ext cx="1371600" cy="16459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Population Size (N):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393192" y="2788920"/>
            <a:ext cx="4005072" cy="16459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Current population size being tracked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274320" y="3063240"/>
            <a:ext cx="4233672" cy="429768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393192" y="3099816"/>
            <a:ext cx="1371600" cy="16459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Growth Rate (r):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393192" y="3282696"/>
            <a:ext cx="4005072" cy="16459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Intrinsic per-capita rate of increase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274320" y="3557016"/>
            <a:ext cx="4233672" cy="429768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393192" y="3593592"/>
            <a:ext cx="1371600" cy="16459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Carrying Capacity (K):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393192" y="3776472"/>
            <a:ext cx="4005072" cy="16459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Maximum sustainable population given environmental constraints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5204517" y="4679666"/>
            <a:ext cx="3774891" cy="429768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5204517" y="4707304"/>
            <a:ext cx="1371600" cy="16459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Analytical Solution: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5204517" y="4924698"/>
            <a:ext cx="3444469" cy="16459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N(t) = K / (1 + ((K−N₀)/N₀) × e^−ʳᵗ)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4617720" y="4085512"/>
            <a:ext cx="4233672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4727448" y="41102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Equilibrium: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4727448" y="4315968"/>
            <a:ext cx="4005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Population stabilizes at N = K. Perturbed populations return to 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274321" y="4626864"/>
            <a:ext cx="4717066" cy="516636"/>
          </a:xfrm>
          <a:prstGeom prst="rect">
            <a:avLst/>
          </a:prstGeom>
          <a:solidFill>
            <a:srgbClr val="FBF0E0"/>
          </a:solidFill>
          <a:ln cap="flat" cmpd="sng" w="12700">
            <a:solidFill>
              <a:srgbClr val="D48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393192" y="456285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Discrete version: N(t+1) = N(t) + rN(t)(1−N(t)/K) — can exhibit chaos for large 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0" name="Google Shape;4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3248" y="1415464"/>
            <a:ext cx="2700711" cy="2622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3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1E4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3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Insights from the Logistic Growth Model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63"/>
          <p:cNvSpPr/>
          <p:nvPr/>
        </p:nvSpPr>
        <p:spPr>
          <a:xfrm>
            <a:off x="274320" y="694944"/>
            <a:ext cx="8595360" cy="27432"/>
          </a:xfrm>
          <a:prstGeom prst="rect">
            <a:avLst/>
          </a:prstGeom>
          <a:solidFill>
            <a:srgbClr val="F4B08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9" name="Google Shape;41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3209" y="817460"/>
            <a:ext cx="2138183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63"/>
          <p:cNvSpPr txBox="1"/>
          <p:nvPr/>
        </p:nvSpPr>
        <p:spPr>
          <a:xfrm>
            <a:off x="458919" y="902577"/>
            <a:ext cx="2016149" cy="1384995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50"/>
              <a:buFont typeface="Calibri"/>
              <a:buNone/>
            </a:pPr>
            <a:r>
              <a:rPr b="0" i="0" lang="en-US" sz="140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⚠  Logistic growth is a foundational model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0" i="0" lang="en-US" sz="140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Population never exactly reaches K 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050"/>
              <a:buFont typeface="Calibri"/>
              <a:buNone/>
            </a:pPr>
            <a:r>
              <a:rPr b="0" i="0" lang="en-US" sz="140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 it asymptotically approaches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63"/>
          <p:cNvSpPr txBox="1"/>
          <p:nvPr/>
        </p:nvSpPr>
        <p:spPr>
          <a:xfrm>
            <a:off x="1911175" y="2287574"/>
            <a:ext cx="4354200" cy="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Logistic growth function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90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logistic_growth</a:t>
            </a:r>
            <a:r>
              <a:rPr lang="en-US" sz="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9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N0</a:t>
            </a:r>
            <a:r>
              <a:rPr lang="en-US" sz="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9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-US" sz="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9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9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90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K / (</a:t>
            </a:r>
            <a:r>
              <a:rPr lang="en-US" sz="90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((K - N0) / N0) * np.exp(-r * t))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Consolas"/>
              <a:buNone/>
            </a:pPr>
            <a:r>
              <a:t/>
            </a:r>
            <a:endParaRPr sz="1050">
              <a:solidFill>
                <a:srgbClr val="272525"/>
              </a:solidFill>
              <a:highlight>
                <a:srgbClr val="DADBF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Logistic Model Applications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CAF8A">
              <a:alpha val="34901"/>
            </a:srgbClr>
          </a:solidFill>
          <a:ln cap="flat" cmpd="sng" w="12700">
            <a:solidFill>
              <a:srgbClr val="4CAF8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256032" y="777240"/>
            <a:ext cx="2816352" cy="427481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256032" y="777240"/>
            <a:ext cx="2816352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365760" y="813816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Wildlife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365760" y="1197864"/>
            <a:ext cx="2596896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Fisheries: Maximum Sustainable Yield = rK/4 at N = K/2.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Wildlife reserves: K set by habitat carrying capacity.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Recovery modeling: how fast will depleted stocks rebound?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3246120" y="1116530"/>
            <a:ext cx="2816352" cy="3935529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3246120" y="777240"/>
            <a:ext cx="2816352" cy="347472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3355848" y="813816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Disease &amp; Epidemiology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3355848" y="1197864"/>
            <a:ext cx="2596896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Epidemic modeling: logistic spread with susceptible limit.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Herd immunity threshold mirrors population 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Antibiotic resistance spread in host populations.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6236208" y="777239"/>
            <a:ext cx="2706624" cy="4274819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6236208" y="777240"/>
            <a:ext cx="2816352" cy="347472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6345936" y="813816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&amp; Innovation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6345936" y="1197864"/>
            <a:ext cx="2596896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Technology adoption follows S-curves (Rogers 1962).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Market saturation mirrors ecological carrying capacity.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Software user growth, social network adoption.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4" name="Google Shape;4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2857" y="2936997"/>
            <a:ext cx="2013325" cy="12992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5" name="Google Shape;4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7633" y="2843574"/>
            <a:ext cx="1950466" cy="1486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6" name="Google Shape;44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937" y="2788354"/>
            <a:ext cx="1950541" cy="1950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Importance &amp; Best Practices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256032" y="777240"/>
            <a:ext cx="4160520" cy="175564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256032" y="777240"/>
            <a:ext cx="4160520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365760" y="81381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 Population (N &lt;&lt; 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365760" y="1197864"/>
            <a:ext cx="3941064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Growth is nearly exponential. (1−N/K) ≈ 1. Maximum per-capita growth rate.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4690872" y="777240"/>
            <a:ext cx="4160520" cy="1755648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4690872" y="777240"/>
            <a:ext cx="4160520" cy="347472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2"/>
          <p:cNvSpPr/>
          <p:nvPr/>
        </p:nvSpPr>
        <p:spPr>
          <a:xfrm>
            <a:off x="4800600" y="81381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Mid-Range (N = K/2)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4800600" y="1197864"/>
            <a:ext cx="3941064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Inflection point. Absolute growth rate is maximized. Rate = rK/4 at this point.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/>
          <p:nvPr/>
        </p:nvSpPr>
        <p:spPr>
          <a:xfrm>
            <a:off x="256032" y="2697480"/>
            <a:ext cx="4160520" cy="1755648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256032" y="2697480"/>
            <a:ext cx="4160520" cy="347472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365760" y="273405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Approaching Capacity (N → 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365760" y="3118104"/>
            <a:ext cx="3941064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Growth rate slows dramatically. (1−N/K) → 0. Population asymptotically approaches 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/>
          <p:nvPr/>
        </p:nvSpPr>
        <p:spPr>
          <a:xfrm>
            <a:off x="4690872" y="2697480"/>
            <a:ext cx="4160520" cy="1755648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4690872" y="2697480"/>
            <a:ext cx="4160520" cy="347472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4800600" y="273405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Exceeding Capacity (N &gt; 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4800600" y="3118104"/>
            <a:ext cx="3941064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Negative growth. Population declines back toward K. Can occur after overshot disturbances.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Population growth rate dN/dt is always highest at N = K/2 — the basis for Maximum Sustainable Yield (MSY) in fisheries management.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64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4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64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Exercise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64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64"/>
          <p:cNvSpPr/>
          <p:nvPr/>
        </p:nvSpPr>
        <p:spPr>
          <a:xfrm>
            <a:off x="256032" y="777240"/>
            <a:ext cx="4160520" cy="393006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64"/>
          <p:cNvSpPr/>
          <p:nvPr/>
        </p:nvSpPr>
        <p:spPr>
          <a:xfrm>
            <a:off x="256032" y="777240"/>
            <a:ext cx="4160520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4"/>
          <p:cNvSpPr/>
          <p:nvPr/>
        </p:nvSpPr>
        <p:spPr>
          <a:xfrm>
            <a:off x="365760" y="81381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 Population (N &lt;&lt; 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64"/>
          <p:cNvSpPr/>
          <p:nvPr/>
        </p:nvSpPr>
        <p:spPr>
          <a:xfrm>
            <a:off x="365760" y="1197864"/>
            <a:ext cx="3941064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Choose a case from:</a:t>
            </a:r>
            <a:b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50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https://drive.google.com/drive/folders/1zUWTSnFrmb9mbxTZde5GKqkxxTAUIq2a</a:t>
            </a:r>
            <a:endParaRPr sz="1250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Identify and document: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How population growth and succession are modeled mathematically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Where growth patterns might be implemented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How carrying capacity concepts are represented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Is there ant missing data? explain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64"/>
          <p:cNvSpPr/>
          <p:nvPr/>
        </p:nvSpPr>
        <p:spPr>
          <a:xfrm>
            <a:off x="4800600" y="81381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Mid-Range (N = K/2)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The Discrete Logistic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CAF8A">
              <a:alpha val="34901"/>
            </a:srgbClr>
          </a:solidFill>
          <a:ln cap="flat" cmpd="sng" w="12700">
            <a:solidFill>
              <a:srgbClr val="4CAF8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292608" y="847505"/>
            <a:ext cx="8503920" cy="853280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457200" y="923544"/>
            <a:ext cx="82296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The discrete version of the logistic model can exhibit rich dynamics including chaos — a landmark result in theoretical ecology (May, 1976).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2177" y="3261037"/>
            <a:ext cx="2754510" cy="793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7"/>
          <p:cNvSpPr/>
          <p:nvPr/>
        </p:nvSpPr>
        <p:spPr>
          <a:xfrm>
            <a:off x="274320" y="1797518"/>
            <a:ext cx="4069080" cy="134224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283464" y="1788374"/>
            <a:ext cx="4069080" cy="301752"/>
          </a:xfrm>
          <a:prstGeom prst="rect">
            <a:avLst/>
          </a:prstGeom>
          <a:solidFill>
            <a:srgbClr val="1E4D2B"/>
          </a:solidFill>
          <a:ln cap="flat" cmpd="sng" w="12700">
            <a:solidFill>
              <a:srgbClr val="1E4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384048" y="1797518"/>
            <a:ext cx="39044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May's Logistic 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384048" y="2084832"/>
            <a:ext cx="3867912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· Equation: N(t+1) = N(t) + rN(t)(1−N(t)/K)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· For small r: stable equilibrium at 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· For moderate r: population oscillates (period-2 cycles)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· For large r (&gt; 2.57): chaotic, unpredictable fluctuations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4599432" y="1755649"/>
            <a:ext cx="4233672" cy="134224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4617720" y="1797518"/>
            <a:ext cx="4233672" cy="301752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4727448" y="1797518"/>
            <a:ext cx="4069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 Significance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4727448" y="2084832"/>
            <a:ext cx="4032504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· Chaos from simple deterministic rule — no randomness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· Population fluctuations may be chaotic, not just noisy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· Long-term prediction impossible in chaotic regime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· Chaos is sensitive to initial conditions (butterfly effect)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274320" y="3895344"/>
            <a:ext cx="8577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r Value Guidelines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274320" y="4224528"/>
            <a:ext cx="27432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274320" y="4224528"/>
            <a:ext cx="2743200" cy="237744"/>
          </a:xfrm>
          <a:prstGeom prst="rect">
            <a:avLst/>
          </a:prstGeom>
          <a:solidFill>
            <a:srgbClr val="C8423A"/>
          </a:solidFill>
          <a:ln cap="flat" cmpd="sng" w="12700">
            <a:solidFill>
              <a:srgbClr val="C84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365760" y="422452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 &lt; 15 — Small sample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7"/>
          <p:cNvSpPr/>
          <p:nvPr/>
        </p:nvSpPr>
        <p:spPr>
          <a:xfrm>
            <a:off x="365760" y="4498848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Population reaches K smoothly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3182112" y="4224528"/>
            <a:ext cx="27432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3182112" y="4224528"/>
            <a:ext cx="2743200" cy="237744"/>
          </a:xfrm>
          <a:prstGeom prst="rect">
            <a:avLst/>
          </a:prstGeom>
          <a:solidFill>
            <a:srgbClr val="D4860A"/>
          </a:solidFill>
          <a:ln cap="flat" cmpd="sng" w="12700">
            <a:solidFill>
              <a:srgbClr val="D48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3273552" y="422452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 = 1–2 — Oscillations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3273552" y="4498848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Period-2 or period-4 cycles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6089904" y="4224528"/>
            <a:ext cx="27432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6089904" y="4224528"/>
            <a:ext cx="2743200" cy="237744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6181344" y="422452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 &gt; 2.57 — Chaos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6181344" y="4498848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Sensitive dependence on initial conditions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A84C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8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457200" y="64008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457200" y="1920240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Species Interactions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Beyond Single-Species Models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320040" y="777240"/>
            <a:ext cx="8503920" cy="475488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475488" y="804672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Species do not exist in isolation. Single-species models (exponential/logistic) fail to capture how species affect each other.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0"/>
          <p:cNvSpPr/>
          <p:nvPr/>
        </p:nvSpPr>
        <p:spPr>
          <a:xfrm>
            <a:off x="320040" y="1560026"/>
            <a:ext cx="4160520" cy="999889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0"/>
          <p:cNvSpPr/>
          <p:nvPr/>
        </p:nvSpPr>
        <p:spPr>
          <a:xfrm>
            <a:off x="320040" y="1344168"/>
            <a:ext cx="4160520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0"/>
          <p:cNvSpPr/>
          <p:nvPr/>
        </p:nvSpPr>
        <p:spPr>
          <a:xfrm>
            <a:off x="429768" y="1380744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Interaction Types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429768" y="1764792"/>
            <a:ext cx="3941064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Competition (+/-): species compete for limited resources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H₁: Mean diversity in fragmented forest &lt; Mean diversity in continuous forest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0"/>
          <p:cNvSpPr/>
          <p:nvPr/>
        </p:nvSpPr>
        <p:spPr>
          <a:xfrm>
            <a:off x="4754880" y="1344167"/>
            <a:ext cx="4160520" cy="2052175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0"/>
          <p:cNvSpPr/>
          <p:nvPr/>
        </p:nvSpPr>
        <p:spPr>
          <a:xfrm>
            <a:off x="4754880" y="1344168"/>
            <a:ext cx="4160520" cy="347472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0"/>
          <p:cNvSpPr/>
          <p:nvPr/>
        </p:nvSpPr>
        <p:spPr>
          <a:xfrm>
            <a:off x="4864608" y="1380744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complete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0"/>
          <p:cNvSpPr/>
          <p:nvPr/>
        </p:nvSpPr>
        <p:spPr>
          <a:xfrm>
            <a:off x="4864608" y="1764792"/>
            <a:ext cx="3941064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Describing every species interaction would be prohibitively complex except in the</a:t>
            </a:r>
            <a:b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simplest of biological communities. Yet some insight can be obtained by focusing on</a:t>
            </a:r>
            <a:b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specific types of interactions and how these interactions affect population growth.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p30"/>
          <p:cNvGrpSpPr/>
          <p:nvPr/>
        </p:nvGrpSpPr>
        <p:grpSpPr>
          <a:xfrm>
            <a:off x="959438" y="2853204"/>
            <a:ext cx="2727727" cy="2486353"/>
            <a:chOff x="2493566" y="64400"/>
            <a:chExt cx="5322030" cy="5023212"/>
          </a:xfrm>
        </p:grpSpPr>
        <p:sp>
          <p:nvSpPr>
            <p:cNvPr id="554" name="Google Shape;554;p30"/>
            <p:cNvSpPr/>
            <p:nvPr/>
          </p:nvSpPr>
          <p:spPr>
            <a:xfrm>
              <a:off x="3608981" y="64400"/>
              <a:ext cx="3091200" cy="3091200"/>
            </a:xfrm>
            <a:prstGeom prst="ellipse">
              <a:avLst/>
            </a:prstGeom>
            <a:solidFill>
              <a:srgbClr val="8DA9DB">
                <a:alpha val="49803"/>
              </a:srgbClr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0"/>
            <p:cNvSpPr txBox="1"/>
            <p:nvPr/>
          </p:nvSpPr>
          <p:spPr>
            <a:xfrm>
              <a:off x="4021144" y="605363"/>
              <a:ext cx="2266800" cy="139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 the species compete with or aid each other in</a:t>
              </a:r>
              <a:b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obtaining resources? 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4724396" y="1996412"/>
              <a:ext cx="3091200" cy="3091200"/>
            </a:xfrm>
            <a:prstGeom prst="ellipse">
              <a:avLst/>
            </a:prstGeom>
            <a:solidFill>
              <a:schemeClr val="accent3">
                <a:alpha val="49803"/>
              </a:schemeClr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0"/>
            <p:cNvSpPr txBox="1"/>
            <p:nvPr/>
          </p:nvSpPr>
          <p:spPr>
            <a:xfrm>
              <a:off x="5669794" y="2794977"/>
              <a:ext cx="1854600" cy="17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 they fight for territories or provide a habitat for one another?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493566" y="1996412"/>
              <a:ext cx="3091200" cy="3091200"/>
            </a:xfrm>
            <a:prstGeom prst="ellipse">
              <a:avLst/>
            </a:prstGeom>
            <a:solidFill>
              <a:schemeClr val="accent4">
                <a:alpha val="49803"/>
              </a:schemeClr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0"/>
            <p:cNvSpPr txBox="1"/>
            <p:nvPr/>
          </p:nvSpPr>
          <p:spPr>
            <a:xfrm>
              <a:off x="2784656" y="2794977"/>
              <a:ext cx="1854600" cy="17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Does a species consume or provide fodder for another species?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65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65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65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Interaction types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65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65"/>
          <p:cNvSpPr/>
          <p:nvPr/>
        </p:nvSpPr>
        <p:spPr>
          <a:xfrm>
            <a:off x="320040" y="777240"/>
            <a:ext cx="8503920" cy="475488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65"/>
          <p:cNvSpPr/>
          <p:nvPr/>
        </p:nvSpPr>
        <p:spPr>
          <a:xfrm>
            <a:off x="1160785" y="1958578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Predation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65"/>
          <p:cNvSpPr/>
          <p:nvPr/>
        </p:nvSpPr>
        <p:spPr>
          <a:xfrm>
            <a:off x="496119" y="2265089"/>
            <a:ext cx="2436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One species consumes another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3" name="Google Shape;57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5408" y="1508447"/>
            <a:ext cx="2853109" cy="2853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4" name="Google Shape;574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8046" y="2215381"/>
            <a:ext cx="212080" cy="26513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65"/>
          <p:cNvSpPr/>
          <p:nvPr/>
        </p:nvSpPr>
        <p:spPr>
          <a:xfrm>
            <a:off x="6211119" y="1608609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Competition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65"/>
          <p:cNvSpPr/>
          <p:nvPr/>
        </p:nvSpPr>
        <p:spPr>
          <a:xfrm>
            <a:off x="6211119" y="1915121"/>
            <a:ext cx="2436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Species compete for limited resources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7" name="Google Shape;577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408" y="1508447"/>
            <a:ext cx="2853109" cy="2853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8" name="Google Shape;578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4481" y="1852613"/>
            <a:ext cx="212080" cy="265137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5"/>
          <p:cNvSpPr/>
          <p:nvPr/>
        </p:nvSpPr>
        <p:spPr>
          <a:xfrm>
            <a:off x="6282035" y="2781672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Mutualism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65"/>
          <p:cNvSpPr/>
          <p:nvPr/>
        </p:nvSpPr>
        <p:spPr>
          <a:xfrm>
            <a:off x="6282035" y="3088184"/>
            <a:ext cx="23658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Both species benefit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1" name="Google Shape;581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5408" y="1508447"/>
            <a:ext cx="2853109" cy="2853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2" name="Google Shape;582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64448" y="2802359"/>
            <a:ext cx="212080" cy="265137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65"/>
          <p:cNvSpPr/>
          <p:nvPr/>
        </p:nvSpPr>
        <p:spPr>
          <a:xfrm>
            <a:off x="6211119" y="3727996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Commensalism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65"/>
          <p:cNvSpPr/>
          <p:nvPr/>
        </p:nvSpPr>
        <p:spPr>
          <a:xfrm>
            <a:off x="6211119" y="4034508"/>
            <a:ext cx="2436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One benefits, other unaffected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5" name="Google Shape;585;p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5408" y="1508447"/>
            <a:ext cx="2853109" cy="2853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6" name="Google Shape;586;p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74481" y="3752106"/>
            <a:ext cx="212080" cy="265137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5"/>
          <p:cNvSpPr/>
          <p:nvPr/>
        </p:nvSpPr>
        <p:spPr>
          <a:xfrm>
            <a:off x="1160785" y="3491433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Parasitism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65"/>
          <p:cNvSpPr/>
          <p:nvPr/>
        </p:nvSpPr>
        <p:spPr>
          <a:xfrm>
            <a:off x="496119" y="3797945"/>
            <a:ext cx="2436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One benefits, other harmed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9" name="Google Shape;589;p6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45408" y="1508447"/>
            <a:ext cx="2853109" cy="2853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0" name="Google Shape;590;p6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58046" y="3389338"/>
            <a:ext cx="212080" cy="265137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5"/>
          <p:cNvSpPr txBox="1"/>
          <p:nvPr/>
        </p:nvSpPr>
        <p:spPr>
          <a:xfrm>
            <a:off x="5347990" y="2968657"/>
            <a:ext cx="342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66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66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66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Multi Species Interaction research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66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66"/>
          <p:cNvSpPr/>
          <p:nvPr/>
        </p:nvSpPr>
        <p:spPr>
          <a:xfrm>
            <a:off x="320040" y="904156"/>
            <a:ext cx="4160520" cy="141732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66"/>
          <p:cNvSpPr/>
          <p:nvPr/>
        </p:nvSpPr>
        <p:spPr>
          <a:xfrm>
            <a:off x="320040" y="904156"/>
            <a:ext cx="4160520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66"/>
          <p:cNvSpPr/>
          <p:nvPr/>
        </p:nvSpPr>
        <p:spPr>
          <a:xfrm>
            <a:off x="429768" y="940732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Interaction Types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66"/>
          <p:cNvSpPr/>
          <p:nvPr/>
        </p:nvSpPr>
        <p:spPr>
          <a:xfrm>
            <a:off x="429768" y="1324780"/>
            <a:ext cx="3941064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Competition (+/-): species compete for limited resources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H₁: Mean diversity in fragmented forest &lt; Mean diversity in continuous forest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66"/>
          <p:cNvSpPr/>
          <p:nvPr/>
        </p:nvSpPr>
        <p:spPr>
          <a:xfrm>
            <a:off x="4754880" y="904156"/>
            <a:ext cx="4160520" cy="1417320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66"/>
          <p:cNvSpPr/>
          <p:nvPr/>
        </p:nvSpPr>
        <p:spPr>
          <a:xfrm>
            <a:off x="4754880" y="904156"/>
            <a:ext cx="4160520" cy="347472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6"/>
          <p:cNvSpPr/>
          <p:nvPr/>
        </p:nvSpPr>
        <p:spPr>
          <a:xfrm>
            <a:off x="4864608" y="940732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6"/>
          <p:cNvSpPr/>
          <p:nvPr/>
        </p:nvSpPr>
        <p:spPr>
          <a:xfrm>
            <a:off x="4864608" y="1324780"/>
            <a:ext cx="3941064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 &lt; 0.05 → Reject H₀ (fragmentation has an effect)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Interaction coefficients (α) quantify the effect of one species on the other.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66"/>
          <p:cNvSpPr/>
          <p:nvPr/>
        </p:nvSpPr>
        <p:spPr>
          <a:xfrm>
            <a:off x="292608" y="2504356"/>
            <a:ext cx="493776" cy="49377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6"/>
          <p:cNvSpPr/>
          <p:nvPr/>
        </p:nvSpPr>
        <p:spPr>
          <a:xfrm>
            <a:off x="292608" y="250435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6"/>
          <p:cNvSpPr/>
          <p:nvPr/>
        </p:nvSpPr>
        <p:spPr>
          <a:xfrm>
            <a:off x="914400" y="2513500"/>
            <a:ext cx="7863840" cy="48463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4A9DB5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6"/>
          <p:cNvSpPr/>
          <p:nvPr/>
        </p:nvSpPr>
        <p:spPr>
          <a:xfrm>
            <a:off x="914400" y="2513500"/>
            <a:ext cx="54864" cy="48463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6"/>
          <p:cNvSpPr/>
          <p:nvPr/>
        </p:nvSpPr>
        <p:spPr>
          <a:xfrm>
            <a:off x="1060704" y="254093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D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DB5"/>
                </a:solidFill>
                <a:latin typeface="Calibri"/>
                <a:ea typeface="Calibri"/>
                <a:cs typeface="Calibri"/>
                <a:sym typeface="Calibri"/>
              </a:rPr>
              <a:t>Identify Interactions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66"/>
          <p:cNvSpPr/>
          <p:nvPr/>
        </p:nvSpPr>
        <p:spPr>
          <a:xfrm>
            <a:off x="3017520" y="25409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Document which species co-occur and how they affect each other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6"/>
          <p:cNvSpPr/>
          <p:nvPr/>
        </p:nvSpPr>
        <p:spPr>
          <a:xfrm>
            <a:off x="292608" y="3007276"/>
            <a:ext cx="493776" cy="493776"/>
          </a:xfrm>
          <a:prstGeom prst="ellipse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66"/>
          <p:cNvSpPr/>
          <p:nvPr/>
        </p:nvSpPr>
        <p:spPr>
          <a:xfrm>
            <a:off x="292608" y="300727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66"/>
          <p:cNvSpPr/>
          <p:nvPr/>
        </p:nvSpPr>
        <p:spPr>
          <a:xfrm>
            <a:off x="914400" y="3016420"/>
            <a:ext cx="7863840" cy="48463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4CAF8A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66"/>
          <p:cNvSpPr/>
          <p:nvPr/>
        </p:nvSpPr>
        <p:spPr>
          <a:xfrm>
            <a:off x="914400" y="3016420"/>
            <a:ext cx="54864" cy="484632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6"/>
          <p:cNvSpPr/>
          <p:nvPr/>
        </p:nvSpPr>
        <p:spPr>
          <a:xfrm>
            <a:off x="1060704" y="304385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AF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CAF8A"/>
                </a:solidFill>
                <a:latin typeface="Calibri"/>
                <a:ea typeface="Calibri"/>
                <a:cs typeface="Calibri"/>
                <a:sym typeface="Calibri"/>
              </a:rPr>
              <a:t>Formulate Equations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66"/>
          <p:cNvSpPr/>
          <p:nvPr/>
        </p:nvSpPr>
        <p:spPr>
          <a:xfrm>
            <a:off x="3017520" y="304385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Add inter-species terms to single-species logistic equations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6"/>
          <p:cNvSpPr/>
          <p:nvPr/>
        </p:nvSpPr>
        <p:spPr>
          <a:xfrm>
            <a:off x="292608" y="3510196"/>
            <a:ext cx="493776" cy="493776"/>
          </a:xfrm>
          <a:prstGeom prst="ellipse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66"/>
          <p:cNvSpPr/>
          <p:nvPr/>
        </p:nvSpPr>
        <p:spPr>
          <a:xfrm>
            <a:off x="292608" y="351019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66"/>
          <p:cNvSpPr/>
          <p:nvPr/>
        </p:nvSpPr>
        <p:spPr>
          <a:xfrm>
            <a:off x="914400" y="3519340"/>
            <a:ext cx="7863840" cy="48463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4756B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6"/>
          <p:cNvSpPr/>
          <p:nvPr/>
        </p:nvSpPr>
        <p:spPr>
          <a:xfrm>
            <a:off x="914400" y="3519340"/>
            <a:ext cx="54864" cy="484632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66"/>
          <p:cNvSpPr/>
          <p:nvPr/>
        </p:nvSpPr>
        <p:spPr>
          <a:xfrm>
            <a:off x="1060704" y="354677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5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756B"/>
                </a:solidFill>
                <a:latin typeface="Calibri"/>
                <a:ea typeface="Calibri"/>
                <a:cs typeface="Calibri"/>
                <a:sym typeface="Calibri"/>
              </a:rPr>
              <a:t>Simulate Dynamics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66"/>
          <p:cNvSpPr/>
          <p:nvPr/>
        </p:nvSpPr>
        <p:spPr>
          <a:xfrm>
            <a:off x="3017520" y="354677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Run ODE solver to predict population trajectories over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66"/>
          <p:cNvSpPr/>
          <p:nvPr/>
        </p:nvSpPr>
        <p:spPr>
          <a:xfrm>
            <a:off x="292608" y="4013116"/>
            <a:ext cx="493776" cy="493776"/>
          </a:xfrm>
          <a:prstGeom prst="ellipse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66"/>
          <p:cNvSpPr/>
          <p:nvPr/>
        </p:nvSpPr>
        <p:spPr>
          <a:xfrm>
            <a:off x="292608" y="401311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66"/>
          <p:cNvSpPr/>
          <p:nvPr/>
        </p:nvSpPr>
        <p:spPr>
          <a:xfrm>
            <a:off x="914400" y="4022260"/>
            <a:ext cx="7863840" cy="48463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7B68C8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6"/>
          <p:cNvSpPr/>
          <p:nvPr/>
        </p:nvSpPr>
        <p:spPr>
          <a:xfrm>
            <a:off x="914400" y="4022260"/>
            <a:ext cx="54864" cy="484632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66"/>
          <p:cNvSpPr/>
          <p:nvPr/>
        </p:nvSpPr>
        <p:spPr>
          <a:xfrm>
            <a:off x="1060704" y="404969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68C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68C8"/>
                </a:solidFill>
                <a:latin typeface="Calibri"/>
                <a:ea typeface="Calibri"/>
                <a:cs typeface="Calibri"/>
                <a:sym typeface="Calibri"/>
              </a:rPr>
              <a:t>Validate &amp; Apply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6"/>
          <p:cNvSpPr/>
          <p:nvPr/>
        </p:nvSpPr>
        <p:spPr>
          <a:xfrm>
            <a:off x="3017520" y="404969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Compare to field data; use for management and conservation decisions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AF8A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1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1"/>
          <p:cNvSpPr/>
          <p:nvPr/>
        </p:nvSpPr>
        <p:spPr>
          <a:xfrm>
            <a:off x="457200" y="64008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1"/>
          <p:cNvSpPr/>
          <p:nvPr/>
        </p:nvSpPr>
        <p:spPr>
          <a:xfrm>
            <a:off x="457200" y="1920240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Lotka-Volterra Models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3" name="Google Shape;6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462" y="2805887"/>
            <a:ext cx="2260831" cy="109726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1"/>
          <p:cNvSpPr/>
          <p:nvPr/>
        </p:nvSpPr>
        <p:spPr>
          <a:xfrm>
            <a:off x="4749701" y="4092840"/>
            <a:ext cx="3903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Developed by Alfred Lotka (1925) and Vito Volterra (1926)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1"/>
          <p:cNvSpPr/>
          <p:nvPr/>
        </p:nvSpPr>
        <p:spPr>
          <a:xfrm>
            <a:off x="4749701" y="1403673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Two Main Types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1"/>
          <p:cNvSpPr/>
          <p:nvPr/>
        </p:nvSpPr>
        <p:spPr>
          <a:xfrm>
            <a:off x="4749701" y="1766888"/>
            <a:ext cx="3903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Predator-Prey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1"/>
          <p:cNvSpPr/>
          <p:nvPr/>
        </p:nvSpPr>
        <p:spPr>
          <a:xfrm>
            <a:off x="4749701" y="2043261"/>
            <a:ext cx="3903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Calibri"/>
              <a:buAutoNum type="arabicPeriod" startAt="2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Competition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1"/>
          <p:cNvSpPr/>
          <p:nvPr/>
        </p:nvSpPr>
        <p:spPr>
          <a:xfrm>
            <a:off x="4749701" y="2397621"/>
            <a:ext cx="3903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Fundamental to theoretical ecology and population dynamics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2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2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2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Lotka-Volterra Predator-Prey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2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2"/>
          <p:cNvSpPr/>
          <p:nvPr/>
        </p:nvSpPr>
        <p:spPr>
          <a:xfrm>
            <a:off x="256032" y="777240"/>
            <a:ext cx="2816352" cy="179451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2"/>
          <p:cNvSpPr/>
          <p:nvPr/>
        </p:nvSpPr>
        <p:spPr>
          <a:xfrm>
            <a:off x="256032" y="777240"/>
            <a:ext cx="2816352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2"/>
          <p:cNvSpPr/>
          <p:nvPr/>
        </p:nvSpPr>
        <p:spPr>
          <a:xfrm>
            <a:off x="365760" y="813816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Prey Equation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2"/>
          <p:cNvSpPr/>
          <p:nvPr/>
        </p:nvSpPr>
        <p:spPr>
          <a:xfrm>
            <a:off x="365760" y="1197864"/>
            <a:ext cx="2596896" cy="180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dH/dt = rH − 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H = prey population (herbivores)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 = prey intrinsic growth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 = predation rate coefficient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2"/>
          <p:cNvSpPr/>
          <p:nvPr/>
        </p:nvSpPr>
        <p:spPr>
          <a:xfrm>
            <a:off x="3246120" y="777240"/>
            <a:ext cx="2816352" cy="1801368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2"/>
          <p:cNvSpPr/>
          <p:nvPr/>
        </p:nvSpPr>
        <p:spPr>
          <a:xfrm>
            <a:off x="3246120" y="777240"/>
            <a:ext cx="2816352" cy="347472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2"/>
          <p:cNvSpPr/>
          <p:nvPr/>
        </p:nvSpPr>
        <p:spPr>
          <a:xfrm>
            <a:off x="3355848" y="813816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Predator Equation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2"/>
          <p:cNvSpPr/>
          <p:nvPr/>
        </p:nvSpPr>
        <p:spPr>
          <a:xfrm>
            <a:off x="3355848" y="1197864"/>
            <a:ext cx="2596896" cy="180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dP/dt = baPH − dP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 = predator population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b = predator conversion efficiency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2"/>
          <p:cNvSpPr/>
          <p:nvPr/>
        </p:nvSpPr>
        <p:spPr>
          <a:xfrm>
            <a:off x="6236208" y="777240"/>
            <a:ext cx="2816352" cy="1801368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2"/>
          <p:cNvSpPr/>
          <p:nvPr/>
        </p:nvSpPr>
        <p:spPr>
          <a:xfrm>
            <a:off x="6236208" y="777240"/>
            <a:ext cx="2816352" cy="347472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2"/>
          <p:cNvSpPr/>
          <p:nvPr/>
        </p:nvSpPr>
        <p:spPr>
          <a:xfrm>
            <a:off x="6345936" y="813816"/>
            <a:ext cx="2596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 = predator death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2"/>
          <p:cNvSpPr/>
          <p:nvPr/>
        </p:nvSpPr>
        <p:spPr>
          <a:xfrm>
            <a:off x="6345936" y="1197864"/>
            <a:ext cx="2596896" cy="180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Key Dynamics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Prey grows exponentially without predators.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Predator declines without prey.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2"/>
          <p:cNvSpPr/>
          <p:nvPr/>
        </p:nvSpPr>
        <p:spPr>
          <a:xfrm>
            <a:off x="320050" y="3246126"/>
            <a:ext cx="4160400" cy="1439700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2"/>
          <p:cNvSpPr/>
          <p:nvPr/>
        </p:nvSpPr>
        <p:spPr>
          <a:xfrm>
            <a:off x="320040" y="3246120"/>
            <a:ext cx="4160520" cy="36576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2"/>
          <p:cNvSpPr/>
          <p:nvPr/>
        </p:nvSpPr>
        <p:spPr>
          <a:xfrm>
            <a:off x="411480" y="3282696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Cyclical oscillations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2"/>
          <p:cNvSpPr/>
          <p:nvPr/>
        </p:nvSpPr>
        <p:spPr>
          <a:xfrm>
            <a:off x="429768" y="3703320"/>
            <a:ext cx="391363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Prey peak precedes predator peak by ~quarter 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Populations oscillate indefinitely (no damping)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Neutral stability — sensitive to initial conditions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2"/>
          <p:cNvSpPr/>
          <p:nvPr/>
        </p:nvSpPr>
        <p:spPr>
          <a:xfrm>
            <a:off x="4663450" y="3246126"/>
            <a:ext cx="4160400" cy="1439700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4663440" y="3246120"/>
            <a:ext cx="4160520" cy="365760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2"/>
          <p:cNvSpPr/>
          <p:nvPr/>
        </p:nvSpPr>
        <p:spPr>
          <a:xfrm>
            <a:off x="4754880" y="3282696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Equilibrium Points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2"/>
          <p:cNvSpPr/>
          <p:nvPr/>
        </p:nvSpPr>
        <p:spPr>
          <a:xfrm>
            <a:off x="4773168" y="3703320"/>
            <a:ext cx="39135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Trivial: H=0, P=0 (extinction)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Limited to one or two groups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Assumes independence of observations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2"/>
          <p:cNvSpPr txBox="1"/>
          <p:nvPr/>
        </p:nvSpPr>
        <p:spPr>
          <a:xfrm>
            <a:off x="5952750" y="768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7251E"/>
                </a:solidFill>
                <a:latin typeface="Georgia"/>
                <a:ea typeface="Georgia"/>
                <a:cs typeface="Georgia"/>
                <a:sym typeface="Georgia"/>
              </a:rPr>
              <a:t>Gotelli, N. J. (2008). </a:t>
            </a:r>
            <a:r>
              <a:rPr i="1" lang="en-US" sz="1200">
                <a:solidFill>
                  <a:srgbClr val="27251E"/>
                </a:solidFill>
                <a:latin typeface="Georgia"/>
                <a:ea typeface="Georgia"/>
                <a:cs typeface="Georgia"/>
                <a:sym typeface="Georgia"/>
              </a:rPr>
              <a:t>A Primer of Ecology.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67"/>
          <p:cNvSpPr/>
          <p:nvPr/>
        </p:nvSpPr>
        <p:spPr>
          <a:xfrm>
            <a:off x="329184" y="452692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67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7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Lotka-Volterra Predator-Prey example (based on logistic model)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7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0" name="Google Shape;69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266" y="1243789"/>
            <a:ext cx="3637359" cy="279796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7"/>
          <p:cNvSpPr txBox="1"/>
          <p:nvPr/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2" name="Google Shape;69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563" y="1031839"/>
            <a:ext cx="835704" cy="117228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67"/>
          <p:cNvSpPr txBox="1"/>
          <p:nvPr/>
        </p:nvSpPr>
        <p:spPr>
          <a:xfrm>
            <a:off x="1151891" y="2283766"/>
            <a:ext cx="743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4" name="Google Shape;694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813" y="2759469"/>
            <a:ext cx="1481596" cy="1429736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7"/>
          <p:cNvSpPr txBox="1"/>
          <p:nvPr/>
        </p:nvSpPr>
        <p:spPr>
          <a:xfrm>
            <a:off x="1114516" y="4270344"/>
            <a:ext cx="743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Lynx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6" name="Google Shape;696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14625" y="1008376"/>
            <a:ext cx="812625" cy="121922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67"/>
          <p:cNvSpPr txBox="1"/>
          <p:nvPr/>
        </p:nvSpPr>
        <p:spPr>
          <a:xfrm>
            <a:off x="7088359" y="2327125"/>
            <a:ext cx="743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Coyote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99453" y="2640533"/>
            <a:ext cx="1701238" cy="121921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67"/>
          <p:cNvSpPr txBox="1"/>
          <p:nvPr/>
        </p:nvSpPr>
        <p:spPr>
          <a:xfrm>
            <a:off x="7264328" y="3979266"/>
            <a:ext cx="743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67"/>
          <p:cNvSpPr txBox="1"/>
          <p:nvPr/>
        </p:nvSpPr>
        <p:spPr>
          <a:xfrm>
            <a:off x="3248094" y="4486141"/>
            <a:ext cx="4719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Tyson, R., Haines, S., &amp; Hodges, K. E. (2010). Modelling the Canada lynx and snowshoe hare population cycle: the role of specialist predators. </a:t>
            </a:r>
            <a:r>
              <a:rPr b="0" i="1" lang="en-US" sz="6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Theoretical Ecology</a:t>
            </a:r>
            <a:r>
              <a:rPr b="0" i="0" lang="en-US" sz="6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6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6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97-111.‏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4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4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4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Understanding Predator-Prey Dynamics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4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D4756B">
              <a:alpha val="34901"/>
            </a:srgbClr>
          </a:solidFill>
          <a:ln cap="flat" cmpd="sng" w="12700">
            <a:solidFill>
              <a:srgbClr val="D4756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4"/>
          <p:cNvSpPr/>
          <p:nvPr/>
        </p:nvSpPr>
        <p:spPr>
          <a:xfrm>
            <a:off x="4745736" y="2099198"/>
            <a:ext cx="4160520" cy="1048141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4"/>
          <p:cNvSpPr/>
          <p:nvPr/>
        </p:nvSpPr>
        <p:spPr>
          <a:xfrm>
            <a:off x="4754880" y="1884825"/>
            <a:ext cx="4160520" cy="347472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Prey growth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4"/>
          <p:cNvSpPr/>
          <p:nvPr/>
        </p:nvSpPr>
        <p:spPr>
          <a:xfrm>
            <a:off x="429768" y="81381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Prey Growth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4"/>
          <p:cNvSpPr/>
          <p:nvPr/>
        </p:nvSpPr>
        <p:spPr>
          <a:xfrm>
            <a:off x="4833968" y="2312811"/>
            <a:ext cx="394106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Exponential in absence of predators.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Rate: dH/dt = rH (no predator)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Positive feedback: more prey → more growth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Prey Decrease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4"/>
          <p:cNvSpPr/>
          <p:nvPr/>
        </p:nvSpPr>
        <p:spPr>
          <a:xfrm>
            <a:off x="4745736" y="777241"/>
            <a:ext cx="4160520" cy="101991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4"/>
          <p:cNvSpPr/>
          <p:nvPr/>
        </p:nvSpPr>
        <p:spPr>
          <a:xfrm>
            <a:off x="4754880" y="777240"/>
            <a:ext cx="4160520" cy="347472"/>
          </a:xfrm>
          <a:prstGeom prst="rect">
            <a:avLst/>
          </a:prstGeom>
          <a:solidFill>
            <a:srgbClr val="C55A11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4"/>
          <p:cNvSpPr/>
          <p:nvPr/>
        </p:nvSpPr>
        <p:spPr>
          <a:xfrm>
            <a:off x="4864608" y="81381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Proportional to predator-prey interactions.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4"/>
          <p:cNvSpPr/>
          <p:nvPr/>
        </p:nvSpPr>
        <p:spPr>
          <a:xfrm>
            <a:off x="4864608" y="1197864"/>
            <a:ext cx="394106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Rate: −aPH (predation loss)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More predators → faster prey decline</a:t>
            </a: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Predator Growth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Proportional to successful predation.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4"/>
          <p:cNvSpPr/>
          <p:nvPr/>
        </p:nvSpPr>
        <p:spPr>
          <a:xfrm>
            <a:off x="320040" y="4624807"/>
            <a:ext cx="8503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Cyclical Dynamics: Predator peak follows prey peak with a time lag. Populations oscillate indefinitely without damping.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4"/>
          <p:cNvSpPr/>
          <p:nvPr/>
        </p:nvSpPr>
        <p:spPr>
          <a:xfrm>
            <a:off x="257547" y="793761"/>
            <a:ext cx="4722900" cy="3261300"/>
          </a:xfrm>
          <a:prstGeom prst="roundRect">
            <a:avLst>
              <a:gd fmla="val 182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4"/>
          <p:cNvSpPr/>
          <p:nvPr/>
        </p:nvSpPr>
        <p:spPr>
          <a:xfrm>
            <a:off x="262309" y="798524"/>
            <a:ext cx="4713300" cy="4065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4"/>
          <p:cNvSpPr/>
          <p:nvPr/>
        </p:nvSpPr>
        <p:spPr>
          <a:xfrm>
            <a:off x="404068" y="888341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Predator Population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4"/>
          <p:cNvSpPr/>
          <p:nvPr/>
        </p:nvSpPr>
        <p:spPr>
          <a:xfrm>
            <a:off x="2763068" y="888341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dP/dt = -dP + cPH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4"/>
          <p:cNvSpPr/>
          <p:nvPr/>
        </p:nvSpPr>
        <p:spPr>
          <a:xfrm>
            <a:off x="262309" y="1204973"/>
            <a:ext cx="4713300" cy="4065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4"/>
          <p:cNvSpPr/>
          <p:nvPr/>
        </p:nvSpPr>
        <p:spPr>
          <a:xfrm>
            <a:off x="404068" y="1294791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Prey Population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4"/>
          <p:cNvSpPr/>
          <p:nvPr/>
        </p:nvSpPr>
        <p:spPr>
          <a:xfrm>
            <a:off x="2763068" y="1294791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dH/dt = rH - 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4"/>
          <p:cNvSpPr/>
          <p:nvPr/>
        </p:nvSpPr>
        <p:spPr>
          <a:xfrm>
            <a:off x="262309" y="1611423"/>
            <a:ext cx="4713300" cy="4065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4"/>
          <p:cNvSpPr/>
          <p:nvPr/>
        </p:nvSpPr>
        <p:spPr>
          <a:xfrm>
            <a:off x="404068" y="1701241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4"/>
          <p:cNvSpPr/>
          <p:nvPr/>
        </p:nvSpPr>
        <p:spPr>
          <a:xfrm>
            <a:off x="2763068" y="1701241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Predator population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4"/>
          <p:cNvSpPr/>
          <p:nvPr/>
        </p:nvSpPr>
        <p:spPr>
          <a:xfrm>
            <a:off x="404068" y="2107690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4"/>
          <p:cNvSpPr/>
          <p:nvPr/>
        </p:nvSpPr>
        <p:spPr>
          <a:xfrm>
            <a:off x="2763068" y="2107690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Prey (herbivore) population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4"/>
          <p:cNvSpPr/>
          <p:nvPr/>
        </p:nvSpPr>
        <p:spPr>
          <a:xfrm>
            <a:off x="262309" y="2424322"/>
            <a:ext cx="4713300" cy="4065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4"/>
          <p:cNvSpPr/>
          <p:nvPr/>
        </p:nvSpPr>
        <p:spPr>
          <a:xfrm>
            <a:off x="404068" y="2514140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4"/>
          <p:cNvSpPr/>
          <p:nvPr/>
        </p:nvSpPr>
        <p:spPr>
          <a:xfrm>
            <a:off x="2763068" y="2514140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Prey growth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4"/>
          <p:cNvSpPr/>
          <p:nvPr/>
        </p:nvSpPr>
        <p:spPr>
          <a:xfrm>
            <a:off x="262309" y="2830772"/>
            <a:ext cx="4713300" cy="4065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4"/>
          <p:cNvSpPr/>
          <p:nvPr/>
        </p:nvSpPr>
        <p:spPr>
          <a:xfrm>
            <a:off x="404068" y="2920590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4"/>
          <p:cNvSpPr/>
          <p:nvPr/>
        </p:nvSpPr>
        <p:spPr>
          <a:xfrm>
            <a:off x="2763068" y="2920590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Predation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4"/>
          <p:cNvSpPr/>
          <p:nvPr/>
        </p:nvSpPr>
        <p:spPr>
          <a:xfrm>
            <a:off x="262309" y="3237221"/>
            <a:ext cx="4713300" cy="4065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4"/>
          <p:cNvSpPr/>
          <p:nvPr/>
        </p:nvSpPr>
        <p:spPr>
          <a:xfrm>
            <a:off x="404068" y="3327040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4"/>
          <p:cNvSpPr/>
          <p:nvPr/>
        </p:nvSpPr>
        <p:spPr>
          <a:xfrm>
            <a:off x="2763068" y="3327040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Predator conversion efficiency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4"/>
          <p:cNvSpPr/>
          <p:nvPr/>
        </p:nvSpPr>
        <p:spPr>
          <a:xfrm>
            <a:off x="262309" y="3643671"/>
            <a:ext cx="4713300" cy="4065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4"/>
          <p:cNvSpPr/>
          <p:nvPr/>
        </p:nvSpPr>
        <p:spPr>
          <a:xfrm>
            <a:off x="404068" y="3733489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4"/>
          <p:cNvSpPr/>
          <p:nvPr/>
        </p:nvSpPr>
        <p:spPr>
          <a:xfrm>
            <a:off x="2763068" y="3733489"/>
            <a:ext cx="2070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Predator death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4"/>
          <p:cNvSpPr txBox="1"/>
          <p:nvPr/>
        </p:nvSpPr>
        <p:spPr>
          <a:xfrm>
            <a:off x="1680418" y="2271979"/>
            <a:ext cx="342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5" name="Google Shape;74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3841" y="3300278"/>
            <a:ext cx="3311202" cy="1254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3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3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3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Lotka-Volterra Competition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CAF8A">
              <a:alpha val="34901"/>
            </a:srgbClr>
          </a:solidFill>
          <a:ln cap="flat" cmpd="sng" w="12700">
            <a:solidFill>
              <a:srgbClr val="4CAF8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3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Extends logistic growth to two competing species. Both intraspecific and interspecific competition reduce growth.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3"/>
          <p:cNvSpPr/>
          <p:nvPr/>
        </p:nvSpPr>
        <p:spPr>
          <a:xfrm>
            <a:off x="320040" y="1143000"/>
            <a:ext cx="4160520" cy="2159000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3"/>
          <p:cNvSpPr/>
          <p:nvPr/>
        </p:nvSpPr>
        <p:spPr>
          <a:xfrm>
            <a:off x="320040" y="1143000"/>
            <a:ext cx="4160520" cy="36576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3"/>
          <p:cNvSpPr/>
          <p:nvPr/>
        </p:nvSpPr>
        <p:spPr>
          <a:xfrm>
            <a:off x="411480" y="1179576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Species 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3"/>
          <p:cNvSpPr/>
          <p:nvPr/>
        </p:nvSpPr>
        <p:spPr>
          <a:xfrm>
            <a:off x="429768" y="156362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dN₁/dt = r₁N₁(1−(N₁+α₁₂N₂)/K₁)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3"/>
          <p:cNvSpPr/>
          <p:nvPr/>
        </p:nvSpPr>
        <p:spPr>
          <a:xfrm>
            <a:off x="429768" y="1865376"/>
            <a:ext cx="3913632" cy="109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N₁ = population of species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K₁ = carrying capacity of species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α₁₂ = effect of species 2 on species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α₁₂ &gt; 1 means species 2 competes more strongly than species 1 itself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3"/>
          <p:cNvSpPr/>
          <p:nvPr/>
        </p:nvSpPr>
        <p:spPr>
          <a:xfrm>
            <a:off x="4663440" y="1143000"/>
            <a:ext cx="4160520" cy="215900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3"/>
          <p:cNvSpPr/>
          <p:nvPr/>
        </p:nvSpPr>
        <p:spPr>
          <a:xfrm>
            <a:off x="4663440" y="1143000"/>
            <a:ext cx="4160520" cy="36576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3"/>
          <p:cNvSpPr/>
          <p:nvPr/>
        </p:nvSpPr>
        <p:spPr>
          <a:xfrm>
            <a:off x="4754880" y="1179576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Species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3"/>
          <p:cNvSpPr/>
          <p:nvPr/>
        </p:nvSpPr>
        <p:spPr>
          <a:xfrm>
            <a:off x="4773168" y="156362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dN₂/dt = r₂N₂(1−(N₂+α₂₁N₁)/K₂)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3"/>
          <p:cNvSpPr/>
          <p:nvPr/>
        </p:nvSpPr>
        <p:spPr>
          <a:xfrm>
            <a:off x="4773168" y="1865376"/>
            <a:ext cx="3913632" cy="33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N₂ = population of species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K₂ = carrying capacity of species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α₂₁ = effect of species 1 on species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Competition coefficients are asymmetric in general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Outcome depends on α₁₂, α₂₁, K₁, K₂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3"/>
          <p:cNvSpPr/>
          <p:nvPr/>
        </p:nvSpPr>
        <p:spPr>
          <a:xfrm>
            <a:off x="457200" y="3373503"/>
            <a:ext cx="19734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500"/>
              <a:buFont typeface="DM Sans"/>
              <a:buNone/>
            </a:pPr>
            <a:r>
              <a:rPr b="0" i="0" lang="en-US" sz="14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Competition Outcomes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3"/>
          <p:cNvSpPr/>
          <p:nvPr/>
        </p:nvSpPr>
        <p:spPr>
          <a:xfrm>
            <a:off x="3235449" y="3433358"/>
            <a:ext cx="8269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None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Outcome determined by competition coefficients relative to K ratios: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3"/>
          <p:cNvSpPr/>
          <p:nvPr/>
        </p:nvSpPr>
        <p:spPr>
          <a:xfrm>
            <a:off x="437406" y="3764517"/>
            <a:ext cx="2673300" cy="1426800"/>
          </a:xfrm>
          <a:prstGeom prst="roundRect">
            <a:avLst>
              <a:gd fmla="val 3679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3"/>
          <p:cNvSpPr/>
          <p:nvPr/>
        </p:nvSpPr>
        <p:spPr>
          <a:xfrm>
            <a:off x="567109" y="3894221"/>
            <a:ext cx="1644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300"/>
              <a:buFont typeface="DM Sans"/>
              <a:buNone/>
            </a:pPr>
            <a:r>
              <a:rPr b="0" i="0" lang="en-US" sz="12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Coexistence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3"/>
          <p:cNvSpPr/>
          <p:nvPr/>
        </p:nvSpPr>
        <p:spPr>
          <a:xfrm>
            <a:off x="567109" y="4174687"/>
            <a:ext cx="2413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Both species persist when intraspecific &gt; interspecific competition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3"/>
          <p:cNvSpPr/>
          <p:nvPr/>
        </p:nvSpPr>
        <p:spPr>
          <a:xfrm>
            <a:off x="567109" y="4618121"/>
            <a:ext cx="2413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K₁/α₁₂ &gt; K₂ and K₂/α₂₁ &gt; K₁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3"/>
          <p:cNvSpPr/>
          <p:nvPr/>
        </p:nvSpPr>
        <p:spPr>
          <a:xfrm>
            <a:off x="567109" y="4861678"/>
            <a:ext cx="2413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Best for all pairwise comparisons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3"/>
          <p:cNvSpPr/>
          <p:nvPr/>
        </p:nvSpPr>
        <p:spPr>
          <a:xfrm>
            <a:off x="3235449" y="3764517"/>
            <a:ext cx="2673300" cy="1426800"/>
          </a:xfrm>
          <a:prstGeom prst="roundRect">
            <a:avLst>
              <a:gd fmla="val 3679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3"/>
          <p:cNvSpPr/>
          <p:nvPr/>
        </p:nvSpPr>
        <p:spPr>
          <a:xfrm>
            <a:off x="3365153" y="3894221"/>
            <a:ext cx="1720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300"/>
              <a:buFont typeface="DM Sans"/>
              <a:buNone/>
            </a:pPr>
            <a:r>
              <a:rPr b="0" i="0" lang="en-US" sz="12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Bonferroni Correction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3"/>
          <p:cNvSpPr/>
          <p:nvPr/>
        </p:nvSpPr>
        <p:spPr>
          <a:xfrm>
            <a:off x="3365153" y="4174687"/>
            <a:ext cx="2413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Adjust α for multiple comparisons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3"/>
          <p:cNvSpPr/>
          <p:nvPr/>
        </p:nvSpPr>
        <p:spPr>
          <a:xfrm>
            <a:off x="3365153" y="4418245"/>
            <a:ext cx="2413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α' = α/n (where n is number of comparisons)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3"/>
          <p:cNvSpPr/>
          <p:nvPr/>
        </p:nvSpPr>
        <p:spPr>
          <a:xfrm>
            <a:off x="3365153" y="4861678"/>
            <a:ext cx="2413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Conservative approach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3"/>
          <p:cNvSpPr/>
          <p:nvPr/>
        </p:nvSpPr>
        <p:spPr>
          <a:xfrm>
            <a:off x="6033493" y="3764517"/>
            <a:ext cx="2673300" cy="1426800"/>
          </a:xfrm>
          <a:prstGeom prst="roundRect">
            <a:avLst>
              <a:gd fmla="val 3679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3"/>
          <p:cNvSpPr/>
          <p:nvPr/>
        </p:nvSpPr>
        <p:spPr>
          <a:xfrm>
            <a:off x="6163196" y="3894221"/>
            <a:ext cx="16443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300"/>
              <a:buFont typeface="DM Sans"/>
              <a:buNone/>
            </a:pPr>
            <a:r>
              <a:rPr b="0" i="0" lang="en-US" sz="12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Dunnett's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3"/>
          <p:cNvSpPr/>
          <p:nvPr/>
        </p:nvSpPr>
        <p:spPr>
          <a:xfrm>
            <a:off x="6163196" y="4174687"/>
            <a:ext cx="2413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Compare treatments to a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3"/>
          <p:cNvSpPr/>
          <p:nvPr/>
        </p:nvSpPr>
        <p:spPr>
          <a:xfrm>
            <a:off x="6163196" y="4418245"/>
            <a:ext cx="2413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More powerful than Tukey when only comparing to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3"/>
          <p:cNvSpPr/>
          <p:nvPr/>
        </p:nvSpPr>
        <p:spPr>
          <a:xfrm>
            <a:off x="6163196" y="4861678"/>
            <a:ext cx="2413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000"/>
              <a:buFont typeface="DM Sans"/>
              <a:buChar char="•"/>
            </a:pPr>
            <a:r>
              <a:rPr b="0" i="0" lang="en-US" sz="9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Common in experimental ecology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6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6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6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Competition Outcomes: 4 Cases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6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7B68C8">
              <a:alpha val="34901"/>
            </a:srgbClr>
          </a:solidFill>
          <a:ln cap="flat" cmpd="sng" w="12700">
            <a:solidFill>
              <a:srgbClr val="7B68C8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6"/>
          <p:cNvSpPr/>
          <p:nvPr/>
        </p:nvSpPr>
        <p:spPr>
          <a:xfrm>
            <a:off x="1719072" y="3633988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K₁/α₁₂ &gt; K₂  and  K₂/α₂₁ &gt; K₁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6"/>
          <p:cNvSpPr/>
          <p:nvPr/>
        </p:nvSpPr>
        <p:spPr>
          <a:xfrm>
            <a:off x="1061381" y="4818036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5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756B"/>
                </a:solidFill>
                <a:latin typeface="Calibri"/>
                <a:ea typeface="Calibri"/>
                <a:cs typeface="Calibri"/>
                <a:sym typeface="Calibri"/>
              </a:rPr>
              <a:t>⚠  Which species wins depends on starting population sizes (bistability)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6"/>
          <p:cNvSpPr txBox="1"/>
          <p:nvPr/>
        </p:nvSpPr>
        <p:spPr>
          <a:xfrm>
            <a:off x="-360819" y="4031455"/>
            <a:ext cx="6349992" cy="80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62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50"/>
              <a:buFont typeface="Calibri"/>
              <a:buChar char="○"/>
            </a:pPr>
            <a:r>
              <a:rPr b="0" i="0" lang="en-US" sz="800" u="none" cap="none" strike="noStrike">
                <a:solidFill>
                  <a:srgbClr val="1F1F1F"/>
                </a:solidFill>
                <a:highlight>
                  <a:srgbClr val="F8FAFD"/>
                </a:highlight>
                <a:latin typeface="Calibri"/>
                <a:ea typeface="Calibri"/>
                <a:cs typeface="Calibri"/>
                <a:sym typeface="Calibri"/>
              </a:rPr>
              <a:t>A correlation coefficient is a value between -1 and +1 that indicates the strength and direction of the linear relationship between two variables.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2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50"/>
              <a:buFont typeface="Calibri"/>
              <a:buChar char="○"/>
            </a:pPr>
            <a:r>
              <a:rPr b="0" i="0" lang="en-US" sz="800" u="none" cap="none" strike="noStrike">
                <a:solidFill>
                  <a:srgbClr val="1F1F1F"/>
                </a:solidFill>
                <a:highlight>
                  <a:srgbClr val="F8FAFD"/>
                </a:highlight>
                <a:latin typeface="Calibri"/>
                <a:ea typeface="Calibri"/>
                <a:cs typeface="Calibri"/>
                <a:sym typeface="Calibri"/>
              </a:rPr>
              <a:t>A value close to +1 indicates a strong positive linear relationship (as one variable increases, the other tends to increase).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2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50"/>
              <a:buFont typeface="Calibri"/>
              <a:buChar char="○"/>
            </a:pPr>
            <a:r>
              <a:rPr b="0" i="0" lang="en-US" sz="800" u="none" cap="none" strike="noStrike">
                <a:solidFill>
                  <a:srgbClr val="1F1F1F"/>
                </a:solidFill>
                <a:highlight>
                  <a:srgbClr val="F8FAFD"/>
                </a:highlight>
                <a:latin typeface="Calibri"/>
                <a:ea typeface="Calibri"/>
                <a:cs typeface="Calibri"/>
                <a:sym typeface="Calibri"/>
              </a:rPr>
              <a:t>A value close to -1 indicates a strong negative linear relationship (as one variable increases, the other tends to decrease).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62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50"/>
              <a:buFont typeface="Calibri"/>
              <a:buChar char="○"/>
            </a:pPr>
            <a:r>
              <a:rPr b="0" i="0" lang="en-US" sz="800" u="none" cap="none" strike="noStrike">
                <a:solidFill>
                  <a:srgbClr val="1F1F1F"/>
                </a:solidFill>
                <a:highlight>
                  <a:srgbClr val="F8FAFD"/>
                </a:highlight>
                <a:latin typeface="Calibri"/>
                <a:ea typeface="Calibri"/>
                <a:cs typeface="Calibri"/>
                <a:sym typeface="Calibri"/>
              </a:rPr>
              <a:t>A value close to 0 indicates a weak or no linear relationship.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7" name="Google Shape;7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9815" y="860203"/>
            <a:ext cx="2738351" cy="411870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6"/>
          <p:cNvSpPr/>
          <p:nvPr/>
        </p:nvSpPr>
        <p:spPr>
          <a:xfrm>
            <a:off x="344286" y="757016"/>
            <a:ext cx="4939800" cy="647700"/>
          </a:xfrm>
          <a:prstGeom prst="roundRect">
            <a:avLst>
              <a:gd fmla="val 7183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6"/>
          <p:cNvSpPr/>
          <p:nvPr/>
        </p:nvSpPr>
        <p:spPr>
          <a:xfrm>
            <a:off x="459777" y="872506"/>
            <a:ext cx="138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Coexistence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6"/>
          <p:cNvSpPr/>
          <p:nvPr/>
        </p:nvSpPr>
        <p:spPr>
          <a:xfrm>
            <a:off x="459777" y="1112045"/>
            <a:ext cx="47088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Both species survive at equilibrium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6"/>
          <p:cNvSpPr/>
          <p:nvPr/>
        </p:nvSpPr>
        <p:spPr>
          <a:xfrm>
            <a:off x="344286" y="1515370"/>
            <a:ext cx="4939800" cy="647700"/>
          </a:xfrm>
          <a:prstGeom prst="roundRect">
            <a:avLst>
              <a:gd fmla="val 7183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6"/>
          <p:cNvSpPr/>
          <p:nvPr/>
        </p:nvSpPr>
        <p:spPr>
          <a:xfrm>
            <a:off x="459777" y="1630860"/>
            <a:ext cx="138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Species 1 Excluded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6"/>
          <p:cNvSpPr/>
          <p:nvPr/>
        </p:nvSpPr>
        <p:spPr>
          <a:xfrm>
            <a:off x="459777" y="1870399"/>
            <a:ext cx="47088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Only species 2 survives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6"/>
          <p:cNvSpPr/>
          <p:nvPr/>
        </p:nvSpPr>
        <p:spPr>
          <a:xfrm>
            <a:off x="344286" y="2273723"/>
            <a:ext cx="4939800" cy="647700"/>
          </a:xfrm>
          <a:prstGeom prst="roundRect">
            <a:avLst>
              <a:gd fmla="val 7183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6"/>
          <p:cNvSpPr/>
          <p:nvPr/>
        </p:nvSpPr>
        <p:spPr>
          <a:xfrm>
            <a:off x="459777" y="2389214"/>
            <a:ext cx="138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Species 2 Excluded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6"/>
          <p:cNvSpPr/>
          <p:nvPr/>
        </p:nvSpPr>
        <p:spPr>
          <a:xfrm>
            <a:off x="459777" y="2628753"/>
            <a:ext cx="47088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Only species 1 survives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6"/>
          <p:cNvSpPr/>
          <p:nvPr/>
        </p:nvSpPr>
        <p:spPr>
          <a:xfrm>
            <a:off x="344286" y="3032077"/>
            <a:ext cx="4939800" cy="647700"/>
          </a:xfrm>
          <a:prstGeom prst="roundRect">
            <a:avLst>
              <a:gd fmla="val 7183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6"/>
          <p:cNvSpPr/>
          <p:nvPr/>
        </p:nvSpPr>
        <p:spPr>
          <a:xfrm>
            <a:off x="459777" y="3147568"/>
            <a:ext cx="138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Bistability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6"/>
          <p:cNvSpPr/>
          <p:nvPr/>
        </p:nvSpPr>
        <p:spPr>
          <a:xfrm>
            <a:off x="459777" y="3387106"/>
            <a:ext cx="47088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Outcome depends on initial conditions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6"/>
          <p:cNvSpPr txBox="1"/>
          <p:nvPr/>
        </p:nvSpPr>
        <p:spPr>
          <a:xfrm>
            <a:off x="1875653" y="1808469"/>
            <a:ext cx="342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6"/>
          <p:cNvSpPr txBox="1"/>
          <p:nvPr/>
        </p:nvSpPr>
        <p:spPr>
          <a:xfrm>
            <a:off x="4826382" y="71439"/>
            <a:ext cx="4153026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https://www.wolframcloud.com/obj/bd5f7de5-6b85-4fd3-805b-8be50285f8db?src=CloudBasicCopiedContent#sidebar=basic-notebook-links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4D2B"/>
          </a:solidFill>
          <a:ln cap="flat" cmpd="sng" w="12700">
            <a:solidFill>
              <a:srgbClr val="1E4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0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Case Study: Wolf-Moose Dynamics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0"/>
          <p:cNvSpPr/>
          <p:nvPr/>
        </p:nvSpPr>
        <p:spPr>
          <a:xfrm>
            <a:off x="274320" y="694944"/>
            <a:ext cx="8595360" cy="27432"/>
          </a:xfrm>
          <a:prstGeom prst="rect">
            <a:avLst/>
          </a:prstGeom>
          <a:solidFill>
            <a:srgbClr val="A8C5A0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0"/>
          <p:cNvSpPr/>
          <p:nvPr/>
        </p:nvSpPr>
        <p:spPr>
          <a:xfrm>
            <a:off x="274320" y="804672"/>
            <a:ext cx="8577072" cy="530352"/>
          </a:xfrm>
          <a:prstGeom prst="rect">
            <a:avLst/>
          </a:prstGeom>
          <a:solidFill>
            <a:srgbClr val="EAF2EB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0"/>
          <p:cNvSpPr/>
          <p:nvPr/>
        </p:nvSpPr>
        <p:spPr>
          <a:xfrm>
            <a:off x="438912" y="82296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Research Question: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40"/>
          <p:cNvSpPr/>
          <p:nvPr/>
        </p:nvSpPr>
        <p:spPr>
          <a:xfrm>
            <a:off x="438912" y="104241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How do wolf and moose populations interact on Isle Royale?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0"/>
          <p:cNvSpPr/>
          <p:nvPr/>
        </p:nvSpPr>
        <p:spPr>
          <a:xfrm>
            <a:off x="274320" y="1481328"/>
            <a:ext cx="4846320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0"/>
          <p:cNvSpPr/>
          <p:nvPr/>
        </p:nvSpPr>
        <p:spPr>
          <a:xfrm>
            <a:off x="274320" y="1481328"/>
            <a:ext cx="4846320" cy="301752"/>
          </a:xfrm>
          <a:prstGeom prst="rect">
            <a:avLst/>
          </a:prstGeom>
          <a:solidFill>
            <a:srgbClr val="1E4D2B"/>
          </a:solidFill>
          <a:ln cap="flat" cmpd="sng" w="12700">
            <a:solidFill>
              <a:srgbClr val="1E4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0"/>
          <p:cNvSpPr/>
          <p:nvPr/>
        </p:nvSpPr>
        <p:spPr>
          <a:xfrm>
            <a:off x="402336" y="1481328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0"/>
          <p:cNvSpPr/>
          <p:nvPr/>
        </p:nvSpPr>
        <p:spPr>
          <a:xfrm>
            <a:off x="402336" y="182880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dH/dt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0"/>
          <p:cNvSpPr/>
          <p:nvPr/>
        </p:nvSpPr>
        <p:spPr>
          <a:xfrm>
            <a:off x="694944" y="1828800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rH − aPH  (moose growth minus predation)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0"/>
          <p:cNvSpPr/>
          <p:nvPr/>
        </p:nvSpPr>
        <p:spPr>
          <a:xfrm>
            <a:off x="402336" y="2171036"/>
            <a:ext cx="27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dP/dt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0"/>
          <p:cNvSpPr/>
          <p:nvPr/>
        </p:nvSpPr>
        <p:spPr>
          <a:xfrm>
            <a:off x="768094" y="2151870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Mean diversity in fragmented forest &lt; Mean diversity in continuous forest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0"/>
          <p:cNvSpPr/>
          <p:nvPr/>
        </p:nvSpPr>
        <p:spPr>
          <a:xfrm>
            <a:off x="694944" y="2474959"/>
            <a:ext cx="4297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Fitted to 60+ years of annual census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0"/>
          <p:cNvSpPr/>
          <p:nvPr/>
        </p:nvSpPr>
        <p:spPr>
          <a:xfrm>
            <a:off x="274320" y="2871216"/>
            <a:ext cx="4846320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0"/>
          <p:cNvSpPr/>
          <p:nvPr/>
        </p:nvSpPr>
        <p:spPr>
          <a:xfrm>
            <a:off x="274320" y="2871216"/>
            <a:ext cx="4846320" cy="301752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0"/>
          <p:cNvSpPr/>
          <p:nvPr/>
        </p:nvSpPr>
        <p:spPr>
          <a:xfrm>
            <a:off x="402336" y="2871216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0"/>
          <p:cNvSpPr/>
          <p:nvPr/>
        </p:nvSpPr>
        <p:spPr>
          <a:xfrm>
            <a:off x="402336" y="3236976"/>
            <a:ext cx="201168" cy="201168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0"/>
          <p:cNvSpPr/>
          <p:nvPr/>
        </p:nvSpPr>
        <p:spPr>
          <a:xfrm>
            <a:off x="658380" y="3170809"/>
            <a:ext cx="1792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4D2B"/>
                </a:solidFill>
                <a:latin typeface="Calibri"/>
                <a:ea typeface="Calibri"/>
                <a:cs typeface="Calibri"/>
                <a:sym typeface="Calibri"/>
              </a:rPr>
              <a:t>p &lt; 0.05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0"/>
          <p:cNvSpPr/>
          <p:nvPr/>
        </p:nvSpPr>
        <p:spPr>
          <a:xfrm>
            <a:off x="1700784" y="321868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Wolf numbers track moose with a time lag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0"/>
          <p:cNvSpPr/>
          <p:nvPr/>
        </p:nvSpPr>
        <p:spPr>
          <a:xfrm>
            <a:off x="402336" y="3511296"/>
            <a:ext cx="201168" cy="201168"/>
          </a:xfrm>
          <a:prstGeom prst="rect">
            <a:avLst/>
          </a:prstGeom>
          <a:solidFill>
            <a:srgbClr val="6B7B6C"/>
          </a:solidFill>
          <a:ln cap="flat" cmpd="sng" w="12700">
            <a:solidFill>
              <a:srgbClr val="6B7B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0"/>
          <p:cNvSpPr/>
          <p:nvPr/>
        </p:nvSpPr>
        <p:spPr>
          <a:xfrm>
            <a:off x="658368" y="3493008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6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B6C"/>
                </a:solidFill>
                <a:latin typeface="Calibri"/>
                <a:ea typeface="Calibri"/>
                <a:cs typeface="Calibri"/>
                <a:sym typeface="Calibri"/>
              </a:rPr>
              <a:t>Inbreeding depression weakened wolf population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0"/>
          <p:cNvSpPr/>
          <p:nvPr/>
        </p:nvSpPr>
        <p:spPr>
          <a:xfrm>
            <a:off x="1700784" y="349300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Wolf immigration needed for long-term stability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0"/>
          <p:cNvSpPr/>
          <p:nvPr/>
        </p:nvSpPr>
        <p:spPr>
          <a:xfrm>
            <a:off x="5321808" y="1481328"/>
            <a:ext cx="3529584" cy="2468880"/>
          </a:xfrm>
          <a:prstGeom prst="rect">
            <a:avLst/>
          </a:prstGeom>
          <a:solidFill>
            <a:srgbClr val="2C3B2E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0"/>
          <p:cNvSpPr/>
          <p:nvPr/>
        </p:nvSpPr>
        <p:spPr>
          <a:xfrm>
            <a:off x="5321808" y="1481328"/>
            <a:ext cx="3529584" cy="2468880"/>
          </a:xfrm>
          <a:prstGeom prst="rect">
            <a:avLst/>
          </a:prstGeom>
          <a:solidFill>
            <a:srgbClr val="1A2E1C"/>
          </a:solidFill>
          <a:ln cap="flat" cmpd="sng" w="12700">
            <a:solidFill>
              <a:srgbClr val="1A2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0"/>
          <p:cNvSpPr/>
          <p:nvPr/>
        </p:nvSpPr>
        <p:spPr>
          <a:xfrm>
            <a:off x="274320" y="4041648"/>
            <a:ext cx="8577072" cy="932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C5A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0"/>
          <p:cNvSpPr/>
          <p:nvPr/>
        </p:nvSpPr>
        <p:spPr>
          <a:xfrm>
            <a:off x="274320" y="4041648"/>
            <a:ext cx="73152" cy="932688"/>
          </a:xfrm>
          <a:prstGeom prst="rect">
            <a:avLst/>
          </a:prstGeom>
          <a:solidFill>
            <a:srgbClr val="D4860A"/>
          </a:solidFill>
          <a:ln cap="flat" cmpd="sng" w="12700">
            <a:solidFill>
              <a:srgbClr val="D486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0"/>
          <p:cNvSpPr/>
          <p:nvPr/>
        </p:nvSpPr>
        <p:spPr>
          <a:xfrm>
            <a:off x="438912" y="407822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86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860A"/>
                </a:solidFill>
                <a:latin typeface="Calibri"/>
                <a:ea typeface="Calibri"/>
                <a:cs typeface="Calibri"/>
                <a:sym typeface="Calibri"/>
              </a:rPr>
              <a:t>Conservation Implications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0"/>
          <p:cNvSpPr/>
          <p:nvPr/>
        </p:nvSpPr>
        <p:spPr>
          <a:xfrm>
            <a:off x="402325" y="4145181"/>
            <a:ext cx="8302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Isle Royale is the world's longest-running predator-prey study (1958–present). Results inform wolf reintroduction policy and show that isolated predator populations face genetic bottlenecks. Model limitations: LV assumes constant parameters, but r, a, b, d all vary with climate.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6" name="Google Shape;8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1344" y="1517423"/>
            <a:ext cx="3330500" cy="2268677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40"/>
          <p:cNvSpPr txBox="1"/>
          <p:nvPr/>
        </p:nvSpPr>
        <p:spPr>
          <a:xfrm>
            <a:off x="5759950" y="1187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Peterson, R. O. (1999). Wolf–moose interaction on Isle Royale: the end of natural regulation?.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Ecological Applications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9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(1), 10-16.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6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6"/>
          <p:cNvSpPr/>
          <p:nvPr/>
        </p:nvSpPr>
        <p:spPr>
          <a:xfrm>
            <a:off x="320040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6"/>
          <p:cNvSpPr/>
          <p:nvPr/>
        </p:nvSpPr>
        <p:spPr>
          <a:xfrm>
            <a:off x="868680" y="914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Exercise  —  Classify Each Scenario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6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40000"/>
            </a:srgbClr>
          </a:solidFill>
          <a:ln cap="flat" cmpd="sng" w="12700">
            <a:solidFill>
              <a:srgbClr val="4A9DB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6"/>
          <p:cNvSpPr/>
          <p:nvPr/>
        </p:nvSpPr>
        <p:spPr>
          <a:xfrm>
            <a:off x="7589520" y="777240"/>
            <a:ext cx="1325880" cy="32004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6"/>
          <p:cNvSpPr/>
          <p:nvPr/>
        </p:nvSpPr>
        <p:spPr>
          <a:xfrm>
            <a:off x="7589520" y="77724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6"/>
          <p:cNvSpPr/>
          <p:nvPr/>
        </p:nvSpPr>
        <p:spPr>
          <a:xfrm>
            <a:off x="320040" y="7772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For each ecological scenario, identify the appropriate model: Exponential / Logistic / Lotka-Volterra Predator-Prey / Lotka-Volterra Competition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1" name="Google Shape;861;p16"/>
          <p:cNvGraphicFramePr/>
          <p:nvPr/>
        </p:nvGraphicFramePr>
        <p:xfrm>
          <a:off x="32004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{8AFF50A7-E4AB-4A32-BD39-0180844F5665}</a:tableStyleId>
              </a:tblPr>
              <a:tblGrid>
                <a:gridCol w="2834650"/>
                <a:gridCol w="2834650"/>
                <a:gridCol w="28346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9D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Clue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9D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Type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9D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Invasive species just introduced to new habitat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predators, unlimited food initially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Deer population in fenced national park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Bounded by available vegetation (K)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Lynx and snowshoe hare populations oscillate in cycles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Predator numbers track prey with a time lag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grass species competing for the same soil nutrients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Both affect each other's carrying capacity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Bacterial growth in unlimited nutrient broth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Exponential phase before nutrient depletion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Wolves reintroduced to an elk-populated valley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Elk decline as wolf numbers rise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Yeast population in a wine fermentation vessel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Growth slows as ethanol accumulates (toxic limit)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68C8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1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1"/>
          <p:cNvSpPr/>
          <p:nvPr/>
        </p:nvSpPr>
        <p:spPr>
          <a:xfrm>
            <a:off x="457200" y="640080"/>
            <a:ext cx="1280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1"/>
          <p:cNvSpPr/>
          <p:nvPr/>
        </p:nvSpPr>
        <p:spPr>
          <a:xfrm>
            <a:off x="457200" y="1920240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2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2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2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Core Mathematical Approaches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2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2"/>
          <p:cNvSpPr/>
          <p:nvPr/>
        </p:nvSpPr>
        <p:spPr>
          <a:xfrm>
            <a:off x="256032" y="777240"/>
            <a:ext cx="2816352" cy="411480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2"/>
          <p:cNvSpPr/>
          <p:nvPr/>
        </p:nvSpPr>
        <p:spPr>
          <a:xfrm>
            <a:off x="256032" y="777240"/>
            <a:ext cx="2816352" cy="36576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2"/>
          <p:cNvSpPr/>
          <p:nvPr/>
        </p:nvSpPr>
        <p:spPr>
          <a:xfrm>
            <a:off x="347472" y="777240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Differential Equations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2"/>
          <p:cNvSpPr/>
          <p:nvPr/>
        </p:nvSpPr>
        <p:spPr>
          <a:xfrm>
            <a:off x="365760" y="1207008"/>
            <a:ext cx="2596896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Represent continuous change over 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Logistic growth: dN/dt = rN(1−N/K)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Lotka-Volterra: system of coupled ODEs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scikit-bio: bioinformatics &amp; ecology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Yellowstone wolf reintroduction, coral reef dynamics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2"/>
          <p:cNvSpPr/>
          <p:nvPr/>
        </p:nvSpPr>
        <p:spPr>
          <a:xfrm>
            <a:off x="3246120" y="777240"/>
            <a:ext cx="2816352" cy="4114800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2"/>
          <p:cNvSpPr/>
          <p:nvPr/>
        </p:nvSpPr>
        <p:spPr>
          <a:xfrm>
            <a:off x="3246120" y="777240"/>
            <a:ext cx="2816352" cy="365760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2"/>
          <p:cNvSpPr/>
          <p:nvPr/>
        </p:nvSpPr>
        <p:spPr>
          <a:xfrm>
            <a:off x="3337560" y="777240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Difference Equations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2"/>
          <p:cNvSpPr/>
          <p:nvPr/>
        </p:nvSpPr>
        <p:spPr>
          <a:xfrm>
            <a:off x="3355848" y="1207008"/>
            <a:ext cx="2596896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Represent discrete time steps (generations).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Ricker model: N(t+1) = N(t)e^(r(1−N(t)/K))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May's logistic map: chaos at high 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Best for: annual species, fish year-classes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Pacific salmon spawning, insect generations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2"/>
          <p:cNvSpPr/>
          <p:nvPr/>
        </p:nvSpPr>
        <p:spPr>
          <a:xfrm>
            <a:off x="6236208" y="777240"/>
            <a:ext cx="2816352" cy="4114800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2"/>
          <p:cNvSpPr/>
          <p:nvPr/>
        </p:nvSpPr>
        <p:spPr>
          <a:xfrm>
            <a:off x="6236208" y="777240"/>
            <a:ext cx="2816352" cy="365760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2"/>
          <p:cNvSpPr/>
          <p:nvPr/>
        </p:nvSpPr>
        <p:spPr>
          <a:xfrm>
            <a:off x="6327648" y="777240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Stochastic &amp; Matrix Models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2"/>
          <p:cNvSpPr/>
          <p:nvPr/>
        </p:nvSpPr>
        <p:spPr>
          <a:xfrm>
            <a:off x="6345936" y="1207008"/>
            <a:ext cx="2596896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Incorporate randomness and population structure.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Stochastic: birth-death processes, environmental noise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Matrix: Leslie matrix for age-structured populations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Eigenvalue λ = population growth 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Grizzly bear management, condor recovery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2"/>
          <p:cNvSpPr/>
          <p:nvPr/>
        </p:nvSpPr>
        <p:spPr>
          <a:xfrm>
            <a:off x="320040" y="4736592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D99AE"/>
                </a:solidFill>
                <a:latin typeface="Consolas"/>
                <a:ea typeface="Consolas"/>
                <a:cs typeface="Consolas"/>
                <a:sym typeface="Consolas"/>
              </a:rPr>
              <a:t>Python: scipy.integrate · R: deSolve · NetLogo: agent-based · MATLAB: numerical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4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4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4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4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44"/>
          <p:cNvSpPr/>
          <p:nvPr/>
        </p:nvSpPr>
        <p:spPr>
          <a:xfrm>
            <a:off x="256032" y="777240"/>
            <a:ext cx="4160520" cy="192024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4"/>
          <p:cNvSpPr/>
          <p:nvPr/>
        </p:nvSpPr>
        <p:spPr>
          <a:xfrm>
            <a:off x="256032" y="777240"/>
            <a:ext cx="4160520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4"/>
          <p:cNvSpPr/>
          <p:nvPr/>
        </p:nvSpPr>
        <p:spPr>
          <a:xfrm>
            <a:off x="365760" y="81381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 &amp; Data Types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4"/>
          <p:cNvSpPr/>
          <p:nvPr/>
        </p:nvSpPr>
        <p:spPr>
          <a:xfrm>
            <a:off x="365760" y="1197864"/>
            <a:ext cx="394106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Exponential: dN/dt = rN (unlimited growth)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Logistic: dN/dt = rN(1−N/K) (resource-limited)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Discrete logistic: can exhibit chaos (May 1976)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Analytical solutions + numerical simulation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4"/>
          <p:cNvSpPr/>
          <p:nvPr/>
        </p:nvSpPr>
        <p:spPr>
          <a:xfrm>
            <a:off x="4690872" y="777240"/>
            <a:ext cx="4160520" cy="1920240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4"/>
          <p:cNvSpPr/>
          <p:nvPr/>
        </p:nvSpPr>
        <p:spPr>
          <a:xfrm>
            <a:off x="4690872" y="777240"/>
            <a:ext cx="4160520" cy="347472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4"/>
          <p:cNvSpPr/>
          <p:nvPr/>
        </p:nvSpPr>
        <p:spPr>
          <a:xfrm>
            <a:off x="4800600" y="813816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Species Interactions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4"/>
          <p:cNvSpPr/>
          <p:nvPr/>
        </p:nvSpPr>
        <p:spPr>
          <a:xfrm>
            <a:off x="4800600" y="1197864"/>
            <a:ext cx="394106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Predator-Prey: dH/dt = rH−aPH; dP/dt = baPH−dP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Competition: dN₁/dt = r₁N₁(1−(N₁+α₁₂N₂)/K₁)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Outcomes: coexistence, exclusion, oscillations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4"/>
          <p:cNvSpPr/>
          <p:nvPr/>
        </p:nvSpPr>
        <p:spPr>
          <a:xfrm>
            <a:off x="256032" y="2862072"/>
            <a:ext cx="4160520" cy="1920240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4"/>
          <p:cNvSpPr/>
          <p:nvPr/>
        </p:nvSpPr>
        <p:spPr>
          <a:xfrm>
            <a:off x="256032" y="2862072"/>
            <a:ext cx="4160520" cy="347472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4"/>
          <p:cNvSpPr/>
          <p:nvPr/>
        </p:nvSpPr>
        <p:spPr>
          <a:xfrm>
            <a:off x="365760" y="2898648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4"/>
          <p:cNvSpPr/>
          <p:nvPr/>
        </p:nvSpPr>
        <p:spPr>
          <a:xfrm>
            <a:off x="365760" y="3282696"/>
            <a:ext cx="394106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Differential equations (continuous), Difference equations (discrete)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Type I &amp; II errors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Matrix models: age/stage-structured populations (Leslie)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Validation: AIC, cross-validation, sensitivity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4"/>
          <p:cNvSpPr/>
          <p:nvPr/>
        </p:nvSpPr>
        <p:spPr>
          <a:xfrm>
            <a:off x="4690872" y="2862072"/>
            <a:ext cx="4160520" cy="1920240"/>
          </a:xfrm>
          <a:prstGeom prst="rect">
            <a:avLst/>
          </a:prstGeom>
          <a:solidFill>
            <a:srgbClr val="F0ECFA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4"/>
          <p:cNvSpPr/>
          <p:nvPr/>
        </p:nvSpPr>
        <p:spPr>
          <a:xfrm>
            <a:off x="4690872" y="2862072"/>
            <a:ext cx="4160520" cy="347472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4"/>
          <p:cNvSpPr/>
          <p:nvPr/>
        </p:nvSpPr>
        <p:spPr>
          <a:xfrm>
            <a:off x="4800600" y="2898648"/>
            <a:ext cx="39410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4"/>
          <p:cNvSpPr/>
          <p:nvPr/>
        </p:nvSpPr>
        <p:spPr>
          <a:xfrm>
            <a:off x="4800600" y="3282696"/>
            <a:ext cx="3941064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Python: scipy.integrate.solve_ivp, numpy, matplotlib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R: deSolve, vegan, ggplot2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NetLogo for agent-based, MATLAB for numerical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4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Always validate against field data · check assumptions · report uncertainty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6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6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6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Questions and Discussion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6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7B68C8">
              <a:alpha val="34901"/>
            </a:srgbClr>
          </a:solidFill>
          <a:ln cap="flat" cmpd="sng" w="12700">
            <a:solidFill>
              <a:srgbClr val="7B68C8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6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Common questions in ecological modeling: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6"/>
          <p:cNvSpPr/>
          <p:nvPr/>
        </p:nvSpPr>
        <p:spPr>
          <a:xfrm>
            <a:off x="256032" y="1170432"/>
            <a:ext cx="4160520" cy="175564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6"/>
          <p:cNvSpPr/>
          <p:nvPr/>
        </p:nvSpPr>
        <p:spPr>
          <a:xfrm>
            <a:off x="256032" y="1170432"/>
            <a:ext cx="4160520" cy="347472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6"/>
          <p:cNvSpPr/>
          <p:nvPr/>
        </p:nvSpPr>
        <p:spPr>
          <a:xfrm>
            <a:off x="347472" y="1207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6"/>
          <p:cNvSpPr/>
          <p:nvPr/>
        </p:nvSpPr>
        <p:spPr>
          <a:xfrm>
            <a:off x="667512" y="12252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is a model "good enough" to use?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6"/>
          <p:cNvSpPr/>
          <p:nvPr/>
        </p:nvSpPr>
        <p:spPr>
          <a:xfrm>
            <a:off x="365760" y="1609344"/>
            <a:ext cx="393192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A: When it captures the essential dynamics, fits available data reasonably, and its assumptions match the system. All models are wrong — some are useful.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6"/>
          <p:cNvSpPr/>
          <p:nvPr/>
        </p:nvSpPr>
        <p:spPr>
          <a:xfrm>
            <a:off x="4690872" y="1170432"/>
            <a:ext cx="4160520" cy="1755648"/>
          </a:xfrm>
          <a:prstGeom prst="rect">
            <a:avLst/>
          </a:prstGeom>
          <a:solidFill>
            <a:srgbClr val="F7ECEA"/>
          </a:solidFill>
          <a:ln cap="flat" cmpd="sng" w="12700">
            <a:solidFill>
              <a:srgbClr val="D4756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6"/>
          <p:cNvSpPr/>
          <p:nvPr/>
        </p:nvSpPr>
        <p:spPr>
          <a:xfrm>
            <a:off x="4690872" y="1170432"/>
            <a:ext cx="4160520" cy="347472"/>
          </a:xfrm>
          <a:prstGeom prst="rect">
            <a:avLst/>
          </a:prstGeom>
          <a:solidFill>
            <a:srgbClr val="D4756B"/>
          </a:solidFill>
          <a:ln cap="flat" cmpd="sng" w="12700">
            <a:solidFill>
              <a:srgbClr val="D47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6"/>
          <p:cNvSpPr/>
          <p:nvPr/>
        </p:nvSpPr>
        <p:spPr>
          <a:xfrm>
            <a:off x="4782312" y="1207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46"/>
          <p:cNvSpPr/>
          <p:nvPr/>
        </p:nvSpPr>
        <p:spPr>
          <a:xfrm>
            <a:off x="5102352" y="12252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 I choose between ODE and stochastic models?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46"/>
          <p:cNvSpPr/>
          <p:nvPr/>
        </p:nvSpPr>
        <p:spPr>
          <a:xfrm>
            <a:off x="4800600" y="1609344"/>
            <a:ext cx="393192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A: Consider zero-inflated Poisson models or negative binomial distributions.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6"/>
          <p:cNvSpPr/>
          <p:nvPr/>
        </p:nvSpPr>
        <p:spPr>
          <a:xfrm>
            <a:off x="256032" y="3090672"/>
            <a:ext cx="4160520" cy="1755648"/>
          </a:xfrm>
          <a:prstGeom prst="rect">
            <a:avLst/>
          </a:prstGeom>
          <a:solidFill>
            <a:srgbClr val="F7F3E8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6"/>
          <p:cNvSpPr/>
          <p:nvPr/>
        </p:nvSpPr>
        <p:spPr>
          <a:xfrm>
            <a:off x="256032" y="3090672"/>
            <a:ext cx="4160520" cy="347472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46"/>
          <p:cNvSpPr/>
          <p:nvPr/>
        </p:nvSpPr>
        <p:spPr>
          <a:xfrm>
            <a:off x="347472" y="31272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6"/>
          <p:cNvSpPr/>
          <p:nvPr/>
        </p:nvSpPr>
        <p:spPr>
          <a:xfrm>
            <a:off x="667512" y="31455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 I estimate parameters I can't measure directly?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6"/>
          <p:cNvSpPr/>
          <p:nvPr/>
        </p:nvSpPr>
        <p:spPr>
          <a:xfrm>
            <a:off x="365760" y="3529584"/>
            <a:ext cx="393192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A: Fit model to time-series data using maximum likelihood or Bayesian inference. Use sensitivity analysis to identify which parameters matter most.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6"/>
          <p:cNvSpPr/>
          <p:nvPr/>
        </p:nvSpPr>
        <p:spPr>
          <a:xfrm>
            <a:off x="4690872" y="3090672"/>
            <a:ext cx="4160520" cy="1755648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7B6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6"/>
          <p:cNvSpPr/>
          <p:nvPr/>
        </p:nvSpPr>
        <p:spPr>
          <a:xfrm>
            <a:off x="4690872" y="3090672"/>
            <a:ext cx="4160520" cy="347472"/>
          </a:xfrm>
          <a:prstGeom prst="rect">
            <a:avLst/>
          </a:prstGeom>
          <a:solidFill>
            <a:srgbClr val="7B68C8"/>
          </a:solidFill>
          <a:ln cap="flat" cmpd="sng" w="12700">
            <a:solidFill>
              <a:srgbClr val="7B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6"/>
          <p:cNvSpPr/>
          <p:nvPr/>
        </p:nvSpPr>
        <p:spPr>
          <a:xfrm>
            <a:off x="4782312" y="31272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6"/>
          <p:cNvSpPr/>
          <p:nvPr/>
        </p:nvSpPr>
        <p:spPr>
          <a:xfrm>
            <a:off x="5102352" y="31455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 simple models really explain complex ecosystems?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6"/>
          <p:cNvSpPr/>
          <p:nvPr/>
        </p:nvSpPr>
        <p:spPr>
          <a:xfrm>
            <a:off x="4800600" y="3529584"/>
            <a:ext cx="393192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A: Yes — often surprisingly well for key dynamics. Start simple, add complexity only where data support it and where it changes predictions.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2"/>
          <p:cNvSpPr/>
          <p:nvPr/>
        </p:nvSpPr>
        <p:spPr>
          <a:xfrm>
            <a:off x="164592" y="0"/>
            <a:ext cx="8979408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52"/>
          <p:cNvSpPr/>
          <p:nvPr/>
        </p:nvSpPr>
        <p:spPr>
          <a:xfrm>
            <a:off x="292608" y="137160"/>
            <a:ext cx="402336" cy="402336"/>
          </a:xfrm>
          <a:prstGeom prst="ellipse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52"/>
          <p:cNvSpPr/>
          <p:nvPr/>
        </p:nvSpPr>
        <p:spPr>
          <a:xfrm>
            <a:off x="841248" y="9144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93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3293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2"/>
          <p:cNvSpPr/>
          <p:nvPr/>
        </p:nvSpPr>
        <p:spPr>
          <a:xfrm>
            <a:off x="164592" y="685800"/>
            <a:ext cx="8979408" cy="36576"/>
          </a:xfrm>
          <a:prstGeom prst="rect">
            <a:avLst/>
          </a:prstGeom>
          <a:solidFill>
            <a:srgbClr val="4A9DB5">
              <a:alpha val="34901"/>
            </a:srgbClr>
          </a:solidFill>
          <a:ln cap="flat" cmpd="sng" w="12700">
            <a:solidFill>
              <a:srgbClr val="4A9DB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2"/>
          <p:cNvSpPr/>
          <p:nvPr/>
        </p:nvSpPr>
        <p:spPr>
          <a:xfrm>
            <a:off x="320050" y="777253"/>
            <a:ext cx="4160400" cy="302730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4A9DB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52"/>
          <p:cNvSpPr/>
          <p:nvPr/>
        </p:nvSpPr>
        <p:spPr>
          <a:xfrm>
            <a:off x="320040" y="777240"/>
            <a:ext cx="4160520" cy="365760"/>
          </a:xfrm>
          <a:prstGeom prst="rect">
            <a:avLst/>
          </a:prstGeom>
          <a:solidFill>
            <a:srgbClr val="4A9DB5"/>
          </a:solidFill>
          <a:ln cap="flat" cmpd="sng" w="12700">
            <a:solidFill>
              <a:srgbClr val="4A9D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52"/>
          <p:cNvSpPr/>
          <p:nvPr/>
        </p:nvSpPr>
        <p:spPr>
          <a:xfrm>
            <a:off x="429768" y="7772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Texts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52"/>
          <p:cNvSpPr/>
          <p:nvPr/>
        </p:nvSpPr>
        <p:spPr>
          <a:xfrm>
            <a:off x="439346" y="1207008"/>
            <a:ext cx="3931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Gotelli, N.J. &amp; Ellison, A.M. (2004). A Primer of Ecological Statistics. Sinauer.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Edelstein-Keshet, L. (2005). Mathematical Models in Biology. SIAM.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Quinn, G.P. &amp; Keough, M.J. (2002). Experimental Design and Data Analysis for Biologists. Cambridge.</a:t>
            </a:r>
            <a:endParaRPr b="0" i="0" sz="1250" u="none" cap="none" strike="noStrike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https://esajournals.onlinelibrary.wiley.com/doi/pdf/10.1890/1051-0761%281999%29009%5B0010%3AWMIOIR%5D2.0.CO%3B2?casa_token=c5ZheG3hKeMAAAAA%3AS3SrjbVNYFJ0JGV5oK1EKcAw7gLCxhUynS800vIVW8saPQLxA8hJ04vNpJb5Zr9W9rgNHIUyolWAgWM</a:t>
            </a:r>
            <a:endParaRPr sz="1250">
              <a:solidFill>
                <a:srgbClr val="2B2D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52"/>
          <p:cNvSpPr/>
          <p:nvPr/>
        </p:nvSpPr>
        <p:spPr>
          <a:xfrm>
            <a:off x="4663440" y="777240"/>
            <a:ext cx="4160520" cy="2377440"/>
          </a:xfrm>
          <a:prstGeom prst="rect">
            <a:avLst/>
          </a:prstGeom>
          <a:solidFill>
            <a:srgbClr val="EAF5EF"/>
          </a:solidFill>
          <a:ln cap="flat" cmpd="sng" w="12700">
            <a:solidFill>
              <a:srgbClr val="4CAF8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52"/>
          <p:cNvSpPr/>
          <p:nvPr/>
        </p:nvSpPr>
        <p:spPr>
          <a:xfrm>
            <a:off x="4663440" y="777240"/>
            <a:ext cx="4160520" cy="365760"/>
          </a:xfrm>
          <a:prstGeom prst="rect">
            <a:avLst/>
          </a:prstGeom>
          <a:solidFill>
            <a:srgbClr val="4CAF8A"/>
          </a:solidFill>
          <a:ln cap="flat" cmpd="sng" w="12700">
            <a:solidFill>
              <a:srgbClr val="4CA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52"/>
          <p:cNvSpPr/>
          <p:nvPr/>
        </p:nvSpPr>
        <p:spPr>
          <a:xfrm>
            <a:off x="4773168" y="7772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Resources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2"/>
          <p:cNvSpPr/>
          <p:nvPr/>
        </p:nvSpPr>
        <p:spPr>
          <a:xfrm>
            <a:off x="4773168" y="1207008"/>
            <a:ext cx="3931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Wolfram Demonstrations — ecological model simulations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NetLogo Models Library — biology section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PyScience — Lotka-Volterra tutorial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deSolve (R): ODE solver documentation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B2D42"/>
                </a:solidFill>
                <a:latin typeface="Calibri"/>
                <a:ea typeface="Calibri"/>
                <a:cs typeface="Calibri"/>
                <a:sym typeface="Calibri"/>
              </a:rPr>
              <a:t>SciPy docs: scipy.integrate.solve_ivp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https://wolframcloud.com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https://ccl.northwestern.edu/netlogo/</a:t>
            </a:r>
            <a:endParaRPr b="0" i="0" sz="10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635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2026-03-18T13:48:03Z</dcterms:created>
  <dc:creator>PptxGenJS</dc:creator>
</cp:coreProperties>
</file>