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Mono"/>
      <p:regular r:id="rId36"/>
      <p:bold r:id="rId37"/>
      <p:italic r:id="rId38"/>
      <p:boldItalic r:id="rId39"/>
    </p:embeddedFont>
    <p:embeddedFont>
      <p:font typeface="DM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regular.fntdata"/><Relationship Id="rId20" Type="http://schemas.openxmlformats.org/officeDocument/2006/relationships/slide" Target="slides/slide15.xml"/><Relationship Id="rId42" Type="http://schemas.openxmlformats.org/officeDocument/2006/relationships/font" Target="fonts/DMSans-italic.fntdata"/><Relationship Id="rId41" Type="http://schemas.openxmlformats.org/officeDocument/2006/relationships/font" Target="fonts/DMSans-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DMSans-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Mono-bold.fntdata"/><Relationship Id="rId14" Type="http://schemas.openxmlformats.org/officeDocument/2006/relationships/slide" Target="slides/slide9.xml"/><Relationship Id="rId36" Type="http://schemas.openxmlformats.org/officeDocument/2006/relationships/font" Target="fonts/RobotoMono-regular.fntdata"/><Relationship Id="rId17" Type="http://schemas.openxmlformats.org/officeDocument/2006/relationships/slide" Target="slides/slide12.xml"/><Relationship Id="rId39" Type="http://schemas.openxmlformats.org/officeDocument/2006/relationships/font" Target="fonts/RobotoMono-boldItalic.fntdata"/><Relationship Id="rId16" Type="http://schemas.openxmlformats.org/officeDocument/2006/relationships/slide" Target="slides/slide11.xml"/><Relationship Id="rId38" Type="http://schemas.openxmlformats.org/officeDocument/2006/relationships/font" Target="fonts/RobotoMon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534af4c6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7534af4c6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7534af4c6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7534af4c6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534af4c6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534af4c6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7534af4c6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7534af4c6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7534af4c6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7534af4c6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534af4c6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7534af4c6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534af4c6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534af4c6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534af4c6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7534af4c6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7534af4c6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7534af4c6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534af4c6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534af4c6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7534af4c6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7534af4c6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534af4c6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7534af4c6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534af4c67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7534af4c6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534af4c67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7534af4c67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534af4c6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7534af4c6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7534af4c67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7534af4c67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7534af4c67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7534af4c67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534af4c67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7534af4c67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7534af4c67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7534af4c67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7534af4c67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7534af4c67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7534af4c67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7534af4c67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534af4c67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7534af4c67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7534af4c67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7534af4c67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7534af4c67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7534af4c67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7534af4c67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7534af4c67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534af4c67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7534af4c67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7534af4c67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7534af4c67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7534af4c67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7534af4c67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7534af4c67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7534af4c67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matplotlib.org/stable/gallery/" TargetMode="External"/><Relationship Id="rId4" Type="http://schemas.openxmlformats.org/officeDocument/2006/relationships/hyperlink" Target="https://matplotlib.org/stable/gallery/" TargetMode="External"/><Relationship Id="rId11" Type="http://schemas.openxmlformats.org/officeDocument/2006/relationships/image" Target="../media/image27.png"/><Relationship Id="rId10" Type="http://schemas.openxmlformats.org/officeDocument/2006/relationships/hyperlink" Target="https://docs.scipy.org/doc/scipy/reference/stats.html" TargetMode="External"/><Relationship Id="rId9" Type="http://schemas.openxmlformats.org/officeDocument/2006/relationships/hyperlink" Target="https://docs.scipy.org/doc/scipy/reference/stats.html" TargetMode="External"/><Relationship Id="rId5" Type="http://schemas.openxmlformats.org/officeDocument/2006/relationships/hyperlink" Target="https://seaborn.pydata.org/tutorial.html" TargetMode="External"/><Relationship Id="rId6" Type="http://schemas.openxmlformats.org/officeDocument/2006/relationships/hyperlink" Target="https://seaborn.pydata.org/tutorial.html" TargetMode="External"/><Relationship Id="rId7" Type="http://schemas.openxmlformats.org/officeDocument/2006/relationships/hyperlink" Target="https://scikit-learn.org/stable/user_guide.html" TargetMode="External"/><Relationship Id="rId8" Type="http://schemas.openxmlformats.org/officeDocument/2006/relationships/hyperlink" Target="https://scikit-learn.org/stable/user_guide.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5900"/>
              <a:t>Tutorial 1.2</a:t>
            </a:r>
            <a:endParaRPr sz="59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500"/>
              <a:t>Eco modeling statistics</a:t>
            </a:r>
            <a:endParaRPr sz="3500"/>
          </a:p>
        </p:txBody>
      </p:sp>
      <p:sp>
        <p:nvSpPr>
          <p:cNvPr id="56" name="Google Shape;56;p13"/>
          <p:cNvSpPr txBox="1"/>
          <p:nvPr/>
        </p:nvSpPr>
        <p:spPr>
          <a:xfrm>
            <a:off x="0" y="0"/>
            <a:ext cx="6785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Courier New"/>
                <a:ea typeface="Courier New"/>
                <a:cs typeface="Courier New"/>
                <a:sym typeface="Courier New"/>
              </a:rPr>
              <a:t>https://colab.research.google.com/drive/178YLXiIyqTL4paBdqTk5vEHk-w3jDlah#scrollTo=8jNnKnjxbWk-</a:t>
            </a:r>
            <a:endParaRPr sz="2100"/>
          </a:p>
        </p:txBody>
      </p:sp>
      <p:sp>
        <p:nvSpPr>
          <p:cNvPr id="57" name="Google Shape;5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700"/>
              <a:t>‹#›</a:t>
            </a:fld>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Statistical tools</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https://scikit.bio/index.html</a:t>
            </a:r>
            <a:endParaRPr/>
          </a:p>
        </p:txBody>
      </p:sp>
      <p:pic>
        <p:nvPicPr>
          <p:cNvPr id="64" name="Google Shape;64;p14"/>
          <p:cNvPicPr preferRelativeResize="0"/>
          <p:nvPr/>
        </p:nvPicPr>
        <p:blipFill>
          <a:blip r:embed="rId3">
            <a:alphaModFix/>
          </a:blip>
          <a:stretch>
            <a:fillRect/>
          </a:stretch>
        </p:blipFill>
        <p:spPr>
          <a:xfrm>
            <a:off x="1096350" y="1663825"/>
            <a:ext cx="4702700" cy="3479675"/>
          </a:xfrm>
          <a:prstGeom prst="rect">
            <a:avLst/>
          </a:prstGeom>
          <a:noFill/>
          <a:ln>
            <a:noFill/>
          </a:ln>
        </p:spPr>
      </p:pic>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Statistical tools</a:t>
            </a:r>
            <a:endParaRPr/>
          </a:p>
        </p:txBody>
      </p:sp>
      <p:sp>
        <p:nvSpPr>
          <p:cNvPr id="71" name="Google Shape;71;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https://scikit.bio/index.html</a:t>
            </a:r>
            <a:endParaRPr/>
          </a:p>
        </p:txBody>
      </p:sp>
      <p:pic>
        <p:nvPicPr>
          <p:cNvPr id="72" name="Google Shape;72;p15"/>
          <p:cNvPicPr preferRelativeResize="0"/>
          <p:nvPr/>
        </p:nvPicPr>
        <p:blipFill>
          <a:blip r:embed="rId3">
            <a:alphaModFix/>
          </a:blip>
          <a:stretch>
            <a:fillRect/>
          </a:stretch>
        </p:blipFill>
        <p:spPr>
          <a:xfrm>
            <a:off x="1799925" y="1940779"/>
            <a:ext cx="5730301" cy="2750525"/>
          </a:xfrm>
          <a:prstGeom prst="rect">
            <a:avLst/>
          </a:prstGeom>
          <a:noFill/>
          <a:ln>
            <a:noFill/>
          </a:ln>
        </p:spPr>
      </p:pic>
      <p:sp>
        <p:nvSpPr>
          <p:cNvPr id="73" name="Google Shape;7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DM Sans"/>
                <a:ea typeface="DM Sans"/>
                <a:cs typeface="DM Sans"/>
                <a:sym typeface="DM Sans"/>
              </a:rPr>
              <a:t>Cell 1 - impo</a:t>
            </a:r>
            <a:r>
              <a:rPr lang="en">
                <a:latin typeface="DM Sans"/>
                <a:ea typeface="DM Sans"/>
                <a:cs typeface="DM Sans"/>
                <a:sym typeface="DM Sans"/>
              </a:rPr>
              <a:t>rt librarie</a:t>
            </a:r>
            <a:r>
              <a:rPr lang="en">
                <a:latin typeface="DM Sans"/>
                <a:ea typeface="DM Sans"/>
                <a:cs typeface="DM Sans"/>
                <a:sym typeface="DM Sans"/>
              </a:rPr>
              <a:t>s</a:t>
            </a:r>
            <a:endParaRPr>
              <a:latin typeface="DM Sans"/>
              <a:ea typeface="DM Sans"/>
              <a:cs typeface="DM Sans"/>
              <a:sym typeface="DM Sans"/>
            </a:endParaRPr>
          </a:p>
        </p:txBody>
      </p:sp>
      <p:sp>
        <p:nvSpPr>
          <p:cNvPr id="79" name="Google Shape;79;p16"/>
          <p:cNvSpPr txBox="1"/>
          <p:nvPr>
            <p:ph idx="1" type="body"/>
          </p:nvPr>
        </p:nvSpPr>
        <p:spPr>
          <a:xfrm>
            <a:off x="311700" y="1176510"/>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41666"/>
              </a:lnSpc>
              <a:spcBef>
                <a:spcPts val="0"/>
              </a:spcBef>
              <a:spcAft>
                <a:spcPts val="0"/>
              </a:spcAft>
              <a:buClr>
                <a:schemeClr val="dk1"/>
              </a:buClr>
              <a:buSzPct val="122222"/>
              <a:buFont typeface="Arial"/>
              <a:buNone/>
            </a:pPr>
            <a:r>
              <a:rPr lang="en" sz="900">
                <a:solidFill>
                  <a:srgbClr val="008000"/>
                </a:solidFill>
                <a:highlight>
                  <a:srgbClr val="F7F7F7"/>
                </a:highlight>
                <a:latin typeface="Courier New"/>
                <a:ea typeface="Courier New"/>
                <a:cs typeface="Courier New"/>
                <a:sym typeface="Courier New"/>
              </a:rPr>
              <a:t># Cell 1: Import Libraries</a:t>
            </a:r>
            <a:endParaRPr sz="9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A31515"/>
                </a:solidFill>
                <a:highlight>
                  <a:srgbClr val="F7F7F7"/>
                </a:highlight>
                <a:latin typeface="Courier New"/>
                <a:ea typeface="Courier New"/>
                <a:cs typeface="Courier New"/>
                <a:sym typeface="Courier New"/>
              </a:rPr>
              <a:t>"""</a:t>
            </a:r>
            <a:endParaRPr sz="9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A31515"/>
                </a:solidFill>
                <a:highlight>
                  <a:srgbClr val="F7F7F7"/>
                </a:highlight>
                <a:latin typeface="Courier New"/>
                <a:ea typeface="Courier New"/>
                <a:cs typeface="Courier New"/>
                <a:sym typeface="Courier New"/>
              </a:rPr>
              <a:t>Python Statistical Tools - Basic Tutorial</a:t>
            </a:r>
            <a:endParaRPr sz="9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A31515"/>
                </a:solidFill>
                <a:highlight>
                  <a:srgbClr val="F7F7F7"/>
                </a:highlight>
                <a:latin typeface="Courier New"/>
                <a:ea typeface="Courier New"/>
                <a:cs typeface="Courier New"/>
                <a:sym typeface="Courier New"/>
              </a:rPr>
              <a:t>Essential libraries for data analysis and visualization</a:t>
            </a:r>
            <a:endParaRPr sz="9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A31515"/>
                </a:solidFill>
                <a:highlight>
                  <a:srgbClr val="F7F7F7"/>
                </a:highlight>
                <a:latin typeface="Courier New"/>
                <a:ea typeface="Courier New"/>
                <a:cs typeface="Courier New"/>
                <a:sym typeface="Courier New"/>
              </a:rPr>
              <a:t>"""</a:t>
            </a:r>
            <a:endParaRPr sz="9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matplotlib.pyplot </a:t>
            </a:r>
            <a:r>
              <a:rPr lang="en" sz="900">
                <a:solidFill>
                  <a:srgbClr val="9723B4"/>
                </a:solidFill>
                <a:highlight>
                  <a:srgbClr val="F7F7F7"/>
                </a:highlight>
                <a:latin typeface="Courier New"/>
                <a:ea typeface="Courier New"/>
                <a:cs typeface="Courier New"/>
                <a:sym typeface="Courier New"/>
              </a:rPr>
              <a:t>as</a:t>
            </a:r>
            <a:r>
              <a:rPr lang="en" sz="900">
                <a:solidFill>
                  <a:schemeClr val="dk1"/>
                </a:solidFill>
                <a:highlight>
                  <a:srgbClr val="F7F7F7"/>
                </a:highlight>
                <a:latin typeface="Courier New"/>
                <a:ea typeface="Courier New"/>
                <a:cs typeface="Courier New"/>
                <a:sym typeface="Courier New"/>
              </a:rPr>
              <a:t> plt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seaborn </a:t>
            </a:r>
            <a:r>
              <a:rPr lang="en" sz="900">
                <a:solidFill>
                  <a:srgbClr val="9723B4"/>
                </a:solidFill>
                <a:highlight>
                  <a:srgbClr val="F7F7F7"/>
                </a:highlight>
                <a:latin typeface="Courier New"/>
                <a:ea typeface="Courier New"/>
                <a:cs typeface="Courier New"/>
                <a:sym typeface="Courier New"/>
              </a:rPr>
              <a:t>as</a:t>
            </a:r>
            <a:r>
              <a:rPr lang="en" sz="900">
                <a:solidFill>
                  <a:schemeClr val="dk1"/>
                </a:solidFill>
                <a:highlight>
                  <a:srgbClr val="F7F7F7"/>
                </a:highlight>
                <a:latin typeface="Courier New"/>
                <a:ea typeface="Courier New"/>
                <a:cs typeface="Courier New"/>
                <a:sym typeface="Courier New"/>
              </a:rPr>
              <a:t> sns</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pandas </a:t>
            </a:r>
            <a:r>
              <a:rPr lang="en" sz="900">
                <a:solidFill>
                  <a:srgbClr val="9723B4"/>
                </a:solidFill>
                <a:highlight>
                  <a:srgbClr val="F7F7F7"/>
                </a:highlight>
                <a:latin typeface="Courier New"/>
                <a:ea typeface="Courier New"/>
                <a:cs typeface="Courier New"/>
                <a:sym typeface="Courier New"/>
              </a:rPr>
              <a:t>as</a:t>
            </a:r>
            <a:r>
              <a:rPr lang="en" sz="900">
                <a:solidFill>
                  <a:schemeClr val="dk1"/>
                </a:solidFill>
                <a:highlight>
                  <a:srgbClr val="F7F7F7"/>
                </a:highlight>
                <a:latin typeface="Courier New"/>
                <a:ea typeface="Courier New"/>
                <a:cs typeface="Courier New"/>
                <a:sym typeface="Courier New"/>
              </a:rPr>
              <a:t> pd</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numpy </a:t>
            </a:r>
            <a:r>
              <a:rPr lang="en" sz="900">
                <a:solidFill>
                  <a:srgbClr val="9723B4"/>
                </a:solidFill>
                <a:highlight>
                  <a:srgbClr val="F7F7F7"/>
                </a:highlight>
                <a:latin typeface="Courier New"/>
                <a:ea typeface="Courier New"/>
                <a:cs typeface="Courier New"/>
                <a:sym typeface="Courier New"/>
              </a:rPr>
              <a:t>as</a:t>
            </a:r>
            <a:r>
              <a:rPr lang="en" sz="900">
                <a:solidFill>
                  <a:schemeClr val="dk1"/>
                </a:solidFill>
                <a:highlight>
                  <a:srgbClr val="F7F7F7"/>
                </a:highlight>
                <a:latin typeface="Courier New"/>
                <a:ea typeface="Courier New"/>
                <a:cs typeface="Courier New"/>
                <a:sym typeface="Courier New"/>
              </a:rPr>
              <a:t> np</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from</a:t>
            </a:r>
            <a:r>
              <a:rPr lang="en" sz="900">
                <a:solidFill>
                  <a:schemeClr val="dk1"/>
                </a:solidFill>
                <a:highlight>
                  <a:srgbClr val="F7F7F7"/>
                </a:highlight>
                <a:latin typeface="Courier New"/>
                <a:ea typeface="Courier New"/>
                <a:cs typeface="Courier New"/>
                <a:sym typeface="Courier New"/>
              </a:rPr>
              <a:t> sklearn.model_selection </a:t>
            </a: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train_test_split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from</a:t>
            </a:r>
            <a:r>
              <a:rPr lang="en" sz="900">
                <a:solidFill>
                  <a:schemeClr val="dk1"/>
                </a:solidFill>
                <a:highlight>
                  <a:srgbClr val="F7F7F7"/>
                </a:highlight>
                <a:latin typeface="Courier New"/>
                <a:ea typeface="Courier New"/>
                <a:cs typeface="Courier New"/>
                <a:sym typeface="Courier New"/>
              </a:rPr>
              <a:t> sklearn.linear_model </a:t>
            </a: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LinearRegression</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from</a:t>
            </a:r>
            <a:r>
              <a:rPr lang="en" sz="900">
                <a:solidFill>
                  <a:schemeClr val="dk1"/>
                </a:solidFill>
                <a:highlight>
                  <a:srgbClr val="F7F7F7"/>
                </a:highlight>
                <a:latin typeface="Courier New"/>
                <a:ea typeface="Courier New"/>
                <a:cs typeface="Courier New"/>
                <a:sym typeface="Courier New"/>
              </a:rPr>
              <a:t> sklearn.metrics </a:t>
            </a: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mean_squared_error, r2_score</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from</a:t>
            </a:r>
            <a:r>
              <a:rPr lang="en" sz="900">
                <a:solidFill>
                  <a:schemeClr val="dk1"/>
                </a:solidFill>
                <a:highlight>
                  <a:srgbClr val="F7F7F7"/>
                </a:highlight>
                <a:latin typeface="Courier New"/>
                <a:ea typeface="Courier New"/>
                <a:cs typeface="Courier New"/>
                <a:sym typeface="Courier New"/>
              </a:rPr>
              <a:t> sklearn.preprocessing </a:t>
            </a: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StandardScaler</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from</a:t>
            </a:r>
            <a:r>
              <a:rPr lang="en" sz="900">
                <a:solidFill>
                  <a:schemeClr val="dk1"/>
                </a:solidFill>
                <a:highlight>
                  <a:srgbClr val="F7F7F7"/>
                </a:highlight>
                <a:latin typeface="Courier New"/>
                <a:ea typeface="Courier New"/>
                <a:cs typeface="Courier New"/>
                <a:sym typeface="Courier New"/>
              </a:rPr>
              <a:t> sklearn.cluster </a:t>
            </a: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KMeans</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9723B4"/>
                </a:solidFill>
                <a:highlight>
                  <a:srgbClr val="F7F7F7"/>
                </a:highlight>
                <a:latin typeface="Courier New"/>
                <a:ea typeface="Courier New"/>
                <a:cs typeface="Courier New"/>
                <a:sym typeface="Courier New"/>
              </a:rPr>
              <a:t>from</a:t>
            </a:r>
            <a:r>
              <a:rPr lang="en" sz="900">
                <a:solidFill>
                  <a:schemeClr val="dk1"/>
                </a:solidFill>
                <a:highlight>
                  <a:srgbClr val="F7F7F7"/>
                </a:highlight>
                <a:latin typeface="Courier New"/>
                <a:ea typeface="Courier New"/>
                <a:cs typeface="Courier New"/>
                <a:sym typeface="Courier New"/>
              </a:rPr>
              <a:t> scipy </a:t>
            </a:r>
            <a:r>
              <a:rPr lang="en" sz="900">
                <a:solidFill>
                  <a:srgbClr val="9723B4"/>
                </a:solidFill>
                <a:highlight>
                  <a:srgbClr val="F7F7F7"/>
                </a:highlight>
                <a:latin typeface="Courier New"/>
                <a:ea typeface="Courier New"/>
                <a:cs typeface="Courier New"/>
                <a:sym typeface="Courier New"/>
              </a:rPr>
              <a:t>import</a:t>
            </a:r>
            <a:r>
              <a:rPr lang="en" sz="900">
                <a:solidFill>
                  <a:schemeClr val="dk1"/>
                </a:solidFill>
                <a:highlight>
                  <a:srgbClr val="F7F7F7"/>
                </a:highlight>
                <a:latin typeface="Courier New"/>
                <a:ea typeface="Courier New"/>
                <a:cs typeface="Courier New"/>
                <a:sym typeface="Courier New"/>
              </a:rPr>
              <a:t> stats</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Clr>
                <a:schemeClr val="dk1"/>
              </a:buClr>
              <a:buSzPct val="122222"/>
              <a:buFont typeface="Arial"/>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"All libraries imported successfully!"</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spcBef>
                <a:spcPts val="0"/>
              </a:spcBef>
              <a:spcAft>
                <a:spcPts val="1200"/>
              </a:spcAft>
              <a:buNone/>
            </a:pPr>
            <a:r>
              <a:t/>
            </a:r>
            <a:endParaRPr/>
          </a:p>
        </p:txBody>
      </p:sp>
      <p:sp>
        <p:nvSpPr>
          <p:cNvPr id="80" name="Google Shape;8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i="1" lang="en" sz="1050">
                <a:solidFill>
                  <a:srgbClr val="A0A1A7"/>
                </a:solidFill>
                <a:highlight>
                  <a:srgbClr val="FFFFFF"/>
                </a:highlight>
                <a:latin typeface="Courier New"/>
                <a:ea typeface="Courier New"/>
                <a:cs typeface="Courier New"/>
                <a:sym typeface="Courier New"/>
              </a:rPr>
              <a:t># Cell 2: Matplotlib - Basic Data Creation</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50A14F"/>
                </a:solidFill>
                <a:highlight>
                  <a:srgbClr val="FFFFFF"/>
                </a:highlight>
                <a:latin typeface="Courier New"/>
                <a:ea typeface="Courier New"/>
                <a:cs typeface="Courier New"/>
                <a:sym typeface="Courier New"/>
              </a:rPr>
              <a:t>"""</a:t>
            </a:r>
            <a:endParaRPr sz="1050">
              <a:solidFill>
                <a:srgbClr val="50A14F"/>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383A42"/>
                </a:solidFill>
                <a:highlight>
                  <a:srgbClr val="FFFFFF"/>
                </a:highlight>
                <a:latin typeface="Courier New"/>
                <a:ea typeface="Courier New"/>
                <a:cs typeface="Courier New"/>
                <a:sym typeface="Courier New"/>
              </a:rPr>
              <a:t>MATPLOTLIB BASICS - Creating Sample Data</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50A14F"/>
                </a:solidFill>
                <a:highlight>
                  <a:srgbClr val="FFFFFF"/>
                </a:highlight>
                <a:latin typeface="Courier New"/>
                <a:ea typeface="Courier New"/>
                <a:cs typeface="Courier New"/>
                <a:sym typeface="Courier New"/>
              </a:rPr>
              <a:t>"""</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i="1" lang="en" sz="1050">
                <a:solidFill>
                  <a:srgbClr val="A0A1A7"/>
                </a:solidFill>
                <a:highlight>
                  <a:srgbClr val="FFFFFF"/>
                </a:highlight>
                <a:latin typeface="Courier New"/>
                <a:ea typeface="Courier New"/>
                <a:cs typeface="Courier New"/>
                <a:sym typeface="Courier New"/>
              </a:rPr>
              <a:t># Create sample data for demonstration</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383A42"/>
                </a:solidFill>
                <a:highlight>
                  <a:srgbClr val="FFFFFF"/>
                </a:highlight>
                <a:latin typeface="Courier New"/>
                <a:ea typeface="Courier New"/>
                <a:cs typeface="Courier New"/>
                <a:sym typeface="Courier New"/>
              </a:rPr>
              <a:t>np.random.seed(</a:t>
            </a:r>
            <a:r>
              <a:rPr lang="en" sz="1050">
                <a:solidFill>
                  <a:srgbClr val="B76B01"/>
                </a:solidFill>
                <a:highlight>
                  <a:srgbClr val="FFFFFF"/>
                </a:highlight>
                <a:latin typeface="Courier New"/>
                <a:ea typeface="Courier New"/>
                <a:cs typeface="Courier New"/>
                <a:sym typeface="Courier New"/>
              </a:rPr>
              <a:t>42</a:t>
            </a:r>
            <a:r>
              <a:rPr lang="en" sz="1050">
                <a:solidFill>
                  <a:srgbClr val="383A42"/>
                </a:solidFill>
                <a:highlight>
                  <a:srgbClr val="FFFFFF"/>
                </a:highlight>
                <a:latin typeface="Courier New"/>
                <a:ea typeface="Courier New"/>
                <a:cs typeface="Courier New"/>
                <a:sym typeface="Courier New"/>
              </a:rPr>
              <a:t>)  </a:t>
            </a:r>
            <a:r>
              <a:rPr i="1" lang="en" sz="1050">
                <a:solidFill>
                  <a:srgbClr val="A0A1A7"/>
                </a:solidFill>
                <a:highlight>
                  <a:srgbClr val="FFFFFF"/>
                </a:highlight>
                <a:latin typeface="Courier New"/>
                <a:ea typeface="Courier New"/>
                <a:cs typeface="Courier New"/>
                <a:sym typeface="Courier New"/>
              </a:rPr>
              <a:t># For reproducible results</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383A42"/>
                </a:solidFill>
                <a:highlight>
                  <a:srgbClr val="FFFFFF"/>
                </a:highlight>
                <a:latin typeface="Courier New"/>
                <a:ea typeface="Courier New"/>
                <a:cs typeface="Courier New"/>
                <a:sym typeface="Courier New"/>
              </a:rPr>
              <a:t>x </a:t>
            </a:r>
            <a:r>
              <a:rPr lang="en" sz="1050">
                <a:solidFill>
                  <a:srgbClr val="4078F2"/>
                </a:solidFill>
                <a:highlight>
                  <a:srgbClr val="FFFFFF"/>
                </a:highlight>
                <a:latin typeface="Courier New"/>
                <a:ea typeface="Courier New"/>
                <a:cs typeface="Courier New"/>
                <a:sym typeface="Courier New"/>
              </a:rPr>
              <a:t>=</a:t>
            </a:r>
            <a:r>
              <a:rPr lang="en" sz="1050">
                <a:solidFill>
                  <a:srgbClr val="383A42"/>
                </a:solidFill>
                <a:highlight>
                  <a:srgbClr val="FFFFFF"/>
                </a:highlight>
                <a:latin typeface="Courier New"/>
                <a:ea typeface="Courier New"/>
                <a:cs typeface="Courier New"/>
                <a:sym typeface="Courier New"/>
              </a:rPr>
              <a:t> np.linspace(</a:t>
            </a:r>
            <a:r>
              <a:rPr lang="en" sz="1050">
                <a:solidFill>
                  <a:srgbClr val="B76B01"/>
                </a:solidFill>
                <a:highlight>
                  <a:srgbClr val="FFFFFF"/>
                </a:highlight>
                <a:latin typeface="Courier New"/>
                <a:ea typeface="Courier New"/>
                <a:cs typeface="Courier New"/>
                <a:sym typeface="Courier New"/>
              </a:rPr>
              <a:t>0</a:t>
            </a:r>
            <a:r>
              <a:rPr lang="en" sz="1050">
                <a:solidFill>
                  <a:srgbClr val="383A42"/>
                </a:solidFill>
                <a:highlight>
                  <a:srgbClr val="FFFFFF"/>
                </a:highlight>
                <a:latin typeface="Courier New"/>
                <a:ea typeface="Courier New"/>
                <a:cs typeface="Courier New"/>
                <a:sym typeface="Courier New"/>
              </a:rPr>
              <a:t>, </a:t>
            </a:r>
            <a:r>
              <a:rPr lang="en" sz="1050">
                <a:solidFill>
                  <a:srgbClr val="B76B01"/>
                </a:solidFill>
                <a:highlight>
                  <a:srgbClr val="FFFFFF"/>
                </a:highlight>
                <a:latin typeface="Courier New"/>
                <a:ea typeface="Courier New"/>
                <a:cs typeface="Courier New"/>
                <a:sym typeface="Courier New"/>
              </a:rPr>
              <a:t>10</a:t>
            </a:r>
            <a:r>
              <a:rPr lang="en" sz="1050">
                <a:solidFill>
                  <a:srgbClr val="383A42"/>
                </a:solidFill>
                <a:highlight>
                  <a:srgbClr val="FFFFFF"/>
                </a:highlight>
                <a:latin typeface="Courier New"/>
                <a:ea typeface="Courier New"/>
                <a:cs typeface="Courier New"/>
                <a:sym typeface="Courier New"/>
              </a:rPr>
              <a:t>, </a:t>
            </a:r>
            <a:r>
              <a:rPr lang="en" sz="1050">
                <a:solidFill>
                  <a:srgbClr val="B76B01"/>
                </a:solidFill>
                <a:highlight>
                  <a:srgbClr val="FFFFFF"/>
                </a:highlight>
                <a:latin typeface="Courier New"/>
                <a:ea typeface="Courier New"/>
                <a:cs typeface="Courier New"/>
                <a:sym typeface="Courier New"/>
              </a:rPr>
              <a:t>100</a:t>
            </a:r>
            <a:r>
              <a:rPr lang="en" sz="1050">
                <a:solidFill>
                  <a:srgbClr val="383A42"/>
                </a:solidFill>
                <a:highlight>
                  <a:srgbClr val="FFFFFF"/>
                </a:highlight>
                <a:latin typeface="Courier New"/>
                <a:ea typeface="Courier New"/>
                <a:cs typeface="Courier New"/>
                <a:sym typeface="Courier New"/>
              </a:rPr>
              <a:t>)</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383A42"/>
                </a:solidFill>
                <a:highlight>
                  <a:srgbClr val="FFFFFF"/>
                </a:highlight>
                <a:latin typeface="Courier New"/>
                <a:ea typeface="Courier New"/>
                <a:cs typeface="Courier New"/>
                <a:sym typeface="Courier New"/>
              </a:rPr>
              <a:t>y </a:t>
            </a:r>
            <a:r>
              <a:rPr lang="en" sz="1050">
                <a:solidFill>
                  <a:srgbClr val="4078F2"/>
                </a:solidFill>
                <a:highlight>
                  <a:srgbClr val="FFFFFF"/>
                </a:highlight>
                <a:latin typeface="Courier New"/>
                <a:ea typeface="Courier New"/>
                <a:cs typeface="Courier New"/>
                <a:sym typeface="Courier New"/>
              </a:rPr>
              <a:t>=</a:t>
            </a:r>
            <a:r>
              <a:rPr lang="en" sz="1050">
                <a:solidFill>
                  <a:srgbClr val="383A42"/>
                </a:solidFill>
                <a:highlight>
                  <a:srgbClr val="FFFFFF"/>
                </a:highlight>
                <a:latin typeface="Courier New"/>
                <a:ea typeface="Courier New"/>
                <a:cs typeface="Courier New"/>
                <a:sym typeface="Courier New"/>
              </a:rPr>
              <a:t> </a:t>
            </a:r>
            <a:r>
              <a:rPr lang="en" sz="1050">
                <a:solidFill>
                  <a:srgbClr val="B76B01"/>
                </a:solidFill>
                <a:highlight>
                  <a:srgbClr val="FFFFFF"/>
                </a:highlight>
                <a:latin typeface="Courier New"/>
                <a:ea typeface="Courier New"/>
                <a:cs typeface="Courier New"/>
                <a:sym typeface="Courier New"/>
              </a:rPr>
              <a:t>2</a:t>
            </a:r>
            <a:r>
              <a:rPr lang="en" sz="1050">
                <a:solidFill>
                  <a:srgbClr val="383A42"/>
                </a:solidFill>
                <a:highlight>
                  <a:srgbClr val="FFFFFF"/>
                </a:highlight>
                <a:latin typeface="Courier New"/>
                <a:ea typeface="Courier New"/>
                <a:cs typeface="Courier New"/>
                <a:sym typeface="Courier New"/>
              </a:rPr>
              <a:t> </a:t>
            </a:r>
            <a:r>
              <a:rPr lang="en" sz="1050">
                <a:solidFill>
                  <a:srgbClr val="4078F2"/>
                </a:solidFill>
                <a:highlight>
                  <a:srgbClr val="FFFFFF"/>
                </a:highlight>
                <a:latin typeface="Courier New"/>
                <a:ea typeface="Courier New"/>
                <a:cs typeface="Courier New"/>
                <a:sym typeface="Courier New"/>
              </a:rPr>
              <a:t>*</a:t>
            </a:r>
            <a:r>
              <a:rPr lang="en" sz="1050">
                <a:solidFill>
                  <a:srgbClr val="383A42"/>
                </a:solidFill>
                <a:highlight>
                  <a:srgbClr val="FFFFFF"/>
                </a:highlight>
                <a:latin typeface="Courier New"/>
                <a:ea typeface="Courier New"/>
                <a:cs typeface="Courier New"/>
                <a:sym typeface="Courier New"/>
              </a:rPr>
              <a:t> x </a:t>
            </a:r>
            <a:r>
              <a:rPr lang="en" sz="1050">
                <a:solidFill>
                  <a:srgbClr val="4078F2"/>
                </a:solidFill>
                <a:highlight>
                  <a:srgbClr val="FFFFFF"/>
                </a:highlight>
                <a:latin typeface="Courier New"/>
                <a:ea typeface="Courier New"/>
                <a:cs typeface="Courier New"/>
                <a:sym typeface="Courier New"/>
              </a:rPr>
              <a:t>+</a:t>
            </a:r>
            <a:r>
              <a:rPr lang="en" sz="1050">
                <a:solidFill>
                  <a:srgbClr val="383A42"/>
                </a:solidFill>
                <a:highlight>
                  <a:srgbClr val="FFFFFF"/>
                </a:highlight>
                <a:latin typeface="Courier New"/>
                <a:ea typeface="Courier New"/>
                <a:cs typeface="Courier New"/>
                <a:sym typeface="Courier New"/>
              </a:rPr>
              <a:t> </a:t>
            </a:r>
            <a:r>
              <a:rPr lang="en" sz="1050">
                <a:solidFill>
                  <a:srgbClr val="B76B01"/>
                </a:solidFill>
                <a:highlight>
                  <a:srgbClr val="FFFFFF"/>
                </a:highlight>
                <a:latin typeface="Courier New"/>
                <a:ea typeface="Courier New"/>
                <a:cs typeface="Courier New"/>
                <a:sym typeface="Courier New"/>
              </a:rPr>
              <a:t>1</a:t>
            </a:r>
            <a:r>
              <a:rPr lang="en" sz="1050">
                <a:solidFill>
                  <a:srgbClr val="383A42"/>
                </a:solidFill>
                <a:highlight>
                  <a:srgbClr val="FFFFFF"/>
                </a:highlight>
                <a:latin typeface="Courier New"/>
                <a:ea typeface="Courier New"/>
                <a:cs typeface="Courier New"/>
                <a:sym typeface="Courier New"/>
              </a:rPr>
              <a:t> </a:t>
            </a:r>
            <a:r>
              <a:rPr lang="en" sz="1050">
                <a:solidFill>
                  <a:srgbClr val="4078F2"/>
                </a:solidFill>
                <a:highlight>
                  <a:srgbClr val="FFFFFF"/>
                </a:highlight>
                <a:latin typeface="Courier New"/>
                <a:ea typeface="Courier New"/>
                <a:cs typeface="Courier New"/>
                <a:sym typeface="Courier New"/>
              </a:rPr>
              <a:t>+</a:t>
            </a:r>
            <a:r>
              <a:rPr lang="en" sz="1050">
                <a:solidFill>
                  <a:srgbClr val="383A42"/>
                </a:solidFill>
                <a:highlight>
                  <a:srgbClr val="FFFFFF"/>
                </a:highlight>
                <a:latin typeface="Courier New"/>
                <a:ea typeface="Courier New"/>
                <a:cs typeface="Courier New"/>
                <a:sym typeface="Courier New"/>
              </a:rPr>
              <a:t> np.random.normal(</a:t>
            </a:r>
            <a:r>
              <a:rPr lang="en" sz="1050">
                <a:solidFill>
                  <a:srgbClr val="B76B01"/>
                </a:solidFill>
                <a:highlight>
                  <a:srgbClr val="FFFFFF"/>
                </a:highlight>
                <a:latin typeface="Courier New"/>
                <a:ea typeface="Courier New"/>
                <a:cs typeface="Courier New"/>
                <a:sym typeface="Courier New"/>
              </a:rPr>
              <a:t>0</a:t>
            </a:r>
            <a:r>
              <a:rPr lang="en" sz="1050">
                <a:solidFill>
                  <a:srgbClr val="383A42"/>
                </a:solidFill>
                <a:highlight>
                  <a:srgbClr val="FFFFFF"/>
                </a:highlight>
                <a:latin typeface="Courier New"/>
                <a:ea typeface="Courier New"/>
                <a:cs typeface="Courier New"/>
                <a:sym typeface="Courier New"/>
              </a:rPr>
              <a:t>, </a:t>
            </a:r>
            <a:r>
              <a:rPr lang="en" sz="1050">
                <a:solidFill>
                  <a:srgbClr val="B76B01"/>
                </a:solidFill>
                <a:highlight>
                  <a:srgbClr val="FFFFFF"/>
                </a:highlight>
                <a:latin typeface="Courier New"/>
                <a:ea typeface="Courier New"/>
                <a:cs typeface="Courier New"/>
                <a:sym typeface="Courier New"/>
              </a:rPr>
              <a:t>1</a:t>
            </a:r>
            <a:r>
              <a:rPr lang="en" sz="1050">
                <a:solidFill>
                  <a:srgbClr val="383A42"/>
                </a:solidFill>
                <a:highlight>
                  <a:srgbClr val="FFFFFF"/>
                </a:highlight>
                <a:latin typeface="Courier New"/>
                <a:ea typeface="Courier New"/>
                <a:cs typeface="Courier New"/>
                <a:sym typeface="Courier New"/>
              </a:rPr>
              <a:t>, </a:t>
            </a:r>
            <a:r>
              <a:rPr lang="en" sz="1050">
                <a:solidFill>
                  <a:srgbClr val="B76B01"/>
                </a:solidFill>
                <a:highlight>
                  <a:srgbClr val="FFFFFF"/>
                </a:highlight>
                <a:latin typeface="Courier New"/>
                <a:ea typeface="Courier New"/>
                <a:cs typeface="Courier New"/>
                <a:sym typeface="Courier New"/>
              </a:rPr>
              <a:t>100</a:t>
            </a:r>
            <a:r>
              <a:rPr lang="en" sz="1050">
                <a:solidFill>
                  <a:srgbClr val="383A42"/>
                </a:solidFill>
                <a:highlight>
                  <a:srgbClr val="FFFFFF"/>
                </a:highlight>
                <a:latin typeface="Courier New"/>
                <a:ea typeface="Courier New"/>
                <a:cs typeface="Courier New"/>
                <a:sym typeface="Courier New"/>
              </a:rPr>
              <a:t>)</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A626A4"/>
                </a:solidFill>
                <a:highlight>
                  <a:srgbClr val="FFFFFF"/>
                </a:highlight>
                <a:latin typeface="Courier New"/>
                <a:ea typeface="Courier New"/>
                <a:cs typeface="Courier New"/>
                <a:sym typeface="Courier New"/>
              </a:rPr>
              <a:t>print</a:t>
            </a:r>
            <a:r>
              <a:rPr lang="en" sz="1050">
                <a:solidFill>
                  <a:srgbClr val="383A42"/>
                </a:solidFill>
                <a:highlight>
                  <a:srgbClr val="FFFFFF"/>
                </a:highlight>
                <a:latin typeface="Courier New"/>
                <a:ea typeface="Courier New"/>
                <a:cs typeface="Courier New"/>
                <a:sym typeface="Courier New"/>
              </a:rPr>
              <a:t>(</a:t>
            </a:r>
            <a:r>
              <a:rPr lang="en" sz="1050">
                <a:solidFill>
                  <a:srgbClr val="50A14F"/>
                </a:solidFill>
                <a:highlight>
                  <a:srgbClr val="FFFFFF"/>
                </a:highlight>
                <a:latin typeface="Courier New"/>
                <a:ea typeface="Courier New"/>
                <a:cs typeface="Courier New"/>
                <a:sym typeface="Courier New"/>
              </a:rPr>
              <a:t>"Sample data created:"</a:t>
            </a:r>
            <a:r>
              <a:rPr lang="en" sz="1050">
                <a:solidFill>
                  <a:srgbClr val="383A42"/>
                </a:solidFill>
                <a:highlight>
                  <a:srgbClr val="FFFFFF"/>
                </a:highlight>
                <a:latin typeface="Courier New"/>
                <a:ea typeface="Courier New"/>
                <a:cs typeface="Courier New"/>
                <a:sym typeface="Courier New"/>
              </a:rPr>
              <a:t>)</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A626A4"/>
                </a:solidFill>
                <a:highlight>
                  <a:srgbClr val="FFFFFF"/>
                </a:highlight>
                <a:latin typeface="Courier New"/>
                <a:ea typeface="Courier New"/>
                <a:cs typeface="Courier New"/>
                <a:sym typeface="Courier New"/>
              </a:rPr>
              <a:t>print</a:t>
            </a:r>
            <a:r>
              <a:rPr lang="en" sz="1050">
                <a:solidFill>
                  <a:srgbClr val="383A42"/>
                </a:solidFill>
                <a:highlight>
                  <a:srgbClr val="FFFFFF"/>
                </a:highlight>
                <a:latin typeface="Courier New"/>
                <a:ea typeface="Courier New"/>
                <a:cs typeface="Courier New"/>
                <a:sym typeface="Courier New"/>
              </a:rPr>
              <a:t>(</a:t>
            </a:r>
            <a:r>
              <a:rPr lang="en" sz="1050">
                <a:solidFill>
                  <a:srgbClr val="50A14F"/>
                </a:solidFill>
                <a:highlight>
                  <a:srgbClr val="FFFFFF"/>
                </a:highlight>
                <a:latin typeface="Courier New"/>
                <a:ea typeface="Courier New"/>
                <a:cs typeface="Courier New"/>
                <a:sym typeface="Courier New"/>
              </a:rPr>
              <a:t>f"X range: </a:t>
            </a:r>
            <a:r>
              <a:rPr lang="en" sz="1050">
                <a:solidFill>
                  <a:srgbClr val="383A42"/>
                </a:solidFill>
                <a:highlight>
                  <a:srgbClr val="FFFFFF"/>
                </a:highlight>
                <a:latin typeface="Courier New"/>
                <a:ea typeface="Courier New"/>
                <a:cs typeface="Courier New"/>
                <a:sym typeface="Courier New"/>
              </a:rPr>
              <a:t>{x.</a:t>
            </a:r>
            <a:r>
              <a:rPr lang="en" sz="1050">
                <a:solidFill>
                  <a:srgbClr val="50A14F"/>
                </a:solidFill>
                <a:highlight>
                  <a:srgbClr val="FFFFFF"/>
                </a:highlight>
                <a:latin typeface="Courier New"/>
                <a:ea typeface="Courier New"/>
                <a:cs typeface="Courier New"/>
                <a:sym typeface="Courier New"/>
              </a:rPr>
              <a:t>min</a:t>
            </a:r>
            <a:r>
              <a:rPr lang="en" sz="1050">
                <a:solidFill>
                  <a:srgbClr val="383A42"/>
                </a:solidFill>
                <a:highlight>
                  <a:srgbClr val="FFFFFF"/>
                </a:highlight>
                <a:latin typeface="Courier New"/>
                <a:ea typeface="Courier New"/>
                <a:cs typeface="Courier New"/>
                <a:sym typeface="Courier New"/>
              </a:rPr>
              <a:t>():.2f}</a:t>
            </a:r>
            <a:r>
              <a:rPr lang="en" sz="1050">
                <a:solidFill>
                  <a:srgbClr val="50A14F"/>
                </a:solidFill>
                <a:highlight>
                  <a:srgbClr val="FFFFFF"/>
                </a:highlight>
                <a:latin typeface="Courier New"/>
                <a:ea typeface="Courier New"/>
                <a:cs typeface="Courier New"/>
                <a:sym typeface="Courier New"/>
              </a:rPr>
              <a:t> to </a:t>
            </a:r>
            <a:r>
              <a:rPr lang="en" sz="1050">
                <a:solidFill>
                  <a:srgbClr val="383A42"/>
                </a:solidFill>
                <a:highlight>
                  <a:srgbClr val="FFFFFF"/>
                </a:highlight>
                <a:latin typeface="Courier New"/>
                <a:ea typeface="Courier New"/>
                <a:cs typeface="Courier New"/>
                <a:sym typeface="Courier New"/>
              </a:rPr>
              <a:t>{x.</a:t>
            </a:r>
            <a:r>
              <a:rPr lang="en" sz="1050">
                <a:solidFill>
                  <a:srgbClr val="50A14F"/>
                </a:solidFill>
                <a:highlight>
                  <a:srgbClr val="FFFFFF"/>
                </a:highlight>
                <a:latin typeface="Courier New"/>
                <a:ea typeface="Courier New"/>
                <a:cs typeface="Courier New"/>
                <a:sym typeface="Courier New"/>
              </a:rPr>
              <a:t>max</a:t>
            </a:r>
            <a:r>
              <a:rPr lang="en" sz="1050">
                <a:solidFill>
                  <a:srgbClr val="383A42"/>
                </a:solidFill>
                <a:highlight>
                  <a:srgbClr val="FFFFFF"/>
                </a:highlight>
                <a:latin typeface="Courier New"/>
                <a:ea typeface="Courier New"/>
                <a:cs typeface="Courier New"/>
                <a:sym typeface="Courier New"/>
              </a:rPr>
              <a:t>():.2f}</a:t>
            </a:r>
            <a:r>
              <a:rPr lang="en" sz="1050">
                <a:solidFill>
                  <a:srgbClr val="50A14F"/>
                </a:solidFill>
                <a:highlight>
                  <a:srgbClr val="FFFFFF"/>
                </a:highlight>
                <a:latin typeface="Courier New"/>
                <a:ea typeface="Courier New"/>
                <a:cs typeface="Courier New"/>
                <a:sym typeface="Courier New"/>
              </a:rPr>
              <a:t>"</a:t>
            </a:r>
            <a:r>
              <a:rPr lang="en" sz="1050">
                <a:solidFill>
                  <a:srgbClr val="383A42"/>
                </a:solidFill>
                <a:highlight>
                  <a:srgbClr val="FFFFFF"/>
                </a:highlight>
                <a:latin typeface="Courier New"/>
                <a:ea typeface="Courier New"/>
                <a:cs typeface="Courier New"/>
                <a:sym typeface="Courier New"/>
              </a:rPr>
              <a:t>)</a:t>
            </a:r>
            <a:endParaRPr sz="1050">
              <a:solidFill>
                <a:srgbClr val="383A42"/>
              </a:solidFill>
              <a:highlight>
                <a:srgbClr val="FFFFFF"/>
              </a:highlight>
              <a:latin typeface="Courier New"/>
              <a:ea typeface="Courier New"/>
              <a:cs typeface="Courier New"/>
              <a:sym typeface="Courier New"/>
            </a:endParaRPr>
          </a:p>
          <a:p>
            <a:pPr indent="0" lvl="0" marL="0" rtl="0" algn="l">
              <a:spcBef>
                <a:spcPts val="1200"/>
              </a:spcBef>
              <a:spcAft>
                <a:spcPts val="1200"/>
              </a:spcAft>
              <a:buNone/>
            </a:pPr>
            <a:r>
              <a:rPr lang="en" sz="1050">
                <a:solidFill>
                  <a:srgbClr val="A626A4"/>
                </a:solidFill>
                <a:highlight>
                  <a:srgbClr val="FFFFFF"/>
                </a:highlight>
                <a:latin typeface="Courier New"/>
                <a:ea typeface="Courier New"/>
                <a:cs typeface="Courier New"/>
                <a:sym typeface="Courier New"/>
              </a:rPr>
              <a:t>print</a:t>
            </a:r>
            <a:r>
              <a:rPr lang="en" sz="1050">
                <a:solidFill>
                  <a:srgbClr val="383A42"/>
                </a:solidFill>
                <a:highlight>
                  <a:srgbClr val="FFFFFF"/>
                </a:highlight>
                <a:latin typeface="Courier New"/>
                <a:ea typeface="Courier New"/>
                <a:cs typeface="Courier New"/>
                <a:sym typeface="Courier New"/>
              </a:rPr>
              <a:t>(</a:t>
            </a:r>
            <a:r>
              <a:rPr lang="en" sz="1050">
                <a:solidFill>
                  <a:srgbClr val="50A14F"/>
                </a:solidFill>
                <a:highlight>
                  <a:srgbClr val="FFFFFF"/>
                </a:highlight>
                <a:latin typeface="Courier New"/>
                <a:ea typeface="Courier New"/>
                <a:cs typeface="Courier New"/>
                <a:sym typeface="Courier New"/>
              </a:rPr>
              <a:t>f"Y range: </a:t>
            </a:r>
            <a:r>
              <a:rPr lang="en" sz="1050">
                <a:solidFill>
                  <a:srgbClr val="383A42"/>
                </a:solidFill>
                <a:highlight>
                  <a:srgbClr val="FFFFFF"/>
                </a:highlight>
                <a:latin typeface="Courier New"/>
                <a:ea typeface="Courier New"/>
                <a:cs typeface="Courier New"/>
                <a:sym typeface="Courier New"/>
              </a:rPr>
              <a:t>{y.</a:t>
            </a:r>
            <a:r>
              <a:rPr lang="en" sz="1050">
                <a:solidFill>
                  <a:srgbClr val="50A14F"/>
                </a:solidFill>
                <a:highlight>
                  <a:srgbClr val="FFFFFF"/>
                </a:highlight>
                <a:latin typeface="Courier New"/>
                <a:ea typeface="Courier New"/>
                <a:cs typeface="Courier New"/>
                <a:sym typeface="Courier New"/>
              </a:rPr>
              <a:t>min</a:t>
            </a:r>
            <a:r>
              <a:rPr lang="en" sz="1050">
                <a:solidFill>
                  <a:srgbClr val="383A42"/>
                </a:solidFill>
                <a:highlight>
                  <a:srgbClr val="FFFFFF"/>
                </a:highlight>
                <a:latin typeface="Courier New"/>
                <a:ea typeface="Courier New"/>
                <a:cs typeface="Courier New"/>
                <a:sym typeface="Courier New"/>
              </a:rPr>
              <a:t>():.2f}</a:t>
            </a:r>
            <a:r>
              <a:rPr lang="en" sz="1050">
                <a:solidFill>
                  <a:srgbClr val="50A14F"/>
                </a:solidFill>
                <a:highlight>
                  <a:srgbClr val="FFFFFF"/>
                </a:highlight>
                <a:latin typeface="Courier New"/>
                <a:ea typeface="Courier New"/>
                <a:cs typeface="Courier New"/>
                <a:sym typeface="Courier New"/>
              </a:rPr>
              <a:t> to </a:t>
            </a:r>
            <a:r>
              <a:rPr lang="en" sz="1050">
                <a:solidFill>
                  <a:srgbClr val="383A42"/>
                </a:solidFill>
                <a:highlight>
                  <a:srgbClr val="FFFFFF"/>
                </a:highlight>
                <a:latin typeface="Courier New"/>
                <a:ea typeface="Courier New"/>
                <a:cs typeface="Courier New"/>
                <a:sym typeface="Courier New"/>
              </a:rPr>
              <a:t>{y.</a:t>
            </a:r>
            <a:r>
              <a:rPr lang="en" sz="1050">
                <a:solidFill>
                  <a:srgbClr val="50A14F"/>
                </a:solidFill>
                <a:highlight>
                  <a:srgbClr val="FFFFFF"/>
                </a:highlight>
                <a:latin typeface="Courier New"/>
                <a:ea typeface="Courier New"/>
                <a:cs typeface="Courier New"/>
                <a:sym typeface="Courier New"/>
              </a:rPr>
              <a:t>max</a:t>
            </a:r>
            <a:r>
              <a:rPr lang="en" sz="1050">
                <a:solidFill>
                  <a:srgbClr val="383A42"/>
                </a:solidFill>
                <a:highlight>
                  <a:srgbClr val="FFFFFF"/>
                </a:highlight>
                <a:latin typeface="Courier New"/>
                <a:ea typeface="Courier New"/>
                <a:cs typeface="Courier New"/>
                <a:sym typeface="Courier New"/>
              </a:rPr>
              <a:t>():.2f}</a:t>
            </a:r>
            <a:r>
              <a:rPr lang="en" sz="1050">
                <a:solidFill>
                  <a:srgbClr val="50A14F"/>
                </a:solidFill>
                <a:highlight>
                  <a:srgbClr val="FFFFFF"/>
                </a:highlight>
                <a:latin typeface="Courier New"/>
                <a:ea typeface="Courier New"/>
                <a:cs typeface="Courier New"/>
                <a:sym typeface="Courier New"/>
              </a:rPr>
              <a:t>"</a:t>
            </a:r>
            <a:r>
              <a:rPr lang="en" sz="1050">
                <a:solidFill>
                  <a:srgbClr val="383A42"/>
                </a:solidFill>
                <a:highlight>
                  <a:srgbClr val="FFFFFF"/>
                </a:highlight>
                <a:latin typeface="Courier New"/>
                <a:ea typeface="Courier New"/>
                <a:cs typeface="Courier New"/>
                <a:sym typeface="Courier New"/>
              </a:rPr>
              <a:t>)</a:t>
            </a:r>
            <a:endParaRPr sz="900">
              <a:solidFill>
                <a:srgbClr val="008000"/>
              </a:solidFill>
              <a:highlight>
                <a:srgbClr val="F7F7F7"/>
              </a:highlight>
              <a:latin typeface="Courier New"/>
              <a:ea typeface="Courier New"/>
              <a:cs typeface="Courier New"/>
              <a:sym typeface="Courier New"/>
            </a:endParaRPr>
          </a:p>
        </p:txBody>
      </p:sp>
      <p:sp>
        <p:nvSpPr>
          <p:cNvPr id="87" name="Google Shape;87;p17"/>
          <p:cNvSpPr txBox="1"/>
          <p:nvPr/>
        </p:nvSpPr>
        <p:spPr>
          <a:xfrm>
            <a:off x="4818525" y="2525875"/>
            <a:ext cx="3000000" cy="6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1F1F1F"/>
                </a:solidFill>
                <a:highlight>
                  <a:srgbClr val="FFFFFF"/>
                </a:highlight>
                <a:latin typeface="Courier New"/>
                <a:ea typeface="Courier New"/>
                <a:cs typeface="Courier New"/>
                <a:sym typeface="Courier New"/>
              </a:rPr>
              <a:t>Sample data created:</a:t>
            </a:r>
            <a:endParaRPr sz="1050">
              <a:solidFill>
                <a:srgbClr val="1F1F1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050">
                <a:solidFill>
                  <a:srgbClr val="1F1F1F"/>
                </a:solidFill>
                <a:highlight>
                  <a:srgbClr val="FFFFFF"/>
                </a:highlight>
                <a:latin typeface="Courier New"/>
                <a:ea typeface="Courier New"/>
                <a:cs typeface="Courier New"/>
                <a:sym typeface="Courier New"/>
              </a:rPr>
              <a:t>X range: 0.00 to 10.00</a:t>
            </a:r>
            <a:endParaRPr sz="1050">
              <a:solidFill>
                <a:srgbClr val="1F1F1F"/>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050">
                <a:solidFill>
                  <a:srgbClr val="1F1F1F"/>
                </a:solidFill>
                <a:highlight>
                  <a:srgbClr val="FFFFFF"/>
                </a:highlight>
                <a:latin typeface="Courier New"/>
                <a:ea typeface="Courier New"/>
                <a:cs typeface="Courier New"/>
                <a:sym typeface="Courier New"/>
              </a:rPr>
              <a:t>Y range: 1.06 to 20.86</a:t>
            </a:r>
            <a:endParaRPr/>
          </a:p>
        </p:txBody>
      </p:sp>
      <p:sp>
        <p:nvSpPr>
          <p:cNvPr id="88" name="Google Shape;8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94" name="Google Shape;94;p18"/>
          <p:cNvPicPr preferRelativeResize="0"/>
          <p:nvPr/>
        </p:nvPicPr>
        <p:blipFill>
          <a:blip r:embed="rId3">
            <a:alphaModFix/>
          </a:blip>
          <a:stretch>
            <a:fillRect/>
          </a:stretch>
        </p:blipFill>
        <p:spPr>
          <a:xfrm>
            <a:off x="152400" y="1178137"/>
            <a:ext cx="4513725" cy="3442430"/>
          </a:xfrm>
          <a:prstGeom prst="rect">
            <a:avLst/>
          </a:prstGeom>
          <a:noFill/>
          <a:ln>
            <a:noFill/>
          </a:ln>
        </p:spPr>
      </p:pic>
      <p:pic>
        <p:nvPicPr>
          <p:cNvPr id="95" name="Google Shape;95;p18"/>
          <p:cNvPicPr preferRelativeResize="0"/>
          <p:nvPr/>
        </p:nvPicPr>
        <p:blipFill>
          <a:blip r:embed="rId4">
            <a:alphaModFix/>
          </a:blip>
          <a:stretch>
            <a:fillRect/>
          </a:stretch>
        </p:blipFill>
        <p:spPr>
          <a:xfrm>
            <a:off x="4818525" y="1170125"/>
            <a:ext cx="4173074" cy="2641671"/>
          </a:xfrm>
          <a:prstGeom prst="rect">
            <a:avLst/>
          </a:prstGeom>
          <a:noFill/>
          <a:ln>
            <a:noFill/>
          </a:ln>
        </p:spPr>
      </p:pic>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02" name="Google Shape;102;p19"/>
          <p:cNvPicPr preferRelativeResize="0"/>
          <p:nvPr/>
        </p:nvPicPr>
        <p:blipFill>
          <a:blip r:embed="rId3">
            <a:alphaModFix/>
          </a:blip>
          <a:stretch>
            <a:fillRect/>
          </a:stretch>
        </p:blipFill>
        <p:spPr>
          <a:xfrm>
            <a:off x="152400" y="1170125"/>
            <a:ext cx="4513725" cy="3442430"/>
          </a:xfrm>
          <a:prstGeom prst="rect">
            <a:avLst/>
          </a:prstGeom>
          <a:noFill/>
          <a:ln>
            <a:noFill/>
          </a:ln>
        </p:spPr>
      </p:pic>
      <p:pic>
        <p:nvPicPr>
          <p:cNvPr id="103" name="Google Shape;103;p19"/>
          <p:cNvPicPr preferRelativeResize="0"/>
          <p:nvPr/>
        </p:nvPicPr>
        <p:blipFill>
          <a:blip r:embed="rId4">
            <a:alphaModFix/>
          </a:blip>
          <a:stretch>
            <a:fillRect/>
          </a:stretch>
        </p:blipFill>
        <p:spPr>
          <a:xfrm>
            <a:off x="4818525" y="1170125"/>
            <a:ext cx="4173074" cy="2641671"/>
          </a:xfrm>
          <a:prstGeom prst="rect">
            <a:avLst/>
          </a:prstGeom>
          <a:noFill/>
          <a:ln>
            <a:noFill/>
          </a:ln>
        </p:spPr>
      </p:pic>
      <p:pic>
        <p:nvPicPr>
          <p:cNvPr id="104" name="Google Shape;104;p19"/>
          <p:cNvPicPr preferRelativeResize="0"/>
          <p:nvPr/>
        </p:nvPicPr>
        <p:blipFill>
          <a:blip r:embed="rId5">
            <a:alphaModFix/>
          </a:blip>
          <a:stretch>
            <a:fillRect/>
          </a:stretch>
        </p:blipFill>
        <p:spPr>
          <a:xfrm>
            <a:off x="152400" y="369150"/>
            <a:ext cx="8327776" cy="4561875"/>
          </a:xfrm>
          <a:prstGeom prst="rect">
            <a:avLst/>
          </a:prstGeom>
          <a:noFill/>
          <a:ln>
            <a:noFill/>
          </a:ln>
        </p:spPr>
      </p:pic>
      <p:sp>
        <p:nvSpPr>
          <p:cNvPr id="105" name="Google Shape;105;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11" name="Google Shape;111;p20"/>
          <p:cNvPicPr preferRelativeResize="0"/>
          <p:nvPr/>
        </p:nvPicPr>
        <p:blipFill>
          <a:blip r:embed="rId3">
            <a:alphaModFix/>
          </a:blip>
          <a:stretch>
            <a:fillRect/>
          </a:stretch>
        </p:blipFill>
        <p:spPr>
          <a:xfrm>
            <a:off x="152400" y="1178137"/>
            <a:ext cx="3688914" cy="3820975"/>
          </a:xfrm>
          <a:prstGeom prst="rect">
            <a:avLst/>
          </a:prstGeom>
          <a:noFill/>
          <a:ln>
            <a:noFill/>
          </a:ln>
        </p:spPr>
      </p:pic>
      <p:sp>
        <p:nvSpPr>
          <p:cNvPr id="112" name="Google Shape;112;p20"/>
          <p:cNvSpPr txBox="1"/>
          <p:nvPr/>
        </p:nvSpPr>
        <p:spPr>
          <a:xfrm>
            <a:off x="4474800" y="1356175"/>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1F1F1F"/>
                </a:solidFill>
                <a:highlight>
                  <a:srgbClr val="F8FAFD"/>
                </a:highlight>
                <a:latin typeface="DM Sans"/>
                <a:ea typeface="DM Sans"/>
                <a:cs typeface="DM Sans"/>
                <a:sym typeface="DM Sans"/>
              </a:rPr>
              <a:t>The </a:t>
            </a:r>
            <a:r>
              <a:rPr lang="en" sz="1050">
                <a:solidFill>
                  <a:srgbClr val="1F1F1F"/>
                </a:solidFill>
                <a:highlight>
                  <a:srgbClr val="F7F7F7"/>
                </a:highlight>
                <a:latin typeface="DM Sans"/>
                <a:ea typeface="DM Sans"/>
                <a:cs typeface="DM Sans"/>
                <a:sym typeface="DM Sans"/>
              </a:rPr>
              <a:t>penguins</a:t>
            </a:r>
            <a:r>
              <a:rPr lang="en" sz="1050">
                <a:solidFill>
                  <a:srgbClr val="1F1F1F"/>
                </a:solidFill>
                <a:highlight>
                  <a:srgbClr val="F8FAFD"/>
                </a:highlight>
                <a:latin typeface="DM Sans"/>
                <a:ea typeface="DM Sans"/>
                <a:cs typeface="DM Sans"/>
                <a:sym typeface="DM Sans"/>
              </a:rPr>
              <a:t> dataset is a sample dataset included in the </a:t>
            </a:r>
            <a:r>
              <a:rPr lang="en" sz="1050">
                <a:solidFill>
                  <a:srgbClr val="1F1F1F"/>
                </a:solidFill>
                <a:highlight>
                  <a:srgbClr val="F7F7F7"/>
                </a:highlight>
                <a:latin typeface="DM Sans"/>
                <a:ea typeface="DM Sans"/>
                <a:cs typeface="DM Sans"/>
                <a:sym typeface="DM Sans"/>
              </a:rPr>
              <a:t>seaborn</a:t>
            </a:r>
            <a:r>
              <a:rPr lang="en" sz="1050">
                <a:solidFill>
                  <a:srgbClr val="1F1F1F"/>
                </a:solidFill>
                <a:highlight>
                  <a:srgbClr val="F8FAFD"/>
                </a:highlight>
                <a:latin typeface="DM Sans"/>
                <a:ea typeface="DM Sans"/>
                <a:cs typeface="DM Sans"/>
                <a:sym typeface="DM Sans"/>
              </a:rPr>
              <a:t> library. It contains measurements and observations of penguins from the Palmer Archipelago, Antarctica. The data was collected and made available by Dr. Kristen Gorman and the Palmer Station, Antarctica LTER. It's commonly used for data exploration and visualization examples.</a:t>
            </a:r>
            <a:endParaRPr>
              <a:latin typeface="DM Sans"/>
              <a:ea typeface="DM Sans"/>
              <a:cs typeface="DM Sans"/>
              <a:sym typeface="DM Sans"/>
            </a:endParaRPr>
          </a:p>
        </p:txBody>
      </p:sp>
      <p:pic>
        <p:nvPicPr>
          <p:cNvPr id="113" name="Google Shape;113;p20"/>
          <p:cNvPicPr preferRelativeResize="0"/>
          <p:nvPr/>
        </p:nvPicPr>
        <p:blipFill>
          <a:blip r:embed="rId4">
            <a:alphaModFix/>
          </a:blip>
          <a:stretch>
            <a:fillRect/>
          </a:stretch>
        </p:blipFill>
        <p:spPr>
          <a:xfrm>
            <a:off x="4474789" y="2833675"/>
            <a:ext cx="3327489" cy="2005026"/>
          </a:xfrm>
          <a:prstGeom prst="rect">
            <a:avLst/>
          </a:prstGeom>
          <a:noFill/>
          <a:ln>
            <a:noFill/>
          </a:ln>
        </p:spPr>
      </p:pic>
      <p:sp>
        <p:nvSpPr>
          <p:cNvPr id="114" name="Google Shape;114;p20"/>
          <p:cNvSpPr txBox="1"/>
          <p:nvPr/>
        </p:nvSpPr>
        <p:spPr>
          <a:xfrm>
            <a:off x="4802275" y="4838700"/>
            <a:ext cx="300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chemeClr val="dk1"/>
                </a:solidFill>
              </a:rPr>
              <a:t>https://education.rstudio.com/blog/2020/07/palmerpenguins-cran/</a:t>
            </a:r>
            <a:endParaRPr sz="600"/>
          </a:p>
        </p:txBody>
      </p:sp>
      <p:sp>
        <p:nvSpPr>
          <p:cNvPr id="115" name="Google Shape;11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21" name="Google Shape;121;p21"/>
          <p:cNvPicPr preferRelativeResize="0"/>
          <p:nvPr/>
        </p:nvPicPr>
        <p:blipFill>
          <a:blip r:embed="rId3">
            <a:alphaModFix/>
          </a:blip>
          <a:stretch>
            <a:fillRect/>
          </a:stretch>
        </p:blipFill>
        <p:spPr>
          <a:xfrm>
            <a:off x="4408450" y="1101375"/>
            <a:ext cx="4315451" cy="3820976"/>
          </a:xfrm>
          <a:prstGeom prst="rect">
            <a:avLst/>
          </a:prstGeom>
          <a:noFill/>
          <a:ln>
            <a:noFill/>
          </a:ln>
        </p:spPr>
      </p:pic>
      <p:pic>
        <p:nvPicPr>
          <p:cNvPr id="122" name="Google Shape;122;p21"/>
          <p:cNvPicPr preferRelativeResize="0"/>
          <p:nvPr/>
        </p:nvPicPr>
        <p:blipFill>
          <a:blip r:embed="rId4">
            <a:alphaModFix/>
          </a:blip>
          <a:stretch>
            <a:fillRect/>
          </a:stretch>
        </p:blipFill>
        <p:spPr>
          <a:xfrm>
            <a:off x="152400" y="1170125"/>
            <a:ext cx="3688914" cy="3820975"/>
          </a:xfrm>
          <a:prstGeom prst="rect">
            <a:avLst/>
          </a:prstGeom>
          <a:noFill/>
          <a:ln>
            <a:noFill/>
          </a:ln>
        </p:spPr>
      </p:pic>
      <p:sp>
        <p:nvSpPr>
          <p:cNvPr id="123" name="Google Shape;12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29" name="Google Shape;129;p22"/>
          <p:cNvPicPr preferRelativeResize="0"/>
          <p:nvPr/>
        </p:nvPicPr>
        <p:blipFill>
          <a:blip r:embed="rId3">
            <a:alphaModFix/>
          </a:blip>
          <a:stretch>
            <a:fillRect/>
          </a:stretch>
        </p:blipFill>
        <p:spPr>
          <a:xfrm>
            <a:off x="227400" y="495175"/>
            <a:ext cx="3384249" cy="4566625"/>
          </a:xfrm>
          <a:prstGeom prst="rect">
            <a:avLst/>
          </a:prstGeom>
          <a:noFill/>
          <a:ln>
            <a:noFill/>
          </a:ln>
        </p:spPr>
      </p:pic>
      <p:pic>
        <p:nvPicPr>
          <p:cNvPr id="130" name="Google Shape;130;p22"/>
          <p:cNvPicPr preferRelativeResize="0"/>
          <p:nvPr/>
        </p:nvPicPr>
        <p:blipFill>
          <a:blip r:embed="rId4">
            <a:alphaModFix/>
          </a:blip>
          <a:stretch>
            <a:fillRect/>
          </a:stretch>
        </p:blipFill>
        <p:spPr>
          <a:xfrm>
            <a:off x="3336675" y="1486455"/>
            <a:ext cx="5028524" cy="1538275"/>
          </a:xfrm>
          <a:prstGeom prst="rect">
            <a:avLst/>
          </a:prstGeom>
          <a:noFill/>
          <a:ln>
            <a:noFill/>
          </a:ln>
        </p:spPr>
      </p:pic>
      <p:pic>
        <p:nvPicPr>
          <p:cNvPr id="131" name="Google Shape;131;p22"/>
          <p:cNvPicPr preferRelativeResize="0"/>
          <p:nvPr/>
        </p:nvPicPr>
        <p:blipFill>
          <a:blip r:embed="rId5">
            <a:alphaModFix/>
          </a:blip>
          <a:stretch>
            <a:fillRect/>
          </a:stretch>
        </p:blipFill>
        <p:spPr>
          <a:xfrm>
            <a:off x="3386637" y="3120175"/>
            <a:ext cx="4928599" cy="1727175"/>
          </a:xfrm>
          <a:prstGeom prst="rect">
            <a:avLst/>
          </a:prstGeom>
          <a:noFill/>
          <a:ln>
            <a:noFill/>
          </a:ln>
        </p:spPr>
      </p:pic>
      <p:sp>
        <p:nvSpPr>
          <p:cNvPr id="132" name="Google Shape;13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nvSpPr>
        <p:spPr>
          <a:xfrm>
            <a:off x="0" y="0"/>
            <a:ext cx="3000000" cy="48717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rPr lang="en" sz="700">
                <a:solidFill>
                  <a:srgbClr val="008000"/>
                </a:solidFill>
                <a:highlight>
                  <a:srgbClr val="F7F7F7"/>
                </a:highlight>
                <a:latin typeface="Courier New"/>
                <a:ea typeface="Courier New"/>
                <a:cs typeface="Courier New"/>
                <a:sym typeface="Courier New"/>
              </a:rPr>
              <a:t># Cell 6: Data Preparation for Machine Learning</a:t>
            </a:r>
            <a:endParaRPr sz="7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A31515"/>
                </a:solidFill>
                <a:highlight>
                  <a:srgbClr val="F7F7F7"/>
                </a:highlight>
                <a:latin typeface="Courier New"/>
                <a:ea typeface="Courier New"/>
                <a:cs typeface="Courier New"/>
                <a:sym typeface="Courier New"/>
              </a:rPr>
              <a:t>"""</a:t>
            </a:r>
            <a:endParaRPr sz="7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A31515"/>
                </a:solidFill>
                <a:highlight>
                  <a:srgbClr val="F7F7F7"/>
                </a:highlight>
                <a:latin typeface="Courier New"/>
                <a:ea typeface="Courier New"/>
                <a:cs typeface="Courier New"/>
                <a:sym typeface="Courier New"/>
              </a:rPr>
              <a:t>SCIKIT-LEARN - Data Preparation</a:t>
            </a:r>
            <a:endParaRPr sz="7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A31515"/>
                </a:solidFill>
                <a:highlight>
                  <a:srgbClr val="F7F7F7"/>
                </a:highlight>
                <a:latin typeface="Courier New"/>
                <a:ea typeface="Courier New"/>
                <a:cs typeface="Courier New"/>
                <a:sym typeface="Courier New"/>
              </a:rPr>
              <a:t>"""</a:t>
            </a:r>
            <a:endParaRPr sz="7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6A5221"/>
                </a:solidFill>
                <a:highlight>
                  <a:srgbClr val="F7F7F7"/>
                </a:highlight>
                <a:latin typeface="Courier New"/>
                <a:ea typeface="Courier New"/>
                <a:cs typeface="Courier New"/>
                <a:sym typeface="Courier New"/>
              </a:rPr>
              <a:t>print</a:t>
            </a:r>
            <a:r>
              <a:rPr lang="en" sz="700">
                <a:solidFill>
                  <a:schemeClr val="dk1"/>
                </a:solidFill>
                <a:highlight>
                  <a:srgbClr val="F7F7F7"/>
                </a:highlight>
                <a:latin typeface="Courier New"/>
                <a:ea typeface="Courier New"/>
                <a:cs typeface="Courier New"/>
                <a:sym typeface="Courier New"/>
              </a:rPr>
              <a:t>(</a:t>
            </a:r>
            <a:r>
              <a:rPr lang="en" sz="700">
                <a:solidFill>
                  <a:srgbClr val="A31515"/>
                </a:solidFill>
                <a:highlight>
                  <a:srgbClr val="F7F7F7"/>
                </a:highlight>
                <a:latin typeface="Courier New"/>
                <a:ea typeface="Courier New"/>
                <a:cs typeface="Courier New"/>
                <a:sym typeface="Courier New"/>
              </a:rPr>
              <a:t>"=== DATA PREPARATION ==="</a:t>
            </a:r>
            <a:r>
              <a:rPr lang="en" sz="700">
                <a:solidFill>
                  <a:schemeClr val="dk1"/>
                </a:solidFill>
                <a:highlight>
                  <a:srgbClr val="F7F7F7"/>
                </a:highlight>
                <a:latin typeface="Courier New"/>
                <a:ea typeface="Courier New"/>
                <a:cs typeface="Courier New"/>
                <a:sym typeface="Courier New"/>
              </a:rPr>
              <a:t>)</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008000"/>
                </a:solidFill>
                <a:highlight>
                  <a:srgbClr val="F7F7F7"/>
                </a:highlight>
                <a:latin typeface="Courier New"/>
                <a:ea typeface="Courier New"/>
                <a:cs typeface="Courier New"/>
                <a:sym typeface="Courier New"/>
              </a:rPr>
              <a:t># Remove rows with missing values</a:t>
            </a:r>
            <a:endParaRPr sz="7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chemeClr val="dk1"/>
                </a:solidFill>
                <a:highlight>
                  <a:srgbClr val="F7F7F7"/>
                </a:highlight>
                <a:latin typeface="Courier New"/>
                <a:ea typeface="Courier New"/>
                <a:cs typeface="Courier New"/>
                <a:sym typeface="Courier New"/>
              </a:rPr>
              <a:t>penguins_clean = penguins.dropna()</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6A5221"/>
                </a:solidFill>
                <a:highlight>
                  <a:srgbClr val="F7F7F7"/>
                </a:highlight>
                <a:latin typeface="Courier New"/>
                <a:ea typeface="Courier New"/>
                <a:cs typeface="Courier New"/>
                <a:sym typeface="Courier New"/>
              </a:rPr>
              <a:t>print</a:t>
            </a:r>
            <a:r>
              <a:rPr lang="en" sz="700">
                <a:solidFill>
                  <a:schemeClr val="dk1"/>
                </a:solidFill>
                <a:highlight>
                  <a:srgbClr val="F7F7F7"/>
                </a:highlight>
                <a:latin typeface="Courier New"/>
                <a:ea typeface="Courier New"/>
                <a:cs typeface="Courier New"/>
                <a:sym typeface="Courier New"/>
              </a:rPr>
              <a:t>(</a:t>
            </a:r>
            <a:r>
              <a:rPr lang="en" sz="700">
                <a:solidFill>
                  <a:srgbClr val="0000FF"/>
                </a:solidFill>
                <a:highlight>
                  <a:srgbClr val="F7F7F7"/>
                </a:highlight>
                <a:latin typeface="Courier New"/>
                <a:ea typeface="Courier New"/>
                <a:cs typeface="Courier New"/>
                <a:sym typeface="Courier New"/>
              </a:rPr>
              <a:t>f</a:t>
            </a:r>
            <a:r>
              <a:rPr lang="en" sz="700">
                <a:solidFill>
                  <a:srgbClr val="A31515"/>
                </a:solidFill>
                <a:highlight>
                  <a:srgbClr val="F7F7F7"/>
                </a:highlight>
                <a:latin typeface="Courier New"/>
                <a:ea typeface="Courier New"/>
                <a:cs typeface="Courier New"/>
                <a:sym typeface="Courier New"/>
              </a:rPr>
              <a:t>"Original dataset: </a:t>
            </a:r>
            <a:r>
              <a:rPr lang="en" sz="700">
                <a:solidFill>
                  <a:schemeClr val="dk1"/>
                </a:solidFill>
                <a:highlight>
                  <a:srgbClr val="F7F7F7"/>
                </a:highlight>
                <a:latin typeface="Courier New"/>
                <a:ea typeface="Courier New"/>
                <a:cs typeface="Courier New"/>
                <a:sym typeface="Courier New"/>
              </a:rPr>
              <a:t>{penguins.shape}</a:t>
            </a:r>
            <a:r>
              <a:rPr lang="en" sz="700">
                <a:solidFill>
                  <a:srgbClr val="A31515"/>
                </a:solidFill>
                <a:highlight>
                  <a:srgbClr val="F7F7F7"/>
                </a:highlight>
                <a:latin typeface="Courier New"/>
                <a:ea typeface="Courier New"/>
                <a:cs typeface="Courier New"/>
                <a:sym typeface="Courier New"/>
              </a:rPr>
              <a:t>"</a:t>
            </a:r>
            <a:r>
              <a:rPr lang="en" sz="700">
                <a:solidFill>
                  <a:schemeClr val="dk1"/>
                </a:solidFill>
                <a:highlight>
                  <a:srgbClr val="F7F7F7"/>
                </a:highlight>
                <a:latin typeface="Courier New"/>
                <a:ea typeface="Courier New"/>
                <a:cs typeface="Courier New"/>
                <a:sym typeface="Courier New"/>
              </a:rPr>
              <a:t>)</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6A5221"/>
                </a:solidFill>
                <a:highlight>
                  <a:srgbClr val="F7F7F7"/>
                </a:highlight>
                <a:latin typeface="Courier New"/>
                <a:ea typeface="Courier New"/>
                <a:cs typeface="Courier New"/>
                <a:sym typeface="Courier New"/>
              </a:rPr>
              <a:t>print</a:t>
            </a:r>
            <a:r>
              <a:rPr lang="en" sz="700">
                <a:solidFill>
                  <a:schemeClr val="dk1"/>
                </a:solidFill>
                <a:highlight>
                  <a:srgbClr val="F7F7F7"/>
                </a:highlight>
                <a:latin typeface="Courier New"/>
                <a:ea typeface="Courier New"/>
                <a:cs typeface="Courier New"/>
                <a:sym typeface="Courier New"/>
              </a:rPr>
              <a:t>(</a:t>
            </a:r>
            <a:r>
              <a:rPr lang="en" sz="700">
                <a:solidFill>
                  <a:srgbClr val="0000FF"/>
                </a:solidFill>
                <a:highlight>
                  <a:srgbClr val="F7F7F7"/>
                </a:highlight>
                <a:latin typeface="Courier New"/>
                <a:ea typeface="Courier New"/>
                <a:cs typeface="Courier New"/>
                <a:sym typeface="Courier New"/>
              </a:rPr>
              <a:t>f</a:t>
            </a:r>
            <a:r>
              <a:rPr lang="en" sz="700">
                <a:solidFill>
                  <a:srgbClr val="A31515"/>
                </a:solidFill>
                <a:highlight>
                  <a:srgbClr val="F7F7F7"/>
                </a:highlight>
                <a:latin typeface="Courier New"/>
                <a:ea typeface="Courier New"/>
                <a:cs typeface="Courier New"/>
                <a:sym typeface="Courier New"/>
              </a:rPr>
              <a:t>"After removing NaN: </a:t>
            </a:r>
            <a:r>
              <a:rPr lang="en" sz="700">
                <a:solidFill>
                  <a:schemeClr val="dk1"/>
                </a:solidFill>
                <a:highlight>
                  <a:srgbClr val="F7F7F7"/>
                </a:highlight>
                <a:latin typeface="Courier New"/>
                <a:ea typeface="Courier New"/>
                <a:cs typeface="Courier New"/>
                <a:sym typeface="Courier New"/>
              </a:rPr>
              <a:t>{penguins_clean.shape}</a:t>
            </a:r>
            <a:r>
              <a:rPr lang="en" sz="700">
                <a:solidFill>
                  <a:srgbClr val="A31515"/>
                </a:solidFill>
                <a:highlight>
                  <a:srgbClr val="F7F7F7"/>
                </a:highlight>
                <a:latin typeface="Courier New"/>
                <a:ea typeface="Courier New"/>
                <a:cs typeface="Courier New"/>
                <a:sym typeface="Courier New"/>
              </a:rPr>
              <a:t>"</a:t>
            </a:r>
            <a:r>
              <a:rPr lang="en" sz="700">
                <a:solidFill>
                  <a:schemeClr val="dk1"/>
                </a:solidFill>
                <a:highlight>
                  <a:srgbClr val="F7F7F7"/>
                </a:highlight>
                <a:latin typeface="Courier New"/>
                <a:ea typeface="Courier New"/>
                <a:cs typeface="Courier New"/>
                <a:sym typeface="Courier New"/>
              </a:rPr>
              <a:t>)</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008000"/>
                </a:solidFill>
                <a:highlight>
                  <a:srgbClr val="F7F7F7"/>
                </a:highlight>
                <a:latin typeface="Courier New"/>
                <a:ea typeface="Courier New"/>
                <a:cs typeface="Courier New"/>
                <a:sym typeface="Courier New"/>
              </a:rPr>
              <a:t># Convert categorical variables to numeric (one-hot encoding)</a:t>
            </a:r>
            <a:endParaRPr sz="7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chemeClr val="dk1"/>
                </a:solidFill>
                <a:highlight>
                  <a:srgbClr val="F7F7F7"/>
                </a:highlight>
                <a:latin typeface="Courier New"/>
                <a:ea typeface="Courier New"/>
                <a:cs typeface="Courier New"/>
                <a:sym typeface="Courier New"/>
              </a:rPr>
              <a:t>penguins_encoded = pd.get_dummies(penguins_clean,</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chemeClr val="dk1"/>
                </a:solidFill>
                <a:highlight>
                  <a:srgbClr val="F7F7F7"/>
                </a:highlight>
                <a:latin typeface="Courier New"/>
                <a:ea typeface="Courier New"/>
                <a:cs typeface="Courier New"/>
                <a:sym typeface="Courier New"/>
              </a:rPr>
              <a:t>                                columns=[</a:t>
            </a:r>
            <a:r>
              <a:rPr lang="en" sz="700">
                <a:solidFill>
                  <a:srgbClr val="A31515"/>
                </a:solidFill>
                <a:highlight>
                  <a:srgbClr val="F7F7F7"/>
                </a:highlight>
                <a:latin typeface="Courier New"/>
                <a:ea typeface="Courier New"/>
                <a:cs typeface="Courier New"/>
                <a:sym typeface="Courier New"/>
              </a:rPr>
              <a:t>'species'</a:t>
            </a:r>
            <a:r>
              <a:rPr lang="en" sz="700">
                <a:solidFill>
                  <a:schemeClr val="dk1"/>
                </a:solidFill>
                <a:highlight>
                  <a:srgbClr val="F7F7F7"/>
                </a:highlight>
                <a:latin typeface="Courier New"/>
                <a:ea typeface="Courier New"/>
                <a:cs typeface="Courier New"/>
                <a:sym typeface="Courier New"/>
              </a:rPr>
              <a:t>, </a:t>
            </a:r>
            <a:r>
              <a:rPr lang="en" sz="700">
                <a:solidFill>
                  <a:srgbClr val="A31515"/>
                </a:solidFill>
                <a:highlight>
                  <a:srgbClr val="F7F7F7"/>
                </a:highlight>
                <a:latin typeface="Courier New"/>
                <a:ea typeface="Courier New"/>
                <a:cs typeface="Courier New"/>
                <a:sym typeface="Courier New"/>
              </a:rPr>
              <a:t>'island'</a:t>
            </a:r>
            <a:r>
              <a:rPr lang="en" sz="700">
                <a:solidFill>
                  <a:schemeClr val="dk1"/>
                </a:solidFill>
                <a:highlight>
                  <a:srgbClr val="F7F7F7"/>
                </a:highlight>
                <a:latin typeface="Courier New"/>
                <a:ea typeface="Courier New"/>
                <a:cs typeface="Courier New"/>
                <a:sym typeface="Courier New"/>
              </a:rPr>
              <a:t>, </a:t>
            </a:r>
            <a:r>
              <a:rPr lang="en" sz="700">
                <a:solidFill>
                  <a:srgbClr val="A31515"/>
                </a:solidFill>
                <a:highlight>
                  <a:srgbClr val="F7F7F7"/>
                </a:highlight>
                <a:latin typeface="Courier New"/>
                <a:ea typeface="Courier New"/>
                <a:cs typeface="Courier New"/>
                <a:sym typeface="Courier New"/>
              </a:rPr>
              <a:t>'sex'</a:t>
            </a:r>
            <a:r>
              <a:rPr lang="en" sz="700">
                <a:solidFill>
                  <a:schemeClr val="dk1"/>
                </a:solidFill>
                <a:highlight>
                  <a:srgbClr val="F7F7F7"/>
                </a:highlight>
                <a:latin typeface="Courier New"/>
                <a:ea typeface="Courier New"/>
                <a:cs typeface="Courier New"/>
                <a:sym typeface="Courier New"/>
              </a:rPr>
              <a:t>])</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6A5221"/>
                </a:solidFill>
                <a:highlight>
                  <a:srgbClr val="F7F7F7"/>
                </a:highlight>
                <a:latin typeface="Courier New"/>
                <a:ea typeface="Courier New"/>
                <a:cs typeface="Courier New"/>
                <a:sym typeface="Courier New"/>
              </a:rPr>
              <a:t>print</a:t>
            </a:r>
            <a:r>
              <a:rPr lang="en" sz="700">
                <a:solidFill>
                  <a:schemeClr val="dk1"/>
                </a:solidFill>
                <a:highlight>
                  <a:srgbClr val="F7F7F7"/>
                </a:highlight>
                <a:latin typeface="Courier New"/>
                <a:ea typeface="Courier New"/>
                <a:cs typeface="Courier New"/>
                <a:sym typeface="Courier New"/>
              </a:rPr>
              <a:t>(</a:t>
            </a:r>
            <a:r>
              <a:rPr lang="en" sz="700">
                <a:solidFill>
                  <a:srgbClr val="0000FF"/>
                </a:solidFill>
                <a:highlight>
                  <a:srgbClr val="F7F7F7"/>
                </a:highlight>
                <a:latin typeface="Courier New"/>
                <a:ea typeface="Courier New"/>
                <a:cs typeface="Courier New"/>
                <a:sym typeface="Courier New"/>
              </a:rPr>
              <a:t>f</a:t>
            </a:r>
            <a:r>
              <a:rPr lang="en" sz="700">
                <a:solidFill>
                  <a:srgbClr val="A31515"/>
                </a:solidFill>
                <a:highlight>
                  <a:srgbClr val="F7F7F7"/>
                </a:highlight>
                <a:latin typeface="Courier New"/>
                <a:ea typeface="Courier New"/>
                <a:cs typeface="Courier New"/>
                <a:sym typeface="Courier New"/>
              </a:rPr>
              <a:t>"After encoding: </a:t>
            </a:r>
            <a:r>
              <a:rPr lang="en" sz="700">
                <a:solidFill>
                  <a:schemeClr val="dk1"/>
                </a:solidFill>
                <a:highlight>
                  <a:srgbClr val="F7F7F7"/>
                </a:highlight>
                <a:latin typeface="Courier New"/>
                <a:ea typeface="Courier New"/>
                <a:cs typeface="Courier New"/>
                <a:sym typeface="Courier New"/>
              </a:rPr>
              <a:t>{penguins_encoded.shape}</a:t>
            </a:r>
            <a:r>
              <a:rPr lang="en" sz="700">
                <a:solidFill>
                  <a:srgbClr val="A31515"/>
                </a:solidFill>
                <a:highlight>
                  <a:srgbClr val="F7F7F7"/>
                </a:highlight>
                <a:latin typeface="Courier New"/>
                <a:ea typeface="Courier New"/>
                <a:cs typeface="Courier New"/>
                <a:sym typeface="Courier New"/>
              </a:rPr>
              <a:t>"</a:t>
            </a:r>
            <a:r>
              <a:rPr lang="en" sz="700">
                <a:solidFill>
                  <a:schemeClr val="dk1"/>
                </a:solidFill>
                <a:highlight>
                  <a:srgbClr val="F7F7F7"/>
                </a:highlight>
                <a:latin typeface="Courier New"/>
                <a:ea typeface="Courier New"/>
                <a:cs typeface="Courier New"/>
                <a:sym typeface="Courier New"/>
              </a:rPr>
              <a:t>)</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6A5221"/>
                </a:solidFill>
                <a:highlight>
                  <a:srgbClr val="F7F7F7"/>
                </a:highlight>
                <a:latin typeface="Courier New"/>
                <a:ea typeface="Courier New"/>
                <a:cs typeface="Courier New"/>
                <a:sym typeface="Courier New"/>
              </a:rPr>
              <a:t>print</a:t>
            </a:r>
            <a:r>
              <a:rPr lang="en" sz="700">
                <a:solidFill>
                  <a:schemeClr val="dk1"/>
                </a:solidFill>
                <a:highlight>
                  <a:srgbClr val="F7F7F7"/>
                </a:highlight>
                <a:latin typeface="Courier New"/>
                <a:ea typeface="Courier New"/>
                <a:cs typeface="Courier New"/>
                <a:sym typeface="Courier New"/>
              </a:rPr>
              <a:t>(</a:t>
            </a:r>
            <a:r>
              <a:rPr lang="en" sz="700">
                <a:solidFill>
                  <a:srgbClr val="A31515"/>
                </a:solidFill>
                <a:highlight>
                  <a:srgbClr val="F7F7F7"/>
                </a:highlight>
                <a:latin typeface="Courier New"/>
                <a:ea typeface="Courier New"/>
                <a:cs typeface="Courier New"/>
                <a:sym typeface="Courier New"/>
              </a:rPr>
              <a:t>"New columns after encoding:"</a:t>
            </a:r>
            <a:r>
              <a:rPr lang="en" sz="700">
                <a:solidFill>
                  <a:schemeClr val="dk1"/>
                </a:solidFill>
                <a:highlight>
                  <a:srgbClr val="F7F7F7"/>
                </a:highlight>
                <a:latin typeface="Courier New"/>
                <a:ea typeface="Courier New"/>
                <a:cs typeface="Courier New"/>
                <a:sym typeface="Courier New"/>
              </a:rPr>
              <a:t>)</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6A5221"/>
                </a:solidFill>
                <a:highlight>
                  <a:srgbClr val="F7F7F7"/>
                </a:highlight>
                <a:latin typeface="Courier New"/>
                <a:ea typeface="Courier New"/>
                <a:cs typeface="Courier New"/>
                <a:sym typeface="Courier New"/>
              </a:rPr>
              <a:t>print</a:t>
            </a:r>
            <a:r>
              <a:rPr lang="en" sz="700">
                <a:solidFill>
                  <a:schemeClr val="dk1"/>
                </a:solidFill>
                <a:highlight>
                  <a:srgbClr val="F7F7F7"/>
                </a:highlight>
                <a:latin typeface="Courier New"/>
                <a:ea typeface="Courier New"/>
                <a:cs typeface="Courier New"/>
                <a:sym typeface="Courier New"/>
              </a:rPr>
              <a:t>(</a:t>
            </a:r>
            <a:r>
              <a:rPr lang="en" sz="700">
                <a:solidFill>
                  <a:srgbClr val="257693"/>
                </a:solidFill>
                <a:highlight>
                  <a:srgbClr val="F7F7F7"/>
                </a:highlight>
                <a:latin typeface="Courier New"/>
                <a:ea typeface="Courier New"/>
                <a:cs typeface="Courier New"/>
                <a:sym typeface="Courier New"/>
              </a:rPr>
              <a:t>list</a:t>
            </a:r>
            <a:r>
              <a:rPr lang="en" sz="700">
                <a:solidFill>
                  <a:schemeClr val="dk1"/>
                </a:solidFill>
                <a:highlight>
                  <a:srgbClr val="F7F7F7"/>
                </a:highlight>
                <a:latin typeface="Courier New"/>
                <a:ea typeface="Courier New"/>
                <a:cs typeface="Courier New"/>
                <a:sym typeface="Courier New"/>
              </a:rPr>
              <a:t>(penguins_encoded.columns))</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008000"/>
                </a:solidFill>
                <a:highlight>
                  <a:srgbClr val="F7F7F7"/>
                </a:highlight>
                <a:latin typeface="Courier New"/>
                <a:ea typeface="Courier New"/>
                <a:cs typeface="Courier New"/>
                <a:sym typeface="Courier New"/>
              </a:rPr>
              <a:t># Separate features and target variable</a:t>
            </a:r>
            <a:endParaRPr sz="7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chemeClr val="dk1"/>
                </a:solidFill>
                <a:highlight>
                  <a:srgbClr val="F7F7F7"/>
                </a:highlight>
                <a:latin typeface="Courier New"/>
                <a:ea typeface="Courier New"/>
                <a:cs typeface="Courier New"/>
                <a:sym typeface="Courier New"/>
              </a:rPr>
              <a:t>X = penguins_encoded.drop(</a:t>
            </a:r>
            <a:r>
              <a:rPr lang="en" sz="700">
                <a:solidFill>
                  <a:srgbClr val="A31515"/>
                </a:solidFill>
                <a:highlight>
                  <a:srgbClr val="F7F7F7"/>
                </a:highlight>
                <a:latin typeface="Courier New"/>
                <a:ea typeface="Courier New"/>
                <a:cs typeface="Courier New"/>
                <a:sym typeface="Courier New"/>
              </a:rPr>
              <a:t>'body_mass_g'</a:t>
            </a:r>
            <a:r>
              <a:rPr lang="en" sz="700">
                <a:solidFill>
                  <a:schemeClr val="dk1"/>
                </a:solidFill>
                <a:highlight>
                  <a:srgbClr val="F7F7F7"/>
                </a:highlight>
                <a:latin typeface="Courier New"/>
                <a:ea typeface="Courier New"/>
                <a:cs typeface="Courier New"/>
                <a:sym typeface="Courier New"/>
              </a:rPr>
              <a:t>, axis=</a:t>
            </a:r>
            <a:r>
              <a:rPr lang="en" sz="700">
                <a:solidFill>
                  <a:srgbClr val="116644"/>
                </a:solidFill>
                <a:highlight>
                  <a:srgbClr val="F7F7F7"/>
                </a:highlight>
                <a:latin typeface="Courier New"/>
                <a:ea typeface="Courier New"/>
                <a:cs typeface="Courier New"/>
                <a:sym typeface="Courier New"/>
              </a:rPr>
              <a:t>1</a:t>
            </a:r>
            <a:r>
              <a:rPr lang="en" sz="700">
                <a:solidFill>
                  <a:schemeClr val="dk1"/>
                </a:solidFill>
                <a:highlight>
                  <a:srgbClr val="F7F7F7"/>
                </a:highlight>
                <a:latin typeface="Courier New"/>
                <a:ea typeface="Courier New"/>
                <a:cs typeface="Courier New"/>
                <a:sym typeface="Courier New"/>
              </a:rPr>
              <a:t>)  </a:t>
            </a:r>
            <a:r>
              <a:rPr lang="en" sz="700">
                <a:solidFill>
                  <a:srgbClr val="008000"/>
                </a:solidFill>
                <a:highlight>
                  <a:srgbClr val="F7F7F7"/>
                </a:highlight>
                <a:latin typeface="Courier New"/>
                <a:ea typeface="Courier New"/>
                <a:cs typeface="Courier New"/>
                <a:sym typeface="Courier New"/>
              </a:rPr>
              <a:t># Features</a:t>
            </a:r>
            <a:endParaRPr sz="7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chemeClr val="dk1"/>
                </a:solidFill>
                <a:highlight>
                  <a:srgbClr val="F7F7F7"/>
                </a:highlight>
                <a:latin typeface="Courier New"/>
                <a:ea typeface="Courier New"/>
                <a:cs typeface="Courier New"/>
                <a:sym typeface="Courier New"/>
              </a:rPr>
              <a:t>y = penguins_encoded[</a:t>
            </a:r>
            <a:r>
              <a:rPr lang="en" sz="700">
                <a:solidFill>
                  <a:srgbClr val="A31515"/>
                </a:solidFill>
                <a:highlight>
                  <a:srgbClr val="F7F7F7"/>
                </a:highlight>
                <a:latin typeface="Courier New"/>
                <a:ea typeface="Courier New"/>
                <a:cs typeface="Courier New"/>
                <a:sym typeface="Courier New"/>
              </a:rPr>
              <a:t>'body_mass_g'</a:t>
            </a:r>
            <a:r>
              <a:rPr lang="en" sz="700">
                <a:solidFill>
                  <a:schemeClr val="dk1"/>
                </a:solidFill>
                <a:highlight>
                  <a:srgbClr val="F7F7F7"/>
                </a:highlight>
                <a:latin typeface="Courier New"/>
                <a:ea typeface="Courier New"/>
                <a:cs typeface="Courier New"/>
                <a:sym typeface="Courier New"/>
              </a:rPr>
              <a:t>]               </a:t>
            </a:r>
            <a:r>
              <a:rPr lang="en" sz="700">
                <a:solidFill>
                  <a:srgbClr val="008000"/>
                </a:solidFill>
                <a:highlight>
                  <a:srgbClr val="F7F7F7"/>
                </a:highlight>
                <a:latin typeface="Courier New"/>
                <a:ea typeface="Courier New"/>
                <a:cs typeface="Courier New"/>
                <a:sym typeface="Courier New"/>
              </a:rPr>
              <a:t># Target</a:t>
            </a:r>
            <a:endParaRPr sz="7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6A5221"/>
                </a:solidFill>
                <a:highlight>
                  <a:srgbClr val="F7F7F7"/>
                </a:highlight>
                <a:latin typeface="Courier New"/>
                <a:ea typeface="Courier New"/>
                <a:cs typeface="Courier New"/>
                <a:sym typeface="Courier New"/>
              </a:rPr>
              <a:t>print</a:t>
            </a:r>
            <a:r>
              <a:rPr lang="en" sz="700">
                <a:solidFill>
                  <a:schemeClr val="dk1"/>
                </a:solidFill>
                <a:highlight>
                  <a:srgbClr val="F7F7F7"/>
                </a:highlight>
                <a:latin typeface="Courier New"/>
                <a:ea typeface="Courier New"/>
                <a:cs typeface="Courier New"/>
                <a:sym typeface="Courier New"/>
              </a:rPr>
              <a:t>(</a:t>
            </a:r>
            <a:r>
              <a:rPr lang="en" sz="700">
                <a:solidFill>
                  <a:srgbClr val="0000FF"/>
                </a:solidFill>
                <a:highlight>
                  <a:srgbClr val="F7F7F7"/>
                </a:highlight>
                <a:latin typeface="Courier New"/>
                <a:ea typeface="Courier New"/>
                <a:cs typeface="Courier New"/>
                <a:sym typeface="Courier New"/>
              </a:rPr>
              <a:t>f</a:t>
            </a:r>
            <a:r>
              <a:rPr lang="en" sz="700">
                <a:solidFill>
                  <a:srgbClr val="A31515"/>
                </a:solidFill>
                <a:highlight>
                  <a:srgbClr val="F7F7F7"/>
                </a:highlight>
                <a:latin typeface="Courier New"/>
                <a:ea typeface="Courier New"/>
                <a:cs typeface="Courier New"/>
                <a:sym typeface="Courier New"/>
              </a:rPr>
              <a:t>"\nFeatures (X) shape: </a:t>
            </a:r>
            <a:r>
              <a:rPr lang="en" sz="700">
                <a:solidFill>
                  <a:schemeClr val="dk1"/>
                </a:solidFill>
                <a:highlight>
                  <a:srgbClr val="F7F7F7"/>
                </a:highlight>
                <a:latin typeface="Courier New"/>
                <a:ea typeface="Courier New"/>
                <a:cs typeface="Courier New"/>
                <a:sym typeface="Courier New"/>
              </a:rPr>
              <a:t>{X.shape}</a:t>
            </a:r>
            <a:r>
              <a:rPr lang="en" sz="700">
                <a:solidFill>
                  <a:srgbClr val="A31515"/>
                </a:solidFill>
                <a:highlight>
                  <a:srgbClr val="F7F7F7"/>
                </a:highlight>
                <a:latin typeface="Courier New"/>
                <a:ea typeface="Courier New"/>
                <a:cs typeface="Courier New"/>
                <a:sym typeface="Courier New"/>
              </a:rPr>
              <a:t>"</a:t>
            </a:r>
            <a:r>
              <a:rPr lang="en" sz="700">
                <a:solidFill>
                  <a:schemeClr val="dk1"/>
                </a:solidFill>
                <a:highlight>
                  <a:srgbClr val="F7F7F7"/>
                </a:highlight>
                <a:latin typeface="Courier New"/>
                <a:ea typeface="Courier New"/>
                <a:cs typeface="Courier New"/>
                <a:sym typeface="Courier New"/>
              </a:rPr>
              <a:t>)</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700">
                <a:solidFill>
                  <a:srgbClr val="6A5221"/>
                </a:solidFill>
                <a:highlight>
                  <a:srgbClr val="F7F7F7"/>
                </a:highlight>
                <a:latin typeface="Courier New"/>
                <a:ea typeface="Courier New"/>
                <a:cs typeface="Courier New"/>
                <a:sym typeface="Courier New"/>
              </a:rPr>
              <a:t>print</a:t>
            </a:r>
            <a:r>
              <a:rPr lang="en" sz="700">
                <a:solidFill>
                  <a:schemeClr val="dk1"/>
                </a:solidFill>
                <a:highlight>
                  <a:srgbClr val="F7F7F7"/>
                </a:highlight>
                <a:latin typeface="Courier New"/>
                <a:ea typeface="Courier New"/>
                <a:cs typeface="Courier New"/>
                <a:sym typeface="Courier New"/>
              </a:rPr>
              <a:t>(</a:t>
            </a:r>
            <a:r>
              <a:rPr lang="en" sz="700">
                <a:solidFill>
                  <a:srgbClr val="0000FF"/>
                </a:solidFill>
                <a:highlight>
                  <a:srgbClr val="F7F7F7"/>
                </a:highlight>
                <a:latin typeface="Courier New"/>
                <a:ea typeface="Courier New"/>
                <a:cs typeface="Courier New"/>
                <a:sym typeface="Courier New"/>
              </a:rPr>
              <a:t>f</a:t>
            </a:r>
            <a:r>
              <a:rPr lang="en" sz="700">
                <a:solidFill>
                  <a:srgbClr val="A31515"/>
                </a:solidFill>
                <a:highlight>
                  <a:srgbClr val="F7F7F7"/>
                </a:highlight>
                <a:latin typeface="Courier New"/>
                <a:ea typeface="Courier New"/>
                <a:cs typeface="Courier New"/>
                <a:sym typeface="Courier New"/>
              </a:rPr>
              <a:t>"Target (y) shape: </a:t>
            </a:r>
            <a:r>
              <a:rPr lang="en" sz="700">
                <a:solidFill>
                  <a:schemeClr val="dk1"/>
                </a:solidFill>
                <a:highlight>
                  <a:srgbClr val="F7F7F7"/>
                </a:highlight>
                <a:latin typeface="Courier New"/>
                <a:ea typeface="Courier New"/>
                <a:cs typeface="Courier New"/>
                <a:sym typeface="Courier New"/>
              </a:rPr>
              <a:t>{y.shape}</a:t>
            </a:r>
            <a:r>
              <a:rPr lang="en" sz="700">
                <a:solidFill>
                  <a:srgbClr val="A31515"/>
                </a:solidFill>
                <a:highlight>
                  <a:srgbClr val="F7F7F7"/>
                </a:highlight>
                <a:latin typeface="Courier New"/>
                <a:ea typeface="Courier New"/>
                <a:cs typeface="Courier New"/>
                <a:sym typeface="Courier New"/>
              </a:rPr>
              <a:t>"</a:t>
            </a:r>
            <a:r>
              <a:rPr lang="en" sz="700">
                <a:solidFill>
                  <a:schemeClr val="dk1"/>
                </a:solidFill>
                <a:highlight>
                  <a:srgbClr val="F7F7F7"/>
                </a:highlight>
                <a:latin typeface="Courier New"/>
                <a:ea typeface="Courier New"/>
                <a:cs typeface="Courier New"/>
                <a:sym typeface="Courier New"/>
              </a:rPr>
              <a:t>)</a:t>
            </a:r>
            <a:endParaRPr sz="7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700">
              <a:solidFill>
                <a:schemeClr val="dk1"/>
              </a:solidFill>
              <a:highlight>
                <a:srgbClr val="F7F7F7"/>
              </a:highlight>
              <a:latin typeface="Courier New"/>
              <a:ea typeface="Courier New"/>
              <a:cs typeface="Courier New"/>
              <a:sym typeface="Courier New"/>
            </a:endParaRPr>
          </a:p>
        </p:txBody>
      </p:sp>
      <p:sp>
        <p:nvSpPr>
          <p:cNvPr id="138" name="Google Shape;138;p23"/>
          <p:cNvSpPr txBox="1"/>
          <p:nvPr/>
        </p:nvSpPr>
        <p:spPr>
          <a:xfrm>
            <a:off x="3599125" y="664450"/>
            <a:ext cx="5397300" cy="336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highlight>
                <a:srgbClr val="D9D2E9"/>
              </a:highlight>
            </a:endParaRPr>
          </a:p>
          <a:p>
            <a:pPr indent="-288925" lvl="0" marL="457200" rtl="0" algn="l">
              <a:lnSpc>
                <a:spcPct val="115000"/>
              </a:lnSpc>
              <a:spcBef>
                <a:spcPts val="600"/>
              </a:spcBef>
              <a:spcAft>
                <a:spcPts val="0"/>
              </a:spcAft>
              <a:buClr>
                <a:srgbClr val="1F1F1F"/>
              </a:buClr>
              <a:buSzPts val="950"/>
              <a:buAutoNum type="arabicPeriod"/>
            </a:pPr>
            <a:r>
              <a:rPr b="1" lang="en" sz="950">
                <a:solidFill>
                  <a:srgbClr val="1F1F1F"/>
                </a:solidFill>
                <a:highlight>
                  <a:srgbClr val="D9D2E9"/>
                </a:highlight>
              </a:rPr>
              <a:t>Handle Missing Values</a:t>
            </a:r>
            <a:r>
              <a:rPr lang="en" sz="950">
                <a:solidFill>
                  <a:srgbClr val="1F1F1F"/>
                </a:solidFill>
                <a:highlight>
                  <a:srgbClr val="D9D2E9"/>
                </a:highlight>
              </a:rPr>
              <a:t>: The code first removes any rows with missing values using </a:t>
            </a:r>
            <a:r>
              <a:rPr lang="en" sz="950">
                <a:solidFill>
                  <a:srgbClr val="1F1F1F"/>
                </a:solidFill>
                <a:highlight>
                  <a:srgbClr val="D9D2E9"/>
                </a:highlight>
                <a:latin typeface="Roboto Mono"/>
                <a:ea typeface="Roboto Mono"/>
                <a:cs typeface="Roboto Mono"/>
                <a:sym typeface="Roboto Mono"/>
              </a:rPr>
              <a:t>penguins.dropna()</a:t>
            </a:r>
            <a:r>
              <a:rPr lang="en" sz="950">
                <a:solidFill>
                  <a:srgbClr val="1F1F1F"/>
                </a:solidFill>
                <a:highlight>
                  <a:srgbClr val="D9D2E9"/>
                </a:highlight>
              </a:rPr>
              <a:t> and stores the result in </a:t>
            </a:r>
            <a:r>
              <a:rPr lang="en" sz="950">
                <a:solidFill>
                  <a:srgbClr val="1F1F1F"/>
                </a:solidFill>
                <a:highlight>
                  <a:srgbClr val="D9D2E9"/>
                </a:highlight>
                <a:latin typeface="Roboto Mono"/>
                <a:ea typeface="Roboto Mono"/>
                <a:cs typeface="Roboto Mono"/>
                <a:sym typeface="Roboto Mono"/>
              </a:rPr>
              <a:t>penguins_clean</a:t>
            </a:r>
            <a:r>
              <a:rPr lang="en" sz="950">
                <a:solidFill>
                  <a:srgbClr val="1F1F1F"/>
                </a:solidFill>
                <a:highlight>
                  <a:srgbClr val="D9D2E9"/>
                </a:highlight>
              </a:rPr>
              <a:t>. It then prints the shape of the original and cleaned dataframes to show how many rows were removed.</a:t>
            </a:r>
            <a:endParaRPr sz="950">
              <a:solidFill>
                <a:srgbClr val="1F1F1F"/>
              </a:solidFill>
              <a:highlight>
                <a:srgbClr val="D9D2E9"/>
              </a:highlight>
            </a:endParaRPr>
          </a:p>
          <a:p>
            <a:pPr indent="0" lvl="0" marL="457200" rtl="0" algn="l">
              <a:lnSpc>
                <a:spcPct val="115000"/>
              </a:lnSpc>
              <a:spcBef>
                <a:spcPts val="600"/>
              </a:spcBef>
              <a:spcAft>
                <a:spcPts val="0"/>
              </a:spcAft>
              <a:buNone/>
            </a:pPr>
            <a:r>
              <a:t/>
            </a:r>
            <a:endParaRPr sz="950">
              <a:solidFill>
                <a:srgbClr val="1F1F1F"/>
              </a:solidFill>
              <a:highlight>
                <a:srgbClr val="D9D2E9"/>
              </a:highlight>
            </a:endParaRPr>
          </a:p>
          <a:p>
            <a:pPr indent="-288925" lvl="0" marL="457200" rtl="0" algn="l">
              <a:lnSpc>
                <a:spcPct val="115000"/>
              </a:lnSpc>
              <a:spcBef>
                <a:spcPts val="600"/>
              </a:spcBef>
              <a:spcAft>
                <a:spcPts val="0"/>
              </a:spcAft>
              <a:buClr>
                <a:srgbClr val="1F1F1F"/>
              </a:buClr>
              <a:buSzPts val="950"/>
              <a:buAutoNum type="arabicPeriod"/>
            </a:pPr>
            <a:r>
              <a:rPr b="1" lang="en" sz="950">
                <a:solidFill>
                  <a:srgbClr val="1F1F1F"/>
                </a:solidFill>
                <a:highlight>
                  <a:srgbClr val="D9D2E9"/>
                </a:highlight>
              </a:rPr>
              <a:t>One-Hot Encoding</a:t>
            </a:r>
            <a:r>
              <a:rPr lang="en" sz="950">
                <a:solidFill>
                  <a:srgbClr val="1F1F1F"/>
                </a:solidFill>
                <a:highlight>
                  <a:srgbClr val="D9D2E9"/>
                </a:highlight>
              </a:rPr>
              <a:t>: Machine learning models typically require numerical input. The </a:t>
            </a:r>
            <a:r>
              <a:rPr lang="en" sz="950">
                <a:solidFill>
                  <a:srgbClr val="1F1F1F"/>
                </a:solidFill>
                <a:highlight>
                  <a:srgbClr val="D9D2E9"/>
                </a:highlight>
                <a:latin typeface="Roboto Mono"/>
                <a:ea typeface="Roboto Mono"/>
                <a:cs typeface="Roboto Mono"/>
                <a:sym typeface="Roboto Mono"/>
              </a:rPr>
              <a:t>pd.get_dummies()</a:t>
            </a:r>
            <a:r>
              <a:rPr lang="en" sz="950">
                <a:solidFill>
                  <a:srgbClr val="1F1F1F"/>
                </a:solidFill>
                <a:highlight>
                  <a:srgbClr val="D9D2E9"/>
                </a:highlight>
              </a:rPr>
              <a:t> function is used to convert categorical columns ('species', 'island', and 'sex') into a numerical format using one-hot encoding. This creates new binary columns for each unique category within those columns. The resulting dataframe is stored in </a:t>
            </a:r>
            <a:r>
              <a:rPr lang="en" sz="950">
                <a:solidFill>
                  <a:srgbClr val="1F1F1F"/>
                </a:solidFill>
                <a:highlight>
                  <a:srgbClr val="D9D2E9"/>
                </a:highlight>
                <a:latin typeface="Roboto Mono"/>
                <a:ea typeface="Roboto Mono"/>
                <a:cs typeface="Roboto Mono"/>
                <a:sym typeface="Roboto Mono"/>
              </a:rPr>
              <a:t>penguins_encoded</a:t>
            </a:r>
            <a:r>
              <a:rPr lang="en" sz="950">
                <a:solidFill>
                  <a:srgbClr val="1F1F1F"/>
                </a:solidFill>
                <a:highlight>
                  <a:srgbClr val="D9D2E9"/>
                </a:highlight>
              </a:rPr>
              <a:t>, and its shape and new column names are printed.</a:t>
            </a:r>
            <a:br>
              <a:rPr lang="en" sz="950">
                <a:solidFill>
                  <a:srgbClr val="1F1F1F"/>
                </a:solidFill>
                <a:highlight>
                  <a:srgbClr val="D9D2E9"/>
                </a:highlight>
              </a:rPr>
            </a:br>
            <a:endParaRPr sz="950">
              <a:solidFill>
                <a:srgbClr val="1F1F1F"/>
              </a:solidFill>
              <a:highlight>
                <a:srgbClr val="D9D2E9"/>
              </a:highlight>
            </a:endParaRPr>
          </a:p>
          <a:p>
            <a:pPr indent="-288925" lvl="0" marL="457200" rtl="0" algn="l">
              <a:lnSpc>
                <a:spcPct val="115000"/>
              </a:lnSpc>
              <a:spcBef>
                <a:spcPts val="0"/>
              </a:spcBef>
              <a:spcAft>
                <a:spcPts val="0"/>
              </a:spcAft>
              <a:buClr>
                <a:srgbClr val="1F1F1F"/>
              </a:buClr>
              <a:buSzPts val="950"/>
              <a:buAutoNum type="arabicPeriod"/>
            </a:pPr>
            <a:r>
              <a:rPr b="1" lang="en" sz="950">
                <a:solidFill>
                  <a:srgbClr val="1F1F1F"/>
                </a:solidFill>
                <a:highlight>
                  <a:srgbClr val="D9D2E9"/>
                </a:highlight>
              </a:rPr>
              <a:t>Separate Features and Target</a:t>
            </a:r>
            <a:r>
              <a:rPr lang="en" sz="950">
                <a:solidFill>
                  <a:srgbClr val="1F1F1F"/>
                </a:solidFill>
                <a:highlight>
                  <a:srgbClr val="D9D2E9"/>
                </a:highlight>
              </a:rPr>
              <a:t>: The code then separates the dataset into features (independent variables) and the target variable (dependent variable). The </a:t>
            </a:r>
            <a:r>
              <a:rPr lang="en" sz="950">
                <a:solidFill>
                  <a:srgbClr val="1F1F1F"/>
                </a:solidFill>
                <a:highlight>
                  <a:srgbClr val="D9D2E9"/>
                </a:highlight>
                <a:latin typeface="Roboto Mono"/>
                <a:ea typeface="Roboto Mono"/>
                <a:cs typeface="Roboto Mono"/>
                <a:sym typeface="Roboto Mono"/>
              </a:rPr>
              <a:t>body_mass_g</a:t>
            </a:r>
            <a:r>
              <a:rPr lang="en" sz="950">
                <a:solidFill>
                  <a:srgbClr val="1F1F1F"/>
                </a:solidFill>
                <a:highlight>
                  <a:srgbClr val="D9D2E9"/>
                </a:highlight>
              </a:rPr>
              <a:t> column is selected as the target variable </a:t>
            </a:r>
            <a:r>
              <a:rPr lang="en" sz="950">
                <a:solidFill>
                  <a:srgbClr val="1F1F1F"/>
                </a:solidFill>
                <a:highlight>
                  <a:srgbClr val="D9D2E9"/>
                </a:highlight>
                <a:latin typeface="Roboto Mono"/>
                <a:ea typeface="Roboto Mono"/>
                <a:cs typeface="Roboto Mono"/>
                <a:sym typeface="Roboto Mono"/>
              </a:rPr>
              <a:t>y</a:t>
            </a:r>
            <a:r>
              <a:rPr lang="en" sz="950">
                <a:solidFill>
                  <a:srgbClr val="1F1F1F"/>
                </a:solidFill>
                <a:highlight>
                  <a:srgbClr val="D9D2E9"/>
                </a:highlight>
              </a:rPr>
              <a:t>, and all other columns are considered features </a:t>
            </a:r>
            <a:r>
              <a:rPr lang="en" sz="950">
                <a:solidFill>
                  <a:srgbClr val="1F1F1F"/>
                </a:solidFill>
                <a:highlight>
                  <a:srgbClr val="D9D2E9"/>
                </a:highlight>
                <a:latin typeface="Roboto Mono"/>
                <a:ea typeface="Roboto Mono"/>
                <a:cs typeface="Roboto Mono"/>
                <a:sym typeface="Roboto Mono"/>
              </a:rPr>
              <a:t>X</a:t>
            </a:r>
            <a:r>
              <a:rPr lang="en" sz="950">
                <a:solidFill>
                  <a:srgbClr val="1F1F1F"/>
                </a:solidFill>
                <a:highlight>
                  <a:srgbClr val="D9D2E9"/>
                </a:highlight>
              </a:rPr>
              <a:t>. The shapes of </a:t>
            </a:r>
            <a:r>
              <a:rPr lang="en" sz="950">
                <a:solidFill>
                  <a:srgbClr val="1F1F1F"/>
                </a:solidFill>
                <a:highlight>
                  <a:srgbClr val="D9D2E9"/>
                </a:highlight>
                <a:latin typeface="Roboto Mono"/>
                <a:ea typeface="Roboto Mono"/>
                <a:cs typeface="Roboto Mono"/>
                <a:sym typeface="Roboto Mono"/>
              </a:rPr>
              <a:t>X</a:t>
            </a:r>
            <a:r>
              <a:rPr lang="en" sz="950">
                <a:solidFill>
                  <a:srgbClr val="1F1F1F"/>
                </a:solidFill>
                <a:highlight>
                  <a:srgbClr val="D9D2E9"/>
                </a:highlight>
              </a:rPr>
              <a:t> and </a:t>
            </a:r>
            <a:r>
              <a:rPr lang="en" sz="950">
                <a:solidFill>
                  <a:srgbClr val="1F1F1F"/>
                </a:solidFill>
                <a:highlight>
                  <a:srgbClr val="D9D2E9"/>
                </a:highlight>
                <a:latin typeface="Roboto Mono"/>
                <a:ea typeface="Roboto Mono"/>
                <a:cs typeface="Roboto Mono"/>
                <a:sym typeface="Roboto Mono"/>
              </a:rPr>
              <a:t>y</a:t>
            </a:r>
            <a:r>
              <a:rPr lang="en" sz="950">
                <a:solidFill>
                  <a:srgbClr val="1F1F1F"/>
                </a:solidFill>
                <a:highlight>
                  <a:srgbClr val="D9D2E9"/>
                </a:highlight>
              </a:rPr>
              <a:t> are printed to confirm the separation.</a:t>
            </a:r>
            <a:endParaRPr sz="950">
              <a:solidFill>
                <a:srgbClr val="1F1F1F"/>
              </a:solidFill>
              <a:highlight>
                <a:srgbClr val="D9D2E9"/>
              </a:highlight>
            </a:endParaRPr>
          </a:p>
          <a:p>
            <a:pPr indent="0" lvl="0" marL="0" rtl="0" algn="l">
              <a:lnSpc>
                <a:spcPct val="115000"/>
              </a:lnSpc>
              <a:spcBef>
                <a:spcPts val="600"/>
              </a:spcBef>
              <a:spcAft>
                <a:spcPts val="600"/>
              </a:spcAft>
              <a:buNone/>
            </a:pPr>
            <a:r>
              <a:rPr lang="en" sz="950">
                <a:solidFill>
                  <a:srgbClr val="1F1F1F"/>
                </a:solidFill>
                <a:highlight>
                  <a:srgbClr val="D9D2E9"/>
                </a:highlight>
              </a:rPr>
              <a:t>This cell effectively transforms the raw penguins data into a format suitable for training a machine learning model.</a:t>
            </a:r>
            <a:endParaRPr sz="950">
              <a:solidFill>
                <a:srgbClr val="1F1F1F"/>
              </a:solidFill>
              <a:highlight>
                <a:srgbClr val="D9D2E9"/>
              </a:highlight>
            </a:endParaRPr>
          </a:p>
        </p:txBody>
      </p:sp>
      <p:pic>
        <p:nvPicPr>
          <p:cNvPr id="139" name="Google Shape;139;p23"/>
          <p:cNvPicPr preferRelativeResize="0"/>
          <p:nvPr/>
        </p:nvPicPr>
        <p:blipFill>
          <a:blip r:embed="rId3">
            <a:alphaModFix/>
          </a:blip>
          <a:stretch>
            <a:fillRect/>
          </a:stretch>
        </p:blipFill>
        <p:spPr>
          <a:xfrm>
            <a:off x="2749200" y="4339525"/>
            <a:ext cx="6247226" cy="641650"/>
          </a:xfrm>
          <a:prstGeom prst="rect">
            <a:avLst/>
          </a:prstGeom>
          <a:noFill/>
          <a:ln>
            <a:noFill/>
          </a:ln>
        </p:spPr>
      </p:pic>
      <p:sp>
        <p:nvSpPr>
          <p:cNvPr id="140" name="Google Shape;14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6" name="Google Shape;146;p24"/>
          <p:cNvSpPr txBox="1"/>
          <p:nvPr>
            <p:ph idx="1" type="body"/>
          </p:nvPr>
        </p:nvSpPr>
        <p:spPr>
          <a:xfrm>
            <a:off x="4499100" y="1152475"/>
            <a:ext cx="43332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104762"/>
              <a:buFont typeface="Arial"/>
              <a:buNone/>
            </a:pPr>
            <a:r>
              <a:rPr lang="en" sz="1050">
                <a:solidFill>
                  <a:srgbClr val="1F1F1F"/>
                </a:solidFill>
                <a:highlight>
                  <a:srgbClr val="F8FAFD"/>
                </a:highlight>
              </a:rPr>
              <a:t>The variables </a:t>
            </a:r>
            <a:r>
              <a:rPr lang="en" sz="1050">
                <a:solidFill>
                  <a:srgbClr val="1F1F1F"/>
                </a:solidFill>
                <a:highlight>
                  <a:srgbClr val="F7F7F7"/>
                </a:highlight>
                <a:latin typeface="Roboto Mono"/>
                <a:ea typeface="Roboto Mono"/>
                <a:cs typeface="Roboto Mono"/>
                <a:sym typeface="Roboto Mono"/>
              </a:rPr>
              <a:t>X_test</a:t>
            </a:r>
            <a:r>
              <a:rPr lang="en" sz="1050">
                <a:solidFill>
                  <a:srgbClr val="1F1F1F"/>
                </a:solidFill>
                <a:highlight>
                  <a:srgbClr val="F8FAFD"/>
                </a:highlight>
              </a:rPr>
              <a:t> and </a:t>
            </a:r>
            <a:r>
              <a:rPr lang="en" sz="1050">
                <a:solidFill>
                  <a:srgbClr val="1F1F1F"/>
                </a:solidFill>
                <a:highlight>
                  <a:srgbClr val="F7F7F7"/>
                </a:highlight>
                <a:latin typeface="Roboto Mono"/>
                <a:ea typeface="Roboto Mono"/>
                <a:cs typeface="Roboto Mono"/>
                <a:sym typeface="Roboto Mono"/>
              </a:rPr>
              <a:t>y_train</a:t>
            </a:r>
            <a:r>
              <a:rPr lang="en" sz="1050">
                <a:solidFill>
                  <a:srgbClr val="1F1F1F"/>
                </a:solidFill>
                <a:highlight>
                  <a:srgbClr val="F8FAFD"/>
                </a:highlight>
              </a:rPr>
              <a:t> (along with </a:t>
            </a:r>
            <a:r>
              <a:rPr lang="en" sz="1050">
                <a:solidFill>
                  <a:srgbClr val="1F1F1F"/>
                </a:solidFill>
                <a:highlight>
                  <a:srgbClr val="F7F7F7"/>
                </a:highlight>
                <a:latin typeface="Roboto Mono"/>
                <a:ea typeface="Roboto Mono"/>
                <a:cs typeface="Roboto Mono"/>
                <a:sym typeface="Roboto Mono"/>
              </a:rPr>
              <a:t>X_train</a:t>
            </a:r>
            <a:r>
              <a:rPr lang="en" sz="1050">
                <a:solidFill>
                  <a:srgbClr val="1F1F1F"/>
                </a:solidFill>
                <a:highlight>
                  <a:srgbClr val="F8FAFD"/>
                </a:highlight>
              </a:rPr>
              <a:t> and </a:t>
            </a:r>
            <a:r>
              <a:rPr lang="en" sz="1050">
                <a:solidFill>
                  <a:srgbClr val="1F1F1F"/>
                </a:solidFill>
                <a:highlight>
                  <a:srgbClr val="F7F7F7"/>
                </a:highlight>
                <a:latin typeface="Roboto Mono"/>
                <a:ea typeface="Roboto Mono"/>
                <a:cs typeface="Roboto Mono"/>
                <a:sym typeface="Roboto Mono"/>
              </a:rPr>
              <a:t>y_test</a:t>
            </a:r>
            <a:r>
              <a:rPr lang="en" sz="1050">
                <a:solidFill>
                  <a:srgbClr val="1F1F1F"/>
                </a:solidFill>
                <a:highlight>
                  <a:srgbClr val="F8FAFD"/>
                </a:highlight>
              </a:rPr>
              <a:t>) were created in the "Linear Regression" cell using the </a:t>
            </a:r>
            <a:r>
              <a:rPr lang="en" sz="1050">
                <a:solidFill>
                  <a:srgbClr val="1F1F1F"/>
                </a:solidFill>
                <a:highlight>
                  <a:srgbClr val="F7F7F7"/>
                </a:highlight>
                <a:latin typeface="Roboto Mono"/>
                <a:ea typeface="Roboto Mono"/>
                <a:cs typeface="Roboto Mono"/>
                <a:sym typeface="Roboto Mono"/>
              </a:rPr>
              <a:t>train_test_split</a:t>
            </a:r>
            <a:r>
              <a:rPr lang="en" sz="1050">
                <a:solidFill>
                  <a:srgbClr val="1F1F1F"/>
                </a:solidFill>
                <a:highlight>
                  <a:srgbClr val="F8FAFD"/>
                </a:highlight>
              </a:rPr>
              <a:t> function from the scikit-learn library.</a:t>
            </a:r>
            <a:endParaRPr sz="1050">
              <a:solidFill>
                <a:srgbClr val="1F1F1F"/>
              </a:solidFill>
              <a:highlight>
                <a:srgbClr val="F8FAFD"/>
              </a:highlight>
            </a:endParaRPr>
          </a:p>
          <a:p>
            <a:pPr indent="0" lvl="0" marL="0" rtl="0" algn="l">
              <a:spcBef>
                <a:spcPts val="600"/>
              </a:spcBef>
              <a:spcAft>
                <a:spcPts val="0"/>
              </a:spcAft>
              <a:buClr>
                <a:schemeClr val="dk1"/>
              </a:buClr>
              <a:buSzPct val="104762"/>
              <a:buFont typeface="Arial"/>
              <a:buNone/>
            </a:pPr>
            <a:r>
              <a:rPr lang="en" sz="1050">
                <a:solidFill>
                  <a:srgbClr val="1F1F1F"/>
                </a:solidFill>
                <a:highlight>
                  <a:srgbClr val="F8FAFD"/>
                </a:highlight>
              </a:rPr>
              <a:t>The </a:t>
            </a:r>
            <a:r>
              <a:rPr lang="en" sz="1050">
                <a:solidFill>
                  <a:srgbClr val="1F1F1F"/>
                </a:solidFill>
                <a:highlight>
                  <a:srgbClr val="F7F7F7"/>
                </a:highlight>
                <a:latin typeface="Roboto Mono"/>
                <a:ea typeface="Roboto Mono"/>
                <a:cs typeface="Roboto Mono"/>
                <a:sym typeface="Roboto Mono"/>
              </a:rPr>
              <a:t>train_test_split</a:t>
            </a:r>
            <a:r>
              <a:rPr lang="en" sz="1050">
                <a:solidFill>
                  <a:srgbClr val="1F1F1F"/>
                </a:solidFill>
                <a:highlight>
                  <a:srgbClr val="F8FAFD"/>
                </a:highlight>
              </a:rPr>
              <a:t> function is a standard tool in machine learning for dividing your dataset into two subsets:</a:t>
            </a:r>
            <a:endParaRPr sz="1050">
              <a:solidFill>
                <a:srgbClr val="1F1F1F"/>
              </a:solidFill>
              <a:highlight>
                <a:srgbClr val="F8FAFD"/>
              </a:highlight>
            </a:endParaRPr>
          </a:p>
          <a:p>
            <a:pPr indent="-285274" lvl="0" marL="457200" rtl="0" algn="l">
              <a:spcBef>
                <a:spcPts val="600"/>
              </a:spcBef>
              <a:spcAft>
                <a:spcPts val="0"/>
              </a:spcAft>
              <a:buClr>
                <a:srgbClr val="1F1F1F"/>
              </a:buClr>
              <a:buSzPct val="100000"/>
              <a:buAutoNum type="arabicPeriod"/>
            </a:pPr>
            <a:r>
              <a:rPr b="1" lang="en" sz="1050">
                <a:solidFill>
                  <a:srgbClr val="1F1F1F"/>
                </a:solidFill>
                <a:highlight>
                  <a:srgbClr val="F8FAFD"/>
                </a:highlight>
              </a:rPr>
              <a:t>Training Set (</a:t>
            </a:r>
            <a:r>
              <a:rPr b="1" lang="en" sz="1050">
                <a:solidFill>
                  <a:srgbClr val="1F1F1F"/>
                </a:solidFill>
                <a:highlight>
                  <a:srgbClr val="F7F7F7"/>
                </a:highlight>
                <a:latin typeface="Roboto Mono"/>
                <a:ea typeface="Roboto Mono"/>
                <a:cs typeface="Roboto Mono"/>
                <a:sym typeface="Roboto Mono"/>
              </a:rPr>
              <a:t>X_train</a:t>
            </a:r>
            <a:r>
              <a:rPr b="1" lang="en" sz="1050">
                <a:solidFill>
                  <a:srgbClr val="1F1F1F"/>
                </a:solidFill>
                <a:highlight>
                  <a:srgbClr val="F8FAFD"/>
                </a:highlight>
              </a:rPr>
              <a:t>, </a:t>
            </a:r>
            <a:r>
              <a:rPr b="1" lang="en" sz="1050">
                <a:solidFill>
                  <a:srgbClr val="1F1F1F"/>
                </a:solidFill>
                <a:highlight>
                  <a:srgbClr val="F7F7F7"/>
                </a:highlight>
                <a:latin typeface="Roboto Mono"/>
                <a:ea typeface="Roboto Mono"/>
                <a:cs typeface="Roboto Mono"/>
                <a:sym typeface="Roboto Mono"/>
              </a:rPr>
              <a:t>y_train</a:t>
            </a:r>
            <a:r>
              <a:rPr b="1" lang="en" sz="1050">
                <a:solidFill>
                  <a:srgbClr val="1F1F1F"/>
                </a:solidFill>
                <a:highlight>
                  <a:srgbClr val="F8FAFD"/>
                </a:highlight>
              </a:rPr>
              <a:t>)</a:t>
            </a:r>
            <a:r>
              <a:rPr lang="en" sz="1050">
                <a:solidFill>
                  <a:srgbClr val="1F1F1F"/>
                </a:solidFill>
                <a:highlight>
                  <a:srgbClr val="F8FAFD"/>
                </a:highlight>
              </a:rPr>
              <a:t>: This subset is used to train the machine learning model. The model learns the relationships between the features (</a:t>
            </a:r>
            <a:r>
              <a:rPr lang="en" sz="1050">
                <a:solidFill>
                  <a:srgbClr val="1F1F1F"/>
                </a:solidFill>
                <a:highlight>
                  <a:srgbClr val="F7F7F7"/>
                </a:highlight>
                <a:latin typeface="Roboto Mono"/>
                <a:ea typeface="Roboto Mono"/>
                <a:cs typeface="Roboto Mono"/>
                <a:sym typeface="Roboto Mono"/>
              </a:rPr>
              <a:t>X_train</a:t>
            </a:r>
            <a:r>
              <a:rPr lang="en" sz="1050">
                <a:solidFill>
                  <a:srgbClr val="1F1F1F"/>
                </a:solidFill>
                <a:highlight>
                  <a:srgbClr val="F8FAFD"/>
                </a:highlight>
              </a:rPr>
              <a:t>) and the target variable (</a:t>
            </a:r>
            <a:r>
              <a:rPr lang="en" sz="1050">
                <a:solidFill>
                  <a:srgbClr val="1F1F1F"/>
                </a:solidFill>
                <a:highlight>
                  <a:srgbClr val="F7F7F7"/>
                </a:highlight>
                <a:latin typeface="Roboto Mono"/>
                <a:ea typeface="Roboto Mono"/>
                <a:cs typeface="Roboto Mono"/>
                <a:sym typeface="Roboto Mono"/>
              </a:rPr>
              <a:t>y_train</a:t>
            </a:r>
            <a:r>
              <a:rPr lang="en" sz="1050">
                <a:solidFill>
                  <a:srgbClr val="1F1F1F"/>
                </a:solidFill>
                <a:highlight>
                  <a:srgbClr val="F8FAFD"/>
                </a:highlight>
              </a:rPr>
              <a:t>) from this data.</a:t>
            </a:r>
            <a:endParaRPr sz="1050">
              <a:solidFill>
                <a:srgbClr val="1F1F1F"/>
              </a:solidFill>
              <a:highlight>
                <a:srgbClr val="F8FAFD"/>
              </a:highlight>
            </a:endParaRPr>
          </a:p>
          <a:p>
            <a:pPr indent="-285274" lvl="0" marL="457200" rtl="0" algn="l">
              <a:spcBef>
                <a:spcPts val="0"/>
              </a:spcBef>
              <a:spcAft>
                <a:spcPts val="0"/>
              </a:spcAft>
              <a:buClr>
                <a:srgbClr val="1F1F1F"/>
              </a:buClr>
              <a:buSzPct val="100000"/>
              <a:buAutoNum type="arabicPeriod"/>
            </a:pPr>
            <a:r>
              <a:rPr b="1" lang="en" sz="1050">
                <a:solidFill>
                  <a:srgbClr val="1F1F1F"/>
                </a:solidFill>
                <a:highlight>
                  <a:srgbClr val="F8FAFD"/>
                </a:highlight>
              </a:rPr>
              <a:t>Testing Set (</a:t>
            </a:r>
            <a:r>
              <a:rPr b="1" lang="en" sz="1050">
                <a:solidFill>
                  <a:srgbClr val="1F1F1F"/>
                </a:solidFill>
                <a:highlight>
                  <a:srgbClr val="F7F7F7"/>
                </a:highlight>
                <a:latin typeface="Roboto Mono"/>
                <a:ea typeface="Roboto Mono"/>
                <a:cs typeface="Roboto Mono"/>
                <a:sym typeface="Roboto Mono"/>
              </a:rPr>
              <a:t>X_test</a:t>
            </a:r>
            <a:r>
              <a:rPr b="1" lang="en" sz="1050">
                <a:solidFill>
                  <a:srgbClr val="1F1F1F"/>
                </a:solidFill>
                <a:highlight>
                  <a:srgbClr val="F8FAFD"/>
                </a:highlight>
              </a:rPr>
              <a:t>, </a:t>
            </a:r>
            <a:r>
              <a:rPr b="1" lang="en" sz="1050">
                <a:solidFill>
                  <a:srgbClr val="1F1F1F"/>
                </a:solidFill>
                <a:highlight>
                  <a:srgbClr val="F7F7F7"/>
                </a:highlight>
                <a:latin typeface="Roboto Mono"/>
                <a:ea typeface="Roboto Mono"/>
                <a:cs typeface="Roboto Mono"/>
                <a:sym typeface="Roboto Mono"/>
              </a:rPr>
              <a:t>y_test</a:t>
            </a:r>
            <a:r>
              <a:rPr b="1" lang="en" sz="1050">
                <a:solidFill>
                  <a:srgbClr val="1F1F1F"/>
                </a:solidFill>
                <a:highlight>
                  <a:srgbClr val="F8FAFD"/>
                </a:highlight>
              </a:rPr>
              <a:t>)</a:t>
            </a:r>
            <a:r>
              <a:rPr lang="en" sz="1050">
                <a:solidFill>
                  <a:srgbClr val="1F1F1F"/>
                </a:solidFill>
                <a:highlight>
                  <a:srgbClr val="F8FAFD"/>
                </a:highlight>
              </a:rPr>
              <a:t>: This subset is used to evaluate the performance of the trained model on data it has not seen before. The model makes predictions on </a:t>
            </a:r>
            <a:r>
              <a:rPr lang="en" sz="1050">
                <a:solidFill>
                  <a:srgbClr val="1F1F1F"/>
                </a:solidFill>
                <a:highlight>
                  <a:srgbClr val="F7F7F7"/>
                </a:highlight>
                <a:latin typeface="Roboto Mono"/>
                <a:ea typeface="Roboto Mono"/>
                <a:cs typeface="Roboto Mono"/>
                <a:sym typeface="Roboto Mono"/>
              </a:rPr>
              <a:t>X_test</a:t>
            </a:r>
            <a:r>
              <a:rPr lang="en" sz="1050">
                <a:solidFill>
                  <a:srgbClr val="1F1F1F"/>
                </a:solidFill>
                <a:highlight>
                  <a:srgbClr val="F8FAFD"/>
                </a:highlight>
              </a:rPr>
              <a:t>, and these predictions are compared to the actual values in </a:t>
            </a:r>
            <a:r>
              <a:rPr lang="en" sz="1050">
                <a:solidFill>
                  <a:srgbClr val="1F1F1F"/>
                </a:solidFill>
                <a:highlight>
                  <a:srgbClr val="F7F7F7"/>
                </a:highlight>
                <a:latin typeface="Roboto Mono"/>
                <a:ea typeface="Roboto Mono"/>
                <a:cs typeface="Roboto Mono"/>
                <a:sym typeface="Roboto Mono"/>
              </a:rPr>
              <a:t>y_test</a:t>
            </a:r>
            <a:r>
              <a:rPr lang="en" sz="1050">
                <a:solidFill>
                  <a:srgbClr val="1F1F1F"/>
                </a:solidFill>
                <a:highlight>
                  <a:srgbClr val="F8FAFD"/>
                </a:highlight>
              </a:rPr>
              <a:t> to assess how well the model generalizes.</a:t>
            </a:r>
            <a:endParaRPr sz="1050">
              <a:solidFill>
                <a:srgbClr val="1F1F1F"/>
              </a:solidFill>
              <a:highlight>
                <a:srgbClr val="F8FAFD"/>
              </a:highlight>
            </a:endParaRPr>
          </a:p>
          <a:p>
            <a:pPr indent="0" lvl="0" marL="0" rtl="0" algn="l">
              <a:spcBef>
                <a:spcPts val="600"/>
              </a:spcBef>
              <a:spcAft>
                <a:spcPts val="0"/>
              </a:spcAft>
              <a:buClr>
                <a:schemeClr val="dk1"/>
              </a:buClr>
              <a:buSzPct val="104762"/>
              <a:buFont typeface="Arial"/>
              <a:buNone/>
            </a:pPr>
            <a:r>
              <a:rPr lang="en" sz="1050">
                <a:solidFill>
                  <a:srgbClr val="1F1F1F"/>
                </a:solidFill>
                <a:highlight>
                  <a:srgbClr val="F8FAFD"/>
                </a:highlight>
              </a:rPr>
              <a:t>In this specific case, </a:t>
            </a:r>
            <a:r>
              <a:rPr lang="en" sz="1050">
                <a:solidFill>
                  <a:srgbClr val="1F1F1F"/>
                </a:solidFill>
                <a:highlight>
                  <a:srgbClr val="D9D2E9"/>
                </a:highlight>
                <a:latin typeface="Roboto Mono"/>
                <a:ea typeface="Roboto Mono"/>
                <a:cs typeface="Roboto Mono"/>
                <a:sym typeface="Roboto Mono"/>
              </a:rPr>
              <a:t>test_size=0.2</a:t>
            </a:r>
            <a:r>
              <a:rPr lang="en" sz="1050">
                <a:solidFill>
                  <a:srgbClr val="1F1F1F"/>
                </a:solidFill>
                <a:highlight>
                  <a:srgbClr val="D9D2E9"/>
                </a:highlight>
              </a:rPr>
              <a:t> means that 20% of the data was allocated to the testing set, and the remaining 80% was used for the training set. The </a:t>
            </a:r>
            <a:r>
              <a:rPr lang="en" sz="1050">
                <a:solidFill>
                  <a:srgbClr val="1F1F1F"/>
                </a:solidFill>
                <a:highlight>
                  <a:srgbClr val="D9D2E9"/>
                </a:highlight>
                <a:latin typeface="Roboto Mono"/>
                <a:ea typeface="Roboto Mono"/>
                <a:cs typeface="Roboto Mono"/>
                <a:sym typeface="Roboto Mono"/>
              </a:rPr>
              <a:t>random_state=42</a:t>
            </a:r>
            <a:r>
              <a:rPr lang="en" sz="1050">
                <a:solidFill>
                  <a:srgbClr val="1F1F1F"/>
                </a:solidFill>
                <a:highlight>
                  <a:srgbClr val="D9D2E9"/>
                </a:highlight>
              </a:rPr>
              <a:t> ensures that the split is the same every time the code is run, making the results reproducible.</a:t>
            </a:r>
            <a:endParaRPr sz="1050">
              <a:solidFill>
                <a:srgbClr val="1F1F1F"/>
              </a:solidFill>
              <a:highlight>
                <a:srgbClr val="D9D2E9"/>
              </a:highlight>
            </a:endParaRPr>
          </a:p>
          <a:p>
            <a:pPr indent="0" lvl="0" marL="0" rtl="0" algn="l">
              <a:spcBef>
                <a:spcPts val="600"/>
              </a:spcBef>
              <a:spcAft>
                <a:spcPts val="0"/>
              </a:spcAft>
              <a:buClr>
                <a:schemeClr val="dk1"/>
              </a:buClr>
              <a:buSzPct val="104762"/>
              <a:buFont typeface="Arial"/>
              <a:buNone/>
            </a:pPr>
            <a:r>
              <a:rPr lang="en" sz="1050">
                <a:solidFill>
                  <a:srgbClr val="1F1F1F"/>
                </a:solidFill>
                <a:highlight>
                  <a:srgbClr val="F8FAFD"/>
                </a:highlight>
              </a:rPr>
              <a:t>So, </a:t>
            </a:r>
            <a:r>
              <a:rPr lang="en" sz="1050">
                <a:solidFill>
                  <a:srgbClr val="1F1F1F"/>
                </a:solidFill>
                <a:highlight>
                  <a:srgbClr val="F7F7F7"/>
                </a:highlight>
                <a:latin typeface="Roboto Mono"/>
                <a:ea typeface="Roboto Mono"/>
                <a:cs typeface="Roboto Mono"/>
                <a:sym typeface="Roboto Mono"/>
              </a:rPr>
              <a:t>X_test</a:t>
            </a:r>
            <a:r>
              <a:rPr lang="en" sz="1050">
                <a:solidFill>
                  <a:srgbClr val="1F1F1F"/>
                </a:solidFill>
                <a:highlight>
                  <a:srgbClr val="F8FAFD"/>
                </a:highlight>
              </a:rPr>
              <a:t> contains the features for the testing data, and </a:t>
            </a:r>
            <a:r>
              <a:rPr lang="en" sz="1050">
                <a:solidFill>
                  <a:srgbClr val="1F1F1F"/>
                </a:solidFill>
                <a:highlight>
                  <a:srgbClr val="F7F7F7"/>
                </a:highlight>
                <a:latin typeface="Roboto Mono"/>
                <a:ea typeface="Roboto Mono"/>
                <a:cs typeface="Roboto Mono"/>
                <a:sym typeface="Roboto Mono"/>
              </a:rPr>
              <a:t>y_train</a:t>
            </a:r>
            <a:r>
              <a:rPr lang="en" sz="1050">
                <a:solidFill>
                  <a:srgbClr val="1F1F1F"/>
                </a:solidFill>
                <a:highlight>
                  <a:srgbClr val="F8FAFD"/>
                </a:highlight>
              </a:rPr>
              <a:t> contains the target variable (body mass) for the training data.</a:t>
            </a:r>
            <a:endParaRPr sz="1050">
              <a:solidFill>
                <a:srgbClr val="1F1F1F"/>
              </a:solidFill>
              <a:highlight>
                <a:srgbClr val="F8FAFD"/>
              </a:highlight>
            </a:endParaRPr>
          </a:p>
          <a:p>
            <a:pPr indent="0" lvl="0" marL="0" rtl="0" algn="l">
              <a:spcBef>
                <a:spcPts val="600"/>
              </a:spcBef>
              <a:spcAft>
                <a:spcPts val="1200"/>
              </a:spcAft>
              <a:buNone/>
            </a:pPr>
            <a:r>
              <a:t/>
            </a:r>
            <a:endParaRPr/>
          </a:p>
        </p:txBody>
      </p:sp>
      <p:pic>
        <p:nvPicPr>
          <p:cNvPr id="147" name="Google Shape;147;p24"/>
          <p:cNvPicPr preferRelativeResize="0"/>
          <p:nvPr/>
        </p:nvPicPr>
        <p:blipFill>
          <a:blip r:embed="rId3">
            <a:alphaModFix/>
          </a:blip>
          <a:stretch>
            <a:fillRect/>
          </a:stretch>
        </p:blipFill>
        <p:spPr>
          <a:xfrm>
            <a:off x="117951" y="-49975"/>
            <a:ext cx="4249924" cy="5143500"/>
          </a:xfrm>
          <a:prstGeom prst="rect">
            <a:avLst/>
          </a:prstGeom>
          <a:noFill/>
          <a:ln>
            <a:noFill/>
          </a:ln>
        </p:spPr>
      </p:pic>
      <p:sp>
        <p:nvSpPr>
          <p:cNvPr id="148" name="Google Shape;14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regression results</a:t>
            </a:r>
            <a:endParaRPr/>
          </a:p>
        </p:txBody>
      </p:sp>
      <p:sp>
        <p:nvSpPr>
          <p:cNvPr id="154" name="Google Shape;154;p25"/>
          <p:cNvSpPr txBox="1"/>
          <p:nvPr>
            <p:ph idx="1" type="body"/>
          </p:nvPr>
        </p:nvSpPr>
        <p:spPr>
          <a:xfrm>
            <a:off x="311700" y="989975"/>
            <a:ext cx="5062500" cy="3416400"/>
          </a:xfrm>
          <a:prstGeom prst="rect">
            <a:avLst/>
          </a:prstGeom>
        </p:spPr>
        <p:txBody>
          <a:bodyPr anchorCtr="0" anchor="t" bIns="91425" lIns="91425" spcFirstLastPara="1" rIns="91425" wrap="square" tIns="91425">
            <a:noAutofit/>
          </a:bodyPr>
          <a:lstStyle/>
          <a:p>
            <a:pPr indent="-271621" lvl="0" marL="457200" rtl="0" algn="l">
              <a:lnSpc>
                <a:spcPct val="105000"/>
              </a:lnSpc>
              <a:spcBef>
                <a:spcPts val="600"/>
              </a:spcBef>
              <a:spcAft>
                <a:spcPts val="0"/>
              </a:spcAft>
              <a:buClr>
                <a:srgbClr val="1F1F1F"/>
              </a:buClr>
              <a:buSzPts val="678"/>
              <a:buChar char="●"/>
            </a:pPr>
            <a:r>
              <a:rPr b="1" lang="en" sz="678">
                <a:solidFill>
                  <a:srgbClr val="1F1F1F"/>
                </a:solidFill>
                <a:highlight>
                  <a:srgbClr val="F7F7F7"/>
                </a:highlight>
                <a:latin typeface="Roboto Mono"/>
                <a:ea typeface="Roboto Mono"/>
                <a:cs typeface="Roboto Mono"/>
                <a:sym typeface="Roboto Mono"/>
              </a:rPr>
              <a:t>Training set: (266, 11)</a:t>
            </a:r>
            <a:r>
              <a:rPr lang="en" sz="678">
                <a:solidFill>
                  <a:srgbClr val="1F1F1F"/>
                </a:solidFill>
                <a:highlight>
                  <a:srgbClr val="F8FAFD"/>
                </a:highlight>
              </a:rPr>
              <a:t> and </a:t>
            </a:r>
            <a:r>
              <a:rPr b="1" lang="en" sz="678">
                <a:solidFill>
                  <a:srgbClr val="1F1F1F"/>
                </a:solidFill>
                <a:highlight>
                  <a:srgbClr val="F7F7F7"/>
                </a:highlight>
                <a:latin typeface="Roboto Mono"/>
                <a:ea typeface="Roboto Mono"/>
                <a:cs typeface="Roboto Mono"/>
                <a:sym typeface="Roboto Mono"/>
              </a:rPr>
              <a:t>Testing set: (67, 11)</a:t>
            </a:r>
            <a:r>
              <a:rPr lang="en" sz="678">
                <a:solidFill>
                  <a:srgbClr val="1F1F1F"/>
                </a:solidFill>
                <a:highlight>
                  <a:srgbClr val="F8FAFD"/>
                </a:highlight>
              </a:rPr>
              <a:t>: This shows the size of the datasets used for training and testing the model. The training set has 266 samples (rows) and 11 features (columns), while the testing set has 67 samples and the same 11 features. The data was split so the model could learn from one portion (training) and be evaluated on unseen data (testing).</a:t>
            </a:r>
            <a:endParaRPr sz="678">
              <a:solidFill>
                <a:srgbClr val="1F1F1F"/>
              </a:solidFill>
              <a:highlight>
                <a:srgbClr val="F8FAFD"/>
              </a:highlight>
            </a:endParaRPr>
          </a:p>
          <a:p>
            <a:pPr indent="-271621" lvl="0" marL="457200" rtl="0" algn="l">
              <a:lnSpc>
                <a:spcPct val="105000"/>
              </a:lnSpc>
              <a:spcBef>
                <a:spcPts val="0"/>
              </a:spcBef>
              <a:spcAft>
                <a:spcPts val="0"/>
              </a:spcAft>
              <a:buClr>
                <a:srgbClr val="1F1F1F"/>
              </a:buClr>
              <a:buSzPts val="678"/>
              <a:buChar char="●"/>
            </a:pPr>
            <a:r>
              <a:rPr b="1" lang="en" sz="678">
                <a:solidFill>
                  <a:srgbClr val="1F1F1F"/>
                </a:solidFill>
                <a:highlight>
                  <a:srgbClr val="F7F7F7"/>
                </a:highlight>
                <a:latin typeface="Roboto Mono"/>
                <a:ea typeface="Roboto Mono"/>
                <a:cs typeface="Roboto Mono"/>
                <a:sym typeface="Roboto Mono"/>
              </a:rPr>
              <a:t>Model Performance:</a:t>
            </a:r>
            <a:r>
              <a:rPr lang="en" sz="678">
                <a:solidFill>
                  <a:srgbClr val="1F1F1F"/>
                </a:solidFill>
                <a:highlight>
                  <a:srgbClr val="F8FAFD"/>
                </a:highlight>
              </a:rPr>
              <a:t>: This section provides metrics to evaluate how well the linear regression model performed in predicting penguin body mass.</a:t>
            </a:r>
            <a:endParaRPr sz="678">
              <a:solidFill>
                <a:srgbClr val="1F1F1F"/>
              </a:solidFill>
              <a:highlight>
                <a:srgbClr val="F8FAFD"/>
              </a:highlight>
            </a:endParaRPr>
          </a:p>
          <a:p>
            <a:pPr indent="-271621" lvl="1" marL="914400" rtl="0" algn="l">
              <a:lnSpc>
                <a:spcPct val="105000"/>
              </a:lnSpc>
              <a:spcBef>
                <a:spcPts val="0"/>
              </a:spcBef>
              <a:spcAft>
                <a:spcPts val="0"/>
              </a:spcAft>
              <a:buClr>
                <a:srgbClr val="1F1F1F"/>
              </a:buClr>
              <a:buSzPts val="678"/>
              <a:buChar char="○"/>
            </a:pPr>
            <a:r>
              <a:rPr b="1" lang="en" sz="678">
                <a:solidFill>
                  <a:srgbClr val="1F1F1F"/>
                </a:solidFill>
                <a:highlight>
                  <a:srgbClr val="F7F7F7"/>
                </a:highlight>
                <a:latin typeface="Roboto Mono"/>
                <a:ea typeface="Roboto Mono"/>
                <a:cs typeface="Roboto Mono"/>
                <a:sym typeface="Roboto Mono"/>
              </a:rPr>
              <a:t>Mean Squared Error: 65407.59</a:t>
            </a:r>
            <a:r>
              <a:rPr lang="en" sz="678">
                <a:solidFill>
                  <a:srgbClr val="1F1F1F"/>
                </a:solidFill>
                <a:highlight>
                  <a:srgbClr val="F8FAFD"/>
                </a:highlight>
              </a:rPr>
              <a:t>: This is the average of the squared differences between the actual body mass values and the predicted body mass values. A lower MSE indicates a better fit. The value 65407.59 means that, on average,</a:t>
            </a:r>
            <a:r>
              <a:rPr lang="en" sz="678">
                <a:solidFill>
                  <a:srgbClr val="1F1F1F"/>
                </a:solidFill>
                <a:highlight>
                  <a:srgbClr val="D9D2E9"/>
                </a:highlight>
              </a:rPr>
              <a:t> the squared error of the predictions is quite large</a:t>
            </a:r>
            <a:r>
              <a:rPr lang="en" sz="678">
                <a:solidFill>
                  <a:srgbClr val="1F1F1F"/>
                </a:solidFill>
                <a:highlight>
                  <a:srgbClr val="F8FAFD"/>
                </a:highlight>
              </a:rPr>
              <a:t>, but the context of the target variable's range (body mass in grams) is important here.</a:t>
            </a:r>
            <a:endParaRPr sz="678">
              <a:solidFill>
                <a:srgbClr val="1F1F1F"/>
              </a:solidFill>
              <a:highlight>
                <a:srgbClr val="F8FAFD"/>
              </a:highlight>
            </a:endParaRPr>
          </a:p>
          <a:p>
            <a:pPr indent="-271621" lvl="1" marL="914400" rtl="0" algn="l">
              <a:lnSpc>
                <a:spcPct val="105000"/>
              </a:lnSpc>
              <a:spcBef>
                <a:spcPts val="0"/>
              </a:spcBef>
              <a:spcAft>
                <a:spcPts val="0"/>
              </a:spcAft>
              <a:buClr>
                <a:srgbClr val="1F1F1F"/>
              </a:buClr>
              <a:buSzPts val="678"/>
              <a:buChar char="○"/>
            </a:pPr>
            <a:r>
              <a:rPr b="1" lang="en" sz="678">
                <a:solidFill>
                  <a:srgbClr val="1F1F1F"/>
                </a:solidFill>
                <a:highlight>
                  <a:srgbClr val="F7F7F7"/>
                </a:highlight>
                <a:latin typeface="Roboto Mono"/>
                <a:ea typeface="Roboto Mono"/>
                <a:cs typeface="Roboto Mono"/>
                <a:sym typeface="Roboto Mono"/>
              </a:rPr>
              <a:t>R² Score: 0.896</a:t>
            </a:r>
            <a:r>
              <a:rPr lang="en" sz="678">
                <a:solidFill>
                  <a:srgbClr val="1F1F1F"/>
                </a:solidFill>
                <a:highlight>
                  <a:srgbClr val="F8FAFD"/>
                </a:highlight>
              </a:rPr>
              <a:t>:</a:t>
            </a:r>
            <a:r>
              <a:rPr lang="en" sz="678">
                <a:solidFill>
                  <a:srgbClr val="1F1F1F"/>
                </a:solidFill>
                <a:highlight>
                  <a:srgbClr val="D9D2E9"/>
                </a:highlight>
              </a:rPr>
              <a:t> The R-squared score, also known as the coefficient of determination, represents the proportion of the variance in the target variable (body mass) that is predictable from the features. An R-squared of 0.896 (or 89.6%) is quite high, indicating that about 89.6% of the variation in penguin body mass can be explained by the features included in the model. This suggests the model is a good fit for the data.</a:t>
            </a:r>
            <a:endParaRPr sz="678">
              <a:solidFill>
                <a:srgbClr val="1F1F1F"/>
              </a:solidFill>
              <a:highlight>
                <a:srgbClr val="D9D2E9"/>
              </a:highlight>
            </a:endParaRPr>
          </a:p>
          <a:p>
            <a:pPr indent="-271621" lvl="1" marL="914400" rtl="0" algn="l">
              <a:lnSpc>
                <a:spcPct val="105000"/>
              </a:lnSpc>
              <a:spcBef>
                <a:spcPts val="0"/>
              </a:spcBef>
              <a:spcAft>
                <a:spcPts val="0"/>
              </a:spcAft>
              <a:buClr>
                <a:srgbClr val="1F1F1F"/>
              </a:buClr>
              <a:buSzPts val="678"/>
              <a:buChar char="○"/>
            </a:pPr>
            <a:r>
              <a:rPr b="1" lang="en" sz="678">
                <a:solidFill>
                  <a:srgbClr val="1F1F1F"/>
                </a:solidFill>
                <a:highlight>
                  <a:srgbClr val="F7F7F7"/>
                </a:highlight>
                <a:latin typeface="Roboto Mono"/>
                <a:ea typeface="Roboto Mono"/>
                <a:cs typeface="Roboto Mono"/>
                <a:sym typeface="Roboto Mono"/>
              </a:rPr>
              <a:t>Root Mean Squared Error: 255.75</a:t>
            </a:r>
            <a:r>
              <a:rPr lang="en" sz="678">
                <a:solidFill>
                  <a:srgbClr val="1F1F1F"/>
                </a:solidFill>
                <a:highlight>
                  <a:srgbClr val="F8FAFD"/>
                </a:highlight>
              </a:rPr>
              <a:t>: This is the square root of the Mean Squared Error. It is in the same units as the target variable (grams). </a:t>
            </a:r>
            <a:r>
              <a:rPr lang="en" sz="678">
                <a:solidFill>
                  <a:srgbClr val="1F1F1F"/>
                </a:solidFill>
                <a:highlight>
                  <a:srgbClr val="D9D2E9"/>
                </a:highlight>
              </a:rPr>
              <a:t>An RMSE of 255.75 means that, on average, the model's predictions are off by about 255.75 grams. This gives a more intuitive sense of the typical error size than the MSE.</a:t>
            </a:r>
            <a:br>
              <a:rPr lang="en" sz="678">
                <a:solidFill>
                  <a:srgbClr val="1F1F1F"/>
                </a:solidFill>
                <a:highlight>
                  <a:srgbClr val="F8FAFD"/>
                </a:highlight>
              </a:rPr>
            </a:br>
            <a:endParaRPr sz="678">
              <a:solidFill>
                <a:srgbClr val="1F1F1F"/>
              </a:solidFill>
              <a:highlight>
                <a:srgbClr val="F8FAFD"/>
              </a:highlight>
            </a:endParaRPr>
          </a:p>
          <a:p>
            <a:pPr indent="-271621" lvl="0" marL="457200" rtl="0" algn="l">
              <a:lnSpc>
                <a:spcPct val="105000"/>
              </a:lnSpc>
              <a:spcBef>
                <a:spcPts val="0"/>
              </a:spcBef>
              <a:spcAft>
                <a:spcPts val="0"/>
              </a:spcAft>
              <a:buClr>
                <a:srgbClr val="1F1F1F"/>
              </a:buClr>
              <a:buSzPts val="678"/>
              <a:buChar char="●"/>
            </a:pPr>
            <a:r>
              <a:rPr b="1" lang="en" sz="678">
                <a:solidFill>
                  <a:srgbClr val="1F1F1F"/>
                </a:solidFill>
                <a:highlight>
                  <a:srgbClr val="F7F7F7"/>
                </a:highlight>
                <a:latin typeface="Roboto Mono"/>
                <a:ea typeface="Roboto Mono"/>
                <a:cs typeface="Roboto Mono"/>
                <a:sym typeface="Roboto Mono"/>
              </a:rPr>
              <a:t>Top 5 Most Important Features:</a:t>
            </a:r>
            <a:r>
              <a:rPr lang="en" sz="678">
                <a:solidFill>
                  <a:srgbClr val="1F1F1F"/>
                </a:solidFill>
                <a:highlight>
                  <a:srgbClr val="F8FAFD"/>
                </a:highlight>
              </a:rPr>
              <a:t>: This table shows the features that have the largest absolute coefficients in the linear regression model, indicating their relative influence on the predicted body mass.</a:t>
            </a:r>
            <a:endParaRPr sz="678">
              <a:solidFill>
                <a:srgbClr val="1F1F1F"/>
              </a:solidFill>
              <a:highlight>
                <a:srgbClr val="F8FAFD"/>
              </a:highlight>
            </a:endParaRPr>
          </a:p>
          <a:p>
            <a:pPr indent="-271621" lvl="1" marL="914400" rtl="0" algn="l">
              <a:lnSpc>
                <a:spcPct val="105000"/>
              </a:lnSpc>
              <a:spcBef>
                <a:spcPts val="0"/>
              </a:spcBef>
              <a:spcAft>
                <a:spcPts val="0"/>
              </a:spcAft>
              <a:buClr>
                <a:srgbClr val="1F1F1F"/>
              </a:buClr>
              <a:buSzPts val="678"/>
              <a:buChar char="○"/>
            </a:pPr>
            <a:r>
              <a:rPr lang="en" sz="678">
                <a:solidFill>
                  <a:srgbClr val="1F1F1F"/>
                </a:solidFill>
                <a:highlight>
                  <a:srgbClr val="F8FAFD"/>
                </a:highlight>
              </a:rPr>
              <a:t>The </a:t>
            </a:r>
            <a:r>
              <a:rPr lang="en" sz="678">
                <a:solidFill>
                  <a:srgbClr val="1F1F1F"/>
                </a:solidFill>
                <a:highlight>
                  <a:srgbClr val="F7F7F7"/>
                </a:highlight>
                <a:latin typeface="Roboto Mono"/>
                <a:ea typeface="Roboto Mono"/>
                <a:cs typeface="Roboto Mono"/>
                <a:sym typeface="Roboto Mono"/>
              </a:rPr>
              <a:t>Coefficient</a:t>
            </a:r>
            <a:r>
              <a:rPr lang="en" sz="678">
                <a:solidFill>
                  <a:srgbClr val="1F1F1F"/>
                </a:solidFill>
                <a:highlight>
                  <a:srgbClr val="F8FAFD"/>
                </a:highlight>
              </a:rPr>
              <a:t> column shows the change in predicted body mass for a one-unit increase in the feature, holding all other features constant.</a:t>
            </a:r>
            <a:endParaRPr sz="678">
              <a:solidFill>
                <a:srgbClr val="1F1F1F"/>
              </a:solidFill>
              <a:highlight>
                <a:srgbClr val="F8FAFD"/>
              </a:highlight>
            </a:endParaRPr>
          </a:p>
          <a:p>
            <a:pPr indent="-271621" lvl="1" marL="914400" rtl="0" algn="l">
              <a:lnSpc>
                <a:spcPct val="105000"/>
              </a:lnSpc>
              <a:spcBef>
                <a:spcPts val="0"/>
              </a:spcBef>
              <a:spcAft>
                <a:spcPts val="0"/>
              </a:spcAft>
              <a:buClr>
                <a:srgbClr val="1F1F1F"/>
              </a:buClr>
              <a:buSzPts val="678"/>
              <a:buChar char="○"/>
            </a:pPr>
            <a:r>
              <a:rPr lang="en" sz="678">
                <a:solidFill>
                  <a:srgbClr val="1F1F1F"/>
                </a:solidFill>
                <a:highlight>
                  <a:srgbClr val="D9D2E9"/>
                </a:highlight>
                <a:latin typeface="Roboto Mono"/>
                <a:ea typeface="Roboto Mono"/>
                <a:cs typeface="Roboto Mono"/>
                <a:sym typeface="Roboto Mono"/>
              </a:rPr>
              <a:t>species_Gentoo</a:t>
            </a:r>
            <a:r>
              <a:rPr lang="en" sz="678">
                <a:solidFill>
                  <a:srgbClr val="1F1F1F"/>
                </a:solidFill>
                <a:highlight>
                  <a:srgbClr val="D9D2E9"/>
                </a:highlight>
              </a:rPr>
              <a:t>, </a:t>
            </a:r>
            <a:r>
              <a:rPr lang="en" sz="678">
                <a:solidFill>
                  <a:srgbClr val="1F1F1F"/>
                </a:solidFill>
                <a:highlight>
                  <a:srgbClr val="D9D2E9"/>
                </a:highlight>
                <a:latin typeface="Roboto Mono"/>
                <a:ea typeface="Roboto Mono"/>
                <a:cs typeface="Roboto Mono"/>
                <a:sym typeface="Roboto Mono"/>
              </a:rPr>
              <a:t>species_Chinstrap</a:t>
            </a:r>
            <a:r>
              <a:rPr lang="en" sz="678">
                <a:solidFill>
                  <a:srgbClr val="1F1F1F"/>
                </a:solidFill>
                <a:highlight>
                  <a:srgbClr val="D9D2E9"/>
                </a:highlight>
              </a:rPr>
              <a:t>, and </a:t>
            </a:r>
            <a:r>
              <a:rPr lang="en" sz="678">
                <a:solidFill>
                  <a:srgbClr val="1F1F1F"/>
                </a:solidFill>
                <a:highlight>
                  <a:srgbClr val="D9D2E9"/>
                </a:highlight>
                <a:latin typeface="Roboto Mono"/>
                <a:ea typeface="Roboto Mono"/>
                <a:cs typeface="Roboto Mono"/>
                <a:sym typeface="Roboto Mono"/>
              </a:rPr>
              <a:t>species_Adelie</a:t>
            </a:r>
            <a:r>
              <a:rPr lang="en" sz="678">
                <a:solidFill>
                  <a:srgbClr val="1F1F1F"/>
                </a:solidFill>
                <a:highlight>
                  <a:srgbClr val="D9D2E9"/>
                </a:highlight>
              </a:rPr>
              <a:t> have the largest coefficients by far. This suggests that the species of the penguin is a very strong predictor of its body mass. Gentoo penguins have the largest positive coefficient, indicating they tend to have significantly higher body mass compared to the baseline (or the other species when using one-hot encoding in this way). Chinstrap and Adelie penguins have negative coefficients, indicating they tend to have lower body mass compared to Gentoo penguins.</a:t>
            </a:r>
            <a:endParaRPr sz="678">
              <a:solidFill>
                <a:srgbClr val="1F1F1F"/>
              </a:solidFill>
              <a:highlight>
                <a:srgbClr val="D9D2E9"/>
              </a:highlight>
            </a:endParaRPr>
          </a:p>
          <a:p>
            <a:pPr indent="-271621" lvl="1" marL="914400" rtl="0" algn="l">
              <a:lnSpc>
                <a:spcPct val="105000"/>
              </a:lnSpc>
              <a:spcBef>
                <a:spcPts val="0"/>
              </a:spcBef>
              <a:spcAft>
                <a:spcPts val="0"/>
              </a:spcAft>
              <a:buClr>
                <a:srgbClr val="1F1F1F"/>
              </a:buClr>
              <a:buSzPts val="678"/>
              <a:buChar char="○"/>
            </a:pPr>
            <a:r>
              <a:rPr lang="en" sz="678">
                <a:solidFill>
                  <a:srgbClr val="1F1F1F"/>
                </a:solidFill>
                <a:highlight>
                  <a:srgbClr val="D9D2E9"/>
                </a:highlight>
                <a:latin typeface="Roboto Mono"/>
                <a:ea typeface="Roboto Mono"/>
                <a:cs typeface="Roboto Mono"/>
                <a:sym typeface="Roboto Mono"/>
              </a:rPr>
              <a:t>sex_Male</a:t>
            </a:r>
            <a:r>
              <a:rPr lang="en" sz="678">
                <a:solidFill>
                  <a:srgbClr val="1F1F1F"/>
                </a:solidFill>
                <a:highlight>
                  <a:srgbClr val="D9D2E9"/>
                </a:highlight>
              </a:rPr>
              <a:t> and </a:t>
            </a:r>
            <a:r>
              <a:rPr lang="en" sz="678">
                <a:solidFill>
                  <a:srgbClr val="1F1F1F"/>
                </a:solidFill>
                <a:highlight>
                  <a:srgbClr val="D9D2E9"/>
                </a:highlight>
                <a:latin typeface="Roboto Mono"/>
                <a:ea typeface="Roboto Mono"/>
                <a:cs typeface="Roboto Mono"/>
                <a:sym typeface="Roboto Mono"/>
              </a:rPr>
              <a:t>sex_Female</a:t>
            </a:r>
            <a:r>
              <a:rPr lang="en" sz="678">
                <a:solidFill>
                  <a:srgbClr val="1F1F1F"/>
                </a:solidFill>
                <a:highlight>
                  <a:srgbClr val="D9D2E9"/>
                </a:highlight>
              </a:rPr>
              <a:t> also have relatively large coefficients, suggesting that sex is another important factor influencing body mass, with males generally having higher body mass than females.</a:t>
            </a:r>
            <a:endParaRPr sz="678">
              <a:solidFill>
                <a:srgbClr val="1F1F1F"/>
              </a:solidFill>
              <a:highlight>
                <a:srgbClr val="D9D2E9"/>
              </a:highlight>
            </a:endParaRPr>
          </a:p>
          <a:p>
            <a:pPr indent="0" lvl="0" marL="0" rtl="0" algn="l">
              <a:lnSpc>
                <a:spcPct val="105000"/>
              </a:lnSpc>
              <a:spcBef>
                <a:spcPts val="1200"/>
              </a:spcBef>
              <a:spcAft>
                <a:spcPts val="0"/>
              </a:spcAft>
              <a:buClr>
                <a:schemeClr val="dk1"/>
              </a:buClr>
              <a:buSzPts val="605"/>
              <a:buFont typeface="Arial"/>
              <a:buNone/>
            </a:pPr>
            <a:r>
              <a:rPr lang="en" sz="678">
                <a:solidFill>
                  <a:srgbClr val="1F1F1F"/>
                </a:solidFill>
                <a:highlight>
                  <a:srgbClr val="F8FAFD"/>
                </a:highlight>
              </a:rPr>
              <a:t>In summary, the linear regression model performed well in predicting penguin body mass, with species being the most influential factor, followed by sex.</a:t>
            </a:r>
            <a:endParaRPr sz="678">
              <a:solidFill>
                <a:srgbClr val="1F1F1F"/>
              </a:solidFill>
              <a:highlight>
                <a:srgbClr val="F8FAFD"/>
              </a:highlight>
            </a:endParaRPr>
          </a:p>
          <a:p>
            <a:pPr indent="0" lvl="0" marL="0" rtl="0" algn="l">
              <a:lnSpc>
                <a:spcPct val="105000"/>
              </a:lnSpc>
              <a:spcBef>
                <a:spcPts val="600"/>
              </a:spcBef>
              <a:spcAft>
                <a:spcPts val="1200"/>
              </a:spcAft>
              <a:buSzPts val="605"/>
              <a:buNone/>
            </a:pPr>
            <a:r>
              <a:t/>
            </a:r>
            <a:endParaRPr sz="1090"/>
          </a:p>
        </p:txBody>
      </p:sp>
      <p:pic>
        <p:nvPicPr>
          <p:cNvPr id="155" name="Google Shape;155;p25"/>
          <p:cNvPicPr preferRelativeResize="0"/>
          <p:nvPr/>
        </p:nvPicPr>
        <p:blipFill>
          <a:blip r:embed="rId3">
            <a:alphaModFix/>
          </a:blip>
          <a:stretch>
            <a:fillRect/>
          </a:stretch>
        </p:blipFill>
        <p:spPr>
          <a:xfrm>
            <a:off x="6555125" y="47475"/>
            <a:ext cx="2381300" cy="2427425"/>
          </a:xfrm>
          <a:prstGeom prst="rect">
            <a:avLst/>
          </a:prstGeom>
          <a:noFill/>
          <a:ln>
            <a:noFill/>
          </a:ln>
        </p:spPr>
      </p:pic>
      <p:pic>
        <p:nvPicPr>
          <p:cNvPr id="156" name="Google Shape;156;p25"/>
          <p:cNvPicPr preferRelativeResize="0"/>
          <p:nvPr/>
        </p:nvPicPr>
        <p:blipFill>
          <a:blip r:embed="rId4">
            <a:alphaModFix/>
          </a:blip>
          <a:stretch>
            <a:fillRect/>
          </a:stretch>
        </p:blipFill>
        <p:spPr>
          <a:xfrm>
            <a:off x="5964075" y="2614800"/>
            <a:ext cx="2095500" cy="2009775"/>
          </a:xfrm>
          <a:prstGeom prst="rect">
            <a:avLst/>
          </a:prstGeom>
          <a:noFill/>
          <a:ln>
            <a:noFill/>
          </a:ln>
        </p:spPr>
      </p:pic>
      <p:sp>
        <p:nvSpPr>
          <p:cNvPr id="157" name="Google Shape;15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regression visualiation</a:t>
            </a:r>
            <a:endParaRPr/>
          </a:p>
        </p:txBody>
      </p:sp>
      <p:pic>
        <p:nvPicPr>
          <p:cNvPr id="163" name="Google Shape;163;p26"/>
          <p:cNvPicPr preferRelativeResize="0"/>
          <p:nvPr/>
        </p:nvPicPr>
        <p:blipFill>
          <a:blip r:embed="rId3">
            <a:alphaModFix/>
          </a:blip>
          <a:stretch>
            <a:fillRect/>
          </a:stretch>
        </p:blipFill>
        <p:spPr>
          <a:xfrm>
            <a:off x="152400" y="2627300"/>
            <a:ext cx="5819537" cy="2363799"/>
          </a:xfrm>
          <a:prstGeom prst="rect">
            <a:avLst/>
          </a:prstGeom>
          <a:noFill/>
          <a:ln>
            <a:noFill/>
          </a:ln>
        </p:spPr>
      </p:pic>
      <p:pic>
        <p:nvPicPr>
          <p:cNvPr id="164" name="Google Shape;164;p26"/>
          <p:cNvPicPr preferRelativeResize="0"/>
          <p:nvPr/>
        </p:nvPicPr>
        <p:blipFill>
          <a:blip r:embed="rId4">
            <a:alphaModFix/>
          </a:blip>
          <a:stretch>
            <a:fillRect/>
          </a:stretch>
        </p:blipFill>
        <p:spPr>
          <a:xfrm>
            <a:off x="5699050" y="763649"/>
            <a:ext cx="3292550" cy="3146925"/>
          </a:xfrm>
          <a:prstGeom prst="rect">
            <a:avLst/>
          </a:prstGeom>
          <a:noFill/>
          <a:ln>
            <a:noFill/>
          </a:ln>
        </p:spPr>
      </p:pic>
      <p:sp>
        <p:nvSpPr>
          <p:cNvPr id="165" name="Google Shape;16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correlation</a:t>
            </a:r>
            <a:endParaRPr/>
          </a:p>
        </p:txBody>
      </p:sp>
      <p:sp>
        <p:nvSpPr>
          <p:cNvPr id="171" name="Google Shape;17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72" name="Google Shape;172;p27"/>
          <p:cNvSpPr txBox="1"/>
          <p:nvPr/>
        </p:nvSpPr>
        <p:spPr>
          <a:xfrm>
            <a:off x="150000" y="1187450"/>
            <a:ext cx="5555400" cy="32733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rPr lang="en" sz="800">
                <a:solidFill>
                  <a:srgbClr val="008000"/>
                </a:solidFill>
                <a:highlight>
                  <a:srgbClr val="F7F7F7"/>
                </a:highlight>
                <a:latin typeface="Courier New"/>
                <a:ea typeface="Courier New"/>
                <a:cs typeface="Courier New"/>
                <a:sym typeface="Courier New"/>
              </a:rPr>
              <a:t># Cell 9: Basic Statistical Analysis</a:t>
            </a:r>
            <a:endParaRPr sz="8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A31515"/>
                </a:solidFill>
                <a:highlight>
                  <a:srgbClr val="F7F7F7"/>
                </a:highlight>
                <a:latin typeface="Courier New"/>
                <a:ea typeface="Courier New"/>
                <a:cs typeface="Courier New"/>
                <a:sym typeface="Courier New"/>
              </a:rPr>
              <a:t>"""</a:t>
            </a:r>
            <a:endParaRPr sz="8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A31515"/>
                </a:solidFill>
                <a:highlight>
                  <a:srgbClr val="F7F7F7"/>
                </a:highlight>
                <a:latin typeface="Courier New"/>
                <a:ea typeface="Courier New"/>
                <a:cs typeface="Courier New"/>
                <a:sym typeface="Courier New"/>
              </a:rPr>
              <a:t>BASIC STATISTICAL ANALYSIS</a:t>
            </a:r>
            <a:endParaRPr sz="8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A31515"/>
                </a:solidFill>
                <a:highlight>
                  <a:srgbClr val="F7F7F7"/>
                </a:highlight>
                <a:latin typeface="Courier New"/>
                <a:ea typeface="Courier New"/>
                <a:cs typeface="Courier New"/>
                <a:sym typeface="Courier New"/>
              </a:rPr>
              <a:t>"""</a:t>
            </a:r>
            <a:endParaRPr sz="8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 CORRELATION ANALYSIS ==="</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008000"/>
                </a:solidFill>
                <a:highlight>
                  <a:srgbClr val="F7F7F7"/>
                </a:highlight>
                <a:latin typeface="Courier New"/>
                <a:ea typeface="Courier New"/>
                <a:cs typeface="Courier New"/>
                <a:sym typeface="Courier New"/>
              </a:rPr>
              <a:t># Calculate correlations</a:t>
            </a:r>
            <a:endParaRPr sz="8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chemeClr val="dk1"/>
                </a:solidFill>
                <a:highlight>
                  <a:srgbClr val="F7F7F7"/>
                </a:highlight>
                <a:latin typeface="Courier New"/>
                <a:ea typeface="Courier New"/>
                <a:cs typeface="Courier New"/>
                <a:sym typeface="Courier New"/>
              </a:rPr>
              <a:t>numeric_cols = [</a:t>
            </a:r>
            <a:r>
              <a:rPr lang="en" sz="800">
                <a:solidFill>
                  <a:srgbClr val="A31515"/>
                </a:solidFill>
                <a:highlight>
                  <a:srgbClr val="F7F7F7"/>
                </a:highlight>
                <a:latin typeface="Courier New"/>
                <a:ea typeface="Courier New"/>
                <a:cs typeface="Courier New"/>
                <a:sym typeface="Courier New"/>
              </a:rPr>
              <a:t>'bill_length_mm'</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'bill_depth_mm'</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'flipper_length_mm'</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'body_mass_g'</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chemeClr val="dk1"/>
                </a:solidFill>
                <a:highlight>
                  <a:srgbClr val="F7F7F7"/>
                </a:highlight>
                <a:latin typeface="Courier New"/>
                <a:ea typeface="Courier New"/>
                <a:cs typeface="Courier New"/>
                <a:sym typeface="Courier New"/>
              </a:rPr>
              <a:t>correlations = penguins_clean[numeric_cols].corr()</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"Correlation matrix:"</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(correlations.</a:t>
            </a:r>
            <a:r>
              <a:rPr lang="en" sz="800">
                <a:solidFill>
                  <a:srgbClr val="6A5221"/>
                </a:solidFill>
                <a:highlight>
                  <a:srgbClr val="F7F7F7"/>
                </a:highlight>
                <a:latin typeface="Courier New"/>
                <a:ea typeface="Courier New"/>
                <a:cs typeface="Courier New"/>
                <a:sym typeface="Courier New"/>
              </a:rPr>
              <a:t>round</a:t>
            </a:r>
            <a:r>
              <a:rPr lang="en" sz="800">
                <a:solidFill>
                  <a:schemeClr val="dk1"/>
                </a:solidFill>
                <a:highlight>
                  <a:srgbClr val="F7F7F7"/>
                </a:highlight>
                <a:latin typeface="Courier New"/>
                <a:ea typeface="Courier New"/>
                <a:cs typeface="Courier New"/>
                <a:sym typeface="Courier New"/>
              </a:rPr>
              <a:t>(</a:t>
            </a:r>
            <a:r>
              <a:rPr lang="en" sz="800">
                <a:solidFill>
                  <a:srgbClr val="116644"/>
                </a:solidFill>
                <a:highlight>
                  <a:srgbClr val="F7F7F7"/>
                </a:highlight>
                <a:latin typeface="Courier New"/>
                <a:ea typeface="Courier New"/>
                <a:cs typeface="Courier New"/>
                <a:sym typeface="Courier New"/>
              </a:rPr>
              <a:t>3</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"\nCorrelations with body mass (sorted):"</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chemeClr val="dk1"/>
                </a:solidFill>
                <a:highlight>
                  <a:srgbClr val="F7F7F7"/>
                </a:highlight>
                <a:latin typeface="Courier New"/>
                <a:ea typeface="Courier New"/>
                <a:cs typeface="Courier New"/>
                <a:sym typeface="Courier New"/>
              </a:rPr>
              <a:t>body_mass_corr = correlations[</a:t>
            </a:r>
            <a:r>
              <a:rPr lang="en" sz="800">
                <a:solidFill>
                  <a:srgbClr val="A31515"/>
                </a:solidFill>
                <a:highlight>
                  <a:srgbClr val="F7F7F7"/>
                </a:highlight>
                <a:latin typeface="Courier New"/>
                <a:ea typeface="Courier New"/>
                <a:cs typeface="Courier New"/>
                <a:sym typeface="Courier New"/>
              </a:rPr>
              <a:t>'body_mass_g'</a:t>
            </a:r>
            <a:r>
              <a:rPr lang="en" sz="800">
                <a:solidFill>
                  <a:schemeClr val="dk1"/>
                </a:solidFill>
                <a:highlight>
                  <a:srgbClr val="F7F7F7"/>
                </a:highlight>
                <a:latin typeface="Courier New"/>
                <a:ea typeface="Courier New"/>
                <a:cs typeface="Courier New"/>
                <a:sym typeface="Courier New"/>
              </a:rPr>
              <a:t>].drop(</a:t>
            </a:r>
            <a:r>
              <a:rPr lang="en" sz="800">
                <a:solidFill>
                  <a:srgbClr val="A31515"/>
                </a:solidFill>
                <a:highlight>
                  <a:srgbClr val="F7F7F7"/>
                </a:highlight>
                <a:latin typeface="Courier New"/>
                <a:ea typeface="Courier New"/>
                <a:cs typeface="Courier New"/>
                <a:sym typeface="Courier New"/>
              </a:rPr>
              <a:t>'body_mass_g'</a:t>
            </a:r>
            <a:r>
              <a:rPr lang="en" sz="800">
                <a:solidFill>
                  <a:schemeClr val="dk1"/>
                </a:solidFill>
                <a:highlight>
                  <a:srgbClr val="F7F7F7"/>
                </a:highlight>
                <a:latin typeface="Courier New"/>
                <a:ea typeface="Courier New"/>
                <a:cs typeface="Courier New"/>
                <a:sym typeface="Courier New"/>
              </a:rPr>
              <a:t>).sort_values(ascending=</a:t>
            </a:r>
            <a:r>
              <a:rPr lang="en" sz="800">
                <a:solidFill>
                  <a:srgbClr val="0000FF"/>
                </a:solidFill>
                <a:highlight>
                  <a:srgbClr val="F7F7F7"/>
                </a:highlight>
                <a:latin typeface="Courier New"/>
                <a:ea typeface="Courier New"/>
                <a:cs typeface="Courier New"/>
                <a:sym typeface="Courier New"/>
              </a:rPr>
              <a:t>False</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(body_mass_corr.</a:t>
            </a:r>
            <a:r>
              <a:rPr lang="en" sz="800">
                <a:solidFill>
                  <a:srgbClr val="6A5221"/>
                </a:solidFill>
                <a:highlight>
                  <a:srgbClr val="F7F7F7"/>
                </a:highlight>
                <a:latin typeface="Courier New"/>
                <a:ea typeface="Courier New"/>
                <a:cs typeface="Courier New"/>
                <a:sym typeface="Courier New"/>
              </a:rPr>
              <a:t>round</a:t>
            </a:r>
            <a:r>
              <a:rPr lang="en" sz="800">
                <a:solidFill>
                  <a:schemeClr val="dk1"/>
                </a:solidFill>
                <a:highlight>
                  <a:srgbClr val="F7F7F7"/>
                </a:highlight>
                <a:latin typeface="Courier New"/>
                <a:ea typeface="Courier New"/>
                <a:cs typeface="Courier New"/>
                <a:sym typeface="Courier New"/>
              </a:rPr>
              <a:t>(</a:t>
            </a:r>
            <a:r>
              <a:rPr lang="en" sz="800">
                <a:solidFill>
                  <a:srgbClr val="116644"/>
                </a:solidFill>
                <a:highlight>
                  <a:srgbClr val="F7F7F7"/>
                </a:highlight>
                <a:latin typeface="Courier New"/>
                <a:ea typeface="Courier New"/>
                <a:cs typeface="Courier New"/>
                <a:sym typeface="Courier New"/>
              </a:rPr>
              <a:t>3</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p:txBody>
      </p:sp>
      <p:pic>
        <p:nvPicPr>
          <p:cNvPr id="173" name="Google Shape;173;p27"/>
          <p:cNvPicPr preferRelativeResize="0"/>
          <p:nvPr/>
        </p:nvPicPr>
        <p:blipFill>
          <a:blip r:embed="rId3">
            <a:alphaModFix/>
          </a:blip>
          <a:stretch>
            <a:fillRect/>
          </a:stretch>
        </p:blipFill>
        <p:spPr>
          <a:xfrm>
            <a:off x="5778421" y="2863475"/>
            <a:ext cx="2989200" cy="1632825"/>
          </a:xfrm>
          <a:prstGeom prst="rect">
            <a:avLst/>
          </a:prstGeom>
          <a:noFill/>
          <a:ln>
            <a:noFill/>
          </a:ln>
        </p:spPr>
      </p:pic>
      <p:sp>
        <p:nvSpPr>
          <p:cNvPr id="174" name="Google Shape;17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correlation</a:t>
            </a:r>
            <a:endParaRPr/>
          </a:p>
        </p:txBody>
      </p:sp>
      <p:sp>
        <p:nvSpPr>
          <p:cNvPr id="180" name="Google Shape;180;p28"/>
          <p:cNvSpPr txBox="1"/>
          <p:nvPr>
            <p:ph idx="1" type="body"/>
          </p:nvPr>
        </p:nvSpPr>
        <p:spPr>
          <a:xfrm>
            <a:off x="311700" y="1152475"/>
            <a:ext cx="5149800" cy="3416400"/>
          </a:xfrm>
          <a:prstGeom prst="rect">
            <a:avLst/>
          </a:prstGeom>
        </p:spPr>
        <p:txBody>
          <a:bodyPr anchorCtr="0" anchor="t" bIns="91425" lIns="91425" spcFirstLastPara="1" rIns="91425" wrap="square" tIns="91425">
            <a:normAutofit lnSpcReduction="20000"/>
          </a:bodyPr>
          <a:lstStyle/>
          <a:p>
            <a:pPr indent="-276225" lvl="0" marL="457200" rtl="0" algn="l">
              <a:spcBef>
                <a:spcPts val="60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Correlation matrix:</a:t>
            </a:r>
            <a:r>
              <a:rPr lang="en" sz="750">
                <a:solidFill>
                  <a:srgbClr val="1F1F1F"/>
                </a:solidFill>
                <a:highlight>
                  <a:srgbClr val="F8FAFD"/>
                </a:highlight>
              </a:rPr>
              <a:t>: This is a table that displays the pairwise correlation coefficients between each pair of numerical variables.</a:t>
            </a:r>
            <a:endParaRPr sz="750">
              <a:solidFill>
                <a:srgbClr val="1F1F1F"/>
              </a:solidFill>
              <a:highlight>
                <a:srgbClr val="F8FAFD"/>
              </a:highlight>
            </a:endParaRPr>
          </a:p>
          <a:p>
            <a:pPr indent="-276225" lvl="1" marL="914400" rtl="0" algn="l">
              <a:spcBef>
                <a:spcPts val="0"/>
              </a:spcBef>
              <a:spcAft>
                <a:spcPts val="0"/>
              </a:spcAft>
              <a:buClr>
                <a:srgbClr val="1F1F1F"/>
              </a:buClr>
              <a:buSzPts val="750"/>
              <a:buChar char="○"/>
            </a:pPr>
            <a:r>
              <a:rPr lang="en" sz="750">
                <a:solidFill>
                  <a:srgbClr val="1F1F1F"/>
                </a:solidFill>
                <a:highlight>
                  <a:srgbClr val="F8FAFD"/>
                </a:highlight>
              </a:rPr>
              <a:t>A correlation coefficient is a value between -1 and +1 that indicates the strength and direction of the linear relationship between two variables.</a:t>
            </a:r>
            <a:endParaRPr sz="750">
              <a:solidFill>
                <a:srgbClr val="1F1F1F"/>
              </a:solidFill>
              <a:highlight>
                <a:srgbClr val="F8FAFD"/>
              </a:highlight>
            </a:endParaRPr>
          </a:p>
          <a:p>
            <a:pPr indent="-276225" lvl="1" marL="914400" rtl="0" algn="l">
              <a:spcBef>
                <a:spcPts val="0"/>
              </a:spcBef>
              <a:spcAft>
                <a:spcPts val="0"/>
              </a:spcAft>
              <a:buClr>
                <a:srgbClr val="1F1F1F"/>
              </a:buClr>
              <a:buSzPts val="750"/>
              <a:buChar char="○"/>
            </a:pPr>
            <a:r>
              <a:rPr lang="en" sz="750">
                <a:solidFill>
                  <a:srgbClr val="1F1F1F"/>
                </a:solidFill>
                <a:highlight>
                  <a:srgbClr val="F8FAFD"/>
                </a:highlight>
              </a:rPr>
              <a:t>A value close to +1 indicates a strong positive linear relationship (as one variable increases, the other tends to increase).</a:t>
            </a:r>
            <a:endParaRPr sz="750">
              <a:solidFill>
                <a:srgbClr val="1F1F1F"/>
              </a:solidFill>
              <a:highlight>
                <a:srgbClr val="F8FAFD"/>
              </a:highlight>
            </a:endParaRPr>
          </a:p>
          <a:p>
            <a:pPr indent="-276225" lvl="1" marL="914400" rtl="0" algn="l">
              <a:spcBef>
                <a:spcPts val="0"/>
              </a:spcBef>
              <a:spcAft>
                <a:spcPts val="0"/>
              </a:spcAft>
              <a:buClr>
                <a:srgbClr val="1F1F1F"/>
              </a:buClr>
              <a:buSzPts val="750"/>
              <a:buChar char="○"/>
            </a:pPr>
            <a:r>
              <a:rPr lang="en" sz="750">
                <a:solidFill>
                  <a:srgbClr val="1F1F1F"/>
                </a:solidFill>
                <a:highlight>
                  <a:srgbClr val="F8FAFD"/>
                </a:highlight>
              </a:rPr>
              <a:t>A value close to -1 indicates a strong negative linear relationship (as one variable increases, the other tends to decrease).</a:t>
            </a:r>
            <a:endParaRPr sz="750">
              <a:solidFill>
                <a:srgbClr val="1F1F1F"/>
              </a:solidFill>
              <a:highlight>
                <a:srgbClr val="F8FAFD"/>
              </a:highlight>
            </a:endParaRPr>
          </a:p>
          <a:p>
            <a:pPr indent="-276225" lvl="1" marL="914400" rtl="0" algn="l">
              <a:spcBef>
                <a:spcPts val="0"/>
              </a:spcBef>
              <a:spcAft>
                <a:spcPts val="0"/>
              </a:spcAft>
              <a:buClr>
                <a:srgbClr val="1F1F1F"/>
              </a:buClr>
              <a:buSzPts val="750"/>
              <a:buChar char="○"/>
            </a:pPr>
            <a:r>
              <a:rPr lang="en" sz="750">
                <a:solidFill>
                  <a:srgbClr val="1F1F1F"/>
                </a:solidFill>
                <a:highlight>
                  <a:srgbClr val="F8FAFD"/>
                </a:highlight>
              </a:rPr>
              <a:t>A value close to 0 indicates a weak or no linear relationship.</a:t>
            </a:r>
            <a:endParaRPr sz="750">
              <a:solidFill>
                <a:srgbClr val="1F1F1F"/>
              </a:solidFill>
              <a:highlight>
                <a:srgbClr val="F8FAFD"/>
              </a:highlight>
            </a:endParaRPr>
          </a:p>
          <a:p>
            <a:pPr indent="-276225" lvl="1" marL="914400" rtl="0" algn="l">
              <a:spcBef>
                <a:spcPts val="0"/>
              </a:spcBef>
              <a:spcAft>
                <a:spcPts val="0"/>
              </a:spcAft>
              <a:buClr>
                <a:srgbClr val="1F1F1F"/>
              </a:buClr>
              <a:buSzPts val="750"/>
              <a:buChar char="○"/>
            </a:pPr>
            <a:r>
              <a:rPr lang="en" sz="750">
                <a:solidFill>
                  <a:srgbClr val="1F1F1F"/>
                </a:solidFill>
                <a:highlight>
                  <a:srgbClr val="F8FAFD"/>
                </a:highlight>
              </a:rPr>
              <a:t>The diagonal of the matrix is always 1.000 because a variable is perfectly correlated with itself.</a:t>
            </a:r>
            <a:endParaRPr sz="750">
              <a:solidFill>
                <a:srgbClr val="1F1F1F"/>
              </a:solidFill>
              <a:highlight>
                <a:srgbClr val="F8FAFD"/>
              </a:highlight>
            </a:endParaRPr>
          </a:p>
          <a:p>
            <a:pPr indent="-276225" lvl="1" marL="914400" rtl="0" algn="l">
              <a:spcBef>
                <a:spcPts val="0"/>
              </a:spcBef>
              <a:spcAft>
                <a:spcPts val="0"/>
              </a:spcAft>
              <a:buClr>
                <a:srgbClr val="1F1F1F"/>
              </a:buClr>
              <a:buSzPts val="750"/>
              <a:buChar char="○"/>
            </a:pPr>
            <a:r>
              <a:rPr lang="en" sz="750">
                <a:solidFill>
                  <a:srgbClr val="1F1F1F"/>
                </a:solidFill>
                <a:highlight>
                  <a:srgbClr val="D9D2E9"/>
                </a:highlight>
              </a:rPr>
              <a:t>For example, the correlation between </a:t>
            </a:r>
            <a:r>
              <a:rPr lang="en" sz="750">
                <a:solidFill>
                  <a:srgbClr val="1F1F1F"/>
                </a:solidFill>
                <a:highlight>
                  <a:srgbClr val="D9D2E9"/>
                </a:highlight>
                <a:latin typeface="Roboto Mono"/>
                <a:ea typeface="Roboto Mono"/>
                <a:cs typeface="Roboto Mono"/>
                <a:sym typeface="Roboto Mono"/>
              </a:rPr>
              <a:t>bill_length_mm</a:t>
            </a:r>
            <a:r>
              <a:rPr lang="en" sz="750">
                <a:solidFill>
                  <a:srgbClr val="1F1F1F"/>
                </a:solidFill>
                <a:highlight>
                  <a:srgbClr val="D9D2E9"/>
                </a:highlight>
              </a:rPr>
              <a:t> and </a:t>
            </a:r>
            <a:r>
              <a:rPr lang="en" sz="750">
                <a:solidFill>
                  <a:srgbClr val="1F1F1F"/>
                </a:solidFill>
                <a:highlight>
                  <a:srgbClr val="D9D2E9"/>
                </a:highlight>
                <a:latin typeface="Roboto Mono"/>
                <a:ea typeface="Roboto Mono"/>
                <a:cs typeface="Roboto Mono"/>
                <a:sym typeface="Roboto Mono"/>
              </a:rPr>
              <a:t>bill_depth_mm</a:t>
            </a:r>
            <a:r>
              <a:rPr lang="en" sz="750">
                <a:solidFill>
                  <a:srgbClr val="1F1F1F"/>
                </a:solidFill>
                <a:highlight>
                  <a:srgbClr val="D9D2E9"/>
                </a:highlight>
              </a:rPr>
              <a:t> is -0.229, suggesting a weak negative linear relationship. The correlation between </a:t>
            </a:r>
            <a:r>
              <a:rPr lang="en" sz="750">
                <a:solidFill>
                  <a:srgbClr val="1F1F1F"/>
                </a:solidFill>
                <a:highlight>
                  <a:srgbClr val="D9D2E9"/>
                </a:highlight>
                <a:latin typeface="Roboto Mono"/>
                <a:ea typeface="Roboto Mono"/>
                <a:cs typeface="Roboto Mono"/>
                <a:sym typeface="Roboto Mono"/>
              </a:rPr>
              <a:t>flipper_length_mm</a:t>
            </a:r>
            <a:r>
              <a:rPr lang="en" sz="750">
                <a:solidFill>
                  <a:srgbClr val="1F1F1F"/>
                </a:solidFill>
                <a:highlight>
                  <a:srgbClr val="D9D2E9"/>
                </a:highlight>
              </a:rPr>
              <a:t> and </a:t>
            </a:r>
            <a:r>
              <a:rPr lang="en" sz="750">
                <a:solidFill>
                  <a:srgbClr val="1F1F1F"/>
                </a:solidFill>
                <a:highlight>
                  <a:srgbClr val="D9D2E9"/>
                </a:highlight>
                <a:latin typeface="Roboto Mono"/>
                <a:ea typeface="Roboto Mono"/>
                <a:cs typeface="Roboto Mono"/>
                <a:sym typeface="Roboto Mono"/>
              </a:rPr>
              <a:t>body_mass_g</a:t>
            </a:r>
            <a:r>
              <a:rPr lang="en" sz="750">
                <a:solidFill>
                  <a:srgbClr val="1F1F1F"/>
                </a:solidFill>
                <a:highlight>
                  <a:srgbClr val="D9D2E9"/>
                </a:highlight>
              </a:rPr>
              <a:t> is 0.873, indicating a strong positive linear relationship.</a:t>
            </a:r>
            <a:endParaRPr sz="750">
              <a:solidFill>
                <a:srgbClr val="1F1F1F"/>
              </a:solidFill>
              <a:highlight>
                <a:srgbClr val="D9D2E9"/>
              </a:highlight>
            </a:endParaRPr>
          </a:p>
          <a:p>
            <a:pPr indent="-276225" lvl="0" marL="457200" rtl="0" algn="l">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Correlations with body mass (sorted):</a:t>
            </a:r>
            <a:r>
              <a:rPr lang="en" sz="750">
                <a:solidFill>
                  <a:srgbClr val="1F1F1F"/>
                </a:solidFill>
                <a:highlight>
                  <a:srgbClr val="F8FAFD"/>
                </a:highlight>
              </a:rPr>
              <a:t>: This section specifically shows the correlation coefficients between each of the other numerical features and </a:t>
            </a:r>
            <a:r>
              <a:rPr lang="en" sz="750">
                <a:solidFill>
                  <a:srgbClr val="1F1F1F"/>
                </a:solidFill>
                <a:highlight>
                  <a:srgbClr val="F7F7F7"/>
                </a:highlight>
                <a:latin typeface="Roboto Mono"/>
                <a:ea typeface="Roboto Mono"/>
                <a:cs typeface="Roboto Mono"/>
                <a:sym typeface="Roboto Mono"/>
              </a:rPr>
              <a:t>body_mass_g</a:t>
            </a:r>
            <a:r>
              <a:rPr lang="en" sz="750">
                <a:solidFill>
                  <a:srgbClr val="1F1F1F"/>
                </a:solidFill>
                <a:highlight>
                  <a:srgbClr val="F8FAFD"/>
                </a:highlight>
              </a:rPr>
              <a:t>, sorted from the strongest positive correlation to the strongest negative correlation.</a:t>
            </a:r>
            <a:endParaRPr sz="750">
              <a:solidFill>
                <a:srgbClr val="1F1F1F"/>
              </a:solidFill>
              <a:highlight>
                <a:srgbClr val="F8FAFD"/>
              </a:highlight>
            </a:endParaRPr>
          </a:p>
          <a:p>
            <a:pPr indent="-276225" lvl="1" marL="914400" rtl="0" algn="l">
              <a:spcBef>
                <a:spcPts val="0"/>
              </a:spcBef>
              <a:spcAft>
                <a:spcPts val="0"/>
              </a:spcAft>
              <a:buClr>
                <a:srgbClr val="1F1F1F"/>
              </a:buClr>
              <a:buSzPts val="750"/>
              <a:buChar char="○"/>
            </a:pPr>
            <a:r>
              <a:rPr b="1" lang="en" sz="750">
                <a:solidFill>
                  <a:srgbClr val="1F1F1F"/>
                </a:solidFill>
                <a:highlight>
                  <a:srgbClr val="D9D2E9"/>
                </a:highlight>
                <a:latin typeface="Roboto Mono"/>
                <a:ea typeface="Roboto Mono"/>
                <a:cs typeface="Roboto Mono"/>
                <a:sym typeface="Roboto Mono"/>
              </a:rPr>
              <a:t>flipper_length_mm 0.873</a:t>
            </a:r>
            <a:r>
              <a:rPr lang="en" sz="750">
                <a:solidFill>
                  <a:srgbClr val="1F1F1F"/>
                </a:solidFill>
                <a:highlight>
                  <a:srgbClr val="D9D2E9"/>
                </a:highlight>
              </a:rPr>
              <a:t>: This confirms that flipper length has a strong positive correlation with body mass. This means that penguins with longer flippers tend to have higher body mass.</a:t>
            </a:r>
            <a:endParaRPr sz="750">
              <a:solidFill>
                <a:srgbClr val="1F1F1F"/>
              </a:solidFill>
              <a:highlight>
                <a:srgbClr val="D9D2E9"/>
              </a:highlight>
            </a:endParaRPr>
          </a:p>
          <a:p>
            <a:pPr indent="-276225" lvl="1" marL="914400" rtl="0" algn="l">
              <a:spcBef>
                <a:spcPts val="0"/>
              </a:spcBef>
              <a:spcAft>
                <a:spcPts val="0"/>
              </a:spcAft>
              <a:buClr>
                <a:srgbClr val="1F1F1F"/>
              </a:buClr>
              <a:buSzPts val="750"/>
              <a:buChar char="○"/>
            </a:pPr>
            <a:r>
              <a:rPr b="1" lang="en" sz="750">
                <a:solidFill>
                  <a:srgbClr val="1F1F1F"/>
                </a:solidFill>
                <a:highlight>
                  <a:srgbClr val="D9D2E9"/>
                </a:highlight>
                <a:latin typeface="Roboto Mono"/>
                <a:ea typeface="Roboto Mono"/>
                <a:cs typeface="Roboto Mono"/>
                <a:sym typeface="Roboto Mono"/>
              </a:rPr>
              <a:t>bill_length_mm 0.589</a:t>
            </a:r>
            <a:r>
              <a:rPr lang="en" sz="750">
                <a:solidFill>
                  <a:srgbClr val="1F1F1F"/>
                </a:solidFill>
                <a:highlight>
                  <a:srgbClr val="D9D2E9"/>
                </a:highlight>
              </a:rPr>
              <a:t>: Bill length has a moderate positive correlation with body mass.</a:t>
            </a:r>
            <a:endParaRPr sz="750">
              <a:solidFill>
                <a:srgbClr val="1F1F1F"/>
              </a:solidFill>
              <a:highlight>
                <a:srgbClr val="D9D2E9"/>
              </a:highlight>
            </a:endParaRPr>
          </a:p>
          <a:p>
            <a:pPr indent="-276225" lvl="1" marL="914400" rtl="0" algn="l">
              <a:spcBef>
                <a:spcPts val="0"/>
              </a:spcBef>
              <a:spcAft>
                <a:spcPts val="0"/>
              </a:spcAft>
              <a:buClr>
                <a:srgbClr val="1F1F1F"/>
              </a:buClr>
              <a:buSzPts val="750"/>
              <a:buChar char="○"/>
            </a:pPr>
            <a:r>
              <a:rPr b="1" lang="en" sz="750">
                <a:solidFill>
                  <a:srgbClr val="1F1F1F"/>
                </a:solidFill>
                <a:highlight>
                  <a:srgbClr val="D9D2E9"/>
                </a:highlight>
                <a:latin typeface="Roboto Mono"/>
                <a:ea typeface="Roboto Mono"/>
                <a:cs typeface="Roboto Mono"/>
                <a:sym typeface="Roboto Mono"/>
              </a:rPr>
              <a:t>bill_depth_mm -0.472</a:t>
            </a:r>
            <a:r>
              <a:rPr lang="en" sz="750">
                <a:solidFill>
                  <a:srgbClr val="1F1F1F"/>
                </a:solidFill>
                <a:highlight>
                  <a:srgbClr val="D9D2E9"/>
                </a:highlight>
              </a:rPr>
              <a:t>: Bill depth has a moderate negative correlation with body mass. This means that penguins with deeper bills tend to have lower body mass (or vice versa).</a:t>
            </a:r>
            <a:endParaRPr sz="750">
              <a:solidFill>
                <a:srgbClr val="1F1F1F"/>
              </a:solidFill>
              <a:highlight>
                <a:srgbClr val="D9D2E9"/>
              </a:highlight>
            </a:endParaRPr>
          </a:p>
          <a:p>
            <a:pPr indent="0" lvl="0" marL="0" rtl="0" algn="l">
              <a:spcBef>
                <a:spcPts val="1200"/>
              </a:spcBef>
              <a:spcAft>
                <a:spcPts val="0"/>
              </a:spcAft>
              <a:buClr>
                <a:schemeClr val="dk1"/>
              </a:buClr>
              <a:buSzPts val="1100"/>
              <a:buFont typeface="Arial"/>
              <a:buNone/>
            </a:pPr>
            <a:r>
              <a:rPr lang="en" sz="750">
                <a:solidFill>
                  <a:srgbClr val="1F1F1F"/>
                </a:solidFill>
                <a:highlight>
                  <a:srgbClr val="F8FAFD"/>
                </a:highlight>
              </a:rPr>
              <a:t>This analysis helps understand which numerical features are most strongly related to penguin body mass. The strong positive correlation between </a:t>
            </a:r>
            <a:r>
              <a:rPr lang="en" sz="750">
                <a:solidFill>
                  <a:srgbClr val="1F1F1F"/>
                </a:solidFill>
                <a:highlight>
                  <a:srgbClr val="F7F7F7"/>
                </a:highlight>
                <a:latin typeface="Roboto Mono"/>
                <a:ea typeface="Roboto Mono"/>
                <a:cs typeface="Roboto Mono"/>
                <a:sym typeface="Roboto Mono"/>
              </a:rPr>
              <a:t>flipper_length_mm</a:t>
            </a:r>
            <a:r>
              <a:rPr lang="en" sz="750">
                <a:solidFill>
                  <a:srgbClr val="1F1F1F"/>
                </a:solidFill>
                <a:highlight>
                  <a:srgbClr val="F8FAFD"/>
                </a:highlight>
              </a:rPr>
              <a:t> and </a:t>
            </a:r>
            <a:r>
              <a:rPr lang="en" sz="750">
                <a:solidFill>
                  <a:srgbClr val="1F1F1F"/>
                </a:solidFill>
                <a:highlight>
                  <a:srgbClr val="F7F7F7"/>
                </a:highlight>
                <a:latin typeface="Roboto Mono"/>
                <a:ea typeface="Roboto Mono"/>
                <a:cs typeface="Roboto Mono"/>
                <a:sym typeface="Roboto Mono"/>
              </a:rPr>
              <a:t>body_mass_g</a:t>
            </a:r>
            <a:r>
              <a:rPr lang="en" sz="750">
                <a:solidFill>
                  <a:srgbClr val="1F1F1F"/>
                </a:solidFill>
                <a:highlight>
                  <a:srgbClr val="F8FAFD"/>
                </a:highlight>
              </a:rPr>
              <a:t> is particularly notable and aligns with the findings from the linear regression feature importance, where flipper length also had a significant coefficient.</a:t>
            </a:r>
            <a:endParaRPr sz="750">
              <a:solidFill>
                <a:srgbClr val="1F1F1F"/>
              </a:solidFill>
              <a:highlight>
                <a:srgbClr val="F8FAFD"/>
              </a:highlight>
            </a:endParaRPr>
          </a:p>
          <a:p>
            <a:pPr indent="0" lvl="0" marL="0" rtl="0" algn="l">
              <a:lnSpc>
                <a:spcPct val="141666"/>
              </a:lnSpc>
              <a:spcBef>
                <a:spcPts val="600"/>
              </a:spcBef>
              <a:spcAft>
                <a:spcPts val="0"/>
              </a:spcAft>
              <a:buClr>
                <a:schemeClr val="dk1"/>
              </a:buClr>
              <a:buSzPts val="1100"/>
              <a:buFont typeface="Arial"/>
              <a:buNone/>
            </a:pPr>
            <a:r>
              <a:t/>
            </a:r>
            <a:endParaRPr sz="500">
              <a:solidFill>
                <a:srgbClr val="008000"/>
              </a:solidFill>
              <a:highlight>
                <a:srgbClr val="F7F7F7"/>
              </a:highlight>
              <a:latin typeface="Courier New"/>
              <a:ea typeface="Courier New"/>
              <a:cs typeface="Courier New"/>
              <a:sym typeface="Courier New"/>
            </a:endParaRPr>
          </a:p>
          <a:p>
            <a:pPr indent="0" lvl="0" marL="0" rtl="0" algn="l">
              <a:spcBef>
                <a:spcPts val="0"/>
              </a:spcBef>
              <a:spcAft>
                <a:spcPts val="1200"/>
              </a:spcAft>
              <a:buNone/>
            </a:pPr>
            <a:r>
              <a:t/>
            </a:r>
            <a:endParaRPr b="1" sz="750">
              <a:solidFill>
                <a:srgbClr val="1F1F1F"/>
              </a:solidFill>
              <a:highlight>
                <a:srgbClr val="F7F7F7"/>
              </a:highlight>
              <a:latin typeface="Roboto Mono"/>
              <a:ea typeface="Roboto Mono"/>
              <a:cs typeface="Roboto Mono"/>
              <a:sym typeface="Roboto Mono"/>
            </a:endParaRPr>
          </a:p>
        </p:txBody>
      </p:sp>
      <p:sp>
        <p:nvSpPr>
          <p:cNvPr id="181" name="Google Shape;181;p28"/>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pic>
        <p:nvPicPr>
          <p:cNvPr id="182" name="Google Shape;182;p28"/>
          <p:cNvPicPr preferRelativeResize="0"/>
          <p:nvPr/>
        </p:nvPicPr>
        <p:blipFill>
          <a:blip r:embed="rId3">
            <a:alphaModFix/>
          </a:blip>
          <a:stretch>
            <a:fillRect/>
          </a:stretch>
        </p:blipFill>
        <p:spPr>
          <a:xfrm>
            <a:off x="5772171" y="2936050"/>
            <a:ext cx="2989200" cy="1632825"/>
          </a:xfrm>
          <a:prstGeom prst="rect">
            <a:avLst/>
          </a:prstGeom>
          <a:noFill/>
          <a:ln>
            <a:noFill/>
          </a:ln>
        </p:spPr>
      </p:pic>
      <p:sp>
        <p:nvSpPr>
          <p:cNvPr id="183" name="Google Shape;18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25000" y="26275"/>
            <a:ext cx="8520600" cy="572700"/>
          </a:xfrm>
          <a:prstGeom prst="rect">
            <a:avLst/>
          </a:prstGeom>
        </p:spPr>
        <p:txBody>
          <a:bodyPr anchorCtr="0" anchor="t" bIns="91425" lIns="91425" spcFirstLastPara="1" rIns="91425" wrap="square" tIns="91425">
            <a:normAutofit/>
          </a:bodyPr>
          <a:lstStyle/>
          <a:p>
            <a:pPr indent="0" lvl="0" marL="0" rtl="0" algn="l">
              <a:lnSpc>
                <a:spcPct val="141666"/>
              </a:lnSpc>
              <a:spcBef>
                <a:spcPts val="0"/>
              </a:spcBef>
              <a:spcAft>
                <a:spcPts val="0"/>
              </a:spcAft>
              <a:buClr>
                <a:schemeClr val="dk1"/>
              </a:buClr>
              <a:buSzPts val="1100"/>
              <a:buFont typeface="Arial"/>
              <a:buNone/>
            </a:pPr>
            <a:r>
              <a:rPr lang="en" sz="800">
                <a:solidFill>
                  <a:srgbClr val="A31515"/>
                </a:solidFill>
                <a:highlight>
                  <a:srgbClr val="F7F7F7"/>
                </a:highlight>
                <a:latin typeface="Courier New"/>
                <a:ea typeface="Courier New"/>
                <a:cs typeface="Courier New"/>
                <a:sym typeface="Courier New"/>
              </a:rPr>
              <a:t>Cell 10:GROUP STATISTICS AND SETUP FOR HYPOTHESIS TESTING</a:t>
            </a:r>
            <a:endParaRPr/>
          </a:p>
        </p:txBody>
      </p:sp>
      <p:sp>
        <p:nvSpPr>
          <p:cNvPr id="189" name="Google Shape;189;p29"/>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190" name="Google Shape;190;p29"/>
          <p:cNvSpPr txBox="1"/>
          <p:nvPr/>
        </p:nvSpPr>
        <p:spPr>
          <a:xfrm>
            <a:off x="25000" y="474600"/>
            <a:ext cx="5405400" cy="46689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80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 GROUP STATISTICS ==="</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008000"/>
                </a:solidFill>
                <a:highlight>
                  <a:srgbClr val="F7F7F7"/>
                </a:highlight>
                <a:latin typeface="Courier New"/>
                <a:ea typeface="Courier New"/>
                <a:cs typeface="Courier New"/>
                <a:sym typeface="Courier New"/>
              </a:rPr>
              <a:t># Calculate statistics by species</a:t>
            </a:r>
            <a:endParaRPr sz="8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chemeClr val="dk1"/>
                </a:solidFill>
                <a:highlight>
                  <a:srgbClr val="F7F7F7"/>
                </a:highlight>
                <a:latin typeface="Courier New"/>
                <a:ea typeface="Courier New"/>
                <a:cs typeface="Courier New"/>
                <a:sym typeface="Courier New"/>
              </a:rPr>
              <a:t>species_stats = penguins_clean.groupby(</a:t>
            </a:r>
            <a:r>
              <a:rPr lang="en" sz="800">
                <a:solidFill>
                  <a:srgbClr val="A31515"/>
                </a:solidFill>
                <a:highlight>
                  <a:srgbClr val="F7F7F7"/>
                </a:highlight>
                <a:latin typeface="Courier New"/>
                <a:ea typeface="Courier New"/>
                <a:cs typeface="Courier New"/>
                <a:sym typeface="Courier New"/>
              </a:rPr>
              <a:t>'species'</a:t>
            </a:r>
            <a:r>
              <a:rPr lang="en" sz="800">
                <a:solidFill>
                  <a:schemeClr val="dk1"/>
                </a:solidFill>
                <a:highlight>
                  <a:srgbClr val="F7F7F7"/>
                </a:highlight>
                <a:latin typeface="Courier New"/>
                <a:ea typeface="Courier New"/>
                <a:cs typeface="Courier New"/>
                <a:sym typeface="Courier New"/>
              </a:rPr>
              <a:t>)[numeric_cols].agg([</a:t>
            </a:r>
            <a:r>
              <a:rPr lang="en" sz="800">
                <a:solidFill>
                  <a:srgbClr val="A31515"/>
                </a:solidFill>
                <a:highlight>
                  <a:srgbClr val="F7F7F7"/>
                </a:highlight>
                <a:latin typeface="Courier New"/>
                <a:ea typeface="Courier New"/>
                <a:cs typeface="Courier New"/>
                <a:sym typeface="Courier New"/>
              </a:rPr>
              <a:t>'mean'</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'std'</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'count'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"Statistics by species:"</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(species_stats.</a:t>
            </a:r>
            <a:r>
              <a:rPr lang="en" sz="800">
                <a:solidFill>
                  <a:srgbClr val="6A5221"/>
                </a:solidFill>
                <a:highlight>
                  <a:srgbClr val="F7F7F7"/>
                </a:highlight>
                <a:latin typeface="Courier New"/>
                <a:ea typeface="Courier New"/>
                <a:cs typeface="Courier New"/>
                <a:sym typeface="Courier New"/>
              </a:rPr>
              <a:t>round</a:t>
            </a:r>
            <a:r>
              <a:rPr lang="en" sz="800">
                <a:solidFill>
                  <a:schemeClr val="dk1"/>
                </a:solidFill>
                <a:highlight>
                  <a:srgbClr val="F7F7F7"/>
                </a:highlight>
                <a:latin typeface="Courier New"/>
                <a:ea typeface="Courier New"/>
                <a:cs typeface="Courier New"/>
                <a:sym typeface="Courier New"/>
              </a:rPr>
              <a:t>(</a:t>
            </a:r>
            <a:r>
              <a:rPr lang="en" sz="800">
                <a:solidFill>
                  <a:srgbClr val="116644"/>
                </a:solidFill>
                <a:highlight>
                  <a:srgbClr val="F7F7F7"/>
                </a:highlight>
                <a:latin typeface="Courier New"/>
                <a:ea typeface="Courier New"/>
                <a:cs typeface="Courier New"/>
                <a:sym typeface="Courier New"/>
              </a:rPr>
              <a:t>2</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008000"/>
                </a:solidFill>
                <a:highlight>
                  <a:srgbClr val="F7F7F7"/>
                </a:highlight>
                <a:latin typeface="Courier New"/>
                <a:ea typeface="Courier New"/>
                <a:cs typeface="Courier New"/>
                <a:sym typeface="Courier New"/>
              </a:rPr>
              <a:t># Calculate statistics by sex</a:t>
            </a:r>
            <a:endParaRPr sz="8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"\nStatistics by sex:"</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chemeClr val="dk1"/>
                </a:solidFill>
                <a:highlight>
                  <a:srgbClr val="F7F7F7"/>
                </a:highlight>
                <a:latin typeface="Courier New"/>
                <a:ea typeface="Courier New"/>
                <a:cs typeface="Courier New"/>
                <a:sym typeface="Courier New"/>
              </a:rPr>
              <a:t>sex_stats = penguins_clean.groupby(</a:t>
            </a:r>
            <a:r>
              <a:rPr lang="en" sz="800">
                <a:solidFill>
                  <a:srgbClr val="A31515"/>
                </a:solidFill>
                <a:highlight>
                  <a:srgbClr val="F7F7F7"/>
                </a:highlight>
                <a:latin typeface="Courier New"/>
                <a:ea typeface="Courier New"/>
                <a:cs typeface="Courier New"/>
                <a:sym typeface="Courier New"/>
              </a:rPr>
              <a:t>'sex'</a:t>
            </a:r>
            <a:r>
              <a:rPr lang="en" sz="800">
                <a:solidFill>
                  <a:schemeClr val="dk1"/>
                </a:solidFill>
                <a:highlight>
                  <a:srgbClr val="F7F7F7"/>
                </a:highlight>
                <a:latin typeface="Courier New"/>
                <a:ea typeface="Courier New"/>
                <a:cs typeface="Courier New"/>
                <a:sym typeface="Courier New"/>
              </a:rPr>
              <a:t>)[numeric_cols].agg([</a:t>
            </a:r>
            <a:r>
              <a:rPr lang="en" sz="800">
                <a:solidFill>
                  <a:srgbClr val="A31515"/>
                </a:solidFill>
                <a:highlight>
                  <a:srgbClr val="F7F7F7"/>
                </a:highlight>
                <a:latin typeface="Courier New"/>
                <a:ea typeface="Courier New"/>
                <a:cs typeface="Courier New"/>
                <a:sym typeface="Courier New"/>
              </a:rPr>
              <a:t>'mean'</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'std'</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'count'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(sex_stats.</a:t>
            </a:r>
            <a:r>
              <a:rPr lang="en" sz="800">
                <a:solidFill>
                  <a:srgbClr val="6A5221"/>
                </a:solidFill>
                <a:highlight>
                  <a:srgbClr val="F7F7F7"/>
                </a:highlight>
                <a:latin typeface="Courier New"/>
                <a:ea typeface="Courier New"/>
                <a:cs typeface="Courier New"/>
                <a:sym typeface="Courier New"/>
              </a:rPr>
              <a:t>round</a:t>
            </a:r>
            <a:r>
              <a:rPr lang="en" sz="800">
                <a:solidFill>
                  <a:schemeClr val="dk1"/>
                </a:solidFill>
                <a:highlight>
                  <a:srgbClr val="F7F7F7"/>
                </a:highlight>
                <a:latin typeface="Courier New"/>
                <a:ea typeface="Courier New"/>
                <a:cs typeface="Courier New"/>
                <a:sym typeface="Courier New"/>
              </a:rPr>
              <a:t>(</a:t>
            </a:r>
            <a:r>
              <a:rPr lang="en" sz="800">
                <a:solidFill>
                  <a:srgbClr val="116644"/>
                </a:solidFill>
                <a:highlight>
                  <a:srgbClr val="F7F7F7"/>
                </a:highlight>
                <a:latin typeface="Courier New"/>
                <a:ea typeface="Courier New"/>
                <a:cs typeface="Courier New"/>
                <a:sym typeface="Courier New"/>
              </a:rPr>
              <a:t>2</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008000"/>
                </a:solidFill>
                <a:highlight>
                  <a:srgbClr val="F7F7F7"/>
                </a:highlight>
                <a:latin typeface="Courier New"/>
                <a:ea typeface="Courier New"/>
                <a:cs typeface="Courier New"/>
                <a:sym typeface="Courier New"/>
              </a:rPr>
              <a:t># Calculate statistics by island</a:t>
            </a:r>
            <a:endParaRPr sz="8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"\nStatistics by island:"</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chemeClr val="dk1"/>
                </a:solidFill>
                <a:highlight>
                  <a:srgbClr val="F7F7F7"/>
                </a:highlight>
                <a:latin typeface="Courier New"/>
                <a:ea typeface="Courier New"/>
                <a:cs typeface="Courier New"/>
                <a:sym typeface="Courier New"/>
              </a:rPr>
              <a:t>island_stats = penguins_clean.groupby(</a:t>
            </a:r>
            <a:r>
              <a:rPr lang="en" sz="800">
                <a:solidFill>
                  <a:srgbClr val="A31515"/>
                </a:solidFill>
                <a:highlight>
                  <a:srgbClr val="F7F7F7"/>
                </a:highlight>
                <a:latin typeface="Courier New"/>
                <a:ea typeface="Courier New"/>
                <a:cs typeface="Courier New"/>
                <a:sym typeface="Courier New"/>
              </a:rPr>
              <a:t>'island'</a:t>
            </a:r>
            <a:r>
              <a:rPr lang="en" sz="800">
                <a:solidFill>
                  <a:schemeClr val="dk1"/>
                </a:solidFill>
                <a:highlight>
                  <a:srgbClr val="F7F7F7"/>
                </a:highlight>
                <a:latin typeface="Courier New"/>
                <a:ea typeface="Courier New"/>
                <a:cs typeface="Courier New"/>
                <a:sym typeface="Courier New"/>
              </a:rPr>
              <a:t>)[numeric_cols].agg([</a:t>
            </a:r>
            <a:r>
              <a:rPr lang="en" sz="800">
                <a:solidFill>
                  <a:srgbClr val="A31515"/>
                </a:solidFill>
                <a:highlight>
                  <a:srgbClr val="F7F7F7"/>
                </a:highlight>
                <a:latin typeface="Courier New"/>
                <a:ea typeface="Courier New"/>
                <a:cs typeface="Courier New"/>
                <a:sym typeface="Courier New"/>
              </a:rPr>
              <a:t>'mean'</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'std'</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'count'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(island_stats.</a:t>
            </a:r>
            <a:r>
              <a:rPr lang="en" sz="800">
                <a:solidFill>
                  <a:srgbClr val="6A5221"/>
                </a:solidFill>
                <a:highlight>
                  <a:srgbClr val="F7F7F7"/>
                </a:highlight>
                <a:latin typeface="Courier New"/>
                <a:ea typeface="Courier New"/>
                <a:cs typeface="Courier New"/>
                <a:sym typeface="Courier New"/>
              </a:rPr>
              <a:t>round</a:t>
            </a:r>
            <a:r>
              <a:rPr lang="en" sz="800">
                <a:solidFill>
                  <a:schemeClr val="dk1"/>
                </a:solidFill>
                <a:highlight>
                  <a:srgbClr val="F7F7F7"/>
                </a:highlight>
                <a:latin typeface="Courier New"/>
                <a:ea typeface="Courier New"/>
                <a:cs typeface="Courier New"/>
                <a:sym typeface="Courier New"/>
              </a:rPr>
              <a:t>(</a:t>
            </a:r>
            <a:r>
              <a:rPr lang="en" sz="800">
                <a:solidFill>
                  <a:srgbClr val="116644"/>
                </a:solidFill>
                <a:highlight>
                  <a:srgbClr val="F7F7F7"/>
                </a:highlight>
                <a:latin typeface="Courier New"/>
                <a:ea typeface="Courier New"/>
                <a:cs typeface="Courier New"/>
                <a:sym typeface="Courier New"/>
              </a:rPr>
              <a:t>2</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"\n"</a:t>
            </a:r>
            <a:r>
              <a:rPr lang="en" sz="800">
                <a:solidFill>
                  <a:schemeClr val="dk1"/>
                </a:solidFill>
                <a:highlight>
                  <a:srgbClr val="F7F7F7"/>
                </a:highlight>
                <a:latin typeface="Courier New"/>
                <a:ea typeface="Courier New"/>
                <a:cs typeface="Courier New"/>
                <a:sym typeface="Courier New"/>
              </a:rPr>
              <a:t> + </a:t>
            </a:r>
            <a:r>
              <a:rPr lang="en" sz="800">
                <a:solidFill>
                  <a:srgbClr val="A31515"/>
                </a:solidFill>
                <a:highlight>
                  <a:srgbClr val="F7F7F7"/>
                </a:highlight>
                <a:latin typeface="Courier New"/>
                <a:ea typeface="Courier New"/>
                <a:cs typeface="Courier New"/>
                <a:sym typeface="Courier New"/>
              </a:rPr>
              <a:t>"="</a:t>
            </a:r>
            <a:r>
              <a:rPr lang="en" sz="800">
                <a:solidFill>
                  <a:schemeClr val="dk1"/>
                </a:solidFill>
                <a:highlight>
                  <a:srgbClr val="F7F7F7"/>
                </a:highlight>
                <a:latin typeface="Courier New"/>
                <a:ea typeface="Courier New"/>
                <a:cs typeface="Courier New"/>
                <a:sym typeface="Courier New"/>
              </a:rPr>
              <a:t>*</a:t>
            </a:r>
            <a:r>
              <a:rPr lang="en" sz="800">
                <a:solidFill>
                  <a:srgbClr val="116644"/>
                </a:solidFill>
                <a:highlight>
                  <a:srgbClr val="F7F7F7"/>
                </a:highlight>
                <a:latin typeface="Courier New"/>
                <a:ea typeface="Courier New"/>
                <a:cs typeface="Courier New"/>
                <a:sym typeface="Courier New"/>
              </a:rPr>
              <a:t>50</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"HYPOTHESIS TESTING SECTION"</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a:t>
            </a:r>
            <a:r>
              <a:rPr lang="en" sz="800">
                <a:solidFill>
                  <a:schemeClr val="dk1"/>
                </a:solidFill>
                <a:highlight>
                  <a:srgbClr val="F7F7F7"/>
                </a:highlight>
                <a:latin typeface="Courier New"/>
                <a:ea typeface="Courier New"/>
                <a:cs typeface="Courier New"/>
                <a:sym typeface="Courier New"/>
              </a:rPr>
              <a:t>*</a:t>
            </a:r>
            <a:r>
              <a:rPr lang="en" sz="800">
                <a:solidFill>
                  <a:srgbClr val="116644"/>
                </a:solidFill>
                <a:highlight>
                  <a:srgbClr val="F7F7F7"/>
                </a:highlight>
                <a:latin typeface="Courier New"/>
                <a:ea typeface="Courier New"/>
                <a:cs typeface="Courier New"/>
                <a:sym typeface="Courier New"/>
              </a:rPr>
              <a:t>50</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"We'll now perform various statistical tests using the penguins dataset"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"to answer different research questions."</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p:txBody>
      </p:sp>
      <p:pic>
        <p:nvPicPr>
          <p:cNvPr id="191" name="Google Shape;191;p29"/>
          <p:cNvPicPr preferRelativeResize="0"/>
          <p:nvPr/>
        </p:nvPicPr>
        <p:blipFill>
          <a:blip r:embed="rId3">
            <a:alphaModFix/>
          </a:blip>
          <a:stretch>
            <a:fillRect/>
          </a:stretch>
        </p:blipFill>
        <p:spPr>
          <a:xfrm>
            <a:off x="5430400" y="1101350"/>
            <a:ext cx="3408800" cy="3654991"/>
          </a:xfrm>
          <a:prstGeom prst="rect">
            <a:avLst/>
          </a:prstGeom>
          <a:noFill/>
          <a:ln>
            <a:noFill/>
          </a:ln>
        </p:spPr>
      </p:pic>
      <p:sp>
        <p:nvSpPr>
          <p:cNvPr id="192" name="Google Shape;19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25000" y="26275"/>
            <a:ext cx="8520600" cy="572700"/>
          </a:xfrm>
          <a:prstGeom prst="rect">
            <a:avLst/>
          </a:prstGeom>
        </p:spPr>
        <p:txBody>
          <a:bodyPr anchorCtr="0" anchor="t" bIns="91425" lIns="91425" spcFirstLastPara="1" rIns="91425" wrap="square" tIns="91425">
            <a:normAutofit/>
          </a:bodyPr>
          <a:lstStyle/>
          <a:p>
            <a:pPr indent="0" lvl="0" marL="0" rtl="0" algn="l">
              <a:lnSpc>
                <a:spcPct val="141666"/>
              </a:lnSpc>
              <a:spcBef>
                <a:spcPts val="0"/>
              </a:spcBef>
              <a:spcAft>
                <a:spcPts val="0"/>
              </a:spcAft>
              <a:buNone/>
            </a:pPr>
            <a:r>
              <a:rPr lang="en" sz="800">
                <a:solidFill>
                  <a:srgbClr val="A31515"/>
                </a:solidFill>
                <a:highlight>
                  <a:srgbClr val="F7F7F7"/>
                </a:highlight>
                <a:latin typeface="Courier New"/>
                <a:ea typeface="Courier New"/>
                <a:cs typeface="Courier New"/>
                <a:sym typeface="Courier New"/>
              </a:rPr>
              <a:t>Cell 11:T TESTS</a:t>
            </a:r>
            <a:endParaRPr/>
          </a:p>
        </p:txBody>
      </p:sp>
      <p:sp>
        <p:nvSpPr>
          <p:cNvPr id="198" name="Google Shape;198;p30"/>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199" name="Google Shape;199;p30"/>
          <p:cNvSpPr txBox="1"/>
          <p:nvPr/>
        </p:nvSpPr>
        <p:spPr>
          <a:xfrm>
            <a:off x="-31250" y="425000"/>
            <a:ext cx="4842900" cy="4494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 T-TEST EXAMPLES ==="</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"T-tests compare means between two groups for continuous variables"</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008000"/>
                </a:solidFill>
                <a:highlight>
                  <a:srgbClr val="F7F7F7"/>
                </a:highlight>
                <a:latin typeface="Courier New"/>
                <a:ea typeface="Courier New"/>
                <a:cs typeface="Courier New"/>
                <a:sym typeface="Courier New"/>
              </a:rPr>
              <a:t># Example 1: Compare body mass between Adelie and Gentoo penguins</a:t>
            </a:r>
            <a:endParaRPr sz="8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"\n--- Example 1: Body Mass Comparison (Adelie vs Gentoo) ---"</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chemeClr val="dk1"/>
                </a:solidFill>
                <a:highlight>
                  <a:srgbClr val="F7F7F7"/>
                </a:highlight>
                <a:latin typeface="Courier New"/>
                <a:ea typeface="Courier New"/>
                <a:cs typeface="Courier New"/>
                <a:sym typeface="Courier New"/>
              </a:rPr>
              <a:t>adelie_mass = penguins_clean[penguins_clean[</a:t>
            </a:r>
            <a:r>
              <a:rPr lang="en" sz="800">
                <a:solidFill>
                  <a:srgbClr val="A31515"/>
                </a:solidFill>
                <a:highlight>
                  <a:srgbClr val="F7F7F7"/>
                </a:highlight>
                <a:latin typeface="Courier New"/>
                <a:ea typeface="Courier New"/>
                <a:cs typeface="Courier New"/>
                <a:sym typeface="Courier New"/>
              </a:rPr>
              <a:t>'species'</a:t>
            </a:r>
            <a:r>
              <a:rPr lang="en" sz="800">
                <a:solidFill>
                  <a:schemeClr val="dk1"/>
                </a:solidFill>
                <a:highlight>
                  <a:srgbClr val="F7F7F7"/>
                </a:highlight>
                <a:latin typeface="Courier New"/>
                <a:ea typeface="Courier New"/>
                <a:cs typeface="Courier New"/>
                <a:sym typeface="Courier New"/>
              </a:rPr>
              <a:t>] == </a:t>
            </a:r>
            <a:r>
              <a:rPr lang="en" sz="800">
                <a:solidFill>
                  <a:srgbClr val="A31515"/>
                </a:solidFill>
                <a:highlight>
                  <a:srgbClr val="F7F7F7"/>
                </a:highlight>
                <a:latin typeface="Courier New"/>
                <a:ea typeface="Courier New"/>
                <a:cs typeface="Courier New"/>
                <a:sym typeface="Courier New"/>
              </a:rPr>
              <a:t>'Adelie'</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'body_mass_g'</a:t>
            </a:r>
            <a:r>
              <a:rPr lang="en" sz="800">
                <a:solidFill>
                  <a:schemeClr val="dk1"/>
                </a:solidFill>
                <a:highlight>
                  <a:srgbClr val="F7F7F7"/>
                </a:highlight>
                <a:latin typeface="Courier New"/>
                <a:ea typeface="Courier New"/>
                <a:cs typeface="Courier New"/>
                <a:sym typeface="Courier New"/>
              </a:rPr>
              <a:t>].dropna()</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chemeClr val="dk1"/>
                </a:solidFill>
                <a:highlight>
                  <a:srgbClr val="F7F7F7"/>
                </a:highlight>
                <a:latin typeface="Courier New"/>
                <a:ea typeface="Courier New"/>
                <a:cs typeface="Courier New"/>
                <a:sym typeface="Courier New"/>
              </a:rPr>
              <a:t>gentoo_mass = penguins_clean[penguins_clean[</a:t>
            </a:r>
            <a:r>
              <a:rPr lang="en" sz="800">
                <a:solidFill>
                  <a:srgbClr val="A31515"/>
                </a:solidFill>
                <a:highlight>
                  <a:srgbClr val="F7F7F7"/>
                </a:highlight>
                <a:latin typeface="Courier New"/>
                <a:ea typeface="Courier New"/>
                <a:cs typeface="Courier New"/>
                <a:sym typeface="Courier New"/>
              </a:rPr>
              <a:t>'species'</a:t>
            </a:r>
            <a:r>
              <a:rPr lang="en" sz="800">
                <a:solidFill>
                  <a:schemeClr val="dk1"/>
                </a:solidFill>
                <a:highlight>
                  <a:srgbClr val="F7F7F7"/>
                </a:highlight>
                <a:latin typeface="Courier New"/>
                <a:ea typeface="Courier New"/>
                <a:cs typeface="Courier New"/>
                <a:sym typeface="Courier New"/>
              </a:rPr>
              <a:t>] == </a:t>
            </a:r>
            <a:r>
              <a:rPr lang="en" sz="800">
                <a:solidFill>
                  <a:srgbClr val="A31515"/>
                </a:solidFill>
                <a:highlight>
                  <a:srgbClr val="F7F7F7"/>
                </a:highlight>
                <a:latin typeface="Courier New"/>
                <a:ea typeface="Courier New"/>
                <a:cs typeface="Courier New"/>
                <a:sym typeface="Courier New"/>
              </a:rPr>
              <a:t>'Gentoo'</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'body_mass_g'</a:t>
            </a:r>
            <a:r>
              <a:rPr lang="en" sz="800">
                <a:solidFill>
                  <a:schemeClr val="dk1"/>
                </a:solidFill>
                <a:highlight>
                  <a:srgbClr val="F7F7F7"/>
                </a:highlight>
                <a:latin typeface="Courier New"/>
                <a:ea typeface="Courier New"/>
                <a:cs typeface="Courier New"/>
                <a:sym typeface="Courier New"/>
              </a:rPr>
              <a:t>].dropna()</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chemeClr val="dk1"/>
                </a:solidFill>
                <a:highlight>
                  <a:srgbClr val="F7F7F7"/>
                </a:highlight>
                <a:latin typeface="Courier New"/>
                <a:ea typeface="Courier New"/>
                <a:cs typeface="Courier New"/>
                <a:sym typeface="Courier New"/>
              </a:rPr>
              <a:t>t_stat1, p_value1 = stats.ttest_ind(adelie_mass, gentoo_mass)</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0000FF"/>
                </a:solidFill>
                <a:highlight>
                  <a:srgbClr val="F7F7F7"/>
                </a:highlight>
                <a:latin typeface="Courier New"/>
                <a:ea typeface="Courier New"/>
                <a:cs typeface="Courier New"/>
                <a:sym typeface="Courier New"/>
              </a:rPr>
              <a:t>f</a:t>
            </a:r>
            <a:r>
              <a:rPr lang="en" sz="800">
                <a:solidFill>
                  <a:srgbClr val="A31515"/>
                </a:solidFill>
                <a:highlight>
                  <a:srgbClr val="F7F7F7"/>
                </a:highlight>
                <a:latin typeface="Courier New"/>
                <a:ea typeface="Courier New"/>
                <a:cs typeface="Courier New"/>
                <a:sym typeface="Courier New"/>
              </a:rPr>
              <a:t>"Research Question: Do Adelie and Gentoo penguins have different body masses?"</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0000FF"/>
                </a:solidFill>
                <a:highlight>
                  <a:srgbClr val="F7F7F7"/>
                </a:highlight>
                <a:latin typeface="Courier New"/>
                <a:ea typeface="Courier New"/>
                <a:cs typeface="Courier New"/>
                <a:sym typeface="Courier New"/>
              </a:rPr>
              <a:t>f</a:t>
            </a:r>
            <a:r>
              <a:rPr lang="en" sz="800">
                <a:solidFill>
                  <a:srgbClr val="A31515"/>
                </a:solidFill>
                <a:highlight>
                  <a:srgbClr val="F7F7F7"/>
                </a:highlight>
                <a:latin typeface="Courier New"/>
                <a:ea typeface="Courier New"/>
                <a:cs typeface="Courier New"/>
                <a:sym typeface="Courier New"/>
              </a:rPr>
              <a:t>"Sample sizes: Adelie (n=</a:t>
            </a:r>
            <a:r>
              <a:rPr lang="en" sz="800">
                <a:solidFill>
                  <a:schemeClr val="dk1"/>
                </a:solidFill>
                <a:highlight>
                  <a:srgbClr val="F7F7F7"/>
                </a:highlight>
                <a:latin typeface="Courier New"/>
                <a:ea typeface="Courier New"/>
                <a:cs typeface="Courier New"/>
                <a:sym typeface="Courier New"/>
              </a:rPr>
              <a:t>{</a:t>
            </a:r>
            <a:r>
              <a:rPr lang="en" sz="800">
                <a:solidFill>
                  <a:srgbClr val="6A5221"/>
                </a:solidFill>
                <a:highlight>
                  <a:srgbClr val="F7F7F7"/>
                </a:highlight>
                <a:latin typeface="Courier New"/>
                <a:ea typeface="Courier New"/>
                <a:cs typeface="Courier New"/>
                <a:sym typeface="Courier New"/>
              </a:rPr>
              <a:t>len</a:t>
            </a:r>
            <a:r>
              <a:rPr lang="en" sz="800">
                <a:solidFill>
                  <a:schemeClr val="dk1"/>
                </a:solidFill>
                <a:highlight>
                  <a:srgbClr val="F7F7F7"/>
                </a:highlight>
                <a:latin typeface="Courier New"/>
                <a:ea typeface="Courier New"/>
                <a:cs typeface="Courier New"/>
                <a:sym typeface="Courier New"/>
              </a:rPr>
              <a:t>(adelie_mass)}</a:t>
            </a:r>
            <a:r>
              <a:rPr lang="en" sz="800">
                <a:solidFill>
                  <a:srgbClr val="A31515"/>
                </a:solidFill>
                <a:highlight>
                  <a:srgbClr val="F7F7F7"/>
                </a:highlight>
                <a:latin typeface="Courier New"/>
                <a:ea typeface="Courier New"/>
                <a:cs typeface="Courier New"/>
                <a:sym typeface="Courier New"/>
              </a:rPr>
              <a:t>), Gentoo (n=</a:t>
            </a:r>
            <a:r>
              <a:rPr lang="en" sz="800">
                <a:solidFill>
                  <a:schemeClr val="dk1"/>
                </a:solidFill>
                <a:highlight>
                  <a:srgbClr val="F7F7F7"/>
                </a:highlight>
                <a:latin typeface="Courier New"/>
                <a:ea typeface="Courier New"/>
                <a:cs typeface="Courier New"/>
                <a:sym typeface="Courier New"/>
              </a:rPr>
              <a:t>{</a:t>
            </a:r>
            <a:r>
              <a:rPr lang="en" sz="800">
                <a:solidFill>
                  <a:srgbClr val="6A5221"/>
                </a:solidFill>
                <a:highlight>
                  <a:srgbClr val="F7F7F7"/>
                </a:highlight>
                <a:latin typeface="Courier New"/>
                <a:ea typeface="Courier New"/>
                <a:cs typeface="Courier New"/>
                <a:sym typeface="Courier New"/>
              </a:rPr>
              <a:t>len</a:t>
            </a:r>
            <a:r>
              <a:rPr lang="en" sz="800">
                <a:solidFill>
                  <a:schemeClr val="dk1"/>
                </a:solidFill>
                <a:highlight>
                  <a:srgbClr val="F7F7F7"/>
                </a:highlight>
                <a:latin typeface="Courier New"/>
                <a:ea typeface="Courier New"/>
                <a:cs typeface="Courier New"/>
                <a:sym typeface="Courier New"/>
              </a:rPr>
              <a:t>(gentoo_mass)}</a:t>
            </a:r>
            <a:r>
              <a:rPr lang="en" sz="800">
                <a:solidFill>
                  <a:srgbClr val="A31515"/>
                </a:solidFill>
                <a:highlight>
                  <a:srgbClr val="F7F7F7"/>
                </a:highlight>
                <a:latin typeface="Courier New"/>
                <a:ea typeface="Courier New"/>
                <a:cs typeface="Courier New"/>
                <a:sym typeface="Courier New"/>
              </a:rPr>
              <a: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0000FF"/>
                </a:solidFill>
                <a:highlight>
                  <a:srgbClr val="F7F7F7"/>
                </a:highlight>
                <a:latin typeface="Courier New"/>
                <a:ea typeface="Courier New"/>
                <a:cs typeface="Courier New"/>
                <a:sym typeface="Courier New"/>
              </a:rPr>
              <a:t>f</a:t>
            </a:r>
            <a:r>
              <a:rPr lang="en" sz="800">
                <a:solidFill>
                  <a:srgbClr val="A31515"/>
                </a:solidFill>
                <a:highlight>
                  <a:srgbClr val="F7F7F7"/>
                </a:highlight>
                <a:latin typeface="Courier New"/>
                <a:ea typeface="Courier New"/>
                <a:cs typeface="Courier New"/>
                <a:sym typeface="Courier New"/>
              </a:rPr>
              <a:t>"Adelie mean: </a:t>
            </a:r>
            <a:r>
              <a:rPr lang="en" sz="800">
                <a:solidFill>
                  <a:schemeClr val="dk1"/>
                </a:solidFill>
                <a:highlight>
                  <a:srgbClr val="F7F7F7"/>
                </a:highlight>
                <a:latin typeface="Courier New"/>
                <a:ea typeface="Courier New"/>
                <a:cs typeface="Courier New"/>
                <a:sym typeface="Courier New"/>
              </a:rPr>
              <a:t>{adelie_mass.mean()</a:t>
            </a:r>
            <a:r>
              <a:rPr lang="en" sz="800">
                <a:solidFill>
                  <a:srgbClr val="116644"/>
                </a:solidFill>
                <a:highlight>
                  <a:srgbClr val="F7F7F7"/>
                </a:highlight>
                <a:latin typeface="Courier New"/>
                <a:ea typeface="Courier New"/>
                <a:cs typeface="Courier New"/>
                <a:sym typeface="Courier New"/>
              </a:rPr>
              <a:t>:.1f</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g ± </a:t>
            </a:r>
            <a:r>
              <a:rPr lang="en" sz="800">
                <a:solidFill>
                  <a:schemeClr val="dk1"/>
                </a:solidFill>
                <a:highlight>
                  <a:srgbClr val="F7F7F7"/>
                </a:highlight>
                <a:latin typeface="Courier New"/>
                <a:ea typeface="Courier New"/>
                <a:cs typeface="Courier New"/>
                <a:sym typeface="Courier New"/>
              </a:rPr>
              <a:t>{adelie_mass.std()</a:t>
            </a:r>
            <a:r>
              <a:rPr lang="en" sz="800">
                <a:solidFill>
                  <a:srgbClr val="116644"/>
                </a:solidFill>
                <a:highlight>
                  <a:srgbClr val="F7F7F7"/>
                </a:highlight>
                <a:latin typeface="Courier New"/>
                <a:ea typeface="Courier New"/>
                <a:cs typeface="Courier New"/>
                <a:sym typeface="Courier New"/>
              </a:rPr>
              <a:t>:.1f</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0000FF"/>
                </a:solidFill>
                <a:highlight>
                  <a:srgbClr val="F7F7F7"/>
                </a:highlight>
                <a:latin typeface="Courier New"/>
                <a:ea typeface="Courier New"/>
                <a:cs typeface="Courier New"/>
                <a:sym typeface="Courier New"/>
              </a:rPr>
              <a:t>f</a:t>
            </a:r>
            <a:r>
              <a:rPr lang="en" sz="800">
                <a:solidFill>
                  <a:srgbClr val="A31515"/>
                </a:solidFill>
                <a:highlight>
                  <a:srgbClr val="F7F7F7"/>
                </a:highlight>
                <a:latin typeface="Courier New"/>
                <a:ea typeface="Courier New"/>
                <a:cs typeface="Courier New"/>
                <a:sym typeface="Courier New"/>
              </a:rPr>
              <a:t>"Gentoo mean: </a:t>
            </a:r>
            <a:r>
              <a:rPr lang="en" sz="800">
                <a:solidFill>
                  <a:schemeClr val="dk1"/>
                </a:solidFill>
                <a:highlight>
                  <a:srgbClr val="F7F7F7"/>
                </a:highlight>
                <a:latin typeface="Courier New"/>
                <a:ea typeface="Courier New"/>
                <a:cs typeface="Courier New"/>
                <a:sym typeface="Courier New"/>
              </a:rPr>
              <a:t>{gentoo_mass.mean()</a:t>
            </a:r>
            <a:r>
              <a:rPr lang="en" sz="800">
                <a:solidFill>
                  <a:srgbClr val="116644"/>
                </a:solidFill>
                <a:highlight>
                  <a:srgbClr val="F7F7F7"/>
                </a:highlight>
                <a:latin typeface="Courier New"/>
                <a:ea typeface="Courier New"/>
                <a:cs typeface="Courier New"/>
                <a:sym typeface="Courier New"/>
              </a:rPr>
              <a:t>:.1f</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g ± </a:t>
            </a:r>
            <a:r>
              <a:rPr lang="en" sz="800">
                <a:solidFill>
                  <a:schemeClr val="dk1"/>
                </a:solidFill>
                <a:highlight>
                  <a:srgbClr val="F7F7F7"/>
                </a:highlight>
                <a:latin typeface="Courier New"/>
                <a:ea typeface="Courier New"/>
                <a:cs typeface="Courier New"/>
                <a:sym typeface="Courier New"/>
              </a:rPr>
              <a:t>{gentoo_mass.std()</a:t>
            </a:r>
            <a:r>
              <a:rPr lang="en" sz="800">
                <a:solidFill>
                  <a:srgbClr val="116644"/>
                </a:solidFill>
                <a:highlight>
                  <a:srgbClr val="F7F7F7"/>
                </a:highlight>
                <a:latin typeface="Courier New"/>
                <a:ea typeface="Courier New"/>
                <a:cs typeface="Courier New"/>
                <a:sym typeface="Courier New"/>
              </a:rPr>
              <a:t>:.1f</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0000FF"/>
                </a:solidFill>
                <a:highlight>
                  <a:srgbClr val="F7F7F7"/>
                </a:highlight>
                <a:latin typeface="Courier New"/>
                <a:ea typeface="Courier New"/>
                <a:cs typeface="Courier New"/>
                <a:sym typeface="Courier New"/>
              </a:rPr>
              <a:t>f</a:t>
            </a:r>
            <a:r>
              <a:rPr lang="en" sz="800">
                <a:solidFill>
                  <a:srgbClr val="A31515"/>
                </a:solidFill>
                <a:highlight>
                  <a:srgbClr val="F7F7F7"/>
                </a:highlight>
                <a:latin typeface="Courier New"/>
                <a:ea typeface="Courier New"/>
                <a:cs typeface="Courier New"/>
                <a:sym typeface="Courier New"/>
              </a:rPr>
              <a:t>"T-statistic: </a:t>
            </a:r>
            <a:r>
              <a:rPr lang="en" sz="800">
                <a:solidFill>
                  <a:schemeClr val="dk1"/>
                </a:solidFill>
                <a:highlight>
                  <a:srgbClr val="F7F7F7"/>
                </a:highlight>
                <a:latin typeface="Courier New"/>
                <a:ea typeface="Courier New"/>
                <a:cs typeface="Courier New"/>
                <a:sym typeface="Courier New"/>
              </a:rPr>
              <a:t>{t_stat1</a:t>
            </a:r>
            <a:r>
              <a:rPr lang="en" sz="800">
                <a:solidFill>
                  <a:srgbClr val="116644"/>
                </a:solidFill>
                <a:highlight>
                  <a:srgbClr val="F7F7F7"/>
                </a:highlight>
                <a:latin typeface="Courier New"/>
                <a:ea typeface="Courier New"/>
                <a:cs typeface="Courier New"/>
                <a:sym typeface="Courier New"/>
              </a:rPr>
              <a:t>:.3f</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0000FF"/>
                </a:solidFill>
                <a:highlight>
                  <a:srgbClr val="F7F7F7"/>
                </a:highlight>
                <a:latin typeface="Courier New"/>
                <a:ea typeface="Courier New"/>
                <a:cs typeface="Courier New"/>
                <a:sym typeface="Courier New"/>
              </a:rPr>
              <a:t>f</a:t>
            </a:r>
            <a:r>
              <a:rPr lang="en" sz="800">
                <a:solidFill>
                  <a:srgbClr val="A31515"/>
                </a:solidFill>
                <a:highlight>
                  <a:srgbClr val="F7F7F7"/>
                </a:highlight>
                <a:latin typeface="Courier New"/>
                <a:ea typeface="Courier New"/>
                <a:cs typeface="Courier New"/>
                <a:sym typeface="Courier New"/>
              </a:rPr>
              <a:t>"P-value: </a:t>
            </a:r>
            <a:r>
              <a:rPr lang="en" sz="800">
                <a:solidFill>
                  <a:schemeClr val="dk1"/>
                </a:solidFill>
                <a:highlight>
                  <a:srgbClr val="F7F7F7"/>
                </a:highlight>
                <a:latin typeface="Courier New"/>
                <a:ea typeface="Courier New"/>
                <a:cs typeface="Courier New"/>
                <a:sym typeface="Courier New"/>
              </a:rPr>
              <a:t>{p_value1</a:t>
            </a:r>
            <a:r>
              <a:rPr lang="en" sz="800">
                <a:solidFill>
                  <a:srgbClr val="116644"/>
                </a:solidFill>
                <a:highlight>
                  <a:srgbClr val="F7F7F7"/>
                </a:highlight>
                <a:latin typeface="Courier New"/>
                <a:ea typeface="Courier New"/>
                <a:cs typeface="Courier New"/>
                <a:sym typeface="Courier New"/>
              </a:rPr>
              <a:t>:.2e</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800">
                <a:solidFill>
                  <a:srgbClr val="6A5221"/>
                </a:solidFill>
                <a:highlight>
                  <a:srgbClr val="F7F7F7"/>
                </a:highlight>
                <a:latin typeface="Courier New"/>
                <a:ea typeface="Courier New"/>
                <a:cs typeface="Courier New"/>
                <a:sym typeface="Courier New"/>
              </a:rPr>
              <a:t>print</a:t>
            </a:r>
            <a:r>
              <a:rPr lang="en" sz="800">
                <a:solidFill>
                  <a:schemeClr val="dk1"/>
                </a:solidFill>
                <a:highlight>
                  <a:srgbClr val="F7F7F7"/>
                </a:highlight>
                <a:latin typeface="Courier New"/>
                <a:ea typeface="Courier New"/>
                <a:cs typeface="Courier New"/>
                <a:sym typeface="Courier New"/>
              </a:rPr>
              <a:t>(</a:t>
            </a:r>
            <a:r>
              <a:rPr lang="en" sz="800">
                <a:solidFill>
                  <a:srgbClr val="0000FF"/>
                </a:solidFill>
                <a:highlight>
                  <a:srgbClr val="F7F7F7"/>
                </a:highlight>
                <a:latin typeface="Courier New"/>
                <a:ea typeface="Courier New"/>
                <a:cs typeface="Courier New"/>
                <a:sym typeface="Courier New"/>
              </a:rPr>
              <a:t>f</a:t>
            </a:r>
            <a:r>
              <a:rPr lang="en" sz="800">
                <a:solidFill>
                  <a:srgbClr val="A31515"/>
                </a:solidFill>
                <a:highlight>
                  <a:srgbClr val="F7F7F7"/>
                </a:highlight>
                <a:latin typeface="Courier New"/>
                <a:ea typeface="Courier New"/>
                <a:cs typeface="Courier New"/>
                <a:sym typeface="Courier New"/>
              </a:rPr>
              <a:t>"Result: </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'Significant difference (p &lt; 0.05)'</a:t>
            </a:r>
            <a:r>
              <a:rPr lang="en" sz="800">
                <a:solidFill>
                  <a:schemeClr val="dk1"/>
                </a:solidFill>
                <a:highlight>
                  <a:srgbClr val="F7F7F7"/>
                </a:highlight>
                <a:latin typeface="Courier New"/>
                <a:ea typeface="Courier New"/>
                <a:cs typeface="Courier New"/>
                <a:sym typeface="Courier New"/>
              </a:rPr>
              <a:t> </a:t>
            </a:r>
            <a:r>
              <a:rPr lang="en" sz="800">
                <a:solidFill>
                  <a:srgbClr val="9723B4"/>
                </a:solidFill>
                <a:highlight>
                  <a:srgbClr val="F7F7F7"/>
                </a:highlight>
                <a:latin typeface="Courier New"/>
                <a:ea typeface="Courier New"/>
                <a:cs typeface="Courier New"/>
                <a:sym typeface="Courier New"/>
              </a:rPr>
              <a:t>if</a:t>
            </a:r>
            <a:r>
              <a:rPr lang="en" sz="800">
                <a:solidFill>
                  <a:schemeClr val="dk1"/>
                </a:solidFill>
                <a:highlight>
                  <a:srgbClr val="F7F7F7"/>
                </a:highlight>
                <a:latin typeface="Courier New"/>
                <a:ea typeface="Courier New"/>
                <a:cs typeface="Courier New"/>
                <a:sym typeface="Courier New"/>
              </a:rPr>
              <a:t> p_value1 &lt; </a:t>
            </a:r>
            <a:r>
              <a:rPr lang="en" sz="800">
                <a:solidFill>
                  <a:srgbClr val="116644"/>
                </a:solidFill>
                <a:highlight>
                  <a:srgbClr val="F7F7F7"/>
                </a:highlight>
                <a:latin typeface="Courier New"/>
                <a:ea typeface="Courier New"/>
                <a:cs typeface="Courier New"/>
                <a:sym typeface="Courier New"/>
              </a:rPr>
              <a:t>0.05</a:t>
            </a:r>
            <a:r>
              <a:rPr lang="en" sz="800">
                <a:solidFill>
                  <a:schemeClr val="dk1"/>
                </a:solidFill>
                <a:highlight>
                  <a:srgbClr val="F7F7F7"/>
                </a:highlight>
                <a:latin typeface="Courier New"/>
                <a:ea typeface="Courier New"/>
                <a:cs typeface="Courier New"/>
                <a:sym typeface="Courier New"/>
              </a:rPr>
              <a:t> </a:t>
            </a:r>
            <a:r>
              <a:rPr lang="en" sz="800">
                <a:solidFill>
                  <a:srgbClr val="9723B4"/>
                </a:solidFill>
                <a:highlight>
                  <a:srgbClr val="F7F7F7"/>
                </a:highlight>
                <a:latin typeface="Courier New"/>
                <a:ea typeface="Courier New"/>
                <a:cs typeface="Courier New"/>
                <a:sym typeface="Courier New"/>
              </a:rPr>
              <a:t>else</a:t>
            </a:r>
            <a:r>
              <a:rPr lang="en" sz="800">
                <a:solidFill>
                  <a:schemeClr val="dk1"/>
                </a:solidFill>
                <a:highlight>
                  <a:srgbClr val="F7F7F7"/>
                </a:highlight>
                <a:latin typeface="Courier New"/>
                <a:ea typeface="Courier New"/>
                <a:cs typeface="Courier New"/>
                <a:sym typeface="Courier New"/>
              </a:rPr>
              <a:t> </a:t>
            </a:r>
            <a:r>
              <a:rPr lang="en" sz="800">
                <a:solidFill>
                  <a:srgbClr val="A31515"/>
                </a:solidFill>
                <a:highlight>
                  <a:srgbClr val="F7F7F7"/>
                </a:highlight>
                <a:latin typeface="Courier New"/>
                <a:ea typeface="Courier New"/>
                <a:cs typeface="Courier New"/>
                <a:sym typeface="Courier New"/>
              </a:rPr>
              <a:t>'No significant difference (p ≥ 0.05)'</a:t>
            </a:r>
            <a:r>
              <a:rPr lang="en" sz="800">
                <a:solidFill>
                  <a:schemeClr val="dk1"/>
                </a:solidFill>
                <a:highlight>
                  <a:srgbClr val="F7F7F7"/>
                </a:highlight>
                <a:latin typeface="Courier New"/>
                <a:ea typeface="Courier New"/>
                <a:cs typeface="Courier New"/>
                <a:sym typeface="Courier New"/>
              </a:rPr>
              <a:t>}</a:t>
            </a:r>
            <a:r>
              <a:rPr lang="en" sz="800">
                <a:solidFill>
                  <a:srgbClr val="A31515"/>
                </a:solidFill>
                <a:highlight>
                  <a:srgbClr val="F7F7F7"/>
                </a:highlight>
                <a:latin typeface="Courier New"/>
                <a:ea typeface="Courier New"/>
                <a:cs typeface="Courier New"/>
                <a:sym typeface="Courier New"/>
              </a:rPr>
              <a:t>"</a:t>
            </a:r>
            <a:r>
              <a:rPr lang="en" sz="800">
                <a:solidFill>
                  <a:schemeClr val="dk1"/>
                </a:solidFill>
                <a:highlight>
                  <a:srgbClr val="F7F7F7"/>
                </a:highlight>
                <a:latin typeface="Courier New"/>
                <a:ea typeface="Courier New"/>
                <a:cs typeface="Courier New"/>
                <a:sym typeface="Courier New"/>
              </a:rPr>
              <a:t>)</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chemeClr val="dk1"/>
              </a:solidFill>
              <a:highlight>
                <a:srgbClr val="F7F7F7"/>
              </a:highlight>
              <a:latin typeface="Courier New"/>
              <a:ea typeface="Courier New"/>
              <a:cs typeface="Courier New"/>
              <a:sym typeface="Courier New"/>
            </a:endParaRPr>
          </a:p>
        </p:txBody>
      </p:sp>
      <p:sp>
        <p:nvSpPr>
          <p:cNvPr id="200" name="Google Shape;200;p30"/>
          <p:cNvSpPr txBox="1"/>
          <p:nvPr/>
        </p:nvSpPr>
        <p:spPr>
          <a:xfrm>
            <a:off x="4911600" y="1968625"/>
            <a:ext cx="4125000" cy="285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b="1" lang="en" sz="650">
                <a:solidFill>
                  <a:srgbClr val="1F1F1F"/>
                </a:solidFill>
                <a:highlight>
                  <a:srgbClr val="FFFFFF"/>
                </a:highlight>
              </a:rPr>
              <a:t>Example 1: Body Mass Comparison (Adelie vs Gentoo)</a:t>
            </a:r>
            <a:endParaRPr b="1" sz="650">
              <a:solidFill>
                <a:srgbClr val="1F1F1F"/>
              </a:solidFill>
              <a:highlight>
                <a:srgbClr val="FFFFFF"/>
              </a:highlight>
            </a:endParaRPr>
          </a:p>
          <a:p>
            <a:pPr indent="-269875" lvl="0" marL="457200" rtl="0" algn="l">
              <a:lnSpc>
                <a:spcPct val="115000"/>
              </a:lnSpc>
              <a:spcBef>
                <a:spcPts val="600"/>
              </a:spcBef>
              <a:spcAft>
                <a:spcPts val="0"/>
              </a:spcAft>
              <a:buClr>
                <a:srgbClr val="1F1F1F"/>
              </a:buClr>
              <a:buSzPts val="650"/>
              <a:buChar char="●"/>
            </a:pPr>
            <a:r>
              <a:rPr b="1" lang="en" sz="650">
                <a:solidFill>
                  <a:srgbClr val="1F1F1F"/>
                </a:solidFill>
                <a:highlight>
                  <a:srgbClr val="FFFFFF"/>
                </a:highlight>
              </a:rPr>
              <a:t>Research Question:</a:t>
            </a:r>
            <a:r>
              <a:rPr lang="en" sz="650">
                <a:solidFill>
                  <a:srgbClr val="1F1F1F"/>
                </a:solidFill>
                <a:highlight>
                  <a:srgbClr val="FFFFFF"/>
                </a:highlight>
              </a:rPr>
              <a:t> The goal was to see if there's a statistically significant difference in the average body mass between Adelie and Gentoo penguins.</a:t>
            </a:r>
            <a:endParaRPr sz="650">
              <a:solidFill>
                <a:srgbClr val="1F1F1F"/>
              </a:solidFill>
              <a:highlight>
                <a:srgbClr val="FFFFFF"/>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Sample sizes:</a:t>
            </a:r>
            <a:r>
              <a:rPr lang="en" sz="650">
                <a:solidFill>
                  <a:srgbClr val="1F1F1F"/>
                </a:solidFill>
                <a:highlight>
                  <a:srgbClr val="FFFFFF"/>
                </a:highlight>
              </a:rPr>
              <a:t> This tells you how many penguins were included in each group for this specific test (146 Adelie and 119 Gentoo).</a:t>
            </a:r>
            <a:endParaRPr sz="650">
              <a:solidFill>
                <a:srgbClr val="1F1F1F"/>
              </a:solidFill>
              <a:highlight>
                <a:srgbClr val="FFFFFF"/>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Adelie mean: 3706.2g ± 458.6</a:t>
            </a:r>
            <a:r>
              <a:rPr lang="en" sz="650">
                <a:solidFill>
                  <a:srgbClr val="1F1F1F"/>
                </a:solidFill>
                <a:highlight>
                  <a:srgbClr val="FFFFFF"/>
                </a:highlight>
              </a:rPr>
              <a:t> and </a:t>
            </a:r>
            <a:r>
              <a:rPr b="1" lang="en" sz="650">
                <a:solidFill>
                  <a:srgbClr val="1F1F1F"/>
                </a:solidFill>
                <a:highlight>
                  <a:srgbClr val="FFFFFF"/>
                </a:highlight>
              </a:rPr>
              <a:t>Gentoo mean: 5092.4g ± 501.5</a:t>
            </a:r>
            <a:r>
              <a:rPr lang="en" sz="650">
                <a:solidFill>
                  <a:srgbClr val="1F1F1F"/>
                </a:solidFill>
                <a:highlight>
                  <a:srgbClr val="FFFFFF"/>
                </a:highlight>
              </a:rPr>
              <a:t>: These are the calculated average body masses for each group, along with their standard deviations (which indicate the spread of the data around the mean). You can see that the sample means are quite different.</a:t>
            </a:r>
            <a:endParaRPr sz="650">
              <a:solidFill>
                <a:srgbClr val="1F1F1F"/>
              </a:solidFill>
              <a:highlight>
                <a:srgbClr val="FFFFFF"/>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T-statistic: -23.467</a:t>
            </a:r>
            <a:r>
              <a:rPr lang="en" sz="650">
                <a:solidFill>
                  <a:srgbClr val="1F1F1F"/>
                </a:solidFill>
                <a:highlight>
                  <a:srgbClr val="FFFFFF"/>
                </a:highlight>
              </a:rPr>
              <a:t>: This is the calculated t-statistic. It measures the difference between the two group means relative to the variability within the groups. </a:t>
            </a:r>
            <a:r>
              <a:rPr lang="en" sz="650">
                <a:solidFill>
                  <a:srgbClr val="1F1F1F"/>
                </a:solidFill>
                <a:highlight>
                  <a:srgbClr val="D9D2E9"/>
                </a:highlight>
              </a:rPr>
              <a:t>A larger absolute value of the t-statistic suggests a greater difference between the group means.</a:t>
            </a:r>
            <a:endParaRPr sz="650">
              <a:solidFill>
                <a:srgbClr val="1F1F1F"/>
              </a:solidFill>
              <a:highlight>
                <a:srgbClr val="D9D2E9"/>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P-value: 1.88e-66</a:t>
            </a:r>
            <a:r>
              <a:rPr lang="en" sz="650">
                <a:solidFill>
                  <a:srgbClr val="1F1F1F"/>
                </a:solidFill>
                <a:highlight>
                  <a:srgbClr val="FFFFFF"/>
                </a:highlight>
              </a:rPr>
              <a:t>: This is the p-value. It represents the probability of observing a t-statistic as extreme as, or more extreme than, the one calculated, assuming that the null hypothesis (that there is no difference between the group means) is true. </a:t>
            </a:r>
            <a:r>
              <a:rPr lang="en" sz="650">
                <a:solidFill>
                  <a:srgbClr val="1F1F1F"/>
                </a:solidFill>
                <a:highlight>
                  <a:srgbClr val="D9D2E9"/>
                </a:highlight>
              </a:rPr>
              <a:t>A very small p-value (like 1.88e-66, which is a number with 65 zeros after the decimal point before the 188) indicates that it is highly unlikely to observe such a difference in means by random chance</a:t>
            </a:r>
            <a:r>
              <a:rPr lang="en" sz="650">
                <a:solidFill>
                  <a:srgbClr val="1F1F1F"/>
                </a:solidFill>
                <a:highlight>
                  <a:srgbClr val="FFFFFF"/>
                </a:highlight>
              </a:rPr>
              <a:t> if there were no true difference in the populations.</a:t>
            </a:r>
            <a:endParaRPr sz="650">
              <a:solidFill>
                <a:srgbClr val="1F1F1F"/>
              </a:solidFill>
              <a:highlight>
                <a:srgbClr val="FFFFFF"/>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Result: Significant difference (p &lt; 0.05)</a:t>
            </a:r>
            <a:r>
              <a:rPr lang="en" sz="650">
                <a:solidFill>
                  <a:srgbClr val="1F1F1F"/>
                </a:solidFill>
                <a:highlight>
                  <a:srgbClr val="FFFFFF"/>
                </a:highlight>
              </a:rPr>
              <a:t>: This is the conclusion based on the p-value. Since the p-value (1.88e-66) is much smaller than the common significance level of 0.05,</a:t>
            </a:r>
            <a:r>
              <a:rPr lang="en" sz="650">
                <a:solidFill>
                  <a:srgbClr val="1F1F1F"/>
                </a:solidFill>
                <a:highlight>
                  <a:srgbClr val="D9D2E9"/>
                </a:highlight>
              </a:rPr>
              <a:t> we reject the null hypothesis and conclude that there is a statistically significant difference in body mass between Adelie and Gentoo penguins.</a:t>
            </a:r>
            <a:endParaRPr sz="650">
              <a:solidFill>
                <a:srgbClr val="1F1F1F"/>
              </a:solidFill>
              <a:highlight>
                <a:srgbClr val="D9D2E9"/>
              </a:highlight>
            </a:endParaRPr>
          </a:p>
          <a:p>
            <a:pPr indent="0" lvl="0" marL="0" rtl="0" algn="l">
              <a:lnSpc>
                <a:spcPct val="115000"/>
              </a:lnSpc>
              <a:spcBef>
                <a:spcPts val="600"/>
              </a:spcBef>
              <a:spcAft>
                <a:spcPts val="600"/>
              </a:spcAft>
              <a:buNone/>
            </a:pPr>
            <a:r>
              <a:t/>
            </a:r>
            <a:endParaRPr sz="650">
              <a:solidFill>
                <a:srgbClr val="1F1F1F"/>
              </a:solidFill>
              <a:highlight>
                <a:srgbClr val="FFFFFF"/>
              </a:highlight>
            </a:endParaRPr>
          </a:p>
        </p:txBody>
      </p:sp>
      <p:pic>
        <p:nvPicPr>
          <p:cNvPr id="201" name="Google Shape;201;p30"/>
          <p:cNvPicPr preferRelativeResize="0"/>
          <p:nvPr/>
        </p:nvPicPr>
        <p:blipFill>
          <a:blip r:embed="rId3">
            <a:alphaModFix/>
          </a:blip>
          <a:stretch>
            <a:fillRect/>
          </a:stretch>
        </p:blipFill>
        <p:spPr>
          <a:xfrm>
            <a:off x="4911588" y="540550"/>
            <a:ext cx="4524375" cy="1104900"/>
          </a:xfrm>
          <a:prstGeom prst="rect">
            <a:avLst/>
          </a:prstGeom>
          <a:noFill/>
          <a:ln>
            <a:noFill/>
          </a:ln>
        </p:spPr>
      </p:pic>
      <p:sp>
        <p:nvSpPr>
          <p:cNvPr id="202" name="Google Shape;20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ph type="title"/>
          </p:nvPr>
        </p:nvSpPr>
        <p:spPr>
          <a:xfrm>
            <a:off x="25000" y="26275"/>
            <a:ext cx="8520600" cy="572700"/>
          </a:xfrm>
          <a:prstGeom prst="rect">
            <a:avLst/>
          </a:prstGeom>
        </p:spPr>
        <p:txBody>
          <a:bodyPr anchorCtr="0" anchor="t" bIns="91425" lIns="91425" spcFirstLastPara="1" rIns="91425" wrap="square" tIns="91425">
            <a:normAutofit/>
          </a:bodyPr>
          <a:lstStyle/>
          <a:p>
            <a:pPr indent="0" lvl="0" marL="0" rtl="0" algn="l">
              <a:lnSpc>
                <a:spcPct val="141666"/>
              </a:lnSpc>
              <a:spcBef>
                <a:spcPts val="0"/>
              </a:spcBef>
              <a:spcAft>
                <a:spcPts val="0"/>
              </a:spcAft>
              <a:buNone/>
            </a:pPr>
            <a:r>
              <a:rPr lang="en" sz="800">
                <a:solidFill>
                  <a:srgbClr val="A31515"/>
                </a:solidFill>
                <a:highlight>
                  <a:srgbClr val="F7F7F7"/>
                </a:highlight>
                <a:latin typeface="Courier New"/>
                <a:ea typeface="Courier New"/>
                <a:cs typeface="Courier New"/>
                <a:sym typeface="Courier New"/>
              </a:rPr>
              <a:t>Cell 11:T TESTS</a:t>
            </a:r>
            <a:endParaRPr/>
          </a:p>
        </p:txBody>
      </p:sp>
      <p:sp>
        <p:nvSpPr>
          <p:cNvPr id="208" name="Google Shape;208;p31"/>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209" name="Google Shape;209;p31"/>
          <p:cNvSpPr txBox="1"/>
          <p:nvPr/>
        </p:nvSpPr>
        <p:spPr>
          <a:xfrm>
            <a:off x="-31250" y="425000"/>
            <a:ext cx="4842900" cy="482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rPr lang="en" sz="900">
                <a:solidFill>
                  <a:srgbClr val="008000"/>
                </a:solidFill>
                <a:highlight>
                  <a:srgbClr val="F7F7F7"/>
                </a:highlight>
                <a:latin typeface="Courier New"/>
                <a:ea typeface="Courier New"/>
                <a:cs typeface="Courier New"/>
                <a:sym typeface="Courier New"/>
              </a:rPr>
              <a:t># Example 2: Compare bill length between male and female penguins</a:t>
            </a:r>
            <a:endParaRPr sz="9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"\n--- Example 2: Bill Length Comparison (Male vs Female) ---"</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male_bill = penguins_clean[penguins_clean[</a:t>
            </a:r>
            <a:r>
              <a:rPr lang="en" sz="900">
                <a:solidFill>
                  <a:srgbClr val="A31515"/>
                </a:solidFill>
                <a:highlight>
                  <a:srgbClr val="F7F7F7"/>
                </a:highlight>
                <a:latin typeface="Courier New"/>
                <a:ea typeface="Courier New"/>
                <a:cs typeface="Courier New"/>
                <a:sym typeface="Courier New"/>
              </a:rPr>
              <a:t>'sex'</a:t>
            </a:r>
            <a:r>
              <a:rPr lang="en" sz="900">
                <a:solidFill>
                  <a:schemeClr val="dk1"/>
                </a:solidFill>
                <a:highlight>
                  <a:srgbClr val="F7F7F7"/>
                </a:highlight>
                <a:latin typeface="Courier New"/>
                <a:ea typeface="Courier New"/>
                <a:cs typeface="Courier New"/>
                <a:sym typeface="Courier New"/>
              </a:rPr>
              <a:t>] == </a:t>
            </a:r>
            <a:r>
              <a:rPr lang="en" sz="900">
                <a:solidFill>
                  <a:srgbClr val="A31515"/>
                </a:solidFill>
                <a:highlight>
                  <a:srgbClr val="F7F7F7"/>
                </a:highlight>
                <a:latin typeface="Courier New"/>
                <a:ea typeface="Courier New"/>
                <a:cs typeface="Courier New"/>
                <a:sym typeface="Courier New"/>
              </a:rPr>
              <a:t>'Male'</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'bill_length_mm'</a:t>
            </a:r>
            <a:r>
              <a:rPr lang="en" sz="900">
                <a:solidFill>
                  <a:schemeClr val="dk1"/>
                </a:solidFill>
                <a:highlight>
                  <a:srgbClr val="F7F7F7"/>
                </a:highlight>
                <a:latin typeface="Courier New"/>
                <a:ea typeface="Courier New"/>
                <a:cs typeface="Courier New"/>
                <a:sym typeface="Courier New"/>
              </a:rPr>
              <a:t>].dropna()</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female_bill = penguins_clean[penguins_clean[</a:t>
            </a:r>
            <a:r>
              <a:rPr lang="en" sz="900">
                <a:solidFill>
                  <a:srgbClr val="A31515"/>
                </a:solidFill>
                <a:highlight>
                  <a:srgbClr val="F7F7F7"/>
                </a:highlight>
                <a:latin typeface="Courier New"/>
                <a:ea typeface="Courier New"/>
                <a:cs typeface="Courier New"/>
                <a:sym typeface="Courier New"/>
              </a:rPr>
              <a:t>'sex'</a:t>
            </a:r>
            <a:r>
              <a:rPr lang="en" sz="900">
                <a:solidFill>
                  <a:schemeClr val="dk1"/>
                </a:solidFill>
                <a:highlight>
                  <a:srgbClr val="F7F7F7"/>
                </a:highlight>
                <a:latin typeface="Courier New"/>
                <a:ea typeface="Courier New"/>
                <a:cs typeface="Courier New"/>
                <a:sym typeface="Courier New"/>
              </a:rPr>
              <a:t>] == </a:t>
            </a:r>
            <a:r>
              <a:rPr lang="en" sz="900">
                <a:solidFill>
                  <a:srgbClr val="A31515"/>
                </a:solidFill>
                <a:highlight>
                  <a:srgbClr val="F7F7F7"/>
                </a:highlight>
                <a:latin typeface="Courier New"/>
                <a:ea typeface="Courier New"/>
                <a:cs typeface="Courier New"/>
                <a:sym typeface="Courier New"/>
              </a:rPr>
              <a:t>'Female'</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'bill_length_mm'</a:t>
            </a:r>
            <a:r>
              <a:rPr lang="en" sz="900">
                <a:solidFill>
                  <a:schemeClr val="dk1"/>
                </a:solidFill>
                <a:highlight>
                  <a:srgbClr val="F7F7F7"/>
                </a:highlight>
                <a:latin typeface="Courier New"/>
                <a:ea typeface="Courier New"/>
                <a:cs typeface="Courier New"/>
                <a:sym typeface="Courier New"/>
              </a:rPr>
              <a:t>].dropna()</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t_stat2, p_value2 = stats.ttest_ind(male_bill, female_bill)</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"Research Question: Do male and female penguins have different bill lengths?"</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"Sample sizes: Male (n=</a:t>
            </a:r>
            <a:r>
              <a:rPr lang="en" sz="900">
                <a:solidFill>
                  <a:schemeClr val="dk1"/>
                </a:solidFill>
                <a:highlight>
                  <a:srgbClr val="F7F7F7"/>
                </a:highlight>
                <a:latin typeface="Courier New"/>
                <a:ea typeface="Courier New"/>
                <a:cs typeface="Courier New"/>
                <a:sym typeface="Courier New"/>
              </a:rPr>
              <a:t>{</a:t>
            </a:r>
            <a:r>
              <a:rPr lang="en" sz="900">
                <a:solidFill>
                  <a:srgbClr val="6A5221"/>
                </a:solidFill>
                <a:highlight>
                  <a:srgbClr val="F7F7F7"/>
                </a:highlight>
                <a:latin typeface="Courier New"/>
                <a:ea typeface="Courier New"/>
                <a:cs typeface="Courier New"/>
                <a:sym typeface="Courier New"/>
              </a:rPr>
              <a:t>len</a:t>
            </a:r>
            <a:r>
              <a:rPr lang="en" sz="900">
                <a:solidFill>
                  <a:schemeClr val="dk1"/>
                </a:solidFill>
                <a:highlight>
                  <a:srgbClr val="F7F7F7"/>
                </a:highlight>
                <a:latin typeface="Courier New"/>
                <a:ea typeface="Courier New"/>
                <a:cs typeface="Courier New"/>
                <a:sym typeface="Courier New"/>
              </a:rPr>
              <a:t>(male_bill)}</a:t>
            </a:r>
            <a:r>
              <a:rPr lang="en" sz="900">
                <a:solidFill>
                  <a:srgbClr val="A31515"/>
                </a:solidFill>
                <a:highlight>
                  <a:srgbClr val="F7F7F7"/>
                </a:highlight>
                <a:latin typeface="Courier New"/>
                <a:ea typeface="Courier New"/>
                <a:cs typeface="Courier New"/>
                <a:sym typeface="Courier New"/>
              </a:rPr>
              <a:t>), Female (n=</a:t>
            </a:r>
            <a:r>
              <a:rPr lang="en" sz="900">
                <a:solidFill>
                  <a:schemeClr val="dk1"/>
                </a:solidFill>
                <a:highlight>
                  <a:srgbClr val="F7F7F7"/>
                </a:highlight>
                <a:latin typeface="Courier New"/>
                <a:ea typeface="Courier New"/>
                <a:cs typeface="Courier New"/>
                <a:sym typeface="Courier New"/>
              </a:rPr>
              <a:t>{</a:t>
            </a:r>
            <a:r>
              <a:rPr lang="en" sz="900">
                <a:solidFill>
                  <a:srgbClr val="6A5221"/>
                </a:solidFill>
                <a:highlight>
                  <a:srgbClr val="F7F7F7"/>
                </a:highlight>
                <a:latin typeface="Courier New"/>
                <a:ea typeface="Courier New"/>
                <a:cs typeface="Courier New"/>
                <a:sym typeface="Courier New"/>
              </a:rPr>
              <a:t>len</a:t>
            </a:r>
            <a:r>
              <a:rPr lang="en" sz="900">
                <a:solidFill>
                  <a:schemeClr val="dk1"/>
                </a:solidFill>
                <a:highlight>
                  <a:srgbClr val="F7F7F7"/>
                </a:highlight>
                <a:latin typeface="Courier New"/>
                <a:ea typeface="Courier New"/>
                <a:cs typeface="Courier New"/>
                <a:sym typeface="Courier New"/>
              </a:rPr>
              <a:t>(female_bill)}</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"Male mean: </a:t>
            </a:r>
            <a:r>
              <a:rPr lang="en" sz="900">
                <a:solidFill>
                  <a:schemeClr val="dk1"/>
                </a:solidFill>
                <a:highlight>
                  <a:srgbClr val="F7F7F7"/>
                </a:highlight>
                <a:latin typeface="Courier New"/>
                <a:ea typeface="Courier New"/>
                <a:cs typeface="Courier New"/>
                <a:sym typeface="Courier New"/>
              </a:rPr>
              <a:t>{male_bill.mean()</a:t>
            </a:r>
            <a:r>
              <a:rPr lang="en" sz="900">
                <a:solidFill>
                  <a:srgbClr val="116644"/>
                </a:solidFill>
                <a:highlight>
                  <a:srgbClr val="F7F7F7"/>
                </a:highlight>
                <a:latin typeface="Courier New"/>
                <a:ea typeface="Courier New"/>
                <a:cs typeface="Courier New"/>
                <a:sym typeface="Courier New"/>
              </a:rPr>
              <a:t>:.1f</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mm ± </a:t>
            </a:r>
            <a:r>
              <a:rPr lang="en" sz="900">
                <a:solidFill>
                  <a:schemeClr val="dk1"/>
                </a:solidFill>
                <a:highlight>
                  <a:srgbClr val="F7F7F7"/>
                </a:highlight>
                <a:latin typeface="Courier New"/>
                <a:ea typeface="Courier New"/>
                <a:cs typeface="Courier New"/>
                <a:sym typeface="Courier New"/>
              </a:rPr>
              <a:t>{male_bill.std()</a:t>
            </a:r>
            <a:r>
              <a:rPr lang="en" sz="900">
                <a:solidFill>
                  <a:srgbClr val="116644"/>
                </a:solidFill>
                <a:highlight>
                  <a:srgbClr val="F7F7F7"/>
                </a:highlight>
                <a:latin typeface="Courier New"/>
                <a:ea typeface="Courier New"/>
                <a:cs typeface="Courier New"/>
                <a:sym typeface="Courier New"/>
              </a:rPr>
              <a:t>:.1f</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"Female mean: </a:t>
            </a:r>
            <a:r>
              <a:rPr lang="en" sz="900">
                <a:solidFill>
                  <a:schemeClr val="dk1"/>
                </a:solidFill>
                <a:highlight>
                  <a:srgbClr val="F7F7F7"/>
                </a:highlight>
                <a:latin typeface="Courier New"/>
                <a:ea typeface="Courier New"/>
                <a:cs typeface="Courier New"/>
                <a:sym typeface="Courier New"/>
              </a:rPr>
              <a:t>{female_bill.mean()</a:t>
            </a:r>
            <a:r>
              <a:rPr lang="en" sz="900">
                <a:solidFill>
                  <a:srgbClr val="116644"/>
                </a:solidFill>
                <a:highlight>
                  <a:srgbClr val="F7F7F7"/>
                </a:highlight>
                <a:latin typeface="Courier New"/>
                <a:ea typeface="Courier New"/>
                <a:cs typeface="Courier New"/>
                <a:sym typeface="Courier New"/>
              </a:rPr>
              <a:t>:.1f</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mm ± </a:t>
            </a:r>
            <a:r>
              <a:rPr lang="en" sz="900">
                <a:solidFill>
                  <a:schemeClr val="dk1"/>
                </a:solidFill>
                <a:highlight>
                  <a:srgbClr val="F7F7F7"/>
                </a:highlight>
                <a:latin typeface="Courier New"/>
                <a:ea typeface="Courier New"/>
                <a:cs typeface="Courier New"/>
                <a:sym typeface="Courier New"/>
              </a:rPr>
              <a:t>{female_bill.std()</a:t>
            </a:r>
            <a:r>
              <a:rPr lang="en" sz="900">
                <a:solidFill>
                  <a:srgbClr val="116644"/>
                </a:solidFill>
                <a:highlight>
                  <a:srgbClr val="F7F7F7"/>
                </a:highlight>
                <a:latin typeface="Courier New"/>
                <a:ea typeface="Courier New"/>
                <a:cs typeface="Courier New"/>
                <a:sym typeface="Courier New"/>
              </a:rPr>
              <a:t>:.1f</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"T-statistic: </a:t>
            </a:r>
            <a:r>
              <a:rPr lang="en" sz="900">
                <a:solidFill>
                  <a:schemeClr val="dk1"/>
                </a:solidFill>
                <a:highlight>
                  <a:srgbClr val="F7F7F7"/>
                </a:highlight>
                <a:latin typeface="Courier New"/>
                <a:ea typeface="Courier New"/>
                <a:cs typeface="Courier New"/>
                <a:sym typeface="Courier New"/>
              </a:rPr>
              <a:t>{t_stat2</a:t>
            </a:r>
            <a:r>
              <a:rPr lang="en" sz="900">
                <a:solidFill>
                  <a:srgbClr val="116644"/>
                </a:solidFill>
                <a:highlight>
                  <a:srgbClr val="F7F7F7"/>
                </a:highlight>
                <a:latin typeface="Courier New"/>
                <a:ea typeface="Courier New"/>
                <a:cs typeface="Courier New"/>
                <a:sym typeface="Courier New"/>
              </a:rPr>
              <a:t>:.3f</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"P-value: </a:t>
            </a:r>
            <a:r>
              <a:rPr lang="en" sz="900">
                <a:solidFill>
                  <a:schemeClr val="dk1"/>
                </a:solidFill>
                <a:highlight>
                  <a:srgbClr val="F7F7F7"/>
                </a:highlight>
                <a:latin typeface="Courier New"/>
                <a:ea typeface="Courier New"/>
                <a:cs typeface="Courier New"/>
                <a:sym typeface="Courier New"/>
              </a:rPr>
              <a:t>{p_value2</a:t>
            </a:r>
            <a:r>
              <a:rPr lang="en" sz="900">
                <a:solidFill>
                  <a:srgbClr val="116644"/>
                </a:solidFill>
                <a:highlight>
                  <a:srgbClr val="F7F7F7"/>
                </a:highlight>
                <a:latin typeface="Courier New"/>
                <a:ea typeface="Courier New"/>
                <a:cs typeface="Courier New"/>
                <a:sym typeface="Courier New"/>
              </a:rPr>
              <a:t>:.2e</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"Result: </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'Significant difference (p &lt; 0.05)'</a:t>
            </a:r>
            <a:r>
              <a:rPr lang="en" sz="900">
                <a:solidFill>
                  <a:schemeClr val="dk1"/>
                </a:solidFill>
                <a:highlight>
                  <a:srgbClr val="F7F7F7"/>
                </a:highlight>
                <a:latin typeface="Courier New"/>
                <a:ea typeface="Courier New"/>
                <a:cs typeface="Courier New"/>
                <a:sym typeface="Courier New"/>
              </a:rPr>
              <a:t> </a:t>
            </a:r>
            <a:r>
              <a:rPr lang="en" sz="900">
                <a:solidFill>
                  <a:srgbClr val="9723B4"/>
                </a:solidFill>
                <a:highlight>
                  <a:srgbClr val="F7F7F7"/>
                </a:highlight>
                <a:latin typeface="Courier New"/>
                <a:ea typeface="Courier New"/>
                <a:cs typeface="Courier New"/>
                <a:sym typeface="Courier New"/>
              </a:rPr>
              <a:t>if</a:t>
            </a:r>
            <a:r>
              <a:rPr lang="en" sz="900">
                <a:solidFill>
                  <a:schemeClr val="dk1"/>
                </a:solidFill>
                <a:highlight>
                  <a:srgbClr val="F7F7F7"/>
                </a:highlight>
                <a:latin typeface="Courier New"/>
                <a:ea typeface="Courier New"/>
                <a:cs typeface="Courier New"/>
                <a:sym typeface="Courier New"/>
              </a:rPr>
              <a:t> p_value2 &lt; </a:t>
            </a:r>
            <a:r>
              <a:rPr lang="en" sz="900">
                <a:solidFill>
                  <a:srgbClr val="116644"/>
                </a:solidFill>
                <a:highlight>
                  <a:srgbClr val="F7F7F7"/>
                </a:highlight>
                <a:latin typeface="Courier New"/>
                <a:ea typeface="Courier New"/>
                <a:cs typeface="Courier New"/>
                <a:sym typeface="Courier New"/>
              </a:rPr>
              <a:t>0.05</a:t>
            </a:r>
            <a:r>
              <a:rPr lang="en" sz="900">
                <a:solidFill>
                  <a:schemeClr val="dk1"/>
                </a:solidFill>
                <a:highlight>
                  <a:srgbClr val="F7F7F7"/>
                </a:highlight>
                <a:latin typeface="Courier New"/>
                <a:ea typeface="Courier New"/>
                <a:cs typeface="Courier New"/>
                <a:sym typeface="Courier New"/>
              </a:rPr>
              <a:t> </a:t>
            </a:r>
            <a:r>
              <a:rPr lang="en" sz="900">
                <a:solidFill>
                  <a:srgbClr val="9723B4"/>
                </a:solidFill>
                <a:highlight>
                  <a:srgbClr val="F7F7F7"/>
                </a:highlight>
                <a:latin typeface="Courier New"/>
                <a:ea typeface="Courier New"/>
                <a:cs typeface="Courier New"/>
                <a:sym typeface="Courier New"/>
              </a:rPr>
              <a:t>else</a:t>
            </a:r>
            <a:r>
              <a:rPr lang="en" sz="900">
                <a:solidFill>
                  <a:schemeClr val="dk1"/>
                </a:solidFill>
                <a:highlight>
                  <a:srgbClr val="F7F7F7"/>
                </a:highlight>
                <a:latin typeface="Courier New"/>
                <a:ea typeface="Courier New"/>
                <a:cs typeface="Courier New"/>
                <a:sym typeface="Courier New"/>
              </a:rPr>
              <a:t> </a:t>
            </a:r>
            <a:r>
              <a:rPr lang="en" sz="900">
                <a:solidFill>
                  <a:srgbClr val="A31515"/>
                </a:solidFill>
                <a:highlight>
                  <a:srgbClr val="F7F7F7"/>
                </a:highlight>
                <a:latin typeface="Courier New"/>
                <a:ea typeface="Courier New"/>
                <a:cs typeface="Courier New"/>
                <a:sym typeface="Courier New"/>
              </a:rPr>
              <a:t>'No significant difference (p ≥ 0.05)'</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800">
              <a:solidFill>
                <a:srgbClr val="6A5221"/>
              </a:solidFill>
              <a:highlight>
                <a:srgbClr val="F7F7F7"/>
              </a:highlight>
              <a:latin typeface="Courier New"/>
              <a:ea typeface="Courier New"/>
              <a:cs typeface="Courier New"/>
              <a:sym typeface="Courier New"/>
            </a:endParaRPr>
          </a:p>
        </p:txBody>
      </p:sp>
      <p:sp>
        <p:nvSpPr>
          <p:cNvPr id="210" name="Google Shape;210;p31"/>
          <p:cNvSpPr txBox="1"/>
          <p:nvPr/>
        </p:nvSpPr>
        <p:spPr>
          <a:xfrm>
            <a:off x="4911600" y="1968625"/>
            <a:ext cx="4125000" cy="25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b="1" lang="en" sz="850">
                <a:solidFill>
                  <a:srgbClr val="1F1F1F"/>
                </a:solidFill>
                <a:highlight>
                  <a:srgbClr val="FFFFFF"/>
                </a:highlight>
              </a:rPr>
              <a:t>Example 2: Bill Length Comparison (Male vs Female)</a:t>
            </a:r>
            <a:endParaRPr b="1" sz="850">
              <a:solidFill>
                <a:srgbClr val="1F1F1F"/>
              </a:solidFill>
              <a:highlight>
                <a:srgbClr val="FFFFFF"/>
              </a:highlight>
            </a:endParaRPr>
          </a:p>
          <a:p>
            <a:pPr indent="-282575" lvl="0" marL="457200" rtl="0" algn="l">
              <a:lnSpc>
                <a:spcPct val="115000"/>
              </a:lnSpc>
              <a:spcBef>
                <a:spcPts val="600"/>
              </a:spcBef>
              <a:spcAft>
                <a:spcPts val="0"/>
              </a:spcAft>
              <a:buClr>
                <a:srgbClr val="1F1F1F"/>
              </a:buClr>
              <a:buSzPts val="850"/>
              <a:buChar char="●"/>
            </a:pPr>
            <a:r>
              <a:rPr b="1" lang="en" sz="850">
                <a:solidFill>
                  <a:srgbClr val="1F1F1F"/>
                </a:solidFill>
                <a:highlight>
                  <a:srgbClr val="FFFFFF"/>
                </a:highlight>
              </a:rPr>
              <a:t>Research Question:</a:t>
            </a:r>
            <a:r>
              <a:rPr lang="en" sz="850">
                <a:solidFill>
                  <a:srgbClr val="1F1F1F"/>
                </a:solidFill>
                <a:highlight>
                  <a:srgbClr val="FFFFFF"/>
                </a:highlight>
              </a:rPr>
              <a:t> The question here was whether male and female penguins have different average bill lengths.</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FFFFF"/>
                </a:highlight>
              </a:rPr>
              <a:t>Sample sizes:</a:t>
            </a:r>
            <a:r>
              <a:rPr lang="en" sz="850">
                <a:solidFill>
                  <a:srgbClr val="1F1F1F"/>
                </a:solidFill>
                <a:highlight>
                  <a:srgbClr val="FFFFFF"/>
                </a:highlight>
              </a:rPr>
              <a:t> 168 male and 165 female penguins were included.</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FFFFF"/>
                </a:highlight>
              </a:rPr>
              <a:t>Male mean: 45.9mm ± 5.4</a:t>
            </a:r>
            <a:r>
              <a:rPr lang="en" sz="850">
                <a:solidFill>
                  <a:srgbClr val="1F1F1F"/>
                </a:solidFill>
                <a:highlight>
                  <a:srgbClr val="FFFFFF"/>
                </a:highlight>
              </a:rPr>
              <a:t> and </a:t>
            </a:r>
            <a:r>
              <a:rPr b="1" lang="en" sz="850">
                <a:solidFill>
                  <a:srgbClr val="1F1F1F"/>
                </a:solidFill>
                <a:highlight>
                  <a:srgbClr val="FFFFFF"/>
                </a:highlight>
              </a:rPr>
              <a:t>Female mean: 42.1mm ± 4.9</a:t>
            </a:r>
            <a:r>
              <a:rPr lang="en" sz="850">
                <a:solidFill>
                  <a:srgbClr val="1F1F1F"/>
                </a:solidFill>
                <a:highlight>
                  <a:srgbClr val="FFFFFF"/>
                </a:highlight>
              </a:rPr>
              <a:t>: These are the average bill lengths for male and female penguins, showing that male penguins in this sample have a slightly larger average bill length.</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FFFFF"/>
                </a:highlight>
              </a:rPr>
              <a:t>T-statistic: 6.667</a:t>
            </a:r>
            <a:r>
              <a:rPr lang="en" sz="850">
                <a:solidFill>
                  <a:srgbClr val="1F1F1F"/>
                </a:solidFill>
                <a:highlight>
                  <a:srgbClr val="FFFFFF"/>
                </a:highlight>
              </a:rPr>
              <a:t>: The calculated t-statistic for this comparison.</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FFFFF"/>
                </a:highlight>
              </a:rPr>
              <a:t>P-value: 1.09e-10</a:t>
            </a:r>
            <a:r>
              <a:rPr lang="en" sz="850">
                <a:solidFill>
                  <a:srgbClr val="1F1F1F"/>
                </a:solidFill>
                <a:highlight>
                  <a:srgbClr val="FFFFFF"/>
                </a:highlight>
              </a:rPr>
              <a:t>: Another very small p-value, indicating that the observed difference in bill lengths between male and female penguins is highly unlikely to be due to random chance.</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FFFFF"/>
                </a:highlight>
              </a:rPr>
              <a:t>Result: Significant difference (p &lt; 0.05)</a:t>
            </a:r>
            <a:r>
              <a:rPr lang="en" sz="850">
                <a:solidFill>
                  <a:srgbClr val="1F1F1F"/>
                </a:solidFill>
                <a:highlight>
                  <a:srgbClr val="FFFFFF"/>
                </a:highlight>
              </a:rPr>
              <a:t>: Based on the small p-value, we conclude that there is a statistically significant difference in bill length between male and female penguins.</a:t>
            </a:r>
            <a:endParaRPr sz="850">
              <a:solidFill>
                <a:srgbClr val="1F1F1F"/>
              </a:solidFill>
              <a:highlight>
                <a:srgbClr val="FFFFFF"/>
              </a:highlight>
            </a:endParaRPr>
          </a:p>
          <a:p>
            <a:pPr indent="0" lvl="0" marL="0" rtl="0" algn="l">
              <a:lnSpc>
                <a:spcPct val="115000"/>
              </a:lnSpc>
              <a:spcBef>
                <a:spcPts val="600"/>
              </a:spcBef>
              <a:spcAft>
                <a:spcPts val="600"/>
              </a:spcAft>
              <a:buNone/>
            </a:pPr>
            <a:r>
              <a:t/>
            </a:r>
            <a:endParaRPr b="1" sz="450">
              <a:solidFill>
                <a:srgbClr val="1F1F1F"/>
              </a:solidFill>
              <a:highlight>
                <a:srgbClr val="FFFFFF"/>
              </a:highlight>
            </a:endParaRPr>
          </a:p>
        </p:txBody>
      </p:sp>
      <p:pic>
        <p:nvPicPr>
          <p:cNvPr id="211" name="Google Shape;211;p31"/>
          <p:cNvPicPr preferRelativeResize="0"/>
          <p:nvPr/>
        </p:nvPicPr>
        <p:blipFill>
          <a:blip r:embed="rId3">
            <a:alphaModFix/>
          </a:blip>
          <a:stretch>
            <a:fillRect/>
          </a:stretch>
        </p:blipFill>
        <p:spPr>
          <a:xfrm>
            <a:off x="4676763" y="455688"/>
            <a:ext cx="4467225" cy="1057275"/>
          </a:xfrm>
          <a:prstGeom prst="rect">
            <a:avLst/>
          </a:prstGeom>
          <a:noFill/>
          <a:ln>
            <a:noFill/>
          </a:ln>
        </p:spPr>
      </p:pic>
      <p:sp>
        <p:nvSpPr>
          <p:cNvPr id="212" name="Google Shape;21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type="title"/>
          </p:nvPr>
        </p:nvSpPr>
        <p:spPr>
          <a:xfrm>
            <a:off x="25000" y="26275"/>
            <a:ext cx="8520600" cy="572700"/>
          </a:xfrm>
          <a:prstGeom prst="rect">
            <a:avLst/>
          </a:prstGeom>
        </p:spPr>
        <p:txBody>
          <a:bodyPr anchorCtr="0" anchor="t" bIns="91425" lIns="91425" spcFirstLastPara="1" rIns="91425" wrap="square" tIns="91425">
            <a:normAutofit/>
          </a:bodyPr>
          <a:lstStyle/>
          <a:p>
            <a:pPr indent="0" lvl="0" marL="0" rtl="0" algn="l">
              <a:lnSpc>
                <a:spcPct val="141666"/>
              </a:lnSpc>
              <a:spcBef>
                <a:spcPts val="0"/>
              </a:spcBef>
              <a:spcAft>
                <a:spcPts val="0"/>
              </a:spcAft>
              <a:buNone/>
            </a:pPr>
            <a:r>
              <a:rPr lang="en" sz="900">
                <a:solidFill>
                  <a:srgbClr val="008000"/>
                </a:solidFill>
                <a:highlight>
                  <a:srgbClr val="F7F7F7"/>
                </a:highlight>
                <a:latin typeface="Courier New"/>
                <a:ea typeface="Courier New"/>
                <a:cs typeface="Courier New"/>
                <a:sym typeface="Courier New"/>
              </a:rPr>
              <a:t>Cell 12: Chi-Square Tests - </a:t>
            </a:r>
            <a:r>
              <a:rPr lang="en" sz="900">
                <a:solidFill>
                  <a:srgbClr val="A31515"/>
                </a:solidFill>
                <a:highlight>
                  <a:srgbClr val="F7F7F7"/>
                </a:highlight>
                <a:latin typeface="Courier New"/>
                <a:ea typeface="Courier New"/>
                <a:cs typeface="Courier New"/>
                <a:sym typeface="Courier New"/>
              </a:rPr>
              <a:t>Chi-square tests examine independence between categorical variables</a:t>
            </a:r>
            <a:endParaRPr/>
          </a:p>
        </p:txBody>
      </p:sp>
      <p:sp>
        <p:nvSpPr>
          <p:cNvPr id="218" name="Google Shape;218;p32"/>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219" name="Google Shape;219;p32"/>
          <p:cNvSpPr txBox="1"/>
          <p:nvPr/>
        </p:nvSpPr>
        <p:spPr>
          <a:xfrm>
            <a:off x="-31250" y="425000"/>
            <a:ext cx="4842900" cy="46407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rPr lang="en" sz="900">
                <a:solidFill>
                  <a:srgbClr val="008000"/>
                </a:solidFill>
                <a:highlight>
                  <a:srgbClr val="F7F7F7"/>
                </a:highlight>
                <a:latin typeface="Courier New"/>
                <a:ea typeface="Courier New"/>
                <a:cs typeface="Courier New"/>
                <a:sym typeface="Courier New"/>
              </a:rPr>
              <a:t># Example 1: Test independence between species and island</a:t>
            </a:r>
            <a:endParaRPr sz="9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"\n--- Example 1: Species vs Island Independence ---"</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crosstab1 = pd.crosstab(penguins_clean[</a:t>
            </a:r>
            <a:r>
              <a:rPr lang="en" sz="900">
                <a:solidFill>
                  <a:srgbClr val="A31515"/>
                </a:solidFill>
                <a:highlight>
                  <a:srgbClr val="F7F7F7"/>
                </a:highlight>
                <a:latin typeface="Courier New"/>
                <a:ea typeface="Courier New"/>
                <a:cs typeface="Courier New"/>
                <a:sym typeface="Courier New"/>
              </a:rPr>
              <a:t>'species'</a:t>
            </a:r>
            <a:r>
              <a:rPr lang="en" sz="900">
                <a:solidFill>
                  <a:schemeClr val="dk1"/>
                </a:solidFill>
                <a:highlight>
                  <a:srgbClr val="F7F7F7"/>
                </a:highlight>
                <a:latin typeface="Courier New"/>
                <a:ea typeface="Courier New"/>
                <a:cs typeface="Courier New"/>
                <a:sym typeface="Courier New"/>
              </a:rPr>
              <a:t>], penguins_clean[</a:t>
            </a:r>
            <a:r>
              <a:rPr lang="en" sz="900">
                <a:solidFill>
                  <a:srgbClr val="A31515"/>
                </a:solidFill>
                <a:highlight>
                  <a:srgbClr val="F7F7F7"/>
                </a:highlight>
                <a:latin typeface="Courier New"/>
                <a:ea typeface="Courier New"/>
                <a:cs typeface="Courier New"/>
                <a:sym typeface="Courier New"/>
              </a:rPr>
              <a:t>'island'</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chi2_1, p_chi1, dof1, expected1 = stats.chi2_contingency(crosstab1)</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"Research Question: Are penguin species distributed equally across islands?"</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"Observed frequencies (contingency table):"</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(crosstab1)</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"\nChi-square statistic: </a:t>
            </a:r>
            <a:r>
              <a:rPr lang="en" sz="900">
                <a:solidFill>
                  <a:schemeClr val="dk1"/>
                </a:solidFill>
                <a:highlight>
                  <a:srgbClr val="F7F7F7"/>
                </a:highlight>
                <a:latin typeface="Courier New"/>
                <a:ea typeface="Courier New"/>
                <a:cs typeface="Courier New"/>
                <a:sym typeface="Courier New"/>
              </a:rPr>
              <a:t>{chi2_1</a:t>
            </a:r>
            <a:r>
              <a:rPr lang="en" sz="900">
                <a:solidFill>
                  <a:srgbClr val="116644"/>
                </a:solidFill>
                <a:highlight>
                  <a:srgbClr val="F7F7F7"/>
                </a:highlight>
                <a:latin typeface="Courier New"/>
                <a:ea typeface="Courier New"/>
                <a:cs typeface="Courier New"/>
                <a:sym typeface="Courier New"/>
              </a:rPr>
              <a:t>:.3f</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"Degrees of freedom: </a:t>
            </a:r>
            <a:r>
              <a:rPr lang="en" sz="900">
                <a:solidFill>
                  <a:schemeClr val="dk1"/>
                </a:solidFill>
                <a:highlight>
                  <a:srgbClr val="F7F7F7"/>
                </a:highlight>
                <a:latin typeface="Courier New"/>
                <a:ea typeface="Courier New"/>
                <a:cs typeface="Courier New"/>
                <a:sym typeface="Courier New"/>
              </a:rPr>
              <a:t>{dof1}</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"P-value: </a:t>
            </a:r>
            <a:r>
              <a:rPr lang="en" sz="900">
                <a:solidFill>
                  <a:schemeClr val="dk1"/>
                </a:solidFill>
                <a:highlight>
                  <a:srgbClr val="F7F7F7"/>
                </a:highlight>
                <a:latin typeface="Courier New"/>
                <a:ea typeface="Courier New"/>
                <a:cs typeface="Courier New"/>
                <a:sym typeface="Courier New"/>
              </a:rPr>
              <a:t>{p_chi1</a:t>
            </a:r>
            <a:r>
              <a:rPr lang="en" sz="900">
                <a:solidFill>
                  <a:srgbClr val="116644"/>
                </a:solidFill>
                <a:highlight>
                  <a:srgbClr val="F7F7F7"/>
                </a:highlight>
                <a:latin typeface="Courier New"/>
                <a:ea typeface="Courier New"/>
                <a:cs typeface="Courier New"/>
                <a:sym typeface="Courier New"/>
              </a:rPr>
              <a:t>:.2e</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"Result: </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'Variables are dependent (p &lt; 0.05)'</a:t>
            </a:r>
            <a:r>
              <a:rPr lang="en" sz="900">
                <a:solidFill>
                  <a:schemeClr val="dk1"/>
                </a:solidFill>
                <a:highlight>
                  <a:srgbClr val="F7F7F7"/>
                </a:highlight>
                <a:latin typeface="Courier New"/>
                <a:ea typeface="Courier New"/>
                <a:cs typeface="Courier New"/>
                <a:sym typeface="Courier New"/>
              </a:rPr>
              <a:t> </a:t>
            </a:r>
            <a:r>
              <a:rPr lang="en" sz="900">
                <a:solidFill>
                  <a:srgbClr val="9723B4"/>
                </a:solidFill>
                <a:highlight>
                  <a:srgbClr val="F7F7F7"/>
                </a:highlight>
                <a:latin typeface="Courier New"/>
                <a:ea typeface="Courier New"/>
                <a:cs typeface="Courier New"/>
                <a:sym typeface="Courier New"/>
              </a:rPr>
              <a:t>if</a:t>
            </a:r>
            <a:r>
              <a:rPr lang="en" sz="900">
                <a:solidFill>
                  <a:schemeClr val="dk1"/>
                </a:solidFill>
                <a:highlight>
                  <a:srgbClr val="F7F7F7"/>
                </a:highlight>
                <a:latin typeface="Courier New"/>
                <a:ea typeface="Courier New"/>
                <a:cs typeface="Courier New"/>
                <a:sym typeface="Courier New"/>
              </a:rPr>
              <a:t> p_chi1 &lt; </a:t>
            </a:r>
            <a:r>
              <a:rPr lang="en" sz="900">
                <a:solidFill>
                  <a:srgbClr val="116644"/>
                </a:solidFill>
                <a:highlight>
                  <a:srgbClr val="F7F7F7"/>
                </a:highlight>
                <a:latin typeface="Courier New"/>
                <a:ea typeface="Courier New"/>
                <a:cs typeface="Courier New"/>
                <a:sym typeface="Courier New"/>
              </a:rPr>
              <a:t>0.05</a:t>
            </a:r>
            <a:r>
              <a:rPr lang="en" sz="900">
                <a:solidFill>
                  <a:schemeClr val="dk1"/>
                </a:solidFill>
                <a:highlight>
                  <a:srgbClr val="F7F7F7"/>
                </a:highlight>
                <a:latin typeface="Courier New"/>
                <a:ea typeface="Courier New"/>
                <a:cs typeface="Courier New"/>
                <a:sym typeface="Courier New"/>
              </a:rPr>
              <a:t> </a:t>
            </a:r>
            <a:r>
              <a:rPr lang="en" sz="900">
                <a:solidFill>
                  <a:srgbClr val="9723B4"/>
                </a:solidFill>
                <a:highlight>
                  <a:srgbClr val="F7F7F7"/>
                </a:highlight>
                <a:latin typeface="Courier New"/>
                <a:ea typeface="Courier New"/>
                <a:cs typeface="Courier New"/>
                <a:sym typeface="Courier New"/>
              </a:rPr>
              <a:t>else</a:t>
            </a:r>
            <a:r>
              <a:rPr lang="en" sz="900">
                <a:solidFill>
                  <a:schemeClr val="dk1"/>
                </a:solidFill>
                <a:highlight>
                  <a:srgbClr val="F7F7F7"/>
                </a:highlight>
                <a:latin typeface="Courier New"/>
                <a:ea typeface="Courier New"/>
                <a:cs typeface="Courier New"/>
                <a:sym typeface="Courier New"/>
              </a:rPr>
              <a:t> </a:t>
            </a:r>
            <a:r>
              <a:rPr lang="en" sz="900">
                <a:solidFill>
                  <a:srgbClr val="A31515"/>
                </a:solidFill>
                <a:highlight>
                  <a:srgbClr val="F7F7F7"/>
                </a:highlight>
                <a:latin typeface="Courier New"/>
                <a:ea typeface="Courier New"/>
                <a:cs typeface="Courier New"/>
                <a:sym typeface="Courier New"/>
              </a:rPr>
              <a:t>'Variables are independent (p ≥ 0.05)'</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"\nExpected frequencies (if independent):"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expected_df = pd.DataFrame(expected1,</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                          index=crosstab1.index,</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                          columns=crosstab1.columns)</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(expected_df.</a:t>
            </a:r>
            <a:r>
              <a:rPr lang="en" sz="900">
                <a:solidFill>
                  <a:srgbClr val="6A5221"/>
                </a:solidFill>
                <a:highlight>
                  <a:srgbClr val="F7F7F7"/>
                </a:highlight>
                <a:latin typeface="Courier New"/>
                <a:ea typeface="Courier New"/>
                <a:cs typeface="Courier New"/>
                <a:sym typeface="Courier New"/>
              </a:rPr>
              <a:t>round</a:t>
            </a:r>
            <a:r>
              <a:rPr lang="en" sz="900">
                <a:solidFill>
                  <a:schemeClr val="dk1"/>
                </a:solidFill>
                <a:highlight>
                  <a:srgbClr val="F7F7F7"/>
                </a:highlight>
                <a:latin typeface="Courier New"/>
                <a:ea typeface="Courier New"/>
                <a:cs typeface="Courier New"/>
                <a:sym typeface="Courier New"/>
              </a:rPr>
              <a:t>(</a:t>
            </a:r>
            <a:r>
              <a:rPr lang="en" sz="900">
                <a:solidFill>
                  <a:srgbClr val="116644"/>
                </a:solidFill>
                <a:highlight>
                  <a:srgbClr val="F7F7F7"/>
                </a:highlight>
                <a:latin typeface="Courier New"/>
                <a:ea typeface="Courier New"/>
                <a:cs typeface="Courier New"/>
                <a:sym typeface="Courier New"/>
              </a:rPr>
              <a:t>1</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rgbClr val="008000"/>
              </a:solidFill>
              <a:highlight>
                <a:srgbClr val="F7F7F7"/>
              </a:highlight>
              <a:latin typeface="Courier New"/>
              <a:ea typeface="Courier New"/>
              <a:cs typeface="Courier New"/>
              <a:sym typeface="Courier New"/>
            </a:endParaRPr>
          </a:p>
        </p:txBody>
      </p:sp>
      <p:pic>
        <p:nvPicPr>
          <p:cNvPr id="220" name="Google Shape;220;p32"/>
          <p:cNvPicPr preferRelativeResize="0"/>
          <p:nvPr/>
        </p:nvPicPr>
        <p:blipFill>
          <a:blip r:embed="rId3">
            <a:alphaModFix/>
          </a:blip>
          <a:stretch>
            <a:fillRect/>
          </a:stretch>
        </p:blipFill>
        <p:spPr>
          <a:xfrm>
            <a:off x="5432020" y="2886368"/>
            <a:ext cx="2679500" cy="1605365"/>
          </a:xfrm>
          <a:prstGeom prst="rect">
            <a:avLst/>
          </a:prstGeom>
          <a:noFill/>
          <a:ln>
            <a:noFill/>
          </a:ln>
        </p:spPr>
      </p:pic>
      <p:sp>
        <p:nvSpPr>
          <p:cNvPr id="221" name="Google Shape;221;p32"/>
          <p:cNvSpPr txBox="1"/>
          <p:nvPr/>
        </p:nvSpPr>
        <p:spPr>
          <a:xfrm>
            <a:off x="5271775" y="756200"/>
            <a:ext cx="30000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1F1F1F"/>
                </a:solidFill>
                <a:highlight>
                  <a:srgbClr val="D9D2E9"/>
                </a:highlight>
                <a:latin typeface="Roboto Mono"/>
                <a:ea typeface="Roboto Mono"/>
                <a:cs typeface="Roboto Mono"/>
                <a:sym typeface="Roboto Mono"/>
              </a:rPr>
              <a:t>pd.crosstab()</a:t>
            </a:r>
            <a:r>
              <a:rPr lang="en" sz="1050">
                <a:solidFill>
                  <a:srgbClr val="1F1F1F"/>
                </a:solidFill>
                <a:highlight>
                  <a:srgbClr val="D9D2E9"/>
                </a:highlight>
              </a:rPr>
              <a:t> is a function in the pandas library that is used to compute a frequency table of two or more factors. Essentially, it helps you create a contingency table, which is a table that displays the multivariate frequency distribution of the variables.</a:t>
            </a:r>
            <a:endParaRPr>
              <a:highlight>
                <a:srgbClr val="D9D2E9"/>
              </a:highlight>
            </a:endParaRPr>
          </a:p>
        </p:txBody>
      </p:sp>
      <p:sp>
        <p:nvSpPr>
          <p:cNvPr id="222" name="Google Shape;22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25000" y="26275"/>
            <a:ext cx="8520600" cy="572700"/>
          </a:xfrm>
          <a:prstGeom prst="rect">
            <a:avLst/>
          </a:prstGeom>
        </p:spPr>
        <p:txBody>
          <a:bodyPr anchorCtr="0" anchor="t" bIns="91425" lIns="91425" spcFirstLastPara="1" rIns="91425" wrap="square" tIns="91425">
            <a:normAutofit/>
          </a:bodyPr>
          <a:lstStyle/>
          <a:p>
            <a:pPr indent="0" lvl="0" marL="0" rtl="0" algn="l">
              <a:lnSpc>
                <a:spcPct val="141666"/>
              </a:lnSpc>
              <a:spcBef>
                <a:spcPts val="0"/>
              </a:spcBef>
              <a:spcAft>
                <a:spcPts val="0"/>
              </a:spcAft>
              <a:buNone/>
            </a:pPr>
            <a:r>
              <a:rPr lang="en" sz="900">
                <a:solidFill>
                  <a:srgbClr val="008000"/>
                </a:solidFill>
                <a:highlight>
                  <a:srgbClr val="F7F7F7"/>
                </a:highlight>
                <a:latin typeface="Courier New"/>
                <a:ea typeface="Courier New"/>
                <a:cs typeface="Courier New"/>
                <a:sym typeface="Courier New"/>
              </a:rPr>
              <a:t>Cell 12: Chi-Square Tests - </a:t>
            </a:r>
            <a:r>
              <a:rPr lang="en" sz="900">
                <a:solidFill>
                  <a:srgbClr val="A31515"/>
                </a:solidFill>
                <a:highlight>
                  <a:srgbClr val="F7F7F7"/>
                </a:highlight>
                <a:latin typeface="Courier New"/>
                <a:ea typeface="Courier New"/>
                <a:cs typeface="Courier New"/>
                <a:sym typeface="Courier New"/>
              </a:rPr>
              <a:t>Chi-square tests examine independence between categorical variables</a:t>
            </a:r>
            <a:endParaRPr/>
          </a:p>
        </p:txBody>
      </p:sp>
      <p:sp>
        <p:nvSpPr>
          <p:cNvPr id="228" name="Google Shape;228;p33"/>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pic>
        <p:nvPicPr>
          <p:cNvPr id="229" name="Google Shape;229;p33"/>
          <p:cNvPicPr preferRelativeResize="0"/>
          <p:nvPr/>
        </p:nvPicPr>
        <p:blipFill>
          <a:blip r:embed="rId3">
            <a:alphaModFix/>
          </a:blip>
          <a:stretch>
            <a:fillRect/>
          </a:stretch>
        </p:blipFill>
        <p:spPr>
          <a:xfrm>
            <a:off x="5413270" y="1942668"/>
            <a:ext cx="2679500" cy="1605365"/>
          </a:xfrm>
          <a:prstGeom prst="rect">
            <a:avLst/>
          </a:prstGeom>
          <a:noFill/>
          <a:ln>
            <a:noFill/>
          </a:ln>
        </p:spPr>
      </p:pic>
      <p:sp>
        <p:nvSpPr>
          <p:cNvPr id="230" name="Google Shape;230;p33"/>
          <p:cNvSpPr txBox="1"/>
          <p:nvPr/>
        </p:nvSpPr>
        <p:spPr>
          <a:xfrm>
            <a:off x="175225" y="443725"/>
            <a:ext cx="5042700" cy="4415700"/>
          </a:xfrm>
          <a:prstGeom prst="rect">
            <a:avLst/>
          </a:prstGeom>
          <a:noFill/>
          <a:ln>
            <a:noFill/>
          </a:ln>
        </p:spPr>
        <p:txBody>
          <a:bodyPr anchorCtr="0" anchor="t" bIns="91425" lIns="91425" spcFirstLastPara="1" rIns="91425" wrap="square" tIns="91425">
            <a:spAutoFit/>
          </a:bodyPr>
          <a:lstStyle/>
          <a:p>
            <a:pPr indent="-276225" lvl="0" marL="457200" rtl="0" algn="l">
              <a:lnSpc>
                <a:spcPct val="115000"/>
              </a:lnSpc>
              <a:spcBef>
                <a:spcPts val="60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 Example 1: Species vs Island Independence ---</a:t>
            </a:r>
            <a:r>
              <a:rPr lang="en" sz="750">
                <a:solidFill>
                  <a:srgbClr val="1F1F1F"/>
                </a:solidFill>
                <a:highlight>
                  <a:srgbClr val="FFFFFF"/>
                </a:highlight>
              </a:rPr>
              <a:t>: This is a header for this specific test.</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Research Question: Are penguin species distributed equally across islands?</a:t>
            </a:r>
            <a:r>
              <a:rPr lang="en" sz="750">
                <a:solidFill>
                  <a:srgbClr val="1F1F1F"/>
                </a:solidFill>
                <a:highlight>
                  <a:srgbClr val="FFFFFF"/>
                </a:highlight>
              </a:rPr>
              <a:t>: This clearly states the hypothesis being tested. The null hypothesis is that there is no association between species and island (they are independent), and the alternative hypothesis is that there is an association (they are dependent).</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Observed frequencies (contingency table):</a:t>
            </a:r>
            <a:r>
              <a:rPr lang="en" sz="750">
                <a:solidFill>
                  <a:srgbClr val="1F1F1F"/>
                </a:solidFill>
                <a:highlight>
                  <a:srgbClr val="FFFFFF"/>
                </a:highlight>
              </a:rPr>
              <a:t>: This table shows the actual counts of penguins for each combination of species and island in your dataset. For example, you observed 44 Adelie penguins on Biscoe island, 68 Chinstrap penguins on Dream island, and 119 Gentoo penguins on Biscoe island.</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Chi-square statistic: 284.590</a:t>
            </a:r>
            <a:r>
              <a:rPr lang="en" sz="750">
                <a:solidFill>
                  <a:srgbClr val="1F1F1F"/>
                </a:solidFill>
                <a:highlight>
                  <a:srgbClr val="FFFFFF"/>
                </a:highlight>
              </a:rPr>
              <a:t>: This is the calculated Chi-Square test statistic. It measures the difference between the observed frequencies and the expected frequencies (what you would expect if species and island were truly independent). A larger Chi-Square value indicates a greater discrepancy between observed and expected frequencies, suggesting a stronger association.</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Degrees of freedom: 4</a:t>
            </a:r>
            <a:r>
              <a:rPr lang="en" sz="750">
                <a:solidFill>
                  <a:srgbClr val="1F1F1F"/>
                </a:solidFill>
                <a:highlight>
                  <a:srgbClr val="FFFFFF"/>
                </a:highlight>
              </a:rPr>
              <a:t>: This value is determined by the number of rows and columns in your contingency table ( (number of rows - 1) * (number of columns - 1) = (3 - 1) * (3 - 1) = 2 * 2 = 4). The degrees of freedom are used to determine the critical value from the Chi-Square distribution.</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P-value: 2.28e-60</a:t>
            </a:r>
            <a:r>
              <a:rPr lang="en" sz="750">
                <a:solidFill>
                  <a:srgbClr val="1F1F1F"/>
                </a:solidFill>
                <a:highlight>
                  <a:srgbClr val="FFFFFF"/>
                </a:highlight>
              </a:rPr>
              <a:t>: This is the p-value associated with the calculated Chi-Square statistic and degrees of freedom. It's an extremely small number (essentially zero for practical purposes). A very small p-value means that it is highly improbable to observe the distribution of penguins across islands that you did if species and island were truly independent.</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Result: Variables are dependent (p &lt; 0.05)</a:t>
            </a:r>
            <a:r>
              <a:rPr lang="en" sz="750">
                <a:solidFill>
                  <a:srgbClr val="1F1F1F"/>
                </a:solidFill>
                <a:highlight>
                  <a:srgbClr val="FFFFFF"/>
                </a:highlight>
              </a:rPr>
              <a:t>: This is the conclusion. Since the p-value (2.28e-60) is much less than the standard significance level of 0.05, we reject the null hypothesis of independence. We conclude that there is a statistically significant dependence or association between penguin species and the island they are found on.</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Expected frequencies (if independent):</a:t>
            </a:r>
            <a:r>
              <a:rPr lang="en" sz="750">
                <a:solidFill>
                  <a:srgbClr val="1F1F1F"/>
                </a:solidFill>
                <a:highlight>
                  <a:srgbClr val="FFFFFF"/>
                </a:highlight>
              </a:rPr>
              <a:t>: This table shows the expected counts for each cell in the contingency table </a:t>
            </a:r>
            <a:r>
              <a:rPr i="1" lang="en" sz="750">
                <a:solidFill>
                  <a:srgbClr val="1F1F1F"/>
                </a:solidFill>
                <a:highlight>
                  <a:srgbClr val="FFFFFF"/>
                </a:highlight>
              </a:rPr>
              <a:t>if</a:t>
            </a:r>
            <a:r>
              <a:rPr lang="en" sz="750">
                <a:solidFill>
                  <a:srgbClr val="1F1F1F"/>
                </a:solidFill>
                <a:highlight>
                  <a:srgbClr val="FFFFFF"/>
                </a:highlight>
              </a:rPr>
              <a:t> there were no association between species and island. These values are calculated based on the row and column totals. Comparing the "Observed frequencies" table to the "Expected frequencies" table visually helps you see where the biggest differences lie and understand the nature of the dependence. For example, you observed 44 Adelie penguins on Biscoe, but you would expect about 71.5 if there was no association. You observed 0 Chinstrap penguins on Biscoe, but you would expect about 33.3 if there was no association. This clearly shows that Chinstrap and Gentoo penguins are not found on all islands, while Adelie penguins are.</a:t>
            </a:r>
            <a:endParaRPr sz="750">
              <a:solidFill>
                <a:srgbClr val="1F1F1F"/>
              </a:solidFill>
              <a:highlight>
                <a:srgbClr val="FFFFFF"/>
              </a:highlight>
            </a:endParaRPr>
          </a:p>
        </p:txBody>
      </p:sp>
      <p:sp>
        <p:nvSpPr>
          <p:cNvPr id="231" name="Google Shape;23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4"/>
          <p:cNvSpPr txBox="1"/>
          <p:nvPr>
            <p:ph type="title"/>
          </p:nvPr>
        </p:nvSpPr>
        <p:spPr>
          <a:xfrm>
            <a:off x="25000" y="26275"/>
            <a:ext cx="8520600" cy="572700"/>
          </a:xfrm>
          <a:prstGeom prst="rect">
            <a:avLst/>
          </a:prstGeom>
        </p:spPr>
        <p:txBody>
          <a:bodyPr anchorCtr="0" anchor="t" bIns="91425" lIns="91425" spcFirstLastPara="1" rIns="91425" wrap="square" tIns="91425">
            <a:normAutofit/>
          </a:bodyPr>
          <a:lstStyle/>
          <a:p>
            <a:pPr indent="0" lvl="0" marL="0" rtl="0" algn="l">
              <a:lnSpc>
                <a:spcPct val="141666"/>
              </a:lnSpc>
              <a:spcBef>
                <a:spcPts val="0"/>
              </a:spcBef>
              <a:spcAft>
                <a:spcPts val="0"/>
              </a:spcAft>
              <a:buNone/>
            </a:pPr>
            <a:r>
              <a:rPr lang="en" sz="900">
                <a:solidFill>
                  <a:srgbClr val="008000"/>
                </a:solidFill>
                <a:highlight>
                  <a:srgbClr val="F7F7F7"/>
                </a:highlight>
                <a:latin typeface="Courier New"/>
                <a:ea typeface="Courier New"/>
                <a:cs typeface="Courier New"/>
                <a:sym typeface="Courier New"/>
              </a:rPr>
              <a:t>Cell 12: Chi-Square Tests - </a:t>
            </a:r>
            <a:r>
              <a:rPr lang="en" sz="900">
                <a:solidFill>
                  <a:srgbClr val="A31515"/>
                </a:solidFill>
                <a:highlight>
                  <a:srgbClr val="F7F7F7"/>
                </a:highlight>
                <a:latin typeface="Courier New"/>
                <a:ea typeface="Courier New"/>
                <a:cs typeface="Courier New"/>
                <a:sym typeface="Courier New"/>
              </a:rPr>
              <a:t>Chi-square tests examine independence between categorical variables</a:t>
            </a:r>
            <a:endParaRPr/>
          </a:p>
        </p:txBody>
      </p:sp>
      <p:sp>
        <p:nvSpPr>
          <p:cNvPr id="237" name="Google Shape;237;p34"/>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238" name="Google Shape;238;p34"/>
          <p:cNvSpPr txBox="1"/>
          <p:nvPr/>
        </p:nvSpPr>
        <p:spPr>
          <a:xfrm>
            <a:off x="-31250" y="425000"/>
            <a:ext cx="4842900" cy="34632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rPr lang="en" sz="900">
                <a:solidFill>
                  <a:srgbClr val="008000"/>
                </a:solidFill>
                <a:highlight>
                  <a:srgbClr val="F7F7F7"/>
                </a:highlight>
                <a:latin typeface="Courier New"/>
                <a:ea typeface="Courier New"/>
                <a:cs typeface="Courier New"/>
                <a:sym typeface="Courier New"/>
              </a:rPr>
              <a:t># Example 2: Test independence between species and sex</a:t>
            </a:r>
            <a:endParaRPr sz="9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"\n--- Example 2: Species vs Sex Independence ---"</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crosstab2 = pd.crosstab(penguins_clean[</a:t>
            </a:r>
            <a:r>
              <a:rPr lang="en" sz="900">
                <a:solidFill>
                  <a:srgbClr val="A31515"/>
                </a:solidFill>
                <a:highlight>
                  <a:srgbClr val="F7F7F7"/>
                </a:highlight>
                <a:latin typeface="Courier New"/>
                <a:ea typeface="Courier New"/>
                <a:cs typeface="Courier New"/>
                <a:sym typeface="Courier New"/>
              </a:rPr>
              <a:t>'species'</a:t>
            </a:r>
            <a:r>
              <a:rPr lang="en" sz="900">
                <a:solidFill>
                  <a:schemeClr val="dk1"/>
                </a:solidFill>
                <a:highlight>
                  <a:srgbClr val="F7F7F7"/>
                </a:highlight>
                <a:latin typeface="Courier New"/>
                <a:ea typeface="Courier New"/>
                <a:cs typeface="Courier New"/>
                <a:sym typeface="Courier New"/>
              </a:rPr>
              <a:t>], penguins_clean[</a:t>
            </a:r>
            <a:r>
              <a:rPr lang="en" sz="900">
                <a:solidFill>
                  <a:srgbClr val="A31515"/>
                </a:solidFill>
                <a:highlight>
                  <a:srgbClr val="F7F7F7"/>
                </a:highlight>
                <a:latin typeface="Courier New"/>
                <a:ea typeface="Courier New"/>
                <a:cs typeface="Courier New"/>
                <a:sym typeface="Courier New"/>
              </a:rPr>
              <a:t>'sex'</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chemeClr val="dk1"/>
                </a:solidFill>
                <a:highlight>
                  <a:srgbClr val="F7F7F7"/>
                </a:highlight>
                <a:latin typeface="Courier New"/>
                <a:ea typeface="Courier New"/>
                <a:cs typeface="Courier New"/>
                <a:sym typeface="Courier New"/>
              </a:rPr>
              <a:t>chi2_2, p_chi2, dof2, expected2 = stats.chi2_contingency(crosstab2)</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"Research Question: Do penguin species have equal sex ratios?"</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"Observed frequencies (contingency table):"</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(crosstab2)</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"\nChi-square statistic: </a:t>
            </a:r>
            <a:r>
              <a:rPr lang="en" sz="900">
                <a:solidFill>
                  <a:schemeClr val="dk1"/>
                </a:solidFill>
                <a:highlight>
                  <a:srgbClr val="F7F7F7"/>
                </a:highlight>
                <a:latin typeface="Courier New"/>
                <a:ea typeface="Courier New"/>
                <a:cs typeface="Courier New"/>
                <a:sym typeface="Courier New"/>
              </a:rPr>
              <a:t>{chi2_2</a:t>
            </a:r>
            <a:r>
              <a:rPr lang="en" sz="900">
                <a:solidFill>
                  <a:srgbClr val="116644"/>
                </a:solidFill>
                <a:highlight>
                  <a:srgbClr val="F7F7F7"/>
                </a:highlight>
                <a:latin typeface="Courier New"/>
                <a:ea typeface="Courier New"/>
                <a:cs typeface="Courier New"/>
                <a:sym typeface="Courier New"/>
              </a:rPr>
              <a:t>:.3f</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"Degrees of freedom: </a:t>
            </a:r>
            <a:r>
              <a:rPr lang="en" sz="900">
                <a:solidFill>
                  <a:schemeClr val="dk1"/>
                </a:solidFill>
                <a:highlight>
                  <a:srgbClr val="F7F7F7"/>
                </a:highlight>
                <a:latin typeface="Courier New"/>
                <a:ea typeface="Courier New"/>
                <a:cs typeface="Courier New"/>
                <a:sym typeface="Courier New"/>
              </a:rPr>
              <a:t>{dof2}</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"P-value: </a:t>
            </a:r>
            <a:r>
              <a:rPr lang="en" sz="900">
                <a:solidFill>
                  <a:schemeClr val="dk1"/>
                </a:solidFill>
                <a:highlight>
                  <a:srgbClr val="F7F7F7"/>
                </a:highlight>
                <a:latin typeface="Courier New"/>
                <a:ea typeface="Courier New"/>
                <a:cs typeface="Courier New"/>
                <a:sym typeface="Courier New"/>
              </a:rPr>
              <a:t>{p_chi2</a:t>
            </a:r>
            <a:r>
              <a:rPr lang="en" sz="900">
                <a:solidFill>
                  <a:srgbClr val="116644"/>
                </a:solidFill>
                <a:highlight>
                  <a:srgbClr val="F7F7F7"/>
                </a:highlight>
                <a:latin typeface="Courier New"/>
                <a:ea typeface="Courier New"/>
                <a:cs typeface="Courier New"/>
                <a:sym typeface="Courier New"/>
              </a:rPr>
              <a:t>:.2e</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900">
                <a:solidFill>
                  <a:srgbClr val="6A5221"/>
                </a:solidFill>
                <a:highlight>
                  <a:srgbClr val="F7F7F7"/>
                </a:highlight>
                <a:latin typeface="Courier New"/>
                <a:ea typeface="Courier New"/>
                <a:cs typeface="Courier New"/>
                <a:sym typeface="Courier New"/>
              </a:rPr>
              <a:t>print</a:t>
            </a:r>
            <a:r>
              <a:rPr lang="en" sz="900">
                <a:solidFill>
                  <a:schemeClr val="dk1"/>
                </a:solidFill>
                <a:highlight>
                  <a:srgbClr val="F7F7F7"/>
                </a:highlight>
                <a:latin typeface="Courier New"/>
                <a:ea typeface="Courier New"/>
                <a:cs typeface="Courier New"/>
                <a:sym typeface="Courier New"/>
              </a:rPr>
              <a:t>(</a:t>
            </a:r>
            <a:r>
              <a:rPr lang="en" sz="900">
                <a:solidFill>
                  <a:srgbClr val="0000FF"/>
                </a:solidFill>
                <a:highlight>
                  <a:srgbClr val="F7F7F7"/>
                </a:highlight>
                <a:latin typeface="Courier New"/>
                <a:ea typeface="Courier New"/>
                <a:cs typeface="Courier New"/>
                <a:sym typeface="Courier New"/>
              </a:rPr>
              <a:t>f</a:t>
            </a:r>
            <a:r>
              <a:rPr lang="en" sz="900">
                <a:solidFill>
                  <a:srgbClr val="A31515"/>
                </a:solidFill>
                <a:highlight>
                  <a:srgbClr val="F7F7F7"/>
                </a:highlight>
                <a:latin typeface="Courier New"/>
                <a:ea typeface="Courier New"/>
                <a:cs typeface="Courier New"/>
                <a:sym typeface="Courier New"/>
              </a:rPr>
              <a:t>"Result: </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'Variables are dependent (p &lt; 0.05)'</a:t>
            </a:r>
            <a:r>
              <a:rPr lang="en" sz="900">
                <a:solidFill>
                  <a:schemeClr val="dk1"/>
                </a:solidFill>
                <a:highlight>
                  <a:srgbClr val="F7F7F7"/>
                </a:highlight>
                <a:latin typeface="Courier New"/>
                <a:ea typeface="Courier New"/>
                <a:cs typeface="Courier New"/>
                <a:sym typeface="Courier New"/>
              </a:rPr>
              <a:t> </a:t>
            </a:r>
            <a:r>
              <a:rPr lang="en" sz="900">
                <a:solidFill>
                  <a:srgbClr val="9723B4"/>
                </a:solidFill>
                <a:highlight>
                  <a:srgbClr val="F7F7F7"/>
                </a:highlight>
                <a:latin typeface="Courier New"/>
                <a:ea typeface="Courier New"/>
                <a:cs typeface="Courier New"/>
                <a:sym typeface="Courier New"/>
              </a:rPr>
              <a:t>if</a:t>
            </a:r>
            <a:r>
              <a:rPr lang="en" sz="900">
                <a:solidFill>
                  <a:schemeClr val="dk1"/>
                </a:solidFill>
                <a:highlight>
                  <a:srgbClr val="F7F7F7"/>
                </a:highlight>
                <a:latin typeface="Courier New"/>
                <a:ea typeface="Courier New"/>
                <a:cs typeface="Courier New"/>
                <a:sym typeface="Courier New"/>
              </a:rPr>
              <a:t> p_chi2 &lt; </a:t>
            </a:r>
            <a:r>
              <a:rPr lang="en" sz="900">
                <a:solidFill>
                  <a:srgbClr val="116644"/>
                </a:solidFill>
                <a:highlight>
                  <a:srgbClr val="F7F7F7"/>
                </a:highlight>
                <a:latin typeface="Courier New"/>
                <a:ea typeface="Courier New"/>
                <a:cs typeface="Courier New"/>
                <a:sym typeface="Courier New"/>
              </a:rPr>
              <a:t>0.05</a:t>
            </a:r>
            <a:r>
              <a:rPr lang="en" sz="900">
                <a:solidFill>
                  <a:schemeClr val="dk1"/>
                </a:solidFill>
                <a:highlight>
                  <a:srgbClr val="F7F7F7"/>
                </a:highlight>
                <a:latin typeface="Courier New"/>
                <a:ea typeface="Courier New"/>
                <a:cs typeface="Courier New"/>
                <a:sym typeface="Courier New"/>
              </a:rPr>
              <a:t> </a:t>
            </a:r>
            <a:r>
              <a:rPr lang="en" sz="900">
                <a:solidFill>
                  <a:srgbClr val="9723B4"/>
                </a:solidFill>
                <a:highlight>
                  <a:srgbClr val="F7F7F7"/>
                </a:highlight>
                <a:latin typeface="Courier New"/>
                <a:ea typeface="Courier New"/>
                <a:cs typeface="Courier New"/>
                <a:sym typeface="Courier New"/>
              </a:rPr>
              <a:t>else</a:t>
            </a:r>
            <a:r>
              <a:rPr lang="en" sz="900">
                <a:solidFill>
                  <a:schemeClr val="dk1"/>
                </a:solidFill>
                <a:highlight>
                  <a:srgbClr val="F7F7F7"/>
                </a:highlight>
                <a:latin typeface="Courier New"/>
                <a:ea typeface="Courier New"/>
                <a:cs typeface="Courier New"/>
                <a:sym typeface="Courier New"/>
              </a:rPr>
              <a:t> </a:t>
            </a:r>
            <a:r>
              <a:rPr lang="en" sz="900">
                <a:solidFill>
                  <a:srgbClr val="A31515"/>
                </a:solidFill>
                <a:highlight>
                  <a:srgbClr val="F7F7F7"/>
                </a:highlight>
                <a:latin typeface="Courier New"/>
                <a:ea typeface="Courier New"/>
                <a:cs typeface="Courier New"/>
                <a:sym typeface="Courier New"/>
              </a:rPr>
              <a:t>'Variables are independent (p ≥ 0.05)'</a:t>
            </a:r>
            <a:r>
              <a:rPr lang="en" sz="900">
                <a:solidFill>
                  <a:schemeClr val="dk1"/>
                </a:solidFill>
                <a:highlight>
                  <a:srgbClr val="F7F7F7"/>
                </a:highlight>
                <a:latin typeface="Courier New"/>
                <a:ea typeface="Courier New"/>
                <a:cs typeface="Courier New"/>
                <a:sym typeface="Courier New"/>
              </a:rPr>
              <a:t>}</a:t>
            </a:r>
            <a:r>
              <a:rPr lang="en" sz="900">
                <a:solidFill>
                  <a:srgbClr val="A31515"/>
                </a:solidFill>
                <a:highlight>
                  <a:srgbClr val="F7F7F7"/>
                </a:highlight>
                <a:latin typeface="Courier New"/>
                <a:ea typeface="Courier New"/>
                <a:cs typeface="Courier New"/>
                <a:sym typeface="Courier New"/>
              </a:rPr>
              <a:t>"</a:t>
            </a:r>
            <a:r>
              <a:rPr lang="en" sz="900">
                <a:solidFill>
                  <a:schemeClr val="dk1"/>
                </a:solidFill>
                <a:highlight>
                  <a:srgbClr val="F7F7F7"/>
                </a:highlight>
                <a:latin typeface="Courier New"/>
                <a:ea typeface="Courier New"/>
                <a:cs typeface="Courier New"/>
                <a:sym typeface="Courier New"/>
              </a:rPr>
              <a:t>)</a:t>
            </a:r>
            <a:endParaRPr sz="9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900">
              <a:solidFill>
                <a:srgbClr val="008000"/>
              </a:solidFill>
              <a:highlight>
                <a:srgbClr val="F7F7F7"/>
              </a:highlight>
              <a:latin typeface="Courier New"/>
              <a:ea typeface="Courier New"/>
              <a:cs typeface="Courier New"/>
              <a:sym typeface="Courier New"/>
            </a:endParaRPr>
          </a:p>
        </p:txBody>
      </p:sp>
      <p:pic>
        <p:nvPicPr>
          <p:cNvPr id="239" name="Google Shape;239;p34"/>
          <p:cNvPicPr preferRelativeResize="0"/>
          <p:nvPr/>
        </p:nvPicPr>
        <p:blipFill>
          <a:blip r:embed="rId3">
            <a:alphaModFix/>
          </a:blip>
          <a:stretch>
            <a:fillRect/>
          </a:stretch>
        </p:blipFill>
        <p:spPr>
          <a:xfrm>
            <a:off x="4964050" y="2476400"/>
            <a:ext cx="3822712" cy="2514700"/>
          </a:xfrm>
          <a:prstGeom prst="rect">
            <a:avLst/>
          </a:prstGeom>
          <a:noFill/>
          <a:ln>
            <a:noFill/>
          </a:ln>
        </p:spPr>
      </p:pic>
      <p:sp>
        <p:nvSpPr>
          <p:cNvPr id="240" name="Google Shape;24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type="title"/>
          </p:nvPr>
        </p:nvSpPr>
        <p:spPr>
          <a:xfrm>
            <a:off x="25000" y="26275"/>
            <a:ext cx="8520600" cy="572700"/>
          </a:xfrm>
          <a:prstGeom prst="rect">
            <a:avLst/>
          </a:prstGeom>
        </p:spPr>
        <p:txBody>
          <a:bodyPr anchorCtr="0" anchor="t" bIns="91425" lIns="91425" spcFirstLastPara="1" rIns="91425" wrap="square" tIns="91425">
            <a:normAutofit/>
          </a:bodyPr>
          <a:lstStyle/>
          <a:p>
            <a:pPr indent="0" lvl="0" marL="0" rtl="0" algn="l">
              <a:lnSpc>
                <a:spcPct val="141666"/>
              </a:lnSpc>
              <a:spcBef>
                <a:spcPts val="0"/>
              </a:spcBef>
              <a:spcAft>
                <a:spcPts val="0"/>
              </a:spcAft>
              <a:buNone/>
            </a:pPr>
            <a:r>
              <a:rPr lang="en" sz="900">
                <a:solidFill>
                  <a:srgbClr val="008000"/>
                </a:solidFill>
                <a:highlight>
                  <a:srgbClr val="F7F7F7"/>
                </a:highlight>
                <a:latin typeface="Courier New"/>
                <a:ea typeface="Courier New"/>
                <a:cs typeface="Courier New"/>
                <a:sym typeface="Courier New"/>
              </a:rPr>
              <a:t>Cell 12: Chi-Square Tests - </a:t>
            </a:r>
            <a:r>
              <a:rPr lang="en" sz="900">
                <a:solidFill>
                  <a:srgbClr val="A31515"/>
                </a:solidFill>
                <a:highlight>
                  <a:srgbClr val="F7F7F7"/>
                </a:highlight>
                <a:latin typeface="Courier New"/>
                <a:ea typeface="Courier New"/>
                <a:cs typeface="Courier New"/>
                <a:sym typeface="Courier New"/>
              </a:rPr>
              <a:t>Chi-square tests examine independence between categorical variables</a:t>
            </a:r>
            <a:endParaRPr/>
          </a:p>
        </p:txBody>
      </p:sp>
      <p:sp>
        <p:nvSpPr>
          <p:cNvPr id="246" name="Google Shape;246;p35"/>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247" name="Google Shape;247;p35"/>
          <p:cNvSpPr txBox="1"/>
          <p:nvPr/>
        </p:nvSpPr>
        <p:spPr>
          <a:xfrm>
            <a:off x="-31250" y="425000"/>
            <a:ext cx="4842900" cy="4659300"/>
          </a:xfrm>
          <a:prstGeom prst="rect">
            <a:avLst/>
          </a:prstGeom>
          <a:noFill/>
          <a:ln>
            <a:noFill/>
          </a:ln>
        </p:spPr>
        <p:txBody>
          <a:bodyPr anchorCtr="0" anchor="t" bIns="91425" lIns="91425" spcFirstLastPara="1" rIns="91425" wrap="square" tIns="91425">
            <a:spAutoFit/>
          </a:bodyPr>
          <a:lstStyle/>
          <a:p>
            <a:pPr indent="-282575" lvl="0" marL="457200" rtl="0" algn="l">
              <a:lnSpc>
                <a:spcPct val="115000"/>
              </a:lnSpc>
              <a:spcBef>
                <a:spcPts val="600"/>
              </a:spcBef>
              <a:spcAft>
                <a:spcPts val="0"/>
              </a:spcAft>
              <a:buClr>
                <a:srgbClr val="1F1F1F"/>
              </a:buClr>
              <a:buSzPts val="850"/>
              <a:buChar char="●"/>
            </a:pPr>
            <a:r>
              <a:rPr b="1" lang="en" sz="850">
                <a:solidFill>
                  <a:srgbClr val="1F1F1F"/>
                </a:solidFill>
                <a:highlight>
                  <a:srgbClr val="F7F7F7"/>
                </a:highlight>
                <a:latin typeface="Roboto Mono"/>
                <a:ea typeface="Roboto Mono"/>
                <a:cs typeface="Roboto Mono"/>
                <a:sym typeface="Roboto Mono"/>
              </a:rPr>
              <a:t>Research Question: Do penguin species have equal sex ratios?</a:t>
            </a:r>
            <a:r>
              <a:rPr lang="en" sz="850">
                <a:solidFill>
                  <a:srgbClr val="1F1F1F"/>
                </a:solidFill>
                <a:highlight>
                  <a:srgbClr val="FFFFFF"/>
                </a:highlight>
              </a:rPr>
              <a:t>: This is the hypothesis being tested. The null hypothesis is that the proportion of males and females is the same across all three penguin species (i.e., species and sex are independent). The alternative hypothesis is that the sex ratios differ between species (i.e., species and sex are dependent).</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7F7F7"/>
                </a:highlight>
                <a:latin typeface="Roboto Mono"/>
                <a:ea typeface="Roboto Mono"/>
                <a:cs typeface="Roboto Mono"/>
                <a:sym typeface="Roboto Mono"/>
              </a:rPr>
              <a:t>Observed frequencies (contingency table):</a:t>
            </a:r>
            <a:r>
              <a:rPr lang="en" sz="850">
                <a:solidFill>
                  <a:srgbClr val="1F1F1F"/>
                </a:solidFill>
                <a:highlight>
                  <a:srgbClr val="FFFFFF"/>
                </a:highlight>
              </a:rPr>
              <a:t>: This table shows the actual counts of male and female penguins for each species in your dataset. For example, you observed 73 female and 73 male Adelie penguins, 34 female and 34 male Chinstrap penguins, and 58 female and 61 male Gentoo penguins.</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7F7F7"/>
                </a:highlight>
                <a:latin typeface="Roboto Mono"/>
                <a:ea typeface="Roboto Mono"/>
                <a:cs typeface="Roboto Mono"/>
                <a:sym typeface="Roboto Mono"/>
              </a:rPr>
              <a:t>Chi-square statistic: 0.049</a:t>
            </a:r>
            <a:r>
              <a:rPr lang="en" sz="850">
                <a:solidFill>
                  <a:srgbClr val="1F1F1F"/>
                </a:solidFill>
                <a:highlight>
                  <a:srgbClr val="FFFFFF"/>
                </a:highlight>
              </a:rPr>
              <a:t>: This is the calculated Chi-Square test statistic for this test. Compared to the previous Chi-Square statistic (284.590), this value is very small, suggesting that the observed frequencies are very close to what would be expected if species and sex were independent.</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7F7F7"/>
                </a:highlight>
                <a:latin typeface="Roboto Mono"/>
                <a:ea typeface="Roboto Mono"/>
                <a:cs typeface="Roboto Mono"/>
                <a:sym typeface="Roboto Mono"/>
              </a:rPr>
              <a:t>Degrees of freedom: 2</a:t>
            </a:r>
            <a:r>
              <a:rPr lang="en" sz="850">
                <a:solidFill>
                  <a:srgbClr val="1F1F1F"/>
                </a:solidFill>
                <a:highlight>
                  <a:srgbClr val="FFFFFF"/>
                </a:highlight>
              </a:rPr>
              <a:t>: This is calculated as (number of rows - 1) * (number of columns - 1) = (3 - 1) * (2 - 1) = 2 * 1 = 2.</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7F7F7"/>
                </a:highlight>
                <a:latin typeface="Roboto Mono"/>
                <a:ea typeface="Roboto Mono"/>
                <a:cs typeface="Roboto Mono"/>
                <a:sym typeface="Roboto Mono"/>
              </a:rPr>
              <a:t>P-value: 9.76e-01</a:t>
            </a:r>
            <a:r>
              <a:rPr lang="en" sz="850">
                <a:solidFill>
                  <a:srgbClr val="1F1F1F"/>
                </a:solidFill>
                <a:highlight>
                  <a:srgbClr val="FFFFFF"/>
                </a:highlight>
              </a:rPr>
              <a:t>: This is the p-value, which is approximately 0.976. This is a very large p-value (much larger than the common significance level of 0.05). A large p-value means that there is a high probability (about 97.6%) of observing a distribution of sex within species as you did, assuming that sex ratios are truly the same across all species.</a:t>
            </a:r>
            <a:endParaRPr sz="850">
              <a:solidFill>
                <a:srgbClr val="1F1F1F"/>
              </a:solidFill>
              <a:highlight>
                <a:srgbClr val="FFFFFF"/>
              </a:highlight>
            </a:endParaRPr>
          </a:p>
          <a:p>
            <a:pPr indent="-282575" lvl="0" marL="457200" rtl="0" algn="l">
              <a:lnSpc>
                <a:spcPct val="115000"/>
              </a:lnSpc>
              <a:spcBef>
                <a:spcPts val="0"/>
              </a:spcBef>
              <a:spcAft>
                <a:spcPts val="0"/>
              </a:spcAft>
              <a:buClr>
                <a:srgbClr val="1F1F1F"/>
              </a:buClr>
              <a:buSzPts val="850"/>
              <a:buChar char="●"/>
            </a:pPr>
            <a:r>
              <a:rPr b="1" lang="en" sz="850">
                <a:solidFill>
                  <a:srgbClr val="1F1F1F"/>
                </a:solidFill>
                <a:highlight>
                  <a:srgbClr val="F7F7F7"/>
                </a:highlight>
                <a:latin typeface="Roboto Mono"/>
                <a:ea typeface="Roboto Mono"/>
                <a:cs typeface="Roboto Mono"/>
                <a:sym typeface="Roboto Mono"/>
              </a:rPr>
              <a:t>Result: Variables are independent (p ≥ 0.05)</a:t>
            </a:r>
            <a:r>
              <a:rPr lang="en" sz="850">
                <a:solidFill>
                  <a:srgbClr val="1F1F1F"/>
                </a:solidFill>
                <a:highlight>
                  <a:srgbClr val="FFFFFF"/>
                </a:highlight>
              </a:rPr>
              <a:t>: This is the conclusion. Since the p-value (0.976) is much greater than 0.05, we fail to reject the null hypothesis. We conclude that there is no statistically significant evidence to suggest that the sex ratios differ between penguin species. In other words, based on this data, the distribution of males and females appears to be independent of the penguin species.</a:t>
            </a:r>
            <a:endParaRPr sz="850">
              <a:solidFill>
                <a:srgbClr val="1F1F1F"/>
              </a:solidFill>
              <a:highlight>
                <a:srgbClr val="FFFFFF"/>
              </a:highlight>
            </a:endParaRPr>
          </a:p>
          <a:p>
            <a:pPr indent="0" lvl="0" marL="0" rtl="0" algn="l">
              <a:lnSpc>
                <a:spcPct val="115000"/>
              </a:lnSpc>
              <a:spcBef>
                <a:spcPts val="600"/>
              </a:spcBef>
              <a:spcAft>
                <a:spcPts val="0"/>
              </a:spcAft>
              <a:buNone/>
            </a:pPr>
            <a:r>
              <a:rPr lang="en" sz="850">
                <a:solidFill>
                  <a:srgbClr val="1F1F1F"/>
                </a:solidFill>
                <a:highlight>
                  <a:srgbClr val="FFFFFF"/>
                </a:highlight>
              </a:rPr>
              <a:t>In summary, while the previous Chi-Square test showed a strong association between species and island, this test suggests that within this dataset, the sex distribution is not significantly different across the three penguin species.</a:t>
            </a:r>
            <a:endParaRPr sz="850">
              <a:solidFill>
                <a:srgbClr val="1F1F1F"/>
              </a:solidFill>
              <a:highlight>
                <a:srgbClr val="FFFFFF"/>
              </a:highlight>
            </a:endParaRPr>
          </a:p>
          <a:p>
            <a:pPr indent="0" lvl="0" marL="0" rtl="0" algn="l">
              <a:lnSpc>
                <a:spcPct val="141666"/>
              </a:lnSpc>
              <a:spcBef>
                <a:spcPts val="600"/>
              </a:spcBef>
              <a:spcAft>
                <a:spcPts val="0"/>
              </a:spcAft>
              <a:buNone/>
            </a:pPr>
            <a:r>
              <a:t/>
            </a:r>
            <a:endParaRPr sz="700">
              <a:solidFill>
                <a:srgbClr val="008000"/>
              </a:solidFill>
              <a:highlight>
                <a:srgbClr val="F7F7F7"/>
              </a:highlight>
              <a:latin typeface="Courier New"/>
              <a:ea typeface="Courier New"/>
              <a:cs typeface="Courier New"/>
              <a:sym typeface="Courier New"/>
            </a:endParaRPr>
          </a:p>
        </p:txBody>
      </p:sp>
      <p:pic>
        <p:nvPicPr>
          <p:cNvPr id="248" name="Google Shape;248;p35"/>
          <p:cNvPicPr preferRelativeResize="0"/>
          <p:nvPr/>
        </p:nvPicPr>
        <p:blipFill>
          <a:blip r:embed="rId3">
            <a:alphaModFix/>
          </a:blip>
          <a:stretch>
            <a:fillRect/>
          </a:stretch>
        </p:blipFill>
        <p:spPr>
          <a:xfrm>
            <a:off x="4964050" y="2476400"/>
            <a:ext cx="3822712" cy="2514700"/>
          </a:xfrm>
          <a:prstGeom prst="rect">
            <a:avLst/>
          </a:prstGeom>
          <a:noFill/>
          <a:ln>
            <a:noFill/>
          </a:ln>
        </p:spPr>
      </p:pic>
      <p:sp>
        <p:nvSpPr>
          <p:cNvPr id="249" name="Google Shape;24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ph type="title"/>
          </p:nvPr>
        </p:nvSpPr>
        <p:spPr>
          <a:xfrm>
            <a:off x="25000" y="26275"/>
            <a:ext cx="8520600" cy="572700"/>
          </a:xfrm>
          <a:prstGeom prst="rect">
            <a:avLst/>
          </a:prstGeom>
        </p:spPr>
        <p:txBody>
          <a:bodyPr anchorCtr="0" anchor="t" bIns="91425" lIns="91425" spcFirstLastPara="1" rIns="91425" wrap="square" tIns="91425">
            <a:normAutofit/>
          </a:bodyPr>
          <a:lstStyle/>
          <a:p>
            <a:pPr indent="0" lvl="0" marL="0" rtl="0" algn="l">
              <a:lnSpc>
                <a:spcPct val="141666"/>
              </a:lnSpc>
              <a:spcBef>
                <a:spcPts val="0"/>
              </a:spcBef>
              <a:spcAft>
                <a:spcPts val="0"/>
              </a:spcAft>
              <a:buNone/>
            </a:pPr>
            <a:r>
              <a:rPr lang="en" sz="900">
                <a:solidFill>
                  <a:srgbClr val="008000"/>
                </a:solidFill>
                <a:highlight>
                  <a:srgbClr val="F7F7F7"/>
                </a:highlight>
                <a:latin typeface="Courier New"/>
                <a:ea typeface="Courier New"/>
                <a:cs typeface="Courier New"/>
                <a:sym typeface="Courier New"/>
              </a:rPr>
              <a:t># Cell 13: </a:t>
            </a:r>
            <a:r>
              <a:rPr lang="en" sz="900">
                <a:solidFill>
                  <a:srgbClr val="A31515"/>
                </a:solidFill>
                <a:highlight>
                  <a:srgbClr val="F7F7F7"/>
                </a:highlight>
                <a:latin typeface="Courier New"/>
                <a:ea typeface="Courier New"/>
                <a:cs typeface="Courier New"/>
                <a:sym typeface="Courier New"/>
              </a:rPr>
              <a:t>ONE-WAY </a:t>
            </a:r>
            <a:r>
              <a:rPr lang="en" sz="900">
                <a:solidFill>
                  <a:srgbClr val="008000"/>
                </a:solidFill>
                <a:highlight>
                  <a:srgbClr val="F7F7F7"/>
                </a:highlight>
                <a:latin typeface="Courier New"/>
                <a:ea typeface="Courier New"/>
                <a:cs typeface="Courier New"/>
                <a:sym typeface="Courier New"/>
              </a:rPr>
              <a:t>ANOVA Test</a:t>
            </a:r>
            <a:endParaRPr/>
          </a:p>
        </p:txBody>
      </p:sp>
      <p:sp>
        <p:nvSpPr>
          <p:cNvPr id="255" name="Google Shape;255;p36"/>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256" name="Google Shape;256;p36"/>
          <p:cNvSpPr txBox="1"/>
          <p:nvPr/>
        </p:nvSpPr>
        <p:spPr>
          <a:xfrm>
            <a:off x="-31250" y="425000"/>
            <a:ext cx="4842900" cy="33069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rPr lang="en" sz="500">
                <a:solidFill>
                  <a:srgbClr val="008000"/>
                </a:solidFill>
                <a:highlight>
                  <a:srgbClr val="F7F7F7"/>
                </a:highlight>
                <a:latin typeface="Courier New"/>
                <a:ea typeface="Courier New"/>
                <a:cs typeface="Courier New"/>
                <a:sym typeface="Courier New"/>
              </a:rPr>
              <a:t># Compare body mass across all three species</a:t>
            </a:r>
            <a:endParaRPr sz="50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"\n--- Body Mass Comparison Across All Species ---"</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chemeClr val="dk1"/>
                </a:solidFill>
                <a:highlight>
                  <a:srgbClr val="F7F7F7"/>
                </a:highlight>
                <a:latin typeface="Courier New"/>
                <a:ea typeface="Courier New"/>
                <a:cs typeface="Courier New"/>
                <a:sym typeface="Courier New"/>
              </a:rPr>
              <a:t>adelie_mass_anova = penguins_clean[penguins_clean[</a:t>
            </a:r>
            <a:r>
              <a:rPr lang="en" sz="500">
                <a:solidFill>
                  <a:srgbClr val="A31515"/>
                </a:solidFill>
                <a:highlight>
                  <a:srgbClr val="F7F7F7"/>
                </a:highlight>
                <a:latin typeface="Courier New"/>
                <a:ea typeface="Courier New"/>
                <a:cs typeface="Courier New"/>
                <a:sym typeface="Courier New"/>
              </a:rPr>
              <a:t>'species'</a:t>
            </a:r>
            <a:r>
              <a:rPr lang="en" sz="500">
                <a:solidFill>
                  <a:schemeClr val="dk1"/>
                </a:solidFill>
                <a:highlight>
                  <a:srgbClr val="F7F7F7"/>
                </a:highlight>
                <a:latin typeface="Courier New"/>
                <a:ea typeface="Courier New"/>
                <a:cs typeface="Courier New"/>
                <a:sym typeface="Courier New"/>
              </a:rPr>
              <a:t>] == </a:t>
            </a:r>
            <a:r>
              <a:rPr lang="en" sz="500">
                <a:solidFill>
                  <a:srgbClr val="A31515"/>
                </a:solidFill>
                <a:highlight>
                  <a:srgbClr val="F7F7F7"/>
                </a:highlight>
                <a:latin typeface="Courier New"/>
                <a:ea typeface="Courier New"/>
                <a:cs typeface="Courier New"/>
                <a:sym typeface="Courier New"/>
              </a:rPr>
              <a:t>'Adelie'</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'body_mass_g'</a:t>
            </a:r>
            <a:r>
              <a:rPr lang="en" sz="500">
                <a:solidFill>
                  <a:schemeClr val="dk1"/>
                </a:solidFill>
                <a:highlight>
                  <a:srgbClr val="F7F7F7"/>
                </a:highlight>
                <a:latin typeface="Courier New"/>
                <a:ea typeface="Courier New"/>
                <a:cs typeface="Courier New"/>
                <a:sym typeface="Courier New"/>
              </a:rPr>
              <a:t>].dropna()</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chemeClr val="dk1"/>
                </a:solidFill>
                <a:highlight>
                  <a:srgbClr val="F7F7F7"/>
                </a:highlight>
                <a:latin typeface="Courier New"/>
                <a:ea typeface="Courier New"/>
                <a:cs typeface="Courier New"/>
                <a:sym typeface="Courier New"/>
              </a:rPr>
              <a:t>chinstrap_mass_anova = penguins_clean[penguins_clean[</a:t>
            </a:r>
            <a:r>
              <a:rPr lang="en" sz="500">
                <a:solidFill>
                  <a:srgbClr val="A31515"/>
                </a:solidFill>
                <a:highlight>
                  <a:srgbClr val="F7F7F7"/>
                </a:highlight>
                <a:latin typeface="Courier New"/>
                <a:ea typeface="Courier New"/>
                <a:cs typeface="Courier New"/>
                <a:sym typeface="Courier New"/>
              </a:rPr>
              <a:t>'species'</a:t>
            </a:r>
            <a:r>
              <a:rPr lang="en" sz="500">
                <a:solidFill>
                  <a:schemeClr val="dk1"/>
                </a:solidFill>
                <a:highlight>
                  <a:srgbClr val="F7F7F7"/>
                </a:highlight>
                <a:latin typeface="Courier New"/>
                <a:ea typeface="Courier New"/>
                <a:cs typeface="Courier New"/>
                <a:sym typeface="Courier New"/>
              </a:rPr>
              <a:t>] == </a:t>
            </a:r>
            <a:r>
              <a:rPr lang="en" sz="500">
                <a:solidFill>
                  <a:srgbClr val="A31515"/>
                </a:solidFill>
                <a:highlight>
                  <a:srgbClr val="F7F7F7"/>
                </a:highlight>
                <a:latin typeface="Courier New"/>
                <a:ea typeface="Courier New"/>
                <a:cs typeface="Courier New"/>
                <a:sym typeface="Courier New"/>
              </a:rPr>
              <a:t>'Chinstrap'</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'body_mass_g'</a:t>
            </a:r>
            <a:r>
              <a:rPr lang="en" sz="500">
                <a:solidFill>
                  <a:schemeClr val="dk1"/>
                </a:solidFill>
                <a:highlight>
                  <a:srgbClr val="F7F7F7"/>
                </a:highlight>
                <a:latin typeface="Courier New"/>
                <a:ea typeface="Courier New"/>
                <a:cs typeface="Courier New"/>
                <a:sym typeface="Courier New"/>
              </a:rPr>
              <a:t>].dropna()</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chemeClr val="dk1"/>
                </a:solidFill>
                <a:highlight>
                  <a:srgbClr val="F7F7F7"/>
                </a:highlight>
                <a:latin typeface="Courier New"/>
                <a:ea typeface="Courier New"/>
                <a:cs typeface="Courier New"/>
                <a:sym typeface="Courier New"/>
              </a:rPr>
              <a:t>gentoo_mass_anova = penguins_clean[penguins_clean[</a:t>
            </a:r>
            <a:r>
              <a:rPr lang="en" sz="500">
                <a:solidFill>
                  <a:srgbClr val="A31515"/>
                </a:solidFill>
                <a:highlight>
                  <a:srgbClr val="F7F7F7"/>
                </a:highlight>
                <a:latin typeface="Courier New"/>
                <a:ea typeface="Courier New"/>
                <a:cs typeface="Courier New"/>
                <a:sym typeface="Courier New"/>
              </a:rPr>
              <a:t>'species'</a:t>
            </a:r>
            <a:r>
              <a:rPr lang="en" sz="500">
                <a:solidFill>
                  <a:schemeClr val="dk1"/>
                </a:solidFill>
                <a:highlight>
                  <a:srgbClr val="F7F7F7"/>
                </a:highlight>
                <a:latin typeface="Courier New"/>
                <a:ea typeface="Courier New"/>
                <a:cs typeface="Courier New"/>
                <a:sym typeface="Courier New"/>
              </a:rPr>
              <a:t>] == </a:t>
            </a:r>
            <a:r>
              <a:rPr lang="en" sz="500">
                <a:solidFill>
                  <a:srgbClr val="A31515"/>
                </a:solidFill>
                <a:highlight>
                  <a:srgbClr val="F7F7F7"/>
                </a:highlight>
                <a:latin typeface="Courier New"/>
                <a:ea typeface="Courier New"/>
                <a:cs typeface="Courier New"/>
                <a:sym typeface="Courier New"/>
              </a:rPr>
              <a:t>'Gentoo'</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'body_mass_g'</a:t>
            </a:r>
            <a:r>
              <a:rPr lang="en" sz="500">
                <a:solidFill>
                  <a:schemeClr val="dk1"/>
                </a:solidFill>
                <a:highlight>
                  <a:srgbClr val="F7F7F7"/>
                </a:highlight>
                <a:latin typeface="Courier New"/>
                <a:ea typeface="Courier New"/>
                <a:cs typeface="Courier New"/>
                <a:sym typeface="Courier New"/>
              </a:rPr>
              <a:t>].dropna()</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chemeClr val="dk1"/>
                </a:solidFill>
                <a:highlight>
                  <a:srgbClr val="F7F7F7"/>
                </a:highlight>
                <a:latin typeface="Courier New"/>
                <a:ea typeface="Courier New"/>
                <a:cs typeface="Courier New"/>
                <a:sym typeface="Courier New"/>
              </a:rPr>
              <a:t>f_stat, p_anova = stats.f_oneway(adelie_mass_anova, chinstrap_mass_anova, gentoo_mass_anova)</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"Research Question: Do the three penguin species have different mean body masses?"</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"Sample sizes:"</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  Adelie: n=</a:t>
            </a:r>
            <a:r>
              <a:rPr lang="en" sz="500">
                <a:solidFill>
                  <a:schemeClr val="dk1"/>
                </a:solidFill>
                <a:highlight>
                  <a:srgbClr val="F7F7F7"/>
                </a:highlight>
                <a:latin typeface="Courier New"/>
                <a:ea typeface="Courier New"/>
                <a:cs typeface="Courier New"/>
                <a:sym typeface="Courier New"/>
              </a:rPr>
              <a:t>{</a:t>
            </a:r>
            <a:r>
              <a:rPr lang="en" sz="500">
                <a:solidFill>
                  <a:srgbClr val="6A5221"/>
                </a:solidFill>
                <a:highlight>
                  <a:srgbClr val="F7F7F7"/>
                </a:highlight>
                <a:latin typeface="Courier New"/>
                <a:ea typeface="Courier New"/>
                <a:cs typeface="Courier New"/>
                <a:sym typeface="Courier New"/>
              </a:rPr>
              <a:t>len</a:t>
            </a:r>
            <a:r>
              <a:rPr lang="en" sz="500">
                <a:solidFill>
                  <a:schemeClr val="dk1"/>
                </a:solidFill>
                <a:highlight>
                  <a:srgbClr val="F7F7F7"/>
                </a:highlight>
                <a:latin typeface="Courier New"/>
                <a:ea typeface="Courier New"/>
                <a:cs typeface="Courier New"/>
                <a:sym typeface="Courier New"/>
              </a:rPr>
              <a:t>(adelie_mass_anova)}</a:t>
            </a:r>
            <a:r>
              <a:rPr lang="en" sz="500">
                <a:solidFill>
                  <a:srgbClr val="A31515"/>
                </a:solidFill>
                <a:highlight>
                  <a:srgbClr val="F7F7F7"/>
                </a:highlight>
                <a:latin typeface="Courier New"/>
                <a:ea typeface="Courier New"/>
                <a:cs typeface="Courier New"/>
                <a:sym typeface="Courier New"/>
              </a:rPr>
              <a:t>"</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  Chinstrap: n=</a:t>
            </a:r>
            <a:r>
              <a:rPr lang="en" sz="500">
                <a:solidFill>
                  <a:schemeClr val="dk1"/>
                </a:solidFill>
                <a:highlight>
                  <a:srgbClr val="F7F7F7"/>
                </a:highlight>
                <a:latin typeface="Courier New"/>
                <a:ea typeface="Courier New"/>
                <a:cs typeface="Courier New"/>
                <a:sym typeface="Courier New"/>
              </a:rPr>
              <a:t>{</a:t>
            </a:r>
            <a:r>
              <a:rPr lang="en" sz="500">
                <a:solidFill>
                  <a:srgbClr val="6A5221"/>
                </a:solidFill>
                <a:highlight>
                  <a:srgbClr val="F7F7F7"/>
                </a:highlight>
                <a:latin typeface="Courier New"/>
                <a:ea typeface="Courier New"/>
                <a:cs typeface="Courier New"/>
                <a:sym typeface="Courier New"/>
              </a:rPr>
              <a:t>len</a:t>
            </a:r>
            <a:r>
              <a:rPr lang="en" sz="500">
                <a:solidFill>
                  <a:schemeClr val="dk1"/>
                </a:solidFill>
                <a:highlight>
                  <a:srgbClr val="F7F7F7"/>
                </a:highlight>
                <a:latin typeface="Courier New"/>
                <a:ea typeface="Courier New"/>
                <a:cs typeface="Courier New"/>
                <a:sym typeface="Courier New"/>
              </a:rPr>
              <a:t>(chinstrap_mass_anova)}</a:t>
            </a:r>
            <a:r>
              <a:rPr lang="en" sz="500">
                <a:solidFill>
                  <a:srgbClr val="A31515"/>
                </a:solidFill>
                <a:highlight>
                  <a:srgbClr val="F7F7F7"/>
                </a:highlight>
                <a:latin typeface="Courier New"/>
                <a:ea typeface="Courier New"/>
                <a:cs typeface="Courier New"/>
                <a:sym typeface="Courier New"/>
              </a:rPr>
              <a:t>"</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  Gentoo: n=</a:t>
            </a:r>
            <a:r>
              <a:rPr lang="en" sz="500">
                <a:solidFill>
                  <a:schemeClr val="dk1"/>
                </a:solidFill>
                <a:highlight>
                  <a:srgbClr val="F7F7F7"/>
                </a:highlight>
                <a:latin typeface="Courier New"/>
                <a:ea typeface="Courier New"/>
                <a:cs typeface="Courier New"/>
                <a:sym typeface="Courier New"/>
              </a:rPr>
              <a:t>{</a:t>
            </a:r>
            <a:r>
              <a:rPr lang="en" sz="500">
                <a:solidFill>
                  <a:srgbClr val="6A5221"/>
                </a:solidFill>
                <a:highlight>
                  <a:srgbClr val="F7F7F7"/>
                </a:highlight>
                <a:latin typeface="Courier New"/>
                <a:ea typeface="Courier New"/>
                <a:cs typeface="Courier New"/>
                <a:sym typeface="Courier New"/>
              </a:rPr>
              <a:t>len</a:t>
            </a:r>
            <a:r>
              <a:rPr lang="en" sz="500">
                <a:solidFill>
                  <a:schemeClr val="dk1"/>
                </a:solidFill>
                <a:highlight>
                  <a:srgbClr val="F7F7F7"/>
                </a:highlight>
                <a:latin typeface="Courier New"/>
                <a:ea typeface="Courier New"/>
                <a:cs typeface="Courier New"/>
                <a:sym typeface="Courier New"/>
              </a:rPr>
              <a:t>(gentoo_mass_anova)}</a:t>
            </a:r>
            <a:r>
              <a:rPr lang="en" sz="500">
                <a:solidFill>
                  <a:srgbClr val="A31515"/>
                </a:solidFill>
                <a:highlight>
                  <a:srgbClr val="F7F7F7"/>
                </a:highlight>
                <a:latin typeface="Courier New"/>
                <a:ea typeface="Courier New"/>
                <a:cs typeface="Courier New"/>
                <a:sym typeface="Courier New"/>
              </a:rPr>
              <a:t>"</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"\nGroup means:"</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  Adelie: </a:t>
            </a:r>
            <a:r>
              <a:rPr lang="en" sz="500">
                <a:solidFill>
                  <a:schemeClr val="dk1"/>
                </a:solidFill>
                <a:highlight>
                  <a:srgbClr val="F7F7F7"/>
                </a:highlight>
                <a:latin typeface="Courier New"/>
                <a:ea typeface="Courier New"/>
                <a:cs typeface="Courier New"/>
                <a:sym typeface="Courier New"/>
              </a:rPr>
              <a:t>{adelie_mass_anova.mean()</a:t>
            </a:r>
            <a:r>
              <a:rPr lang="en" sz="500">
                <a:solidFill>
                  <a:srgbClr val="116644"/>
                </a:solidFill>
                <a:highlight>
                  <a:srgbClr val="F7F7F7"/>
                </a:highlight>
                <a:latin typeface="Courier New"/>
                <a:ea typeface="Courier New"/>
                <a:cs typeface="Courier New"/>
                <a:sym typeface="Courier New"/>
              </a:rPr>
              <a:t>:.1f</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g ± </a:t>
            </a:r>
            <a:r>
              <a:rPr lang="en" sz="500">
                <a:solidFill>
                  <a:schemeClr val="dk1"/>
                </a:solidFill>
                <a:highlight>
                  <a:srgbClr val="F7F7F7"/>
                </a:highlight>
                <a:latin typeface="Courier New"/>
                <a:ea typeface="Courier New"/>
                <a:cs typeface="Courier New"/>
                <a:sym typeface="Courier New"/>
              </a:rPr>
              <a:t>{adelie_mass_anova.std()</a:t>
            </a:r>
            <a:r>
              <a:rPr lang="en" sz="500">
                <a:solidFill>
                  <a:srgbClr val="116644"/>
                </a:solidFill>
                <a:highlight>
                  <a:srgbClr val="F7F7F7"/>
                </a:highlight>
                <a:latin typeface="Courier New"/>
                <a:ea typeface="Courier New"/>
                <a:cs typeface="Courier New"/>
                <a:sym typeface="Courier New"/>
              </a:rPr>
              <a:t>:.1f</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  Chinstrap: </a:t>
            </a:r>
            <a:r>
              <a:rPr lang="en" sz="500">
                <a:solidFill>
                  <a:schemeClr val="dk1"/>
                </a:solidFill>
                <a:highlight>
                  <a:srgbClr val="F7F7F7"/>
                </a:highlight>
                <a:latin typeface="Courier New"/>
                <a:ea typeface="Courier New"/>
                <a:cs typeface="Courier New"/>
                <a:sym typeface="Courier New"/>
              </a:rPr>
              <a:t>{chinstrap_mass_anova.mean()</a:t>
            </a:r>
            <a:r>
              <a:rPr lang="en" sz="500">
                <a:solidFill>
                  <a:srgbClr val="116644"/>
                </a:solidFill>
                <a:highlight>
                  <a:srgbClr val="F7F7F7"/>
                </a:highlight>
                <a:latin typeface="Courier New"/>
                <a:ea typeface="Courier New"/>
                <a:cs typeface="Courier New"/>
                <a:sym typeface="Courier New"/>
              </a:rPr>
              <a:t>:.1f</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g ± </a:t>
            </a:r>
            <a:r>
              <a:rPr lang="en" sz="500">
                <a:solidFill>
                  <a:schemeClr val="dk1"/>
                </a:solidFill>
                <a:highlight>
                  <a:srgbClr val="F7F7F7"/>
                </a:highlight>
                <a:latin typeface="Courier New"/>
                <a:ea typeface="Courier New"/>
                <a:cs typeface="Courier New"/>
                <a:sym typeface="Courier New"/>
              </a:rPr>
              <a:t>{chinstrap_mass_anova.std()</a:t>
            </a:r>
            <a:r>
              <a:rPr lang="en" sz="500">
                <a:solidFill>
                  <a:srgbClr val="116644"/>
                </a:solidFill>
                <a:highlight>
                  <a:srgbClr val="F7F7F7"/>
                </a:highlight>
                <a:latin typeface="Courier New"/>
                <a:ea typeface="Courier New"/>
                <a:cs typeface="Courier New"/>
                <a:sym typeface="Courier New"/>
              </a:rPr>
              <a:t>:.1f</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  Gentoo: </a:t>
            </a:r>
            <a:r>
              <a:rPr lang="en" sz="500">
                <a:solidFill>
                  <a:schemeClr val="dk1"/>
                </a:solidFill>
                <a:highlight>
                  <a:srgbClr val="F7F7F7"/>
                </a:highlight>
                <a:latin typeface="Courier New"/>
                <a:ea typeface="Courier New"/>
                <a:cs typeface="Courier New"/>
                <a:sym typeface="Courier New"/>
              </a:rPr>
              <a:t>{gentoo_mass_anova.mean()</a:t>
            </a:r>
            <a:r>
              <a:rPr lang="en" sz="500">
                <a:solidFill>
                  <a:srgbClr val="116644"/>
                </a:solidFill>
                <a:highlight>
                  <a:srgbClr val="F7F7F7"/>
                </a:highlight>
                <a:latin typeface="Courier New"/>
                <a:ea typeface="Courier New"/>
                <a:cs typeface="Courier New"/>
                <a:sym typeface="Courier New"/>
              </a:rPr>
              <a:t>:.1f</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g ± </a:t>
            </a:r>
            <a:r>
              <a:rPr lang="en" sz="500">
                <a:solidFill>
                  <a:schemeClr val="dk1"/>
                </a:solidFill>
                <a:highlight>
                  <a:srgbClr val="F7F7F7"/>
                </a:highlight>
                <a:latin typeface="Courier New"/>
                <a:ea typeface="Courier New"/>
                <a:cs typeface="Courier New"/>
                <a:sym typeface="Courier New"/>
              </a:rPr>
              <a:t>{gentoo_mass_anova.std()</a:t>
            </a:r>
            <a:r>
              <a:rPr lang="en" sz="500">
                <a:solidFill>
                  <a:srgbClr val="116644"/>
                </a:solidFill>
                <a:highlight>
                  <a:srgbClr val="F7F7F7"/>
                </a:highlight>
                <a:latin typeface="Courier New"/>
                <a:ea typeface="Courier New"/>
                <a:cs typeface="Courier New"/>
                <a:sym typeface="Courier New"/>
              </a:rPr>
              <a:t>:.1f</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"\nF-statistic: </a:t>
            </a:r>
            <a:r>
              <a:rPr lang="en" sz="500">
                <a:solidFill>
                  <a:schemeClr val="dk1"/>
                </a:solidFill>
                <a:highlight>
                  <a:srgbClr val="F7F7F7"/>
                </a:highlight>
                <a:latin typeface="Courier New"/>
                <a:ea typeface="Courier New"/>
                <a:cs typeface="Courier New"/>
                <a:sym typeface="Courier New"/>
              </a:rPr>
              <a:t>{f_stat</a:t>
            </a:r>
            <a:r>
              <a:rPr lang="en" sz="500">
                <a:solidFill>
                  <a:srgbClr val="116644"/>
                </a:solidFill>
                <a:highlight>
                  <a:srgbClr val="F7F7F7"/>
                </a:highlight>
                <a:latin typeface="Courier New"/>
                <a:ea typeface="Courier New"/>
                <a:cs typeface="Courier New"/>
                <a:sym typeface="Courier New"/>
              </a:rPr>
              <a:t>:.3f</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"P-value: </a:t>
            </a:r>
            <a:r>
              <a:rPr lang="en" sz="500">
                <a:solidFill>
                  <a:schemeClr val="dk1"/>
                </a:solidFill>
                <a:highlight>
                  <a:srgbClr val="F7F7F7"/>
                </a:highlight>
                <a:latin typeface="Courier New"/>
                <a:ea typeface="Courier New"/>
                <a:cs typeface="Courier New"/>
                <a:sym typeface="Courier New"/>
              </a:rPr>
              <a:t>{p_anova</a:t>
            </a:r>
            <a:r>
              <a:rPr lang="en" sz="500">
                <a:solidFill>
                  <a:srgbClr val="116644"/>
                </a:solidFill>
                <a:highlight>
                  <a:srgbClr val="F7F7F7"/>
                </a:highlight>
                <a:latin typeface="Courier New"/>
                <a:ea typeface="Courier New"/>
                <a:cs typeface="Courier New"/>
                <a:sym typeface="Courier New"/>
              </a:rPr>
              <a:t>:.2e</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0000FF"/>
                </a:solidFill>
                <a:highlight>
                  <a:srgbClr val="F7F7F7"/>
                </a:highlight>
                <a:latin typeface="Courier New"/>
                <a:ea typeface="Courier New"/>
                <a:cs typeface="Courier New"/>
                <a:sym typeface="Courier New"/>
              </a:rPr>
              <a:t>f</a:t>
            </a:r>
            <a:r>
              <a:rPr lang="en" sz="500">
                <a:solidFill>
                  <a:srgbClr val="A31515"/>
                </a:solidFill>
                <a:highlight>
                  <a:srgbClr val="F7F7F7"/>
                </a:highlight>
                <a:latin typeface="Courier New"/>
                <a:ea typeface="Courier New"/>
                <a:cs typeface="Courier New"/>
                <a:sym typeface="Courier New"/>
              </a:rPr>
              <a:t>"Result: </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'Significant difference between groups (p &lt; 0.05)'</a:t>
            </a:r>
            <a:r>
              <a:rPr lang="en" sz="500">
                <a:solidFill>
                  <a:schemeClr val="dk1"/>
                </a:solidFill>
                <a:highlight>
                  <a:srgbClr val="F7F7F7"/>
                </a:highlight>
                <a:latin typeface="Courier New"/>
                <a:ea typeface="Courier New"/>
                <a:cs typeface="Courier New"/>
                <a:sym typeface="Courier New"/>
              </a:rPr>
              <a:t> </a:t>
            </a:r>
            <a:r>
              <a:rPr lang="en" sz="500">
                <a:solidFill>
                  <a:srgbClr val="9723B4"/>
                </a:solidFill>
                <a:highlight>
                  <a:srgbClr val="F7F7F7"/>
                </a:highlight>
                <a:latin typeface="Courier New"/>
                <a:ea typeface="Courier New"/>
                <a:cs typeface="Courier New"/>
                <a:sym typeface="Courier New"/>
              </a:rPr>
              <a:t>if</a:t>
            </a:r>
            <a:r>
              <a:rPr lang="en" sz="500">
                <a:solidFill>
                  <a:schemeClr val="dk1"/>
                </a:solidFill>
                <a:highlight>
                  <a:srgbClr val="F7F7F7"/>
                </a:highlight>
                <a:latin typeface="Courier New"/>
                <a:ea typeface="Courier New"/>
                <a:cs typeface="Courier New"/>
                <a:sym typeface="Courier New"/>
              </a:rPr>
              <a:t> p_anova &lt; </a:t>
            </a:r>
            <a:r>
              <a:rPr lang="en" sz="500">
                <a:solidFill>
                  <a:srgbClr val="116644"/>
                </a:solidFill>
                <a:highlight>
                  <a:srgbClr val="F7F7F7"/>
                </a:highlight>
                <a:latin typeface="Courier New"/>
                <a:ea typeface="Courier New"/>
                <a:cs typeface="Courier New"/>
                <a:sym typeface="Courier New"/>
              </a:rPr>
              <a:t>0.05</a:t>
            </a:r>
            <a:r>
              <a:rPr lang="en" sz="500">
                <a:solidFill>
                  <a:schemeClr val="dk1"/>
                </a:solidFill>
                <a:highlight>
                  <a:srgbClr val="F7F7F7"/>
                </a:highlight>
                <a:latin typeface="Courier New"/>
                <a:ea typeface="Courier New"/>
                <a:cs typeface="Courier New"/>
                <a:sym typeface="Courier New"/>
              </a:rPr>
              <a:t> </a:t>
            </a:r>
            <a:r>
              <a:rPr lang="en" sz="500">
                <a:solidFill>
                  <a:srgbClr val="9723B4"/>
                </a:solidFill>
                <a:highlight>
                  <a:srgbClr val="F7F7F7"/>
                </a:highlight>
                <a:latin typeface="Courier New"/>
                <a:ea typeface="Courier New"/>
                <a:cs typeface="Courier New"/>
                <a:sym typeface="Courier New"/>
              </a:rPr>
              <a:t>else</a:t>
            </a:r>
            <a:r>
              <a:rPr lang="en" sz="500">
                <a:solidFill>
                  <a:schemeClr val="dk1"/>
                </a:solidFill>
                <a:highlight>
                  <a:srgbClr val="F7F7F7"/>
                </a:highlight>
                <a:latin typeface="Courier New"/>
                <a:ea typeface="Courier New"/>
                <a:cs typeface="Courier New"/>
                <a:sym typeface="Courier New"/>
              </a:rPr>
              <a:t> </a:t>
            </a:r>
            <a:r>
              <a:rPr lang="en" sz="500">
                <a:solidFill>
                  <a:srgbClr val="A31515"/>
                </a:solidFill>
                <a:highlight>
                  <a:srgbClr val="F7F7F7"/>
                </a:highlight>
                <a:latin typeface="Courier New"/>
                <a:ea typeface="Courier New"/>
                <a:cs typeface="Courier New"/>
                <a:sym typeface="Courier New"/>
              </a:rPr>
              <a:t>'No significant difference (p ≥ 0.05)'</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rgbClr val="9723B4"/>
                </a:solidFill>
                <a:highlight>
                  <a:srgbClr val="F7F7F7"/>
                </a:highlight>
                <a:latin typeface="Courier New"/>
                <a:ea typeface="Courier New"/>
                <a:cs typeface="Courier New"/>
                <a:sym typeface="Courier New"/>
              </a:rPr>
              <a:t>if</a:t>
            </a:r>
            <a:r>
              <a:rPr lang="en" sz="500">
                <a:solidFill>
                  <a:schemeClr val="dk1"/>
                </a:solidFill>
                <a:highlight>
                  <a:srgbClr val="F7F7F7"/>
                </a:highlight>
                <a:latin typeface="Courier New"/>
                <a:ea typeface="Courier New"/>
                <a:cs typeface="Courier New"/>
                <a:sym typeface="Courier New"/>
              </a:rPr>
              <a:t> p_anova &lt; </a:t>
            </a:r>
            <a:r>
              <a:rPr lang="en" sz="500">
                <a:solidFill>
                  <a:srgbClr val="116644"/>
                </a:solidFill>
                <a:highlight>
                  <a:srgbClr val="F7F7F7"/>
                </a:highlight>
                <a:latin typeface="Courier New"/>
                <a:ea typeface="Courier New"/>
                <a:cs typeface="Courier New"/>
                <a:sym typeface="Courier New"/>
              </a:rPr>
              <a:t>0.05</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chemeClr val="dk1"/>
                </a:solidFill>
                <a:highlight>
                  <a:srgbClr val="F7F7F7"/>
                </a:highlight>
                <a:latin typeface="Courier New"/>
                <a:ea typeface="Courier New"/>
                <a:cs typeface="Courier New"/>
                <a:sym typeface="Courier New"/>
              </a:rPr>
              <a:t>    </a:t>
            </a: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"\nNote: ANOVA tells us there IS a difference, but not WHERE."</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rPr lang="en" sz="500">
                <a:solidFill>
                  <a:schemeClr val="dk1"/>
                </a:solidFill>
                <a:highlight>
                  <a:srgbClr val="F7F7F7"/>
                </a:highlight>
                <a:latin typeface="Courier New"/>
                <a:ea typeface="Courier New"/>
                <a:cs typeface="Courier New"/>
                <a:sym typeface="Courier New"/>
              </a:rPr>
              <a:t>    </a:t>
            </a:r>
            <a:r>
              <a:rPr lang="en" sz="500">
                <a:solidFill>
                  <a:srgbClr val="6A5221"/>
                </a:solidFill>
                <a:highlight>
                  <a:srgbClr val="F7F7F7"/>
                </a:highlight>
                <a:latin typeface="Courier New"/>
                <a:ea typeface="Courier New"/>
                <a:cs typeface="Courier New"/>
                <a:sym typeface="Courier New"/>
              </a:rPr>
              <a:t>print</a:t>
            </a:r>
            <a:r>
              <a:rPr lang="en" sz="500">
                <a:solidFill>
                  <a:schemeClr val="dk1"/>
                </a:solidFill>
                <a:highlight>
                  <a:srgbClr val="F7F7F7"/>
                </a:highlight>
                <a:latin typeface="Courier New"/>
                <a:ea typeface="Courier New"/>
                <a:cs typeface="Courier New"/>
                <a:sym typeface="Courier New"/>
              </a:rPr>
              <a:t>(</a:t>
            </a:r>
            <a:r>
              <a:rPr lang="en" sz="500">
                <a:solidFill>
                  <a:srgbClr val="A31515"/>
                </a:solidFill>
                <a:highlight>
                  <a:srgbClr val="F7F7F7"/>
                </a:highlight>
                <a:latin typeface="Courier New"/>
                <a:ea typeface="Courier New"/>
                <a:cs typeface="Courier New"/>
                <a:sym typeface="Courier New"/>
              </a:rPr>
              <a:t>"For pairwise comparisons, we would need post-hoc tests (e.g., Tukey's HSD)."</a:t>
            </a:r>
            <a:r>
              <a:rPr lang="en" sz="500">
                <a:solidFill>
                  <a:schemeClr val="dk1"/>
                </a:solidFill>
                <a:highlight>
                  <a:srgbClr val="F7F7F7"/>
                </a:highlight>
                <a:latin typeface="Courier New"/>
                <a:ea typeface="Courier New"/>
                <a:cs typeface="Courier New"/>
                <a:sym typeface="Courier New"/>
              </a:rPr>
              <a:t>)</a:t>
            </a:r>
            <a:endParaRPr sz="500">
              <a:solidFill>
                <a:schemeClr val="dk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None/>
            </a:pPr>
            <a:r>
              <a:t/>
            </a:r>
            <a:endParaRPr b="1" sz="450">
              <a:solidFill>
                <a:srgbClr val="1F1F1F"/>
              </a:solidFill>
              <a:highlight>
                <a:srgbClr val="F7F7F7"/>
              </a:highlight>
              <a:latin typeface="Roboto Mono"/>
              <a:ea typeface="Roboto Mono"/>
              <a:cs typeface="Roboto Mono"/>
              <a:sym typeface="Roboto Mono"/>
            </a:endParaRPr>
          </a:p>
        </p:txBody>
      </p:sp>
      <p:pic>
        <p:nvPicPr>
          <p:cNvPr id="257" name="Google Shape;257;p36"/>
          <p:cNvPicPr preferRelativeResize="0"/>
          <p:nvPr/>
        </p:nvPicPr>
        <p:blipFill>
          <a:blip r:embed="rId3">
            <a:alphaModFix/>
          </a:blip>
          <a:stretch>
            <a:fillRect/>
          </a:stretch>
        </p:blipFill>
        <p:spPr>
          <a:xfrm>
            <a:off x="4964050" y="2476400"/>
            <a:ext cx="4027549" cy="2168681"/>
          </a:xfrm>
          <a:prstGeom prst="rect">
            <a:avLst/>
          </a:prstGeom>
          <a:noFill/>
          <a:ln>
            <a:noFill/>
          </a:ln>
        </p:spPr>
      </p:pic>
      <p:sp>
        <p:nvSpPr>
          <p:cNvPr id="258" name="Google Shape;258;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type="title"/>
          </p:nvPr>
        </p:nvSpPr>
        <p:spPr>
          <a:xfrm>
            <a:off x="25000" y="26275"/>
            <a:ext cx="8520600" cy="572700"/>
          </a:xfrm>
          <a:prstGeom prst="rect">
            <a:avLst/>
          </a:prstGeom>
        </p:spPr>
        <p:txBody>
          <a:bodyPr anchorCtr="0" anchor="t" bIns="91425" lIns="91425" spcFirstLastPara="1" rIns="91425" wrap="square" tIns="91425">
            <a:normAutofit/>
          </a:bodyPr>
          <a:lstStyle/>
          <a:p>
            <a:pPr indent="0" lvl="0" marL="0" rtl="0" algn="l">
              <a:lnSpc>
                <a:spcPct val="141666"/>
              </a:lnSpc>
              <a:spcBef>
                <a:spcPts val="0"/>
              </a:spcBef>
              <a:spcAft>
                <a:spcPts val="0"/>
              </a:spcAft>
              <a:buNone/>
            </a:pPr>
            <a:r>
              <a:rPr lang="en" sz="900">
                <a:solidFill>
                  <a:srgbClr val="008000"/>
                </a:solidFill>
                <a:highlight>
                  <a:srgbClr val="F7F7F7"/>
                </a:highlight>
                <a:latin typeface="Courier New"/>
                <a:ea typeface="Courier New"/>
                <a:cs typeface="Courier New"/>
                <a:sym typeface="Courier New"/>
              </a:rPr>
              <a:t># Cell 13: </a:t>
            </a:r>
            <a:r>
              <a:rPr lang="en" sz="900">
                <a:solidFill>
                  <a:srgbClr val="A31515"/>
                </a:solidFill>
                <a:highlight>
                  <a:srgbClr val="F7F7F7"/>
                </a:highlight>
                <a:latin typeface="Courier New"/>
                <a:ea typeface="Courier New"/>
                <a:cs typeface="Courier New"/>
                <a:sym typeface="Courier New"/>
              </a:rPr>
              <a:t>ONE-WAY </a:t>
            </a:r>
            <a:r>
              <a:rPr lang="en" sz="900">
                <a:solidFill>
                  <a:srgbClr val="008000"/>
                </a:solidFill>
                <a:highlight>
                  <a:srgbClr val="F7F7F7"/>
                </a:highlight>
                <a:latin typeface="Courier New"/>
                <a:ea typeface="Courier New"/>
                <a:cs typeface="Courier New"/>
                <a:sym typeface="Courier New"/>
              </a:rPr>
              <a:t>ANOVA Test</a:t>
            </a:r>
            <a:endParaRPr/>
          </a:p>
        </p:txBody>
      </p:sp>
      <p:sp>
        <p:nvSpPr>
          <p:cNvPr id="264" name="Google Shape;264;p37"/>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265" name="Google Shape;265;p37"/>
          <p:cNvSpPr txBox="1"/>
          <p:nvPr/>
        </p:nvSpPr>
        <p:spPr>
          <a:xfrm>
            <a:off x="-31250" y="425000"/>
            <a:ext cx="4842900" cy="4488900"/>
          </a:xfrm>
          <a:prstGeom prst="rect">
            <a:avLst/>
          </a:prstGeom>
          <a:noFill/>
          <a:ln>
            <a:noFill/>
          </a:ln>
        </p:spPr>
        <p:txBody>
          <a:bodyPr anchorCtr="0" anchor="t" bIns="91425" lIns="91425" spcFirstLastPara="1" rIns="91425" wrap="square" tIns="91425">
            <a:spAutoFit/>
          </a:bodyPr>
          <a:lstStyle/>
          <a:p>
            <a:pPr indent="-276225" lvl="0" marL="457200" rtl="0" algn="l">
              <a:lnSpc>
                <a:spcPct val="115000"/>
              </a:lnSpc>
              <a:spcBef>
                <a:spcPts val="60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Research Question: Do the three penguin species have different mean body masses?</a:t>
            </a:r>
            <a:r>
              <a:rPr lang="en" sz="750">
                <a:solidFill>
                  <a:srgbClr val="1F1F1F"/>
                </a:solidFill>
                <a:highlight>
                  <a:srgbClr val="FFFFFF"/>
                </a:highlight>
              </a:rPr>
              <a:t>: This is the hypothesis being tested. The null hypothesis is that the mean body mass is the same for all three species. The alternative hypothesis is that at least one species has a different mean body mass.</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Sample sizes:</a:t>
            </a:r>
            <a:r>
              <a:rPr lang="en" sz="750">
                <a:solidFill>
                  <a:srgbClr val="1F1F1F"/>
                </a:solidFill>
                <a:highlight>
                  <a:srgbClr val="FFFFFF"/>
                </a:highlight>
              </a:rPr>
              <a:t>: This shows the number of penguins included in the analysis for each species.</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Group means:</a:t>
            </a:r>
            <a:r>
              <a:rPr lang="en" sz="750">
                <a:solidFill>
                  <a:srgbClr val="1F1F1F"/>
                </a:solidFill>
                <a:highlight>
                  <a:srgbClr val="FFFFFF"/>
                </a:highlight>
              </a:rPr>
              <a:t>: This displays the calculated average body mass and standard deviation for each species. You can see that the mean body mass for Gentoo penguins (5092.4g) appears considerably higher than for Adelie (3706.2g) and Chinstrap (3733.1g) penguins.</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F-statistic: 341.895</a:t>
            </a:r>
            <a:r>
              <a:rPr lang="en" sz="750">
                <a:solidFill>
                  <a:srgbClr val="1F1F1F"/>
                </a:solidFill>
                <a:highlight>
                  <a:srgbClr val="FFFFFF"/>
                </a:highlight>
              </a:rPr>
              <a:t>: This is the calculated F-statistic. In ANOVA, the F-statistic is the ratio of the variance between the groups to the variance within the groups. A larger F-statistic suggests that the differences between the group means are large relative to the variability within each group. A value of 341.895 is quite large.</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P-value: 3.74e-81</a:t>
            </a:r>
            <a:r>
              <a:rPr lang="en" sz="750">
                <a:solidFill>
                  <a:srgbClr val="1F1F1F"/>
                </a:solidFill>
                <a:highlight>
                  <a:srgbClr val="FFFFFF"/>
                </a:highlight>
              </a:rPr>
              <a:t>: This is the p-value associated with the F-statistic. Li</a:t>
            </a:r>
            <a:r>
              <a:rPr lang="en" sz="750">
                <a:solidFill>
                  <a:srgbClr val="1F1F1F"/>
                </a:solidFill>
                <a:highlight>
                  <a:srgbClr val="D9D2E9"/>
                </a:highlight>
              </a:rPr>
              <a:t>ke in the t-tests, a very small p-value (3.74e-81 is a number with 80 zeros after the decimal point before 374) indicates that it is extremely unlikely to observe such a large F-statistic by random chance if the mean body masses of the three species were actually equal.</a:t>
            </a:r>
            <a:endParaRPr sz="750">
              <a:solidFill>
                <a:srgbClr val="1F1F1F"/>
              </a:solidFill>
              <a:highlight>
                <a:srgbClr val="D9D2E9"/>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Result: Significant difference between groups (p &lt; 0.05)</a:t>
            </a:r>
            <a:r>
              <a:rPr lang="en" sz="750">
                <a:solidFill>
                  <a:srgbClr val="1F1F1F"/>
                </a:solidFill>
                <a:highlight>
                  <a:srgbClr val="FFFFFF"/>
                </a:highlight>
              </a:rPr>
              <a:t>: This is the conclusion. Since the p-value is much smaller than the standard significance level of 0.05, we reject the null hypothesis. We conclude that there is a statistically significant difference in the mean body mass among the three penguin species.</a:t>
            </a:r>
            <a:endParaRPr sz="750">
              <a:solidFill>
                <a:srgbClr val="1F1F1F"/>
              </a:solidFill>
              <a:highlight>
                <a:srgbClr val="FFFFFF"/>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Note: ANOVA tells us there IS a difference, but not WHERE.</a:t>
            </a:r>
            <a:r>
              <a:rPr lang="en" sz="750">
                <a:solidFill>
                  <a:srgbClr val="1F1F1F"/>
                </a:solidFill>
                <a:highlight>
                  <a:srgbClr val="FFFFFF"/>
                </a:highlight>
              </a:rPr>
              <a:t>: This is an important point. </a:t>
            </a:r>
            <a:r>
              <a:rPr lang="en" sz="750">
                <a:solidFill>
                  <a:srgbClr val="1F1F1F"/>
                </a:solidFill>
                <a:highlight>
                  <a:srgbClr val="D9D2E9"/>
                </a:highlight>
              </a:rPr>
              <a:t>The ANOVA test tells you that at least one group mean is different from the others, but it doesn't tell you </a:t>
            </a:r>
            <a:r>
              <a:rPr i="1" lang="en" sz="750">
                <a:solidFill>
                  <a:srgbClr val="1F1F1F"/>
                </a:solidFill>
                <a:highlight>
                  <a:srgbClr val="D9D2E9"/>
                </a:highlight>
              </a:rPr>
              <a:t>which</a:t>
            </a:r>
            <a:r>
              <a:rPr lang="en" sz="750">
                <a:solidFill>
                  <a:srgbClr val="1F1F1F"/>
                </a:solidFill>
                <a:highlight>
                  <a:srgbClr val="D9D2E9"/>
                </a:highlight>
              </a:rPr>
              <a:t> specific groups are different from each other (e.g., is Adelie different from Chinstrap, is Adelie different from Gentoo, is Chinstrap different from Gentoo?).</a:t>
            </a:r>
            <a:endParaRPr sz="750">
              <a:solidFill>
                <a:srgbClr val="1F1F1F"/>
              </a:solidFill>
              <a:highlight>
                <a:srgbClr val="D9D2E9"/>
              </a:highlight>
            </a:endParaRPr>
          </a:p>
          <a:p>
            <a:pPr indent="-276225" lvl="0" marL="457200" rtl="0" algn="l">
              <a:lnSpc>
                <a:spcPct val="115000"/>
              </a:lnSpc>
              <a:spcBef>
                <a:spcPts val="0"/>
              </a:spcBef>
              <a:spcAft>
                <a:spcPts val="0"/>
              </a:spcAft>
              <a:buClr>
                <a:srgbClr val="1F1F1F"/>
              </a:buClr>
              <a:buSzPts val="750"/>
              <a:buChar char="●"/>
            </a:pPr>
            <a:r>
              <a:rPr b="1" lang="en" sz="750">
                <a:solidFill>
                  <a:srgbClr val="1F1F1F"/>
                </a:solidFill>
                <a:highlight>
                  <a:srgbClr val="F7F7F7"/>
                </a:highlight>
                <a:latin typeface="Roboto Mono"/>
                <a:ea typeface="Roboto Mono"/>
                <a:cs typeface="Roboto Mono"/>
                <a:sym typeface="Roboto Mono"/>
              </a:rPr>
              <a:t>For pairwise comparisons, we would need post-hoc tests (e.g., Tukey's HSD).</a:t>
            </a:r>
            <a:r>
              <a:rPr lang="en" sz="750">
                <a:solidFill>
                  <a:srgbClr val="1F1F1F"/>
                </a:solidFill>
                <a:highlight>
                  <a:srgbClr val="FFFFFF"/>
                </a:highlight>
              </a:rPr>
              <a:t>: This explains that to determine which specific pairs of groups have significant differences, you would need to perform additional tests called post-hoc tests (like Tukey's Honestly Significant Difference test).</a:t>
            </a:r>
            <a:endParaRPr sz="750">
              <a:solidFill>
                <a:srgbClr val="1F1F1F"/>
              </a:solidFill>
              <a:highlight>
                <a:srgbClr val="FFFFFF"/>
              </a:highlight>
            </a:endParaRPr>
          </a:p>
          <a:p>
            <a:pPr indent="0" lvl="0" marL="0" rtl="0" algn="l">
              <a:lnSpc>
                <a:spcPct val="115000"/>
              </a:lnSpc>
              <a:spcBef>
                <a:spcPts val="600"/>
              </a:spcBef>
              <a:spcAft>
                <a:spcPts val="0"/>
              </a:spcAft>
              <a:buNone/>
            </a:pPr>
            <a:r>
              <a:rPr lang="en" sz="750">
                <a:solidFill>
                  <a:srgbClr val="1F1F1F"/>
                </a:solidFill>
                <a:highlight>
                  <a:srgbClr val="FFFFFF"/>
                </a:highlight>
              </a:rPr>
              <a:t>In summary, the ANOVA test provides strong statistical evidence that the average body mass is not the same across all three penguin species. The visual inspection of the means also supports this, with Gentoo penguins appearing to be significantly heavier.</a:t>
            </a:r>
            <a:endParaRPr sz="750">
              <a:solidFill>
                <a:srgbClr val="1F1F1F"/>
              </a:solidFill>
              <a:highlight>
                <a:srgbClr val="FFFFFF"/>
              </a:highlight>
            </a:endParaRPr>
          </a:p>
          <a:p>
            <a:pPr indent="0" lvl="0" marL="0" rtl="0" algn="l">
              <a:lnSpc>
                <a:spcPct val="141666"/>
              </a:lnSpc>
              <a:spcBef>
                <a:spcPts val="600"/>
              </a:spcBef>
              <a:spcAft>
                <a:spcPts val="0"/>
              </a:spcAft>
              <a:buNone/>
            </a:pPr>
            <a:r>
              <a:t/>
            </a:r>
            <a:endParaRPr sz="200">
              <a:solidFill>
                <a:srgbClr val="008000"/>
              </a:solidFill>
              <a:highlight>
                <a:srgbClr val="F7F7F7"/>
              </a:highlight>
              <a:latin typeface="Courier New"/>
              <a:ea typeface="Courier New"/>
              <a:cs typeface="Courier New"/>
              <a:sym typeface="Courier New"/>
            </a:endParaRPr>
          </a:p>
        </p:txBody>
      </p:sp>
      <p:pic>
        <p:nvPicPr>
          <p:cNvPr id="266" name="Google Shape;266;p37"/>
          <p:cNvPicPr preferRelativeResize="0"/>
          <p:nvPr/>
        </p:nvPicPr>
        <p:blipFill>
          <a:blip r:embed="rId3">
            <a:alphaModFix/>
          </a:blip>
          <a:stretch>
            <a:fillRect/>
          </a:stretch>
        </p:blipFill>
        <p:spPr>
          <a:xfrm>
            <a:off x="4964050" y="2476400"/>
            <a:ext cx="4027549" cy="2168681"/>
          </a:xfrm>
          <a:prstGeom prst="rect">
            <a:avLst/>
          </a:prstGeom>
          <a:noFill/>
          <a:ln>
            <a:noFill/>
          </a:ln>
        </p:spPr>
      </p:pic>
      <p:sp>
        <p:nvSpPr>
          <p:cNvPr id="267" name="Google Shape;26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8"/>
          <p:cNvSpPr txBox="1"/>
          <p:nvPr>
            <p:ph type="title"/>
          </p:nvPr>
        </p:nvSpPr>
        <p:spPr>
          <a:xfrm>
            <a:off x="25000" y="26275"/>
            <a:ext cx="6121800" cy="572700"/>
          </a:xfrm>
          <a:prstGeom prst="rect">
            <a:avLst/>
          </a:prstGeom>
        </p:spPr>
        <p:txBody>
          <a:bodyPr anchorCtr="0" anchor="t" bIns="91425" lIns="91425" spcFirstLastPara="1" rIns="91425" wrap="square" tIns="91425">
            <a:noAutofit/>
          </a:bodyPr>
          <a:lstStyle/>
          <a:p>
            <a:pPr indent="0" lvl="0" marL="0" rtl="0" algn="l">
              <a:lnSpc>
                <a:spcPct val="141666"/>
              </a:lnSpc>
              <a:spcBef>
                <a:spcPts val="0"/>
              </a:spcBef>
              <a:spcAft>
                <a:spcPts val="0"/>
              </a:spcAft>
              <a:buSzPts val="990"/>
              <a:buNone/>
            </a:pPr>
            <a:r>
              <a:rPr lang="en" sz="610">
                <a:solidFill>
                  <a:srgbClr val="008000"/>
                </a:solidFill>
                <a:highlight>
                  <a:srgbClr val="F7F7F7"/>
                </a:highlight>
                <a:latin typeface="Courier New"/>
                <a:ea typeface="Courier New"/>
                <a:cs typeface="Courier New"/>
                <a:sym typeface="Courier New"/>
              </a:rPr>
              <a:t># Cell 14: Non-parametric Tests </a:t>
            </a:r>
            <a:r>
              <a:rPr lang="en" sz="610">
                <a:solidFill>
                  <a:srgbClr val="A31515"/>
                </a:solidFill>
                <a:highlight>
                  <a:srgbClr val="F7F7F7"/>
                </a:highlight>
                <a:latin typeface="Courier New"/>
                <a:ea typeface="Courier New"/>
                <a:cs typeface="Courier New"/>
                <a:sym typeface="Courier New"/>
              </a:rPr>
              <a:t>NON-PARAMETRIC TESTS: When Data Doesn't Meet Normal Distribution Assumption</a:t>
            </a:r>
            <a:endParaRPr sz="61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61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6A5221"/>
                </a:solidFill>
                <a:highlight>
                  <a:srgbClr val="F7F7F7"/>
                </a:highlight>
                <a:latin typeface="Courier New"/>
                <a:ea typeface="Courier New"/>
                <a:cs typeface="Courier New"/>
                <a:sym typeface="Courier New"/>
              </a:rPr>
              <a:t>print</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 NON-PARAMETRIC TEST EXAMPLES ==="</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6A5221"/>
                </a:solidFill>
                <a:highlight>
                  <a:srgbClr val="F7F7F7"/>
                </a:highlight>
                <a:latin typeface="Courier New"/>
                <a:ea typeface="Courier New"/>
                <a:cs typeface="Courier New"/>
                <a:sym typeface="Courier New"/>
              </a:rPr>
              <a:t>print</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"Use these when data is not normally distributed or has unequal variances"</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008000"/>
                </a:solidFill>
                <a:highlight>
                  <a:srgbClr val="F7F7F7"/>
                </a:highlight>
                <a:latin typeface="Courier New"/>
                <a:ea typeface="Courier New"/>
                <a:cs typeface="Courier New"/>
                <a:sym typeface="Courier New"/>
              </a:rPr>
              <a:t># Mann-Whitney U test (non-parametric alternative to t-test)</a:t>
            </a:r>
            <a:endParaRPr sz="61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6A5221"/>
                </a:solidFill>
                <a:highlight>
                  <a:srgbClr val="F7F7F7"/>
                </a:highlight>
                <a:latin typeface="Courier New"/>
                <a:ea typeface="Courier New"/>
                <a:cs typeface="Courier New"/>
                <a:sym typeface="Courier New"/>
              </a:rPr>
              <a:t>print</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"\n--- Mann-Whitney U Test (Alternative to T-test) ---"</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008000"/>
                </a:solidFill>
                <a:highlight>
                  <a:srgbClr val="F7F7F7"/>
                </a:highlight>
                <a:latin typeface="Courier New"/>
                <a:ea typeface="Courier New"/>
                <a:cs typeface="Courier New"/>
                <a:sym typeface="Courier New"/>
              </a:rPr>
              <a:t># Compare flipper length between Adelie and Chinstrap</a:t>
            </a:r>
            <a:endParaRPr sz="61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highlight>
                  <a:srgbClr val="F7F7F7"/>
                </a:highlight>
                <a:latin typeface="Courier New"/>
                <a:ea typeface="Courier New"/>
                <a:cs typeface="Courier New"/>
                <a:sym typeface="Courier New"/>
              </a:rPr>
              <a:t>adelie_flipper = penguins_clean[penguins_clean[</a:t>
            </a:r>
            <a:r>
              <a:rPr lang="en" sz="610">
                <a:solidFill>
                  <a:srgbClr val="A31515"/>
                </a:solidFill>
                <a:highlight>
                  <a:srgbClr val="F7F7F7"/>
                </a:highlight>
                <a:latin typeface="Courier New"/>
                <a:ea typeface="Courier New"/>
                <a:cs typeface="Courier New"/>
                <a:sym typeface="Courier New"/>
              </a:rPr>
              <a:t>'species'</a:t>
            </a:r>
            <a:r>
              <a:rPr lang="en" sz="610">
                <a:highlight>
                  <a:srgbClr val="F7F7F7"/>
                </a:highlight>
                <a:latin typeface="Courier New"/>
                <a:ea typeface="Courier New"/>
                <a:cs typeface="Courier New"/>
                <a:sym typeface="Courier New"/>
              </a:rPr>
              <a:t>] == </a:t>
            </a:r>
            <a:r>
              <a:rPr lang="en" sz="610">
                <a:solidFill>
                  <a:srgbClr val="A31515"/>
                </a:solidFill>
                <a:highlight>
                  <a:srgbClr val="F7F7F7"/>
                </a:highlight>
                <a:latin typeface="Courier New"/>
                <a:ea typeface="Courier New"/>
                <a:cs typeface="Courier New"/>
                <a:sym typeface="Courier New"/>
              </a:rPr>
              <a:t>'Adelie'</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'flipper_length_mm'</a:t>
            </a:r>
            <a:r>
              <a:rPr lang="en" sz="610">
                <a:highlight>
                  <a:srgbClr val="F7F7F7"/>
                </a:highlight>
                <a:latin typeface="Courier New"/>
                <a:ea typeface="Courier New"/>
                <a:cs typeface="Courier New"/>
                <a:sym typeface="Courier New"/>
              </a:rPr>
              <a:t>].dropna()</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highlight>
                  <a:srgbClr val="F7F7F7"/>
                </a:highlight>
                <a:latin typeface="Courier New"/>
                <a:ea typeface="Courier New"/>
                <a:cs typeface="Courier New"/>
                <a:sym typeface="Courier New"/>
              </a:rPr>
              <a:t>chinstrap_flipper = penguins_clean[penguins_clean[</a:t>
            </a:r>
            <a:r>
              <a:rPr lang="en" sz="610">
                <a:solidFill>
                  <a:srgbClr val="A31515"/>
                </a:solidFill>
                <a:highlight>
                  <a:srgbClr val="F7F7F7"/>
                </a:highlight>
                <a:latin typeface="Courier New"/>
                <a:ea typeface="Courier New"/>
                <a:cs typeface="Courier New"/>
                <a:sym typeface="Courier New"/>
              </a:rPr>
              <a:t>'species'</a:t>
            </a:r>
            <a:r>
              <a:rPr lang="en" sz="610">
                <a:highlight>
                  <a:srgbClr val="F7F7F7"/>
                </a:highlight>
                <a:latin typeface="Courier New"/>
                <a:ea typeface="Courier New"/>
                <a:cs typeface="Courier New"/>
                <a:sym typeface="Courier New"/>
              </a:rPr>
              <a:t>] == </a:t>
            </a:r>
            <a:r>
              <a:rPr lang="en" sz="610">
                <a:solidFill>
                  <a:srgbClr val="A31515"/>
                </a:solidFill>
                <a:highlight>
                  <a:srgbClr val="F7F7F7"/>
                </a:highlight>
                <a:latin typeface="Courier New"/>
                <a:ea typeface="Courier New"/>
                <a:cs typeface="Courier New"/>
                <a:sym typeface="Courier New"/>
              </a:rPr>
              <a:t>'Chinstrap'</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'flipper_length_mm'</a:t>
            </a:r>
            <a:r>
              <a:rPr lang="en" sz="610">
                <a:highlight>
                  <a:srgbClr val="F7F7F7"/>
                </a:highlight>
                <a:latin typeface="Courier New"/>
                <a:ea typeface="Courier New"/>
                <a:cs typeface="Courier New"/>
                <a:sym typeface="Courier New"/>
              </a:rPr>
              <a:t>].dropna()</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highlight>
                  <a:srgbClr val="F7F7F7"/>
                </a:highlight>
                <a:latin typeface="Courier New"/>
                <a:ea typeface="Courier New"/>
                <a:cs typeface="Courier New"/>
                <a:sym typeface="Courier New"/>
              </a:rPr>
              <a:t>mannwhitney_stat, mannwhitney_p = stats.mannwhitneyu(adelie_flipper, chinstrap_flipper,</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highlight>
                  <a:srgbClr val="F7F7F7"/>
                </a:highlight>
                <a:latin typeface="Courier New"/>
                <a:ea typeface="Courier New"/>
                <a:cs typeface="Courier New"/>
                <a:sym typeface="Courier New"/>
              </a:rPr>
              <a:t>                                                    alternative=</a:t>
            </a:r>
            <a:r>
              <a:rPr lang="en" sz="610">
                <a:solidFill>
                  <a:srgbClr val="A31515"/>
                </a:solidFill>
                <a:highlight>
                  <a:srgbClr val="F7F7F7"/>
                </a:highlight>
                <a:latin typeface="Courier New"/>
                <a:ea typeface="Courier New"/>
                <a:cs typeface="Courier New"/>
                <a:sym typeface="Courier New"/>
              </a:rPr>
              <a:t>'two-sided'</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6A5221"/>
                </a:solidFill>
                <a:highlight>
                  <a:srgbClr val="F7F7F7"/>
                </a:highlight>
                <a:latin typeface="Courier New"/>
                <a:ea typeface="Courier New"/>
                <a:cs typeface="Courier New"/>
                <a:sym typeface="Courier New"/>
              </a:rPr>
              <a:t>print</a:t>
            </a:r>
            <a:r>
              <a:rPr lang="en" sz="610">
                <a:highlight>
                  <a:srgbClr val="F7F7F7"/>
                </a:highlight>
                <a:latin typeface="Courier New"/>
                <a:ea typeface="Courier New"/>
                <a:cs typeface="Courier New"/>
                <a:sym typeface="Courier New"/>
              </a:rPr>
              <a:t>(</a:t>
            </a:r>
            <a:r>
              <a:rPr lang="en" sz="610">
                <a:solidFill>
                  <a:srgbClr val="0000FF"/>
                </a:solidFill>
                <a:highlight>
                  <a:srgbClr val="F7F7F7"/>
                </a:highlight>
                <a:latin typeface="Courier New"/>
                <a:ea typeface="Courier New"/>
                <a:cs typeface="Courier New"/>
                <a:sym typeface="Courier New"/>
              </a:rPr>
              <a:t>f</a:t>
            </a:r>
            <a:r>
              <a:rPr lang="en" sz="610">
                <a:solidFill>
                  <a:srgbClr val="A31515"/>
                </a:solidFill>
                <a:highlight>
                  <a:srgbClr val="F7F7F7"/>
                </a:highlight>
                <a:latin typeface="Courier New"/>
                <a:ea typeface="Courier New"/>
                <a:cs typeface="Courier New"/>
                <a:sym typeface="Courier New"/>
              </a:rPr>
              <a:t>"Research Question: Do Adelie and Chinstrap penguins have different flipper lengths?"</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6A5221"/>
                </a:solidFill>
                <a:highlight>
                  <a:srgbClr val="F7F7F7"/>
                </a:highlight>
                <a:latin typeface="Courier New"/>
                <a:ea typeface="Courier New"/>
                <a:cs typeface="Courier New"/>
                <a:sym typeface="Courier New"/>
              </a:rPr>
              <a:t>print</a:t>
            </a:r>
            <a:r>
              <a:rPr lang="en" sz="610">
                <a:highlight>
                  <a:srgbClr val="F7F7F7"/>
                </a:highlight>
                <a:latin typeface="Courier New"/>
                <a:ea typeface="Courier New"/>
                <a:cs typeface="Courier New"/>
                <a:sym typeface="Courier New"/>
              </a:rPr>
              <a:t>(</a:t>
            </a:r>
            <a:r>
              <a:rPr lang="en" sz="610">
                <a:solidFill>
                  <a:srgbClr val="0000FF"/>
                </a:solidFill>
                <a:highlight>
                  <a:srgbClr val="F7F7F7"/>
                </a:highlight>
                <a:latin typeface="Courier New"/>
                <a:ea typeface="Courier New"/>
                <a:cs typeface="Courier New"/>
                <a:sym typeface="Courier New"/>
              </a:rPr>
              <a:t>f</a:t>
            </a:r>
            <a:r>
              <a:rPr lang="en" sz="610">
                <a:solidFill>
                  <a:srgbClr val="A31515"/>
                </a:solidFill>
                <a:highlight>
                  <a:srgbClr val="F7F7F7"/>
                </a:highlight>
                <a:latin typeface="Courier New"/>
                <a:ea typeface="Courier New"/>
                <a:cs typeface="Courier New"/>
                <a:sym typeface="Courier New"/>
              </a:rPr>
              <a:t>"Adelie median: </a:t>
            </a:r>
            <a:r>
              <a:rPr lang="en" sz="610">
                <a:highlight>
                  <a:srgbClr val="F7F7F7"/>
                </a:highlight>
                <a:latin typeface="Courier New"/>
                <a:ea typeface="Courier New"/>
                <a:cs typeface="Courier New"/>
                <a:sym typeface="Courier New"/>
              </a:rPr>
              <a:t>{adelie_flipper.median()</a:t>
            </a:r>
            <a:r>
              <a:rPr lang="en" sz="610">
                <a:solidFill>
                  <a:srgbClr val="116644"/>
                </a:solidFill>
                <a:highlight>
                  <a:srgbClr val="F7F7F7"/>
                </a:highlight>
                <a:latin typeface="Courier New"/>
                <a:ea typeface="Courier New"/>
                <a:cs typeface="Courier New"/>
                <a:sym typeface="Courier New"/>
              </a:rPr>
              <a:t>:.1f</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mm"</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6A5221"/>
                </a:solidFill>
                <a:highlight>
                  <a:srgbClr val="F7F7F7"/>
                </a:highlight>
                <a:latin typeface="Courier New"/>
                <a:ea typeface="Courier New"/>
                <a:cs typeface="Courier New"/>
                <a:sym typeface="Courier New"/>
              </a:rPr>
              <a:t>print</a:t>
            </a:r>
            <a:r>
              <a:rPr lang="en" sz="610">
                <a:highlight>
                  <a:srgbClr val="F7F7F7"/>
                </a:highlight>
                <a:latin typeface="Courier New"/>
                <a:ea typeface="Courier New"/>
                <a:cs typeface="Courier New"/>
                <a:sym typeface="Courier New"/>
              </a:rPr>
              <a:t>(</a:t>
            </a:r>
            <a:r>
              <a:rPr lang="en" sz="610">
                <a:solidFill>
                  <a:srgbClr val="0000FF"/>
                </a:solidFill>
                <a:highlight>
                  <a:srgbClr val="F7F7F7"/>
                </a:highlight>
                <a:latin typeface="Courier New"/>
                <a:ea typeface="Courier New"/>
                <a:cs typeface="Courier New"/>
                <a:sym typeface="Courier New"/>
              </a:rPr>
              <a:t>f</a:t>
            </a:r>
            <a:r>
              <a:rPr lang="en" sz="610">
                <a:solidFill>
                  <a:srgbClr val="A31515"/>
                </a:solidFill>
                <a:highlight>
                  <a:srgbClr val="F7F7F7"/>
                </a:highlight>
                <a:latin typeface="Courier New"/>
                <a:ea typeface="Courier New"/>
                <a:cs typeface="Courier New"/>
                <a:sym typeface="Courier New"/>
              </a:rPr>
              <a:t>"Chinstrap median: </a:t>
            </a:r>
            <a:r>
              <a:rPr lang="en" sz="610">
                <a:highlight>
                  <a:srgbClr val="F7F7F7"/>
                </a:highlight>
                <a:latin typeface="Courier New"/>
                <a:ea typeface="Courier New"/>
                <a:cs typeface="Courier New"/>
                <a:sym typeface="Courier New"/>
              </a:rPr>
              <a:t>{chinstrap_flipper.median()</a:t>
            </a:r>
            <a:r>
              <a:rPr lang="en" sz="610">
                <a:solidFill>
                  <a:srgbClr val="116644"/>
                </a:solidFill>
                <a:highlight>
                  <a:srgbClr val="F7F7F7"/>
                </a:highlight>
                <a:latin typeface="Courier New"/>
                <a:ea typeface="Courier New"/>
                <a:cs typeface="Courier New"/>
                <a:sym typeface="Courier New"/>
              </a:rPr>
              <a:t>:.1f</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mm"</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6A5221"/>
                </a:solidFill>
                <a:highlight>
                  <a:srgbClr val="F7F7F7"/>
                </a:highlight>
                <a:latin typeface="Courier New"/>
                <a:ea typeface="Courier New"/>
                <a:cs typeface="Courier New"/>
                <a:sym typeface="Courier New"/>
              </a:rPr>
              <a:t>print</a:t>
            </a:r>
            <a:r>
              <a:rPr lang="en" sz="610">
                <a:highlight>
                  <a:srgbClr val="F7F7F7"/>
                </a:highlight>
                <a:latin typeface="Courier New"/>
                <a:ea typeface="Courier New"/>
                <a:cs typeface="Courier New"/>
                <a:sym typeface="Courier New"/>
              </a:rPr>
              <a:t>(</a:t>
            </a:r>
            <a:r>
              <a:rPr lang="en" sz="610">
                <a:solidFill>
                  <a:srgbClr val="0000FF"/>
                </a:solidFill>
                <a:highlight>
                  <a:srgbClr val="F7F7F7"/>
                </a:highlight>
                <a:latin typeface="Courier New"/>
                <a:ea typeface="Courier New"/>
                <a:cs typeface="Courier New"/>
                <a:sym typeface="Courier New"/>
              </a:rPr>
              <a:t>f</a:t>
            </a:r>
            <a:r>
              <a:rPr lang="en" sz="610">
                <a:solidFill>
                  <a:srgbClr val="A31515"/>
                </a:solidFill>
                <a:highlight>
                  <a:srgbClr val="F7F7F7"/>
                </a:highlight>
                <a:latin typeface="Courier New"/>
                <a:ea typeface="Courier New"/>
                <a:cs typeface="Courier New"/>
                <a:sym typeface="Courier New"/>
              </a:rPr>
              <a:t>"Mann-Whitney U statistic: </a:t>
            </a:r>
            <a:r>
              <a:rPr lang="en" sz="610">
                <a:highlight>
                  <a:srgbClr val="F7F7F7"/>
                </a:highlight>
                <a:latin typeface="Courier New"/>
                <a:ea typeface="Courier New"/>
                <a:cs typeface="Courier New"/>
                <a:sym typeface="Courier New"/>
              </a:rPr>
              <a:t>{mannwhitney_stat}</a:t>
            </a:r>
            <a:r>
              <a:rPr lang="en" sz="610">
                <a:solidFill>
                  <a:srgbClr val="A31515"/>
                </a:solidFill>
                <a:highlight>
                  <a:srgbClr val="F7F7F7"/>
                </a:highlight>
                <a:latin typeface="Courier New"/>
                <a:ea typeface="Courier New"/>
                <a:cs typeface="Courier New"/>
                <a:sym typeface="Courier New"/>
              </a:rPr>
              <a:t>"</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6A5221"/>
                </a:solidFill>
                <a:highlight>
                  <a:srgbClr val="F7F7F7"/>
                </a:highlight>
                <a:latin typeface="Courier New"/>
                <a:ea typeface="Courier New"/>
                <a:cs typeface="Courier New"/>
                <a:sym typeface="Courier New"/>
              </a:rPr>
              <a:t>print</a:t>
            </a:r>
            <a:r>
              <a:rPr lang="en" sz="610">
                <a:highlight>
                  <a:srgbClr val="F7F7F7"/>
                </a:highlight>
                <a:latin typeface="Courier New"/>
                <a:ea typeface="Courier New"/>
                <a:cs typeface="Courier New"/>
                <a:sym typeface="Courier New"/>
              </a:rPr>
              <a:t>(</a:t>
            </a:r>
            <a:r>
              <a:rPr lang="en" sz="610">
                <a:solidFill>
                  <a:srgbClr val="0000FF"/>
                </a:solidFill>
                <a:highlight>
                  <a:srgbClr val="F7F7F7"/>
                </a:highlight>
                <a:latin typeface="Courier New"/>
                <a:ea typeface="Courier New"/>
                <a:cs typeface="Courier New"/>
                <a:sym typeface="Courier New"/>
              </a:rPr>
              <a:t>f</a:t>
            </a:r>
            <a:r>
              <a:rPr lang="en" sz="610">
                <a:solidFill>
                  <a:srgbClr val="A31515"/>
                </a:solidFill>
                <a:highlight>
                  <a:srgbClr val="F7F7F7"/>
                </a:highlight>
                <a:latin typeface="Courier New"/>
                <a:ea typeface="Courier New"/>
                <a:cs typeface="Courier New"/>
                <a:sym typeface="Courier New"/>
              </a:rPr>
              <a:t>"P-value: </a:t>
            </a:r>
            <a:r>
              <a:rPr lang="en" sz="610">
                <a:highlight>
                  <a:srgbClr val="F7F7F7"/>
                </a:highlight>
                <a:latin typeface="Courier New"/>
                <a:ea typeface="Courier New"/>
                <a:cs typeface="Courier New"/>
                <a:sym typeface="Courier New"/>
              </a:rPr>
              <a:t>{mannwhitney_p</a:t>
            </a:r>
            <a:r>
              <a:rPr lang="en" sz="610">
                <a:solidFill>
                  <a:srgbClr val="116644"/>
                </a:solidFill>
                <a:highlight>
                  <a:srgbClr val="F7F7F7"/>
                </a:highlight>
                <a:latin typeface="Courier New"/>
                <a:ea typeface="Courier New"/>
                <a:cs typeface="Courier New"/>
                <a:sym typeface="Courier New"/>
              </a:rPr>
              <a:t>:.2e</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610">
                <a:solidFill>
                  <a:srgbClr val="6A5221"/>
                </a:solidFill>
                <a:highlight>
                  <a:srgbClr val="F7F7F7"/>
                </a:highlight>
                <a:latin typeface="Courier New"/>
                <a:ea typeface="Courier New"/>
                <a:cs typeface="Courier New"/>
                <a:sym typeface="Courier New"/>
              </a:rPr>
              <a:t>print</a:t>
            </a:r>
            <a:r>
              <a:rPr lang="en" sz="610">
                <a:highlight>
                  <a:srgbClr val="F7F7F7"/>
                </a:highlight>
                <a:latin typeface="Courier New"/>
                <a:ea typeface="Courier New"/>
                <a:cs typeface="Courier New"/>
                <a:sym typeface="Courier New"/>
              </a:rPr>
              <a:t>(</a:t>
            </a:r>
            <a:r>
              <a:rPr lang="en" sz="610">
                <a:solidFill>
                  <a:srgbClr val="0000FF"/>
                </a:solidFill>
                <a:highlight>
                  <a:srgbClr val="F7F7F7"/>
                </a:highlight>
                <a:latin typeface="Courier New"/>
                <a:ea typeface="Courier New"/>
                <a:cs typeface="Courier New"/>
                <a:sym typeface="Courier New"/>
              </a:rPr>
              <a:t>f</a:t>
            </a:r>
            <a:r>
              <a:rPr lang="en" sz="610">
                <a:solidFill>
                  <a:srgbClr val="A31515"/>
                </a:solidFill>
                <a:highlight>
                  <a:srgbClr val="F7F7F7"/>
                </a:highlight>
                <a:latin typeface="Courier New"/>
                <a:ea typeface="Courier New"/>
                <a:cs typeface="Courier New"/>
                <a:sym typeface="Courier New"/>
              </a:rPr>
              <a:t>"Result: </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'Significant difference (p &lt; 0.05)'</a:t>
            </a:r>
            <a:r>
              <a:rPr lang="en" sz="610">
                <a:highlight>
                  <a:srgbClr val="F7F7F7"/>
                </a:highlight>
                <a:latin typeface="Courier New"/>
                <a:ea typeface="Courier New"/>
                <a:cs typeface="Courier New"/>
                <a:sym typeface="Courier New"/>
              </a:rPr>
              <a:t> </a:t>
            </a:r>
            <a:r>
              <a:rPr lang="en" sz="610">
                <a:solidFill>
                  <a:srgbClr val="9723B4"/>
                </a:solidFill>
                <a:highlight>
                  <a:srgbClr val="F7F7F7"/>
                </a:highlight>
                <a:latin typeface="Courier New"/>
                <a:ea typeface="Courier New"/>
                <a:cs typeface="Courier New"/>
                <a:sym typeface="Courier New"/>
              </a:rPr>
              <a:t>if</a:t>
            </a:r>
            <a:r>
              <a:rPr lang="en" sz="610">
                <a:highlight>
                  <a:srgbClr val="F7F7F7"/>
                </a:highlight>
                <a:latin typeface="Courier New"/>
                <a:ea typeface="Courier New"/>
                <a:cs typeface="Courier New"/>
                <a:sym typeface="Courier New"/>
              </a:rPr>
              <a:t> mannwhitney_p &lt; </a:t>
            </a:r>
            <a:r>
              <a:rPr lang="en" sz="610">
                <a:solidFill>
                  <a:srgbClr val="116644"/>
                </a:solidFill>
                <a:highlight>
                  <a:srgbClr val="F7F7F7"/>
                </a:highlight>
                <a:latin typeface="Courier New"/>
                <a:ea typeface="Courier New"/>
                <a:cs typeface="Courier New"/>
                <a:sym typeface="Courier New"/>
              </a:rPr>
              <a:t>0.05</a:t>
            </a:r>
            <a:r>
              <a:rPr lang="en" sz="610">
                <a:highlight>
                  <a:srgbClr val="F7F7F7"/>
                </a:highlight>
                <a:latin typeface="Courier New"/>
                <a:ea typeface="Courier New"/>
                <a:cs typeface="Courier New"/>
                <a:sym typeface="Courier New"/>
              </a:rPr>
              <a:t> </a:t>
            </a:r>
            <a:r>
              <a:rPr lang="en" sz="610">
                <a:solidFill>
                  <a:srgbClr val="9723B4"/>
                </a:solidFill>
                <a:highlight>
                  <a:srgbClr val="F7F7F7"/>
                </a:highlight>
                <a:latin typeface="Courier New"/>
                <a:ea typeface="Courier New"/>
                <a:cs typeface="Courier New"/>
                <a:sym typeface="Courier New"/>
              </a:rPr>
              <a:t>else</a:t>
            </a:r>
            <a:r>
              <a:rPr lang="en" sz="610">
                <a:highlight>
                  <a:srgbClr val="F7F7F7"/>
                </a:highlight>
                <a:latin typeface="Courier New"/>
                <a:ea typeface="Courier New"/>
                <a:cs typeface="Courier New"/>
                <a:sym typeface="Courier New"/>
              </a:rPr>
              <a:t> </a:t>
            </a:r>
            <a:r>
              <a:rPr lang="en" sz="610">
                <a:solidFill>
                  <a:srgbClr val="A31515"/>
                </a:solidFill>
                <a:highlight>
                  <a:srgbClr val="F7F7F7"/>
                </a:highlight>
                <a:latin typeface="Courier New"/>
                <a:ea typeface="Courier New"/>
                <a:cs typeface="Courier New"/>
                <a:sym typeface="Courier New"/>
              </a:rPr>
              <a:t>'No significant difference (p ≥ 0.05)'</a:t>
            </a:r>
            <a:r>
              <a:rPr lang="en" sz="610">
                <a:highlight>
                  <a:srgbClr val="F7F7F7"/>
                </a:highlight>
                <a:latin typeface="Courier New"/>
                <a:ea typeface="Courier New"/>
                <a:cs typeface="Courier New"/>
                <a:sym typeface="Courier New"/>
              </a:rPr>
              <a:t>}</a:t>
            </a:r>
            <a:r>
              <a:rPr lang="en" sz="610">
                <a:solidFill>
                  <a:srgbClr val="A31515"/>
                </a:solidFill>
                <a:highlight>
                  <a:srgbClr val="F7F7F7"/>
                </a:highlight>
                <a:latin typeface="Courier New"/>
                <a:ea typeface="Courier New"/>
                <a:cs typeface="Courier New"/>
                <a:sym typeface="Courier New"/>
              </a:rPr>
              <a:t>"</a:t>
            </a:r>
            <a:r>
              <a:rPr lang="en" sz="610">
                <a:highlight>
                  <a:srgbClr val="F7F7F7"/>
                </a:highlight>
                <a:latin typeface="Courier New"/>
                <a:ea typeface="Courier New"/>
                <a:cs typeface="Courier New"/>
                <a:sym typeface="Courier New"/>
              </a:rPr>
              <a:t>)</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6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610">
              <a:solidFill>
                <a:srgbClr val="008000"/>
              </a:solidFill>
              <a:highlight>
                <a:srgbClr val="F7F7F7"/>
              </a:highlight>
              <a:latin typeface="Courier New"/>
              <a:ea typeface="Courier New"/>
              <a:cs typeface="Courier New"/>
              <a:sym typeface="Courier New"/>
            </a:endParaRPr>
          </a:p>
        </p:txBody>
      </p:sp>
      <p:sp>
        <p:nvSpPr>
          <p:cNvPr id="273" name="Google Shape;273;p38"/>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274" name="Google Shape;274;p38"/>
          <p:cNvSpPr txBox="1"/>
          <p:nvPr/>
        </p:nvSpPr>
        <p:spPr>
          <a:xfrm>
            <a:off x="3037350" y="406275"/>
            <a:ext cx="4842900" cy="2193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200">
              <a:solidFill>
                <a:srgbClr val="008000"/>
              </a:solidFill>
              <a:highlight>
                <a:srgbClr val="F7F7F7"/>
              </a:highlight>
              <a:latin typeface="Courier New"/>
              <a:ea typeface="Courier New"/>
              <a:cs typeface="Courier New"/>
              <a:sym typeface="Courier New"/>
            </a:endParaRPr>
          </a:p>
        </p:txBody>
      </p:sp>
      <p:sp>
        <p:nvSpPr>
          <p:cNvPr id="275" name="Google Shape;27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6" name="Google Shape;276;p38"/>
          <p:cNvPicPr preferRelativeResize="0"/>
          <p:nvPr/>
        </p:nvPicPr>
        <p:blipFill>
          <a:blip r:embed="rId3">
            <a:alphaModFix/>
          </a:blip>
          <a:stretch>
            <a:fillRect/>
          </a:stretch>
        </p:blipFill>
        <p:spPr>
          <a:xfrm>
            <a:off x="5095100" y="3187650"/>
            <a:ext cx="3518025" cy="710300"/>
          </a:xfrm>
          <a:prstGeom prst="rect">
            <a:avLst/>
          </a:prstGeom>
          <a:noFill/>
          <a:ln>
            <a:noFill/>
          </a:ln>
        </p:spPr>
      </p:pic>
      <p:sp>
        <p:nvSpPr>
          <p:cNvPr id="277" name="Google Shape;277;p38"/>
          <p:cNvSpPr txBox="1"/>
          <p:nvPr/>
        </p:nvSpPr>
        <p:spPr>
          <a:xfrm>
            <a:off x="5797375" y="72075"/>
            <a:ext cx="3000000" cy="289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b="1" lang="en" sz="650">
                <a:solidFill>
                  <a:srgbClr val="1F1F1F"/>
                </a:solidFill>
                <a:highlight>
                  <a:srgbClr val="FFFFFF"/>
                </a:highlight>
              </a:rPr>
              <a:t>Mann-Whitney U Test (Alternative to T-test)</a:t>
            </a:r>
            <a:endParaRPr b="1" sz="650">
              <a:solidFill>
                <a:srgbClr val="1F1F1F"/>
              </a:solidFill>
              <a:highlight>
                <a:srgbClr val="FFFFFF"/>
              </a:highlight>
            </a:endParaRPr>
          </a:p>
          <a:p>
            <a:pPr indent="-269875" lvl="0" marL="457200" rtl="0" algn="l">
              <a:lnSpc>
                <a:spcPct val="115000"/>
              </a:lnSpc>
              <a:spcBef>
                <a:spcPts val="600"/>
              </a:spcBef>
              <a:spcAft>
                <a:spcPts val="0"/>
              </a:spcAft>
              <a:buClr>
                <a:srgbClr val="1F1F1F"/>
              </a:buClr>
              <a:buSzPts val="650"/>
              <a:buChar char="●"/>
            </a:pPr>
            <a:r>
              <a:rPr b="1" lang="en" sz="650">
                <a:solidFill>
                  <a:srgbClr val="1F1F1F"/>
                </a:solidFill>
                <a:highlight>
                  <a:srgbClr val="FFFFFF"/>
                </a:highlight>
              </a:rPr>
              <a:t>What it does:</a:t>
            </a:r>
            <a:r>
              <a:rPr lang="en" sz="650">
                <a:solidFill>
                  <a:srgbClr val="1F1F1F"/>
                </a:solidFill>
                <a:highlight>
                  <a:srgbClr val="FFFFFF"/>
                </a:highlight>
              </a:rPr>
              <a:t> This test is used to compare the distributions of a continuous variable between two independent groups. It's the non-parametric equivalent of the independent samples t-test. It tests if the distributions of the two groups are the same.</a:t>
            </a:r>
            <a:endParaRPr sz="650">
              <a:solidFill>
                <a:srgbClr val="1F1F1F"/>
              </a:solidFill>
              <a:highlight>
                <a:srgbClr val="FFFFFF"/>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Research Question:</a:t>
            </a:r>
            <a:r>
              <a:rPr lang="en" sz="650">
                <a:solidFill>
                  <a:srgbClr val="1F1F1F"/>
                </a:solidFill>
                <a:highlight>
                  <a:srgbClr val="FFFFFF"/>
                </a:highlight>
              </a:rPr>
              <a:t> Do Adelie and Chinstrap penguins have different flipper lengths?</a:t>
            </a:r>
            <a:endParaRPr sz="650">
              <a:solidFill>
                <a:srgbClr val="1F1F1F"/>
              </a:solidFill>
              <a:highlight>
                <a:srgbClr val="FFFFFF"/>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Adelie median: 190.0mm</a:t>
            </a:r>
            <a:r>
              <a:rPr lang="en" sz="650">
                <a:solidFill>
                  <a:srgbClr val="1F1F1F"/>
                </a:solidFill>
                <a:highlight>
                  <a:srgbClr val="FFFFFF"/>
                </a:highlight>
              </a:rPr>
              <a:t> and </a:t>
            </a:r>
            <a:r>
              <a:rPr b="1" lang="en" sz="650">
                <a:solidFill>
                  <a:srgbClr val="1F1F1F"/>
                </a:solidFill>
                <a:highlight>
                  <a:srgbClr val="FFFFFF"/>
                </a:highlight>
              </a:rPr>
              <a:t>Chinstrap median: 196.0mm</a:t>
            </a:r>
            <a:r>
              <a:rPr lang="en" sz="650">
                <a:solidFill>
                  <a:srgbClr val="1F1F1F"/>
                </a:solidFill>
                <a:highlight>
                  <a:srgbClr val="FFFFFF"/>
                </a:highlight>
              </a:rPr>
              <a:t>: Medians are often used as a measure of central tendency in non-parametric tests because they are less affected by outliers than means. The medians suggest a difference in flipper lengths between the two species.</a:t>
            </a:r>
            <a:endParaRPr sz="650">
              <a:solidFill>
                <a:srgbClr val="1F1F1F"/>
              </a:solidFill>
              <a:highlight>
                <a:srgbClr val="FFFFFF"/>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Mann-Whitney U statistic: 2691.5</a:t>
            </a:r>
            <a:r>
              <a:rPr lang="en" sz="650">
                <a:solidFill>
                  <a:srgbClr val="1F1F1F"/>
                </a:solidFill>
                <a:highlight>
                  <a:srgbClr val="FFFFFF"/>
                </a:highlight>
              </a:rPr>
              <a:t>: This is the calculated test statistic for the Mann-Whitney U test.</a:t>
            </a:r>
            <a:endParaRPr sz="650">
              <a:solidFill>
                <a:srgbClr val="1F1F1F"/>
              </a:solidFill>
              <a:highlight>
                <a:srgbClr val="FFFFFF"/>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P-value: 6.85e-08</a:t>
            </a:r>
            <a:r>
              <a:rPr lang="en" sz="650">
                <a:solidFill>
                  <a:srgbClr val="1F1F1F"/>
                </a:solidFill>
                <a:highlight>
                  <a:srgbClr val="FFFFFF"/>
                </a:highlight>
              </a:rPr>
              <a:t>: This very small p-value indicates that it's highly unlikely to observe the observed difference in flipper lengths between Adelie and Chinstrap penguins if their flipper length distributions were actually the same.</a:t>
            </a:r>
            <a:endParaRPr sz="650">
              <a:solidFill>
                <a:srgbClr val="1F1F1F"/>
              </a:solidFill>
              <a:highlight>
                <a:srgbClr val="FFFFFF"/>
              </a:highlight>
            </a:endParaRPr>
          </a:p>
          <a:p>
            <a:pPr indent="-269875" lvl="0" marL="457200" rtl="0" algn="l">
              <a:lnSpc>
                <a:spcPct val="115000"/>
              </a:lnSpc>
              <a:spcBef>
                <a:spcPts val="0"/>
              </a:spcBef>
              <a:spcAft>
                <a:spcPts val="0"/>
              </a:spcAft>
              <a:buClr>
                <a:srgbClr val="1F1F1F"/>
              </a:buClr>
              <a:buSzPts val="650"/>
              <a:buChar char="●"/>
            </a:pPr>
            <a:r>
              <a:rPr b="1" lang="en" sz="650">
                <a:solidFill>
                  <a:srgbClr val="1F1F1F"/>
                </a:solidFill>
                <a:highlight>
                  <a:srgbClr val="FFFFFF"/>
                </a:highlight>
              </a:rPr>
              <a:t>Result: Significant difference (p &lt; 0.05)</a:t>
            </a:r>
            <a:r>
              <a:rPr lang="en" sz="650">
                <a:solidFill>
                  <a:srgbClr val="1F1F1F"/>
                </a:solidFill>
                <a:highlight>
                  <a:srgbClr val="FFFFFF"/>
                </a:highlight>
              </a:rPr>
              <a:t>: Since the p-value is less than 0.05, we reject the null hypothesis that the distributions are the same. We conclude that there is a statistically significant difference in flipper lengths between Adelie and Chinstrap penguins.</a:t>
            </a:r>
            <a:endParaRPr sz="650">
              <a:solidFill>
                <a:srgbClr val="1F1F1F"/>
              </a:solidFill>
              <a:highlight>
                <a:srgbClr val="FFFFFF"/>
              </a:high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9"/>
          <p:cNvSpPr txBox="1"/>
          <p:nvPr>
            <p:ph type="title"/>
          </p:nvPr>
        </p:nvSpPr>
        <p:spPr>
          <a:xfrm>
            <a:off x="25000" y="26275"/>
            <a:ext cx="8520600" cy="572700"/>
          </a:xfrm>
          <a:prstGeom prst="rect">
            <a:avLst/>
          </a:prstGeom>
        </p:spPr>
        <p:txBody>
          <a:bodyPr anchorCtr="0" anchor="t" bIns="91425" lIns="91425" spcFirstLastPara="1" rIns="91425" wrap="square" tIns="91425">
            <a:noAutofit/>
          </a:bodyPr>
          <a:lstStyle/>
          <a:p>
            <a:pPr indent="0" lvl="0" marL="0" rtl="0" algn="l">
              <a:lnSpc>
                <a:spcPct val="141666"/>
              </a:lnSpc>
              <a:spcBef>
                <a:spcPts val="0"/>
              </a:spcBef>
              <a:spcAft>
                <a:spcPts val="0"/>
              </a:spcAft>
              <a:buSzPts val="990"/>
              <a:buNone/>
            </a:pPr>
            <a:r>
              <a:rPr lang="en" sz="510">
                <a:solidFill>
                  <a:srgbClr val="008000"/>
                </a:solidFill>
                <a:highlight>
                  <a:srgbClr val="F7F7F7"/>
                </a:highlight>
                <a:latin typeface="Courier New"/>
                <a:ea typeface="Courier New"/>
                <a:cs typeface="Courier New"/>
                <a:sym typeface="Courier New"/>
              </a:rPr>
              <a:t># Cell 14: Non-parametric Tests </a:t>
            </a:r>
            <a:r>
              <a:rPr lang="en" sz="510">
                <a:solidFill>
                  <a:srgbClr val="A31515"/>
                </a:solidFill>
                <a:highlight>
                  <a:srgbClr val="F7F7F7"/>
                </a:highlight>
                <a:latin typeface="Courier New"/>
                <a:ea typeface="Courier New"/>
                <a:cs typeface="Courier New"/>
                <a:sym typeface="Courier New"/>
              </a:rPr>
              <a:t>NON-PARAMETRIC TESTS: When Data Doesn't Meet Normal Distribution Assumption</a:t>
            </a:r>
            <a:endParaRPr sz="51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510">
              <a:solidFill>
                <a:srgbClr val="A31515"/>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008000"/>
                </a:solidFill>
                <a:highlight>
                  <a:srgbClr val="F7F7F7"/>
                </a:highlight>
                <a:latin typeface="Courier New"/>
                <a:ea typeface="Courier New"/>
                <a:cs typeface="Courier New"/>
                <a:sym typeface="Courier New"/>
              </a:rPr>
              <a:t># Kruskal-Wallis test (non-parametric alternative to ANOVA)</a:t>
            </a:r>
            <a:endParaRPr sz="510">
              <a:solidFill>
                <a:srgbClr val="008000"/>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6A5221"/>
                </a:solidFill>
                <a:highlight>
                  <a:srgbClr val="F7F7F7"/>
                </a:highlight>
                <a:latin typeface="Courier New"/>
                <a:ea typeface="Courier New"/>
                <a:cs typeface="Courier New"/>
                <a:sym typeface="Courier New"/>
              </a:rPr>
              <a:t>print</a:t>
            </a:r>
            <a:r>
              <a:rPr lang="en" sz="510">
                <a:highlight>
                  <a:srgbClr val="F7F7F7"/>
                </a:highlight>
                <a:latin typeface="Courier New"/>
                <a:ea typeface="Courier New"/>
                <a:cs typeface="Courier New"/>
                <a:sym typeface="Courier New"/>
              </a:rPr>
              <a:t>(</a:t>
            </a:r>
            <a:r>
              <a:rPr lang="en" sz="510">
                <a:solidFill>
                  <a:srgbClr val="A31515"/>
                </a:solidFill>
                <a:highlight>
                  <a:srgbClr val="F7F7F7"/>
                </a:highlight>
                <a:latin typeface="Courier New"/>
                <a:ea typeface="Courier New"/>
                <a:cs typeface="Courier New"/>
                <a:sym typeface="Courier New"/>
              </a:rPr>
              <a:t>"\n--- Kruskal-Wallis Test (Alternative to ANOVA) ---"</a:t>
            </a:r>
            <a:r>
              <a:rPr lang="en" sz="510">
                <a:highlight>
                  <a:srgbClr val="F7F7F7"/>
                </a:highlight>
                <a:latin typeface="Courier New"/>
                <a:ea typeface="Courier New"/>
                <a:cs typeface="Courier New"/>
                <a:sym typeface="Courier New"/>
              </a:rPr>
              <a:t>)</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highlight>
                  <a:srgbClr val="F7F7F7"/>
                </a:highlight>
                <a:latin typeface="Courier New"/>
                <a:ea typeface="Courier New"/>
                <a:cs typeface="Courier New"/>
                <a:sym typeface="Courier New"/>
              </a:rPr>
              <a:t>kruskal_stat, kruskal_p = stats.kruskal(adelie_mass_anova, chinstrap_mass_anova, gentoo_mass_anova)</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6A5221"/>
                </a:solidFill>
                <a:highlight>
                  <a:srgbClr val="F7F7F7"/>
                </a:highlight>
                <a:latin typeface="Courier New"/>
                <a:ea typeface="Courier New"/>
                <a:cs typeface="Courier New"/>
                <a:sym typeface="Courier New"/>
              </a:rPr>
              <a:t>print</a:t>
            </a:r>
            <a:r>
              <a:rPr lang="en" sz="510">
                <a:highlight>
                  <a:srgbClr val="F7F7F7"/>
                </a:highlight>
                <a:latin typeface="Courier New"/>
                <a:ea typeface="Courier New"/>
                <a:cs typeface="Courier New"/>
                <a:sym typeface="Courier New"/>
              </a:rPr>
              <a:t>(</a:t>
            </a:r>
            <a:r>
              <a:rPr lang="en" sz="510">
                <a:solidFill>
                  <a:srgbClr val="0000FF"/>
                </a:solidFill>
                <a:highlight>
                  <a:srgbClr val="F7F7F7"/>
                </a:highlight>
                <a:latin typeface="Courier New"/>
                <a:ea typeface="Courier New"/>
                <a:cs typeface="Courier New"/>
                <a:sym typeface="Courier New"/>
              </a:rPr>
              <a:t>f</a:t>
            </a:r>
            <a:r>
              <a:rPr lang="en" sz="510">
                <a:solidFill>
                  <a:srgbClr val="A31515"/>
                </a:solidFill>
                <a:highlight>
                  <a:srgbClr val="F7F7F7"/>
                </a:highlight>
                <a:latin typeface="Courier New"/>
                <a:ea typeface="Courier New"/>
                <a:cs typeface="Courier New"/>
                <a:sym typeface="Courier New"/>
              </a:rPr>
              <a:t>"Research Question: Do the three species have different body mass distributions?"</a:t>
            </a:r>
            <a:r>
              <a:rPr lang="en" sz="510">
                <a:highlight>
                  <a:srgbClr val="F7F7F7"/>
                </a:highlight>
                <a:latin typeface="Courier New"/>
                <a:ea typeface="Courier New"/>
                <a:cs typeface="Courier New"/>
                <a:sym typeface="Courier New"/>
              </a:rPr>
              <a:t>)</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6A5221"/>
                </a:solidFill>
                <a:highlight>
                  <a:srgbClr val="F7F7F7"/>
                </a:highlight>
                <a:latin typeface="Courier New"/>
                <a:ea typeface="Courier New"/>
                <a:cs typeface="Courier New"/>
                <a:sym typeface="Courier New"/>
              </a:rPr>
              <a:t>print</a:t>
            </a:r>
            <a:r>
              <a:rPr lang="en" sz="510">
                <a:highlight>
                  <a:srgbClr val="F7F7F7"/>
                </a:highlight>
                <a:latin typeface="Courier New"/>
                <a:ea typeface="Courier New"/>
                <a:cs typeface="Courier New"/>
                <a:sym typeface="Courier New"/>
              </a:rPr>
              <a:t>(</a:t>
            </a:r>
            <a:r>
              <a:rPr lang="en" sz="510">
                <a:solidFill>
                  <a:srgbClr val="0000FF"/>
                </a:solidFill>
                <a:highlight>
                  <a:srgbClr val="F7F7F7"/>
                </a:highlight>
                <a:latin typeface="Courier New"/>
                <a:ea typeface="Courier New"/>
                <a:cs typeface="Courier New"/>
                <a:sym typeface="Courier New"/>
              </a:rPr>
              <a:t>f</a:t>
            </a:r>
            <a:r>
              <a:rPr lang="en" sz="510">
                <a:solidFill>
                  <a:srgbClr val="A31515"/>
                </a:solidFill>
                <a:highlight>
                  <a:srgbClr val="F7F7F7"/>
                </a:highlight>
                <a:latin typeface="Courier New"/>
                <a:ea typeface="Courier New"/>
                <a:cs typeface="Courier New"/>
                <a:sym typeface="Courier New"/>
              </a:rPr>
              <a:t>"Kruskal-Wallis statistic: </a:t>
            </a:r>
            <a:r>
              <a:rPr lang="en" sz="510">
                <a:highlight>
                  <a:srgbClr val="F7F7F7"/>
                </a:highlight>
                <a:latin typeface="Courier New"/>
                <a:ea typeface="Courier New"/>
                <a:cs typeface="Courier New"/>
                <a:sym typeface="Courier New"/>
              </a:rPr>
              <a:t>{kruskal_stat</a:t>
            </a:r>
            <a:r>
              <a:rPr lang="en" sz="510">
                <a:solidFill>
                  <a:srgbClr val="116644"/>
                </a:solidFill>
                <a:highlight>
                  <a:srgbClr val="F7F7F7"/>
                </a:highlight>
                <a:latin typeface="Courier New"/>
                <a:ea typeface="Courier New"/>
                <a:cs typeface="Courier New"/>
                <a:sym typeface="Courier New"/>
              </a:rPr>
              <a:t>:.3f</a:t>
            </a:r>
            <a:r>
              <a:rPr lang="en" sz="510">
                <a:highlight>
                  <a:srgbClr val="F7F7F7"/>
                </a:highlight>
                <a:latin typeface="Courier New"/>
                <a:ea typeface="Courier New"/>
                <a:cs typeface="Courier New"/>
                <a:sym typeface="Courier New"/>
              </a:rPr>
              <a:t>}</a:t>
            </a:r>
            <a:r>
              <a:rPr lang="en" sz="510">
                <a:solidFill>
                  <a:srgbClr val="A31515"/>
                </a:solidFill>
                <a:highlight>
                  <a:srgbClr val="F7F7F7"/>
                </a:highlight>
                <a:latin typeface="Courier New"/>
                <a:ea typeface="Courier New"/>
                <a:cs typeface="Courier New"/>
                <a:sym typeface="Courier New"/>
              </a:rPr>
              <a:t>"</a:t>
            </a:r>
            <a:r>
              <a:rPr lang="en" sz="510">
                <a:highlight>
                  <a:srgbClr val="F7F7F7"/>
                </a:highlight>
                <a:latin typeface="Courier New"/>
                <a:ea typeface="Courier New"/>
                <a:cs typeface="Courier New"/>
                <a:sym typeface="Courier New"/>
              </a:rPr>
              <a:t>)</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6A5221"/>
                </a:solidFill>
                <a:highlight>
                  <a:srgbClr val="F7F7F7"/>
                </a:highlight>
                <a:latin typeface="Courier New"/>
                <a:ea typeface="Courier New"/>
                <a:cs typeface="Courier New"/>
                <a:sym typeface="Courier New"/>
              </a:rPr>
              <a:t>print</a:t>
            </a:r>
            <a:r>
              <a:rPr lang="en" sz="510">
                <a:highlight>
                  <a:srgbClr val="F7F7F7"/>
                </a:highlight>
                <a:latin typeface="Courier New"/>
                <a:ea typeface="Courier New"/>
                <a:cs typeface="Courier New"/>
                <a:sym typeface="Courier New"/>
              </a:rPr>
              <a:t>(</a:t>
            </a:r>
            <a:r>
              <a:rPr lang="en" sz="510">
                <a:solidFill>
                  <a:srgbClr val="0000FF"/>
                </a:solidFill>
                <a:highlight>
                  <a:srgbClr val="F7F7F7"/>
                </a:highlight>
                <a:latin typeface="Courier New"/>
                <a:ea typeface="Courier New"/>
                <a:cs typeface="Courier New"/>
                <a:sym typeface="Courier New"/>
              </a:rPr>
              <a:t>f</a:t>
            </a:r>
            <a:r>
              <a:rPr lang="en" sz="510">
                <a:solidFill>
                  <a:srgbClr val="A31515"/>
                </a:solidFill>
                <a:highlight>
                  <a:srgbClr val="F7F7F7"/>
                </a:highlight>
                <a:latin typeface="Courier New"/>
                <a:ea typeface="Courier New"/>
                <a:cs typeface="Courier New"/>
                <a:sym typeface="Courier New"/>
              </a:rPr>
              <a:t>"P-value: </a:t>
            </a:r>
            <a:r>
              <a:rPr lang="en" sz="510">
                <a:highlight>
                  <a:srgbClr val="F7F7F7"/>
                </a:highlight>
                <a:latin typeface="Courier New"/>
                <a:ea typeface="Courier New"/>
                <a:cs typeface="Courier New"/>
                <a:sym typeface="Courier New"/>
              </a:rPr>
              <a:t>{kruskal_p</a:t>
            </a:r>
            <a:r>
              <a:rPr lang="en" sz="510">
                <a:solidFill>
                  <a:srgbClr val="116644"/>
                </a:solidFill>
                <a:highlight>
                  <a:srgbClr val="F7F7F7"/>
                </a:highlight>
                <a:latin typeface="Courier New"/>
                <a:ea typeface="Courier New"/>
                <a:cs typeface="Courier New"/>
                <a:sym typeface="Courier New"/>
              </a:rPr>
              <a:t>:.2e</a:t>
            </a:r>
            <a:r>
              <a:rPr lang="en" sz="510">
                <a:highlight>
                  <a:srgbClr val="F7F7F7"/>
                </a:highlight>
                <a:latin typeface="Courier New"/>
                <a:ea typeface="Courier New"/>
                <a:cs typeface="Courier New"/>
                <a:sym typeface="Courier New"/>
              </a:rPr>
              <a:t>}</a:t>
            </a:r>
            <a:r>
              <a:rPr lang="en" sz="510">
                <a:solidFill>
                  <a:srgbClr val="A31515"/>
                </a:solidFill>
                <a:highlight>
                  <a:srgbClr val="F7F7F7"/>
                </a:highlight>
                <a:latin typeface="Courier New"/>
                <a:ea typeface="Courier New"/>
                <a:cs typeface="Courier New"/>
                <a:sym typeface="Courier New"/>
              </a:rPr>
              <a:t>"</a:t>
            </a:r>
            <a:r>
              <a:rPr lang="en" sz="510">
                <a:highlight>
                  <a:srgbClr val="F7F7F7"/>
                </a:highlight>
                <a:latin typeface="Courier New"/>
                <a:ea typeface="Courier New"/>
                <a:cs typeface="Courier New"/>
                <a:sym typeface="Courier New"/>
              </a:rPr>
              <a:t>)</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6A5221"/>
                </a:solidFill>
                <a:highlight>
                  <a:srgbClr val="F7F7F7"/>
                </a:highlight>
                <a:latin typeface="Courier New"/>
                <a:ea typeface="Courier New"/>
                <a:cs typeface="Courier New"/>
                <a:sym typeface="Courier New"/>
              </a:rPr>
              <a:t>print</a:t>
            </a:r>
            <a:r>
              <a:rPr lang="en" sz="510">
                <a:highlight>
                  <a:srgbClr val="F7F7F7"/>
                </a:highlight>
                <a:latin typeface="Courier New"/>
                <a:ea typeface="Courier New"/>
                <a:cs typeface="Courier New"/>
                <a:sym typeface="Courier New"/>
              </a:rPr>
              <a:t>(</a:t>
            </a:r>
            <a:r>
              <a:rPr lang="en" sz="510">
                <a:solidFill>
                  <a:srgbClr val="0000FF"/>
                </a:solidFill>
                <a:highlight>
                  <a:srgbClr val="F7F7F7"/>
                </a:highlight>
                <a:latin typeface="Courier New"/>
                <a:ea typeface="Courier New"/>
                <a:cs typeface="Courier New"/>
                <a:sym typeface="Courier New"/>
              </a:rPr>
              <a:t>f</a:t>
            </a:r>
            <a:r>
              <a:rPr lang="en" sz="510">
                <a:solidFill>
                  <a:srgbClr val="A31515"/>
                </a:solidFill>
                <a:highlight>
                  <a:srgbClr val="F7F7F7"/>
                </a:highlight>
                <a:latin typeface="Courier New"/>
                <a:ea typeface="Courier New"/>
                <a:cs typeface="Courier New"/>
                <a:sym typeface="Courier New"/>
              </a:rPr>
              <a:t>"Result: </a:t>
            </a:r>
            <a:r>
              <a:rPr lang="en" sz="510">
                <a:highlight>
                  <a:srgbClr val="F7F7F7"/>
                </a:highlight>
                <a:latin typeface="Courier New"/>
                <a:ea typeface="Courier New"/>
                <a:cs typeface="Courier New"/>
                <a:sym typeface="Courier New"/>
              </a:rPr>
              <a:t>{</a:t>
            </a:r>
            <a:r>
              <a:rPr lang="en" sz="510">
                <a:solidFill>
                  <a:srgbClr val="A31515"/>
                </a:solidFill>
                <a:highlight>
                  <a:srgbClr val="F7F7F7"/>
                </a:highlight>
                <a:latin typeface="Courier New"/>
                <a:ea typeface="Courier New"/>
                <a:cs typeface="Courier New"/>
                <a:sym typeface="Courier New"/>
              </a:rPr>
              <a:t>'Significant difference between groups (p &lt; 0.05)'</a:t>
            </a:r>
            <a:r>
              <a:rPr lang="en" sz="510">
                <a:highlight>
                  <a:srgbClr val="F7F7F7"/>
                </a:highlight>
                <a:latin typeface="Courier New"/>
                <a:ea typeface="Courier New"/>
                <a:cs typeface="Courier New"/>
                <a:sym typeface="Courier New"/>
              </a:rPr>
              <a:t> </a:t>
            </a:r>
            <a:r>
              <a:rPr lang="en" sz="510">
                <a:solidFill>
                  <a:srgbClr val="9723B4"/>
                </a:solidFill>
                <a:highlight>
                  <a:srgbClr val="F7F7F7"/>
                </a:highlight>
                <a:latin typeface="Courier New"/>
                <a:ea typeface="Courier New"/>
                <a:cs typeface="Courier New"/>
                <a:sym typeface="Courier New"/>
              </a:rPr>
              <a:t>if</a:t>
            </a:r>
            <a:r>
              <a:rPr lang="en" sz="510">
                <a:highlight>
                  <a:srgbClr val="F7F7F7"/>
                </a:highlight>
                <a:latin typeface="Courier New"/>
                <a:ea typeface="Courier New"/>
                <a:cs typeface="Courier New"/>
                <a:sym typeface="Courier New"/>
              </a:rPr>
              <a:t> kruskal_p &lt; </a:t>
            </a:r>
            <a:r>
              <a:rPr lang="en" sz="510">
                <a:solidFill>
                  <a:srgbClr val="116644"/>
                </a:solidFill>
                <a:highlight>
                  <a:srgbClr val="F7F7F7"/>
                </a:highlight>
                <a:latin typeface="Courier New"/>
                <a:ea typeface="Courier New"/>
                <a:cs typeface="Courier New"/>
                <a:sym typeface="Courier New"/>
              </a:rPr>
              <a:t>0.05</a:t>
            </a:r>
            <a:r>
              <a:rPr lang="en" sz="510">
                <a:highlight>
                  <a:srgbClr val="F7F7F7"/>
                </a:highlight>
                <a:latin typeface="Courier New"/>
                <a:ea typeface="Courier New"/>
                <a:cs typeface="Courier New"/>
                <a:sym typeface="Courier New"/>
              </a:rPr>
              <a:t> </a:t>
            </a:r>
            <a:r>
              <a:rPr lang="en" sz="510">
                <a:solidFill>
                  <a:srgbClr val="9723B4"/>
                </a:solidFill>
                <a:highlight>
                  <a:srgbClr val="F7F7F7"/>
                </a:highlight>
                <a:latin typeface="Courier New"/>
                <a:ea typeface="Courier New"/>
                <a:cs typeface="Courier New"/>
                <a:sym typeface="Courier New"/>
              </a:rPr>
              <a:t>else</a:t>
            </a:r>
            <a:r>
              <a:rPr lang="en" sz="510">
                <a:highlight>
                  <a:srgbClr val="F7F7F7"/>
                </a:highlight>
                <a:latin typeface="Courier New"/>
                <a:ea typeface="Courier New"/>
                <a:cs typeface="Courier New"/>
                <a:sym typeface="Courier New"/>
              </a:rPr>
              <a:t> </a:t>
            </a:r>
            <a:r>
              <a:rPr lang="en" sz="510">
                <a:solidFill>
                  <a:srgbClr val="A31515"/>
                </a:solidFill>
                <a:highlight>
                  <a:srgbClr val="F7F7F7"/>
                </a:highlight>
                <a:latin typeface="Courier New"/>
                <a:ea typeface="Courier New"/>
                <a:cs typeface="Courier New"/>
                <a:sym typeface="Courier New"/>
              </a:rPr>
              <a:t>'No significant difference (p ≥ 0.05)'</a:t>
            </a:r>
            <a:r>
              <a:rPr lang="en" sz="510">
                <a:highlight>
                  <a:srgbClr val="F7F7F7"/>
                </a:highlight>
                <a:latin typeface="Courier New"/>
                <a:ea typeface="Courier New"/>
                <a:cs typeface="Courier New"/>
                <a:sym typeface="Courier New"/>
              </a:rPr>
              <a:t>}</a:t>
            </a:r>
            <a:r>
              <a:rPr lang="en" sz="510">
                <a:solidFill>
                  <a:srgbClr val="A31515"/>
                </a:solidFill>
                <a:highlight>
                  <a:srgbClr val="F7F7F7"/>
                </a:highlight>
                <a:latin typeface="Courier New"/>
                <a:ea typeface="Courier New"/>
                <a:cs typeface="Courier New"/>
                <a:sym typeface="Courier New"/>
              </a:rPr>
              <a:t>"</a:t>
            </a:r>
            <a:r>
              <a:rPr lang="en" sz="510">
                <a:highlight>
                  <a:srgbClr val="F7F7F7"/>
                </a:highlight>
                <a:latin typeface="Courier New"/>
                <a:ea typeface="Courier New"/>
                <a:cs typeface="Courier New"/>
                <a:sym typeface="Courier New"/>
              </a:rPr>
              <a:t>)</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6A5221"/>
                </a:solidFill>
                <a:highlight>
                  <a:srgbClr val="F7F7F7"/>
                </a:highlight>
                <a:latin typeface="Courier New"/>
                <a:ea typeface="Courier New"/>
                <a:cs typeface="Courier New"/>
                <a:sym typeface="Courier New"/>
              </a:rPr>
              <a:t>print</a:t>
            </a:r>
            <a:r>
              <a:rPr lang="en" sz="510">
                <a:highlight>
                  <a:srgbClr val="F7F7F7"/>
                </a:highlight>
                <a:latin typeface="Courier New"/>
                <a:ea typeface="Courier New"/>
                <a:cs typeface="Courier New"/>
                <a:sym typeface="Courier New"/>
              </a:rPr>
              <a:t>(</a:t>
            </a:r>
            <a:r>
              <a:rPr lang="en" sz="510">
                <a:solidFill>
                  <a:srgbClr val="0000FF"/>
                </a:solidFill>
                <a:highlight>
                  <a:srgbClr val="F7F7F7"/>
                </a:highlight>
                <a:latin typeface="Courier New"/>
                <a:ea typeface="Courier New"/>
                <a:cs typeface="Courier New"/>
                <a:sym typeface="Courier New"/>
              </a:rPr>
              <a:t>f</a:t>
            </a:r>
            <a:r>
              <a:rPr lang="en" sz="510">
                <a:solidFill>
                  <a:srgbClr val="A31515"/>
                </a:solidFill>
                <a:highlight>
                  <a:srgbClr val="F7F7F7"/>
                </a:highlight>
                <a:latin typeface="Courier New"/>
                <a:ea typeface="Courier New"/>
                <a:cs typeface="Courier New"/>
                <a:sym typeface="Courier New"/>
              </a:rPr>
              <a:t>"\nMedian body masses:"</a:t>
            </a:r>
            <a:r>
              <a:rPr lang="en" sz="510">
                <a:highlight>
                  <a:srgbClr val="F7F7F7"/>
                </a:highlight>
                <a:latin typeface="Courier New"/>
                <a:ea typeface="Courier New"/>
                <a:cs typeface="Courier New"/>
                <a:sym typeface="Courier New"/>
              </a:rPr>
              <a:t>)</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6A5221"/>
                </a:solidFill>
                <a:highlight>
                  <a:srgbClr val="F7F7F7"/>
                </a:highlight>
                <a:latin typeface="Courier New"/>
                <a:ea typeface="Courier New"/>
                <a:cs typeface="Courier New"/>
                <a:sym typeface="Courier New"/>
              </a:rPr>
              <a:t>print</a:t>
            </a:r>
            <a:r>
              <a:rPr lang="en" sz="510">
                <a:highlight>
                  <a:srgbClr val="F7F7F7"/>
                </a:highlight>
                <a:latin typeface="Courier New"/>
                <a:ea typeface="Courier New"/>
                <a:cs typeface="Courier New"/>
                <a:sym typeface="Courier New"/>
              </a:rPr>
              <a:t>(</a:t>
            </a:r>
            <a:r>
              <a:rPr lang="en" sz="510">
                <a:solidFill>
                  <a:srgbClr val="0000FF"/>
                </a:solidFill>
                <a:highlight>
                  <a:srgbClr val="F7F7F7"/>
                </a:highlight>
                <a:latin typeface="Courier New"/>
                <a:ea typeface="Courier New"/>
                <a:cs typeface="Courier New"/>
                <a:sym typeface="Courier New"/>
              </a:rPr>
              <a:t>f</a:t>
            </a:r>
            <a:r>
              <a:rPr lang="en" sz="510">
                <a:solidFill>
                  <a:srgbClr val="A31515"/>
                </a:solidFill>
                <a:highlight>
                  <a:srgbClr val="F7F7F7"/>
                </a:highlight>
                <a:latin typeface="Courier New"/>
                <a:ea typeface="Courier New"/>
                <a:cs typeface="Courier New"/>
                <a:sym typeface="Courier New"/>
              </a:rPr>
              <a:t>"  Adelie: </a:t>
            </a:r>
            <a:r>
              <a:rPr lang="en" sz="510">
                <a:highlight>
                  <a:srgbClr val="F7F7F7"/>
                </a:highlight>
                <a:latin typeface="Courier New"/>
                <a:ea typeface="Courier New"/>
                <a:cs typeface="Courier New"/>
                <a:sym typeface="Courier New"/>
              </a:rPr>
              <a:t>{adelie_mass_anova.median()</a:t>
            </a:r>
            <a:r>
              <a:rPr lang="en" sz="510">
                <a:solidFill>
                  <a:srgbClr val="116644"/>
                </a:solidFill>
                <a:highlight>
                  <a:srgbClr val="F7F7F7"/>
                </a:highlight>
                <a:latin typeface="Courier New"/>
                <a:ea typeface="Courier New"/>
                <a:cs typeface="Courier New"/>
                <a:sym typeface="Courier New"/>
              </a:rPr>
              <a:t>:.1f</a:t>
            </a:r>
            <a:r>
              <a:rPr lang="en" sz="510">
                <a:highlight>
                  <a:srgbClr val="F7F7F7"/>
                </a:highlight>
                <a:latin typeface="Courier New"/>
                <a:ea typeface="Courier New"/>
                <a:cs typeface="Courier New"/>
                <a:sym typeface="Courier New"/>
              </a:rPr>
              <a:t>}</a:t>
            </a:r>
            <a:r>
              <a:rPr lang="en" sz="510">
                <a:solidFill>
                  <a:srgbClr val="A31515"/>
                </a:solidFill>
                <a:highlight>
                  <a:srgbClr val="F7F7F7"/>
                </a:highlight>
                <a:latin typeface="Courier New"/>
                <a:ea typeface="Courier New"/>
                <a:cs typeface="Courier New"/>
                <a:sym typeface="Courier New"/>
              </a:rPr>
              <a:t>g"</a:t>
            </a:r>
            <a:r>
              <a:rPr lang="en" sz="510">
                <a:highlight>
                  <a:srgbClr val="F7F7F7"/>
                </a:highlight>
                <a:latin typeface="Courier New"/>
                <a:ea typeface="Courier New"/>
                <a:cs typeface="Courier New"/>
                <a:sym typeface="Courier New"/>
              </a:rPr>
              <a:t>)</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6A5221"/>
                </a:solidFill>
                <a:highlight>
                  <a:srgbClr val="F7F7F7"/>
                </a:highlight>
                <a:latin typeface="Courier New"/>
                <a:ea typeface="Courier New"/>
                <a:cs typeface="Courier New"/>
                <a:sym typeface="Courier New"/>
              </a:rPr>
              <a:t>print</a:t>
            </a:r>
            <a:r>
              <a:rPr lang="en" sz="510">
                <a:highlight>
                  <a:srgbClr val="F7F7F7"/>
                </a:highlight>
                <a:latin typeface="Courier New"/>
                <a:ea typeface="Courier New"/>
                <a:cs typeface="Courier New"/>
                <a:sym typeface="Courier New"/>
              </a:rPr>
              <a:t>(</a:t>
            </a:r>
            <a:r>
              <a:rPr lang="en" sz="510">
                <a:solidFill>
                  <a:srgbClr val="0000FF"/>
                </a:solidFill>
                <a:highlight>
                  <a:srgbClr val="F7F7F7"/>
                </a:highlight>
                <a:latin typeface="Courier New"/>
                <a:ea typeface="Courier New"/>
                <a:cs typeface="Courier New"/>
                <a:sym typeface="Courier New"/>
              </a:rPr>
              <a:t>f</a:t>
            </a:r>
            <a:r>
              <a:rPr lang="en" sz="510">
                <a:solidFill>
                  <a:srgbClr val="A31515"/>
                </a:solidFill>
                <a:highlight>
                  <a:srgbClr val="F7F7F7"/>
                </a:highlight>
                <a:latin typeface="Courier New"/>
                <a:ea typeface="Courier New"/>
                <a:cs typeface="Courier New"/>
                <a:sym typeface="Courier New"/>
              </a:rPr>
              <a:t>"  Chinstrap: </a:t>
            </a:r>
            <a:r>
              <a:rPr lang="en" sz="510">
                <a:highlight>
                  <a:srgbClr val="F7F7F7"/>
                </a:highlight>
                <a:latin typeface="Courier New"/>
                <a:ea typeface="Courier New"/>
                <a:cs typeface="Courier New"/>
                <a:sym typeface="Courier New"/>
              </a:rPr>
              <a:t>{chinstrap_mass_anova.median()</a:t>
            </a:r>
            <a:r>
              <a:rPr lang="en" sz="510">
                <a:solidFill>
                  <a:srgbClr val="116644"/>
                </a:solidFill>
                <a:highlight>
                  <a:srgbClr val="F7F7F7"/>
                </a:highlight>
                <a:latin typeface="Courier New"/>
                <a:ea typeface="Courier New"/>
                <a:cs typeface="Courier New"/>
                <a:sym typeface="Courier New"/>
              </a:rPr>
              <a:t>:.1f</a:t>
            </a:r>
            <a:r>
              <a:rPr lang="en" sz="510">
                <a:highlight>
                  <a:srgbClr val="F7F7F7"/>
                </a:highlight>
                <a:latin typeface="Courier New"/>
                <a:ea typeface="Courier New"/>
                <a:cs typeface="Courier New"/>
                <a:sym typeface="Courier New"/>
              </a:rPr>
              <a:t>}</a:t>
            </a:r>
            <a:r>
              <a:rPr lang="en" sz="510">
                <a:solidFill>
                  <a:srgbClr val="A31515"/>
                </a:solidFill>
                <a:highlight>
                  <a:srgbClr val="F7F7F7"/>
                </a:highlight>
                <a:latin typeface="Courier New"/>
                <a:ea typeface="Courier New"/>
                <a:cs typeface="Courier New"/>
                <a:sym typeface="Courier New"/>
              </a:rPr>
              <a:t>g"</a:t>
            </a:r>
            <a:r>
              <a:rPr lang="en" sz="510">
                <a:highlight>
                  <a:srgbClr val="F7F7F7"/>
                </a:highlight>
                <a:latin typeface="Courier New"/>
                <a:ea typeface="Courier New"/>
                <a:cs typeface="Courier New"/>
                <a:sym typeface="Courier New"/>
              </a:rPr>
              <a:t>)</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rPr lang="en" sz="510">
                <a:solidFill>
                  <a:srgbClr val="6A5221"/>
                </a:solidFill>
                <a:highlight>
                  <a:srgbClr val="F7F7F7"/>
                </a:highlight>
                <a:latin typeface="Courier New"/>
                <a:ea typeface="Courier New"/>
                <a:cs typeface="Courier New"/>
                <a:sym typeface="Courier New"/>
              </a:rPr>
              <a:t>print</a:t>
            </a:r>
            <a:r>
              <a:rPr lang="en" sz="510">
                <a:highlight>
                  <a:srgbClr val="F7F7F7"/>
                </a:highlight>
                <a:latin typeface="Courier New"/>
                <a:ea typeface="Courier New"/>
                <a:cs typeface="Courier New"/>
                <a:sym typeface="Courier New"/>
              </a:rPr>
              <a:t>(</a:t>
            </a:r>
            <a:r>
              <a:rPr lang="en" sz="510">
                <a:solidFill>
                  <a:srgbClr val="0000FF"/>
                </a:solidFill>
                <a:highlight>
                  <a:srgbClr val="F7F7F7"/>
                </a:highlight>
                <a:latin typeface="Courier New"/>
                <a:ea typeface="Courier New"/>
                <a:cs typeface="Courier New"/>
                <a:sym typeface="Courier New"/>
              </a:rPr>
              <a:t>f</a:t>
            </a:r>
            <a:r>
              <a:rPr lang="en" sz="510">
                <a:solidFill>
                  <a:srgbClr val="A31515"/>
                </a:solidFill>
                <a:highlight>
                  <a:srgbClr val="F7F7F7"/>
                </a:highlight>
                <a:latin typeface="Courier New"/>
                <a:ea typeface="Courier New"/>
                <a:cs typeface="Courier New"/>
                <a:sym typeface="Courier New"/>
              </a:rPr>
              <a:t>"  Gentoo: </a:t>
            </a:r>
            <a:r>
              <a:rPr lang="en" sz="510">
                <a:highlight>
                  <a:srgbClr val="F7F7F7"/>
                </a:highlight>
                <a:latin typeface="Courier New"/>
                <a:ea typeface="Courier New"/>
                <a:cs typeface="Courier New"/>
                <a:sym typeface="Courier New"/>
              </a:rPr>
              <a:t>{gentoo_mass_anova.median()</a:t>
            </a:r>
            <a:r>
              <a:rPr lang="en" sz="510">
                <a:solidFill>
                  <a:srgbClr val="116644"/>
                </a:solidFill>
                <a:highlight>
                  <a:srgbClr val="F7F7F7"/>
                </a:highlight>
                <a:latin typeface="Courier New"/>
                <a:ea typeface="Courier New"/>
                <a:cs typeface="Courier New"/>
                <a:sym typeface="Courier New"/>
              </a:rPr>
              <a:t>:.1f</a:t>
            </a:r>
            <a:r>
              <a:rPr lang="en" sz="510">
                <a:highlight>
                  <a:srgbClr val="F7F7F7"/>
                </a:highlight>
                <a:latin typeface="Courier New"/>
                <a:ea typeface="Courier New"/>
                <a:cs typeface="Courier New"/>
                <a:sym typeface="Courier New"/>
              </a:rPr>
              <a:t>}</a:t>
            </a:r>
            <a:r>
              <a:rPr lang="en" sz="510">
                <a:solidFill>
                  <a:srgbClr val="A31515"/>
                </a:solidFill>
                <a:highlight>
                  <a:srgbClr val="F7F7F7"/>
                </a:highlight>
                <a:latin typeface="Courier New"/>
                <a:ea typeface="Courier New"/>
                <a:cs typeface="Courier New"/>
                <a:sym typeface="Courier New"/>
              </a:rPr>
              <a:t>g"</a:t>
            </a:r>
            <a:r>
              <a:rPr lang="en" sz="510">
                <a:highlight>
                  <a:srgbClr val="F7F7F7"/>
                </a:highlight>
                <a:latin typeface="Courier New"/>
                <a:ea typeface="Courier New"/>
                <a:cs typeface="Courier New"/>
                <a:sym typeface="Courier New"/>
              </a:rPr>
              <a:t>)</a:t>
            </a:r>
            <a:endParaRPr sz="510">
              <a:solidFill>
                <a:srgbClr val="6A5221"/>
              </a:solidFill>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510">
              <a:highlight>
                <a:srgbClr val="F7F7F7"/>
              </a:highlight>
              <a:latin typeface="Courier New"/>
              <a:ea typeface="Courier New"/>
              <a:cs typeface="Courier New"/>
              <a:sym typeface="Courier New"/>
            </a:endParaRPr>
          </a:p>
          <a:p>
            <a:pPr indent="0" lvl="0" marL="0" rtl="0" algn="l">
              <a:lnSpc>
                <a:spcPct val="141666"/>
              </a:lnSpc>
              <a:spcBef>
                <a:spcPts val="0"/>
              </a:spcBef>
              <a:spcAft>
                <a:spcPts val="0"/>
              </a:spcAft>
              <a:buSzPts val="990"/>
              <a:buNone/>
            </a:pPr>
            <a:r>
              <a:t/>
            </a:r>
            <a:endParaRPr sz="510">
              <a:solidFill>
                <a:srgbClr val="008000"/>
              </a:solidFill>
              <a:highlight>
                <a:srgbClr val="F7F7F7"/>
              </a:highlight>
              <a:latin typeface="Courier New"/>
              <a:ea typeface="Courier New"/>
              <a:cs typeface="Courier New"/>
              <a:sym typeface="Courier New"/>
            </a:endParaRPr>
          </a:p>
        </p:txBody>
      </p:sp>
      <p:sp>
        <p:nvSpPr>
          <p:cNvPr id="283" name="Google Shape;283;p39"/>
          <p:cNvSpPr txBox="1"/>
          <p:nvPr/>
        </p:nvSpPr>
        <p:spPr>
          <a:xfrm>
            <a:off x="-337475" y="2062400"/>
            <a:ext cx="5555400" cy="2616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500">
              <a:solidFill>
                <a:srgbClr val="008000"/>
              </a:solidFill>
              <a:highlight>
                <a:srgbClr val="F7F7F7"/>
              </a:highlight>
              <a:latin typeface="Courier New"/>
              <a:ea typeface="Courier New"/>
              <a:cs typeface="Courier New"/>
              <a:sym typeface="Courier New"/>
            </a:endParaRPr>
          </a:p>
        </p:txBody>
      </p:sp>
      <p:sp>
        <p:nvSpPr>
          <p:cNvPr id="284" name="Google Shape;284;p39"/>
          <p:cNvSpPr txBox="1"/>
          <p:nvPr/>
        </p:nvSpPr>
        <p:spPr>
          <a:xfrm>
            <a:off x="3037350" y="406275"/>
            <a:ext cx="4842900" cy="219300"/>
          </a:xfrm>
          <a:prstGeom prst="rect">
            <a:avLst/>
          </a:prstGeom>
          <a:noFill/>
          <a:ln>
            <a:noFill/>
          </a:ln>
        </p:spPr>
        <p:txBody>
          <a:bodyPr anchorCtr="0" anchor="t" bIns="91425" lIns="91425" spcFirstLastPara="1" rIns="91425" wrap="square" tIns="91425">
            <a:spAutoFit/>
          </a:bodyPr>
          <a:lstStyle/>
          <a:p>
            <a:pPr indent="0" lvl="0" marL="0" rtl="0" algn="l">
              <a:lnSpc>
                <a:spcPct val="141666"/>
              </a:lnSpc>
              <a:spcBef>
                <a:spcPts val="0"/>
              </a:spcBef>
              <a:spcAft>
                <a:spcPts val="0"/>
              </a:spcAft>
              <a:buNone/>
            </a:pPr>
            <a:r>
              <a:t/>
            </a:r>
            <a:endParaRPr sz="200">
              <a:solidFill>
                <a:srgbClr val="008000"/>
              </a:solidFill>
              <a:highlight>
                <a:srgbClr val="F7F7F7"/>
              </a:highlight>
              <a:latin typeface="Courier New"/>
              <a:ea typeface="Courier New"/>
              <a:cs typeface="Courier New"/>
              <a:sym typeface="Courier New"/>
            </a:endParaRPr>
          </a:p>
        </p:txBody>
      </p:sp>
      <p:sp>
        <p:nvSpPr>
          <p:cNvPr id="285" name="Google Shape;285;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6" name="Google Shape;286;p39"/>
          <p:cNvPicPr preferRelativeResize="0"/>
          <p:nvPr/>
        </p:nvPicPr>
        <p:blipFill>
          <a:blip r:embed="rId3">
            <a:alphaModFix/>
          </a:blip>
          <a:stretch>
            <a:fillRect/>
          </a:stretch>
        </p:blipFill>
        <p:spPr>
          <a:xfrm>
            <a:off x="4884200" y="2345200"/>
            <a:ext cx="2722700" cy="990750"/>
          </a:xfrm>
          <a:prstGeom prst="rect">
            <a:avLst/>
          </a:prstGeom>
          <a:noFill/>
          <a:ln>
            <a:noFill/>
          </a:ln>
        </p:spPr>
      </p:pic>
      <p:sp>
        <p:nvSpPr>
          <p:cNvPr id="287" name="Google Shape;287;p39"/>
          <p:cNvSpPr txBox="1"/>
          <p:nvPr/>
        </p:nvSpPr>
        <p:spPr>
          <a:xfrm>
            <a:off x="5854025" y="72075"/>
            <a:ext cx="3000000" cy="209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b="1" lang="en" sz="550">
                <a:solidFill>
                  <a:srgbClr val="1F1F1F"/>
                </a:solidFill>
                <a:highlight>
                  <a:srgbClr val="FFFFFF"/>
                </a:highlight>
              </a:rPr>
              <a:t>Kruskal-Wallis Test (Alternative to ANOVA)</a:t>
            </a:r>
            <a:endParaRPr b="1" sz="550">
              <a:solidFill>
                <a:srgbClr val="1F1F1F"/>
              </a:solidFill>
              <a:highlight>
                <a:srgbClr val="FFFFFF"/>
              </a:highlight>
            </a:endParaRPr>
          </a:p>
          <a:p>
            <a:pPr indent="-263525" lvl="0" marL="457200" rtl="0" algn="l">
              <a:lnSpc>
                <a:spcPct val="115000"/>
              </a:lnSpc>
              <a:spcBef>
                <a:spcPts val="600"/>
              </a:spcBef>
              <a:spcAft>
                <a:spcPts val="0"/>
              </a:spcAft>
              <a:buClr>
                <a:srgbClr val="1F1F1F"/>
              </a:buClr>
              <a:buSzPts val="550"/>
              <a:buChar char="●"/>
            </a:pPr>
            <a:r>
              <a:rPr b="1" lang="en" sz="550">
                <a:solidFill>
                  <a:srgbClr val="1F1F1F"/>
                </a:solidFill>
                <a:highlight>
                  <a:srgbClr val="FFFFFF"/>
                </a:highlight>
              </a:rPr>
              <a:t>What it does:</a:t>
            </a:r>
            <a:r>
              <a:rPr lang="en" sz="550">
                <a:solidFill>
                  <a:srgbClr val="1F1F1F"/>
                </a:solidFill>
                <a:highlight>
                  <a:srgbClr val="FFFFFF"/>
                </a:highlight>
              </a:rPr>
              <a:t> This test is used to compare the distributions of a continuous variable among three or more independent groups. It's the non-parametric equivalent of the One-Way ANOVA. It tests if the distributions of the groups are the same.</a:t>
            </a:r>
            <a:endParaRPr sz="550">
              <a:solidFill>
                <a:srgbClr val="1F1F1F"/>
              </a:solidFill>
              <a:highlight>
                <a:srgbClr val="FFFFFF"/>
              </a:highlight>
            </a:endParaRPr>
          </a:p>
          <a:p>
            <a:pPr indent="-263525" lvl="0" marL="457200" rtl="0" algn="l">
              <a:lnSpc>
                <a:spcPct val="115000"/>
              </a:lnSpc>
              <a:spcBef>
                <a:spcPts val="0"/>
              </a:spcBef>
              <a:spcAft>
                <a:spcPts val="0"/>
              </a:spcAft>
              <a:buClr>
                <a:srgbClr val="1F1F1F"/>
              </a:buClr>
              <a:buSzPts val="550"/>
              <a:buChar char="●"/>
            </a:pPr>
            <a:r>
              <a:rPr b="1" lang="en" sz="550">
                <a:solidFill>
                  <a:srgbClr val="1F1F1F"/>
                </a:solidFill>
                <a:highlight>
                  <a:srgbClr val="FFFFFF"/>
                </a:highlight>
              </a:rPr>
              <a:t>Research Question:</a:t>
            </a:r>
            <a:r>
              <a:rPr lang="en" sz="550">
                <a:solidFill>
                  <a:srgbClr val="1F1F1F"/>
                </a:solidFill>
                <a:highlight>
                  <a:srgbClr val="FFFFFF"/>
                </a:highlight>
              </a:rPr>
              <a:t> Do the three species have different body mass distributions?</a:t>
            </a:r>
            <a:endParaRPr sz="550">
              <a:solidFill>
                <a:srgbClr val="1F1F1F"/>
              </a:solidFill>
              <a:highlight>
                <a:srgbClr val="FFFFFF"/>
              </a:highlight>
            </a:endParaRPr>
          </a:p>
          <a:p>
            <a:pPr indent="-263525" lvl="0" marL="457200" rtl="0" algn="l">
              <a:lnSpc>
                <a:spcPct val="115000"/>
              </a:lnSpc>
              <a:spcBef>
                <a:spcPts val="0"/>
              </a:spcBef>
              <a:spcAft>
                <a:spcPts val="0"/>
              </a:spcAft>
              <a:buClr>
                <a:srgbClr val="1F1F1F"/>
              </a:buClr>
              <a:buSzPts val="550"/>
              <a:buChar char="●"/>
            </a:pPr>
            <a:r>
              <a:rPr b="1" lang="en" sz="550">
                <a:solidFill>
                  <a:srgbClr val="1F1F1F"/>
                </a:solidFill>
                <a:highlight>
                  <a:srgbClr val="FFFFFF"/>
                </a:highlight>
              </a:rPr>
              <a:t>Kruskal-Wallis statistic: 212.085</a:t>
            </a:r>
            <a:r>
              <a:rPr lang="en" sz="550">
                <a:solidFill>
                  <a:srgbClr val="1F1F1F"/>
                </a:solidFill>
                <a:highlight>
                  <a:srgbClr val="FFFFFF"/>
                </a:highlight>
              </a:rPr>
              <a:t>: This is the calculated test statistic for the Kruskal-Wallis test.</a:t>
            </a:r>
            <a:endParaRPr sz="550">
              <a:solidFill>
                <a:srgbClr val="1F1F1F"/>
              </a:solidFill>
              <a:highlight>
                <a:srgbClr val="FFFFFF"/>
              </a:highlight>
            </a:endParaRPr>
          </a:p>
          <a:p>
            <a:pPr indent="-263525" lvl="0" marL="457200" rtl="0" algn="l">
              <a:lnSpc>
                <a:spcPct val="115000"/>
              </a:lnSpc>
              <a:spcBef>
                <a:spcPts val="0"/>
              </a:spcBef>
              <a:spcAft>
                <a:spcPts val="0"/>
              </a:spcAft>
              <a:buClr>
                <a:srgbClr val="1F1F1F"/>
              </a:buClr>
              <a:buSzPts val="550"/>
              <a:buChar char="●"/>
            </a:pPr>
            <a:r>
              <a:rPr b="1" lang="en" sz="550">
                <a:solidFill>
                  <a:srgbClr val="1F1F1F"/>
                </a:solidFill>
                <a:highlight>
                  <a:srgbClr val="FFFFFF"/>
                </a:highlight>
              </a:rPr>
              <a:t>P-value: 8.84e-47</a:t>
            </a:r>
            <a:r>
              <a:rPr lang="en" sz="550">
                <a:solidFill>
                  <a:srgbClr val="1F1F1F"/>
                </a:solidFill>
                <a:highlight>
                  <a:srgbClr val="FFFFFF"/>
                </a:highlight>
              </a:rPr>
              <a:t>: This extremely small p-value indicates that it's highly unlikely to observe the observed differences in body mass distributions among the three species if their distributions were actually the same.</a:t>
            </a:r>
            <a:endParaRPr sz="550">
              <a:solidFill>
                <a:srgbClr val="1F1F1F"/>
              </a:solidFill>
              <a:highlight>
                <a:srgbClr val="FFFFFF"/>
              </a:highlight>
            </a:endParaRPr>
          </a:p>
          <a:p>
            <a:pPr indent="-263525" lvl="0" marL="457200" rtl="0" algn="l">
              <a:lnSpc>
                <a:spcPct val="115000"/>
              </a:lnSpc>
              <a:spcBef>
                <a:spcPts val="0"/>
              </a:spcBef>
              <a:spcAft>
                <a:spcPts val="0"/>
              </a:spcAft>
              <a:buClr>
                <a:srgbClr val="1F1F1F"/>
              </a:buClr>
              <a:buSzPts val="550"/>
              <a:buChar char="●"/>
            </a:pPr>
            <a:r>
              <a:rPr b="1" lang="en" sz="550">
                <a:solidFill>
                  <a:srgbClr val="1F1F1F"/>
                </a:solidFill>
                <a:highlight>
                  <a:srgbClr val="FFFFFF"/>
                </a:highlight>
              </a:rPr>
              <a:t>Result: Significant difference between groups (p &lt; 0.05)</a:t>
            </a:r>
            <a:r>
              <a:rPr lang="en" sz="550">
                <a:solidFill>
                  <a:srgbClr val="1F1F1F"/>
                </a:solidFill>
                <a:highlight>
                  <a:srgbClr val="FFFFFF"/>
                </a:highlight>
              </a:rPr>
              <a:t>: Since the p-value is less than 0.05, we reject the null hypothesis that the distributions are the same. We conclude that there is a statistically significant difference in body mass distributions among the three penguin species.</a:t>
            </a:r>
            <a:endParaRPr sz="550">
              <a:solidFill>
                <a:srgbClr val="1F1F1F"/>
              </a:solidFill>
              <a:highlight>
                <a:srgbClr val="FFFFFF"/>
              </a:highlight>
            </a:endParaRPr>
          </a:p>
          <a:p>
            <a:pPr indent="-263525" lvl="0" marL="457200" rtl="0" algn="l">
              <a:lnSpc>
                <a:spcPct val="115000"/>
              </a:lnSpc>
              <a:spcBef>
                <a:spcPts val="0"/>
              </a:spcBef>
              <a:spcAft>
                <a:spcPts val="0"/>
              </a:spcAft>
              <a:buClr>
                <a:srgbClr val="1F1F1F"/>
              </a:buClr>
              <a:buSzPts val="550"/>
              <a:buChar char="●"/>
            </a:pPr>
            <a:r>
              <a:rPr b="1" lang="en" sz="550">
                <a:solidFill>
                  <a:srgbClr val="1F1F1F"/>
                </a:solidFill>
                <a:highlight>
                  <a:srgbClr val="FFFFFF"/>
                </a:highlight>
              </a:rPr>
              <a:t>Median body masses:</a:t>
            </a:r>
            <a:r>
              <a:rPr lang="en" sz="550">
                <a:solidFill>
                  <a:srgbClr val="1F1F1F"/>
                </a:solidFill>
                <a:highlight>
                  <a:srgbClr val="FFFFFF"/>
                </a:highlight>
              </a:rPr>
              <a:t> These medians again show the central tendency for body mass in each species, highlighting the noticeable difference for Gentoo penguins compared to Adelie and Chinstrap.</a:t>
            </a:r>
            <a:endParaRPr sz="550">
              <a:solidFill>
                <a:srgbClr val="1F1F1F"/>
              </a:solidFill>
              <a:highlight>
                <a:srgbClr val="FFFFFF"/>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293" name="Google Shape;293;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94" name="Google Shape;29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95" name="Google Shape;295;p40"/>
          <p:cNvPicPr preferRelativeResize="0"/>
          <p:nvPr/>
        </p:nvPicPr>
        <p:blipFill>
          <a:blip r:embed="rId3">
            <a:alphaModFix/>
          </a:blip>
          <a:stretch>
            <a:fillRect/>
          </a:stretch>
        </p:blipFill>
        <p:spPr>
          <a:xfrm>
            <a:off x="272325" y="981000"/>
            <a:ext cx="5128924" cy="2151750"/>
          </a:xfrm>
          <a:prstGeom prst="rect">
            <a:avLst/>
          </a:prstGeom>
          <a:noFill/>
          <a:ln>
            <a:noFill/>
          </a:ln>
        </p:spPr>
      </p:pic>
      <p:pic>
        <p:nvPicPr>
          <p:cNvPr id="296" name="Google Shape;296;p40"/>
          <p:cNvPicPr preferRelativeResize="0"/>
          <p:nvPr/>
        </p:nvPicPr>
        <p:blipFill>
          <a:blip r:embed="rId4">
            <a:alphaModFix/>
          </a:blip>
          <a:stretch>
            <a:fillRect/>
          </a:stretch>
        </p:blipFill>
        <p:spPr>
          <a:xfrm>
            <a:off x="228350" y="3079095"/>
            <a:ext cx="5216876" cy="1233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 covered:</a:t>
            </a:r>
            <a:endParaRPr/>
          </a:p>
        </p:txBody>
      </p:sp>
      <p:sp>
        <p:nvSpPr>
          <p:cNvPr id="302" name="Google Shape;302;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03" name="Google Shape;303;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04" name="Google Shape;304;p41"/>
          <p:cNvPicPr preferRelativeResize="0"/>
          <p:nvPr/>
        </p:nvPicPr>
        <p:blipFill>
          <a:blip r:embed="rId3">
            <a:alphaModFix/>
          </a:blip>
          <a:stretch>
            <a:fillRect/>
          </a:stretch>
        </p:blipFill>
        <p:spPr>
          <a:xfrm>
            <a:off x="283950" y="1074650"/>
            <a:ext cx="3849875" cy="3147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050">
                <a:solidFill>
                  <a:srgbClr val="1F1F1F"/>
                </a:solidFill>
                <a:highlight>
                  <a:srgbClr val="FFFFFF"/>
                </a:highlight>
                <a:latin typeface="Courier New"/>
                <a:ea typeface="Courier New"/>
                <a:cs typeface="Courier New"/>
                <a:sym typeface="Courier New"/>
              </a:rPr>
              <a:t>HELPFUL RESOURCES:</a:t>
            </a:r>
            <a:endParaRPr/>
          </a:p>
        </p:txBody>
      </p:sp>
      <p:sp>
        <p:nvSpPr>
          <p:cNvPr id="310" name="Google Shape;31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050">
              <a:solidFill>
                <a:srgbClr val="1F1F1F"/>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1F1F1F"/>
                </a:solidFill>
                <a:highlight>
                  <a:srgbClr val="FFFFFF"/>
                </a:highlight>
                <a:latin typeface="Courier New"/>
                <a:ea typeface="Courier New"/>
                <a:cs typeface="Courier New"/>
                <a:sym typeface="Courier New"/>
              </a:rPr>
              <a:t>• Matplotlib gallery:</a:t>
            </a:r>
            <a:r>
              <a:rPr lang="en" sz="1050">
                <a:solidFill>
                  <a:srgbClr val="1F1F1F"/>
                </a:solidFill>
                <a:highlight>
                  <a:srgbClr val="FFFFFF"/>
                </a:highlight>
                <a:uFill>
                  <a:noFill/>
                </a:uFill>
                <a:latin typeface="Courier New"/>
                <a:ea typeface="Courier New"/>
                <a:cs typeface="Courier New"/>
                <a:sym typeface="Courier New"/>
                <a:hlinkClick r:id="rId3">
                  <a:extLst>
                    <a:ext uri="{A12FA001-AC4F-418D-AE19-62706E023703}">
                      <ahyp:hlinkClr val="tx"/>
                    </a:ext>
                  </a:extLst>
                </a:hlinkClick>
              </a:rPr>
              <a:t> </a:t>
            </a:r>
            <a:r>
              <a:rPr lang="en" sz="1050" u="sng">
                <a:solidFill>
                  <a:srgbClr val="0B57D0"/>
                </a:solidFill>
                <a:highlight>
                  <a:srgbClr val="FFFFFF"/>
                </a:highlight>
                <a:latin typeface="Courier New"/>
                <a:ea typeface="Courier New"/>
                <a:cs typeface="Courier New"/>
                <a:sym typeface="Courier New"/>
                <a:hlinkClick r:id="rId4">
                  <a:extLst>
                    <a:ext uri="{A12FA001-AC4F-418D-AE19-62706E023703}">
                      <ahyp:hlinkClr val="tx"/>
                    </a:ext>
                  </a:extLst>
                </a:hlinkClick>
              </a:rPr>
              <a:t>https://matplotlib.org/stable/gallery/</a:t>
            </a:r>
            <a:endParaRPr sz="1050">
              <a:solidFill>
                <a:srgbClr val="1F1F1F"/>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1F1F1F"/>
                </a:solidFill>
                <a:highlight>
                  <a:srgbClr val="FFFFFF"/>
                </a:highlight>
                <a:latin typeface="Courier New"/>
                <a:ea typeface="Courier New"/>
                <a:cs typeface="Courier New"/>
                <a:sym typeface="Courier New"/>
              </a:rPr>
              <a:t>• Seaborn tutorial:</a:t>
            </a:r>
            <a:r>
              <a:rPr lang="en" sz="1050">
                <a:solidFill>
                  <a:srgbClr val="1F1F1F"/>
                </a:solidFill>
                <a:highlight>
                  <a:srgbClr val="FFFFFF"/>
                </a:highlight>
                <a:uFill>
                  <a:noFill/>
                </a:uFill>
                <a:latin typeface="Courier New"/>
                <a:ea typeface="Courier New"/>
                <a:cs typeface="Courier New"/>
                <a:sym typeface="Courier New"/>
                <a:hlinkClick r:id="rId5">
                  <a:extLst>
                    <a:ext uri="{A12FA001-AC4F-418D-AE19-62706E023703}">
                      <ahyp:hlinkClr val="tx"/>
                    </a:ext>
                  </a:extLst>
                </a:hlinkClick>
              </a:rPr>
              <a:t> </a:t>
            </a:r>
            <a:r>
              <a:rPr lang="en" sz="1050" u="sng">
                <a:solidFill>
                  <a:srgbClr val="0B57D0"/>
                </a:solidFill>
                <a:highlight>
                  <a:srgbClr val="FFFFFF"/>
                </a:highlight>
                <a:latin typeface="Courier New"/>
                <a:ea typeface="Courier New"/>
                <a:cs typeface="Courier New"/>
                <a:sym typeface="Courier New"/>
                <a:hlinkClick r:id="rId6">
                  <a:extLst>
                    <a:ext uri="{A12FA001-AC4F-418D-AE19-62706E023703}">
                      <ahyp:hlinkClr val="tx"/>
                    </a:ext>
                  </a:extLst>
                </a:hlinkClick>
              </a:rPr>
              <a:t>https://seaborn.pydata.org/tutorial.html</a:t>
            </a:r>
            <a:endParaRPr sz="1050">
              <a:solidFill>
                <a:srgbClr val="1F1F1F"/>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1F1F1F"/>
                </a:solidFill>
                <a:highlight>
                  <a:srgbClr val="FFFFFF"/>
                </a:highlight>
                <a:latin typeface="Courier New"/>
                <a:ea typeface="Courier New"/>
                <a:cs typeface="Courier New"/>
                <a:sym typeface="Courier New"/>
              </a:rPr>
              <a:t>• Scikit-learn user guide:</a:t>
            </a:r>
            <a:r>
              <a:rPr lang="en" sz="1050">
                <a:solidFill>
                  <a:srgbClr val="1F1F1F"/>
                </a:solidFill>
                <a:highlight>
                  <a:srgbClr val="FFFFFF"/>
                </a:highlight>
                <a:uFill>
                  <a:noFill/>
                </a:uFill>
                <a:latin typeface="Courier New"/>
                <a:ea typeface="Courier New"/>
                <a:cs typeface="Courier New"/>
                <a:sym typeface="Courier New"/>
                <a:hlinkClick r:id="rId7">
                  <a:extLst>
                    <a:ext uri="{A12FA001-AC4F-418D-AE19-62706E023703}">
                      <ahyp:hlinkClr val="tx"/>
                    </a:ext>
                  </a:extLst>
                </a:hlinkClick>
              </a:rPr>
              <a:t> </a:t>
            </a:r>
            <a:r>
              <a:rPr lang="en" sz="1050" u="sng">
                <a:solidFill>
                  <a:srgbClr val="0B57D0"/>
                </a:solidFill>
                <a:highlight>
                  <a:srgbClr val="FFFFFF"/>
                </a:highlight>
                <a:latin typeface="Courier New"/>
                <a:ea typeface="Courier New"/>
                <a:cs typeface="Courier New"/>
                <a:sym typeface="Courier New"/>
                <a:hlinkClick r:id="rId8">
                  <a:extLst>
                    <a:ext uri="{A12FA001-AC4F-418D-AE19-62706E023703}">
                      <ahyp:hlinkClr val="tx"/>
                    </a:ext>
                  </a:extLst>
                </a:hlinkClick>
              </a:rPr>
              <a:t>https://scikit-learn.org/stable/user_guide.html</a:t>
            </a:r>
            <a:endParaRPr sz="1050">
              <a:solidFill>
                <a:srgbClr val="1F1F1F"/>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50">
                <a:solidFill>
                  <a:srgbClr val="1F1F1F"/>
                </a:solidFill>
                <a:highlight>
                  <a:srgbClr val="FFFFFF"/>
                </a:highlight>
                <a:latin typeface="Courier New"/>
                <a:ea typeface="Courier New"/>
                <a:cs typeface="Courier New"/>
                <a:sym typeface="Courier New"/>
              </a:rPr>
              <a:t>• SciPy stats documentation:</a:t>
            </a:r>
            <a:r>
              <a:rPr lang="en" sz="1050">
                <a:solidFill>
                  <a:srgbClr val="1F1F1F"/>
                </a:solidFill>
                <a:highlight>
                  <a:srgbClr val="FFFFFF"/>
                </a:highlight>
                <a:uFill>
                  <a:noFill/>
                </a:uFill>
                <a:latin typeface="Courier New"/>
                <a:ea typeface="Courier New"/>
                <a:cs typeface="Courier New"/>
                <a:sym typeface="Courier New"/>
                <a:hlinkClick r:id="rId9">
                  <a:extLst>
                    <a:ext uri="{A12FA001-AC4F-418D-AE19-62706E023703}">
                      <ahyp:hlinkClr val="tx"/>
                    </a:ext>
                  </a:extLst>
                </a:hlinkClick>
              </a:rPr>
              <a:t> </a:t>
            </a:r>
            <a:r>
              <a:rPr lang="en" sz="1050" u="sng">
                <a:solidFill>
                  <a:srgbClr val="0B57D0"/>
                </a:solidFill>
                <a:highlight>
                  <a:srgbClr val="FFFFFF"/>
                </a:highlight>
                <a:latin typeface="Courier New"/>
                <a:ea typeface="Courier New"/>
                <a:cs typeface="Courier New"/>
                <a:sym typeface="Courier New"/>
                <a:hlinkClick r:id="rId10">
                  <a:extLst>
                    <a:ext uri="{A12FA001-AC4F-418D-AE19-62706E023703}">
                      <ahyp:hlinkClr val="tx"/>
                    </a:ext>
                  </a:extLst>
                </a:hlinkClick>
              </a:rPr>
              <a:t>https://docs.scipy.org/doc/scipy/reference/stats.html</a:t>
            </a:r>
            <a:endParaRPr sz="1050">
              <a:solidFill>
                <a:srgbClr val="1F1F1F"/>
              </a:solidFill>
              <a:highlight>
                <a:srgbClr val="FFFFFF"/>
              </a:highlight>
              <a:latin typeface="Courier New"/>
              <a:ea typeface="Courier New"/>
              <a:cs typeface="Courier New"/>
              <a:sym typeface="Courier New"/>
            </a:endParaRPr>
          </a:p>
          <a:p>
            <a:pPr indent="0" lvl="0" marL="0" rtl="0" algn="l">
              <a:spcBef>
                <a:spcPts val="1200"/>
              </a:spcBef>
              <a:spcAft>
                <a:spcPts val="1200"/>
              </a:spcAft>
              <a:buNone/>
            </a:pPr>
            <a:r>
              <a:rPr lang="en" sz="1050">
                <a:solidFill>
                  <a:srgbClr val="1F1F1F"/>
                </a:solidFill>
                <a:highlight>
                  <a:srgbClr val="FFFFFF"/>
                </a:highlight>
                <a:latin typeface="Courier New"/>
                <a:ea typeface="Courier New"/>
                <a:cs typeface="Courier New"/>
                <a:sym typeface="Courier New"/>
              </a:rPr>
              <a:t>• Statistical test selection guide: Choose the right test for your data type!</a:t>
            </a:r>
            <a:endParaRPr/>
          </a:p>
        </p:txBody>
      </p:sp>
      <p:sp>
        <p:nvSpPr>
          <p:cNvPr id="311" name="Google Shape;31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12" name="Google Shape;312;p42"/>
          <p:cNvPicPr preferRelativeResize="0"/>
          <p:nvPr/>
        </p:nvPicPr>
        <p:blipFill>
          <a:blip r:embed="rId11">
            <a:alphaModFix/>
          </a:blip>
          <a:stretch>
            <a:fillRect/>
          </a:stretch>
        </p:blipFill>
        <p:spPr>
          <a:xfrm>
            <a:off x="1845875" y="3623775"/>
            <a:ext cx="7465250" cy="719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